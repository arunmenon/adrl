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is the full handover for the Adaptive Routing Layer design (Draft v2, 2026-07-02). It condenses three documents: the design doc (architecture and components), the 15 scenario walkthroughs (wire-level examples), and the deep-research vetting report (how the design was checked against production routers and the literature). The one-sentence pitch: a layer between our coding harnesses and LiteLLM that decides, per user turn, whether work runs on the local model, cheap cloud, or a frontier model — and rescues the turn the moment the cheap bet goes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parts. Parts 1–2 build the mental model (the core idea and the components that make each decision). Part 3 is escalation — how a struggling local model gets rescued. Part 4 shows the hard gates acting in real scenarios. Part 5 covers memory: session state and the lifecycle state machine. Part 6 is where harness dialects (Claude Code vs Codex) bite. Part 7 is operational: the flywheel, integration with LiteLLM, rollout phases, and metrics. Reading aids: every slide cites its source section (§ = design doc, S = scenario walkthrough); dark boxes show real wire traffic, abbreviated; the three rung colors (green local, amber cheap cloud, violet frontier) mean the same thing on every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the stack is static: every request from Claude Code or Codex goes to whatever model the config names — usually the frontier model. That means frontier tokens (about $15 per million) are spent on renaming variables, writing commit messages, even generating terminal titles. And everything leaves the machine, including sessions that have touched secrets. The goal is to cut cloud spend and keep data local where possible, WITHOUT the user feeling a quality drop. Equally important is the non-goal: we are not trying to beat the frontier model on hard tasks with clever routing. Hard tasks go straight to frontier. Routing wins by not wasting frontier tokens on easy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keep one picture in mind, keep this one. A triage nurse — cheap, fast, mechanical — decides which doctor sees each patient. A junior doctor handles routine cases, but under explicit supervision rules. There's a clear protocol for when to page the specialist, and when the handover happens, the specialist gets the full chart — the patient never repeats their story. Every component in the design maps onto this: the discriminator and policy engine are the nurse, the local model is the junior doctor, trip-wires are the supervision protocol, and the transcript rebuild is the chart handover. The analogy also explains the non-goal: patients who obviously need a specialist are sent there directly — you don't make them see the junior doctor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layer slots into the existing stack between the capture proxy and LiteLLM. From the top: the harness (Claude Code or Codex) asks for one model alias, 'adaptive-code' — it has no idea rungs exist. The capture proxy keeps taping every request and response; its logs become the flywheel's training data. The new adaptive layer makes exactly ONE decision per request: which model name goes into this request. It never talks to providers itself. LiteLLM stays the muscle: it maps names to endpoints, translates Anthropic-to-OpenAI formats, retries infra errors, and tracks spend. Note what we deliberately do NOT use: LiteLLM's built-in auto-router — it's per-request and stateless, which fails structurally for agent traffic (more in Part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terms carry the whole design. A TURN is one human instruction plus all the model/tool ping-pong until the model answers — one keystroke, many HTTP requests. An EPISODE is a run of related turns on the same task ('fix it' → 'now add a test'). A RUNG is a tier in the model ladder; importantly it's a model class, not a machine. STICKY means continuation requests inherit the turn's route instead of re-deciding. A TRIP-WIRE is a cheap mechanical signal that the current rung is failing. HYSTERESIS means once escalated, stay escalated until the task changes — it prevents flip-flopping. If the team internalizes these, every later slide reads easily.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idea everything hangs on. When you type a single instruction into Claude Code, the harness does not send one request — it sends a burst: read a file, get the result back, run tests, get output back, propose an edit… Each of those is a separate HTTP request hitting the proxy, and most of them are the MIDDLE of a thought, not a new task. So the router recognizes exactly three moments where the route may change: (1) a new user turn — the full policy runs; (2) a trip-wire firing — which acts at the next action boundary, the only moment a switch is physically possible; (3) an infra fallback by LiteLLM — which the router doesn't decide but MUST record, or the sticky state points at a dead endpoint. Every other request simply inherits the current route. That inheritance is what 'sticky'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textbook easy turn as the proxy actually sees it. Request 1 carries the human text — the router runs the full decision path, about 12 milliseconds, and picks local with the cascade armed. Requests 2 through 9 each end in a tool_result block: that's the tell. The discriminator sees the tool_result tail plus an active turn and does ONE state lookup — model equals session.route — in under a millisecond. No features, no policy, no ML. Eight times in a row. This is why the router's expensive machinery only ever runs on 5–15% of traffic: the other 85% must travel a code path that is one dictionary lookup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tempting to think re-deciding on every request is 'more adaptive'. It isn't — it's broken, and broken in a systematic way: context grows with every tool handshake inside a turn, so any per-request policy that scores context size ratchets upward until it crosses a threshold MID-turn. Then three things go wrong at once. First, protocol break: Anthropic validates thinking-block signatures and OpenAI ships encrypted reasoning items — neither crosses providers, and foreign tool IDs get rejected, so the API simply 400s. Second, cache demolition: the new rung cold-starts its KV/prompt cache while the old one is wasted — you pay full prefill on both sides. Third, cognitive whiplash: the new model inherits another model's half-finished reasoning style and plan, and reliably flails. Any ONE of these justifies stickiness; we have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numbers from the rename example. llama.cpp keeps the session's token prefix in a slot cache, so request 2 shares ~99% of its prefix with request 1 and prefill only pays the delta — the new tool_result. If the router flapped local-to-cloud even once mid-turn, request 5 at ~18k tokens of context would re-prefill the whole thing: at ~900 tokens/second on M-series hardware, that's ~20 seconds of dead silence before the first output token, versus under a second warm. The same economics exist on the cloud side: Anthropic's prompt cache makes repeat input ~90% cheaper, but only while consecutive requests keep hitting the same provider. Hence the engineering bar: continuations must cost one state lookup — if the router's median added latency isn't measured in microseconds for continuations, we built it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designing any router, look at what it will see. In a typical coding session, 70–90% of requests are tool continuations — the harness returning a tool result mid-turn. Another 5–15% are housekeeping: session titles, topic detection, compaction — Claude Code fires Haiku-class sidecar calls for these. Only 5–15% are new user turns, the moments a human actually typed something. Subagent spawns appear occasionally. Two consequences shape everything downstream. One: the expensive machinery — features, policy, ML — runs on only 5–15% of requests; the hot path for the rest is a single state lookup, which is what keeps router overhead near zero. Two: you cannot classify the raw request body. Twenty turns in, the 'message' is 95% system prompt, file dumps, and tool output — an embedding of that classifies the FILES, not the intent. The discriminator must first isolate the actual human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component on the request path. Its job: label every incoming request as user_turn, continuation, utility, or subagent — in microseconds, using only mechanical rules. No ML, no embeddings. Continuations are detected by a tool_result tail plus an active turn. Utility calls match known harness housekeeping fingerprints: the Haiku-class model name the harness asks for, tiny max_tokens, characteristic system prompts. Utility splits into two subtypes with different routing: light (titles, topic detection — always pinned to local-small) and compaction (transcript summarization — quality-critical, routed by the episode's rung; slide 40). Subagents show a fresh system prompt mid-session or harness markers. Everything else with genuine human text is a user turn. The design rule matters: when unsure, label user_turn. Worst case you make one extra routing decision; the reverse mistake silently keeps a bad route alive.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 opens a repo, runs claude, types 'what does this repo do?'. Three requests arrive, not one. Requests 1 and 2 are background calls the user never sees: Claude Code fires Haiku-class sidecar requests for the terminal title and topic detection. The discriminator matches their fingerprint — Haiku-class model ID, small max_tokens, known system-prompt prefix — and pins them to local-small in 0.2 milliseconds; they never reach the policy engine. Request 3 is the real turn: genuine human text, no active turn → user_turn → full decision: gates pass, heuristic scores 0.22 (explain-verb, repo-level summary, read-only) → local-code with cascade armed. Outcome: the local model reads the README and two files, answers, $0.00. Two operational notes: your proxy must claim the Haiku-class model ID or those background calls 400 and Claude Code gets flaky; and if you skip fingerprinting, your router will earnestly run difficulty heuristics on terminal-title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a request is labeled user_turn, the extractor turns it into a handful of facts the policy can reason about — in under 10 milliseconds, with no LLM calls on this path. Five families. Intent comes from the ISOLATED human sentence only: verb class, scope words, file mentions, question vs command — the closest thing to task difficulty available upfront. Context measures feasibility: total prompt tokens, files in context, cumulative diff size. Trajectory is the family chat-routers don't have: turn index, recent tool-error rate, edit-apply failures, whether the previous turn escalated — a session already going badly should not be handed back to the junior doctor. Repo facts (language, tests present) are cached per workspace. Policy flags — privacy tag, user override — are hard constraints, not preferences. Intent extraction is heuristic on purpose; embedding the isolated sentence (never the payload) is a Phase-3 upgrade.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routing decision itself is deliberately boring: most decisions should be made by dumb rules on purpose. Dumb rules are fast, debuggable, and can't drift. Layer 0 is the hard gates — safety and feasibility — which are never overridden: privacy pin, context feasibility, rung health, and hysteresis. They run first BY CONSTRUCTION: a privacy-pinned turn never even reaches the difficulty logic. Layer 1 is weighted heuristics over the extracted features; it confidently decides about 70% of turns — the clearly-easy go local with the cascade armed, the clearly-hard go direct to frontier. Layer 2, the learned router, only ever sees the ambiguous middle — and it doesn't exist until Phase 3. cascade=True means 'try this rung but the escalation controller is armed'; cascade=False on frontier means 'top rung, just do it'. Pinned routes keep trip-wires armed too, but their escalation target is a user-facing message, never a higher rung.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gates, checked in order, before any difficulty logic. Privacy: if the session is pinned or the turn touches secrets, route local, pinned — and if the context no longer fits the local model, surface the conflict to the user rather than weaken the pin (slide 30). Feasibility: if context exceeds 80% of the local model's practical window, pick the cheapest rung that FITS — not hardcoded frontier; a 112k-token commit message goes to cheap-cloud (slide 28). Health: rungs LiteLLM marks unhealthy simply don't exist for new turns — this mirrors GitHub Copilot's production Auto router, which runs a real-time availability engine co-equal with its task router: 'a model may be capable of handling a task, but that does not mean it is the best choice at that moment.' We consume LiteLLM's background health checks; we never ping endpoints ourselves. Hysteresis: an episode that already escalated stays up until a clear new-task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heuristic layer compresses the features into one difficulty score. Below T_EASY: route local with the cascade armed — worst case, trip-wires catch a bad bet. Above T_HARD: go DIRECT to frontier — don't burn the user's time on a doomed local try. In between is the ambiguous middle: v1 sends it local-with-cascade by default; Phase 3 gives it to the learned router. Real examples from the scenarios, placed on the scale: 'write a commit message' scores 0.08; 'what does this repo do?' 0.22; 'fix the failing test' 0.48 — the middle band, and exactly the kind of turn that sometimes escalates (slide 22); 'refactor auth across api/, worker/ and cli/' scores 0.86, direct to frontier. Two operational notes: thresholds start hand-set and get tuned from flywheel data; and they are per-harness values, not global constants — the same turn scores easier under Codex because its edit dialect is more forgiving (slide 37).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ambiguous middle, the learned router estimates p = probability the local model completes this turn without escalation, trained on our own captured outcomes. The decision is expected-cost arithmetic: local-first costs C_local plus (1−p) times (C_frontier plus a wasted-latency penalty); route local only if that beats going straight to frontier. Two guardrails from the literature. Training target: optimize a cost-aware objective — quality minus lambda times normalized cost, the xRouter formulation — NOT imitation of the heuristics, which would just reproduce their blind spots. And the bar to clear: under LLMRouterBench's unified evaluation, several learned and commercial routers LOSE to the trivial 'always use the best single model' baseline — OpenRouter's auto-router scored minus 24.7% against it. So ours must beat both that baseline and heuristics-only on replayed traffic before touching a live decision. Sobering context: no published learned router has demonstrated gains on multi-turn agentic tool-use traffic. Our flywheel is ahead of the literature here — which is a reason for the benchmark gate, not against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registry is the policy engine's picture of each rung — and it must be honest. Not marketing benchmarks: numbers from our own eval pack run through our own harness (Raschka's local-coding-agent-evals is the right shape; extend it with tasks from real sessions). Note the fields that actually matter: practical max context, not theoretical; prefill speed, because 30k of context at 900 tokens/sec is 33 seconds before the first token; and tool-call reliability PER HARNESS, because dialects differ — the same Qwen model scores 0.87 under Claude Code's exact-string Edit dialect but 0.93 under Codex's apply_patch. Treating 'the model' as one number would mislabel harness-dialect failures as task difficulty. GitHub's own harness benchmarking and Harness-Bench (same model, up to 16 points across harnesses) validate this keying. Also: frontier reliability is capped at 0.995, never 1.00 — calibration math divides by failure odds. And a rung lists a model class plus SERVING endpoints — that split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routers treat 'which model answers' and 'which machine serves it' as two independent decisions — OpenRouter's architecture is the public validation. We adopt the same split. The policy engine only ever picks the RUNG — the model class, the brain. LiteLLM owns endpoint selection, health checks, and failover WITHIN the rung. The example that makes it concrete: llama.cpp OOMs mid-session. The right first recovery is the SAME model served by the MLX endpoint on the same box — not an escalation to cloud. A dead server is not a reason to change brains. Conflating the two decisions makes infra failures look like task difficulty, which would poison both the escalation stats and, later, the learned router's training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escalation controller watches every cascade=True turn and fires when the local model is MECHANICALLY failing. Every check is cheap and deterministic — there is deliberately no LLM-judge mid-flight, because a judge smart enough to grade the work costs about as much as doing the work. The wires: two failed tool-call parses (the model can't speak the harness's language right now); two edits that didn't apply (the classic local failure under Claude Code's exact-string edits); three identical tool calls (the signature of a loop); six actions with no new file, no diff advance, no new output (valid-looking actions going nowhere — the subtlest failure); turn budget exceeded (runaway turns cost time, not just tokens); and a user interrupt — one event, because it's the strongest quality signal we have. Note that every one of these fires AFTER wasted actions — they're lagging indicators. The one leading indicator, a calibrated confidence score on the local model's own output, ships in Phase 3: it could fire ~5 seconds in instead of ~40. The cascade-routing literature says estimator quality is THE factor deciding whether a ladder beats its baselines — but calibrating it for tool-call output is open research, so it waits for flywheel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flagship scenario — walk the team through this one slowly. Turn 6, pytest is red, heuristic scores 0.48: middle band, routed local with cascade armed. The local model does fine at first: runs pytest, reads the file, forms the right diagnosis (strip input before strptime). Then it tries to edit — and Claude Code's Edit tool demands a BYTE-EXACT old_string match. The model regenerated the snippet from memory — tabs versus spaces — instead of copying from the Read result. 'String to replace not found in file.' Strike one. It tries again, whitespace differs again, strike two: trip-wire fires. Why local models hit exactly this wall: frontier models are heavily post-trained on this harness dialect; 30B locals are not. The failed attempt cost $0 and 41 seconds — the 41 seconds is the real price, and it's exactly why T_HARD exists: for clearly-hard turns we skip the local detour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in order. One: freeze at an action boundary — never mid-tool-call; request 5's tool_result is in, nothing is in flight. Two: rebuild the transcript for the higher rung — strip the local model's thinking blocks (Anthropic validates signatures; locally-generated ones won't verify, and foreign reasoning styles mislead anyway), re-key every tool_use/tool_result pair to fresh consistent IDs, keep tool_results verbatim because they're ground truth, and re-apply cache_control breakpoints for the new provider. Three: prepend a compact three-line failure note — costs ~100 tokens, saves the frontier model from re-walking the same dead end. Four: mark the session escalated — hysteresis keeps the rest of the episode up. Five: charge the switch honestly — escalation cold-starts the higher rung's cache, so the escalate-or-persist decision carries an explicit cache-loss term; flywheel data tells us when one more local attempt is cheaper than the rebuild. And the subtle bit engineers must not miss: the scrub is a STANDING transform. The harness's own client-side transcript still holds the local-era artifacts and replays them in EVERY subsequent request — so the ID map lives in session state and the scrubber re-runs until the episode ends. A one-shot rebuild would 400 on the very next continuation.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Investigating 'why is the rate limiter never triggering?', the local model greps for RateLimiter, gets 14 matches, then greps again with a trailing slash difference, then again. Three calls, same answer. Two lessons. First: the calls are NOT byte-identical — trailing slash, whitespace — so the loop detector must canonicalize before hashing: hash of tool name plus sorted, path-normalized args. Without that, it misses every cosmetically-different loop, which is most of them. Second: the backstop is the no-progress counter — across the last six actions, no file read that wasn't read before, no diff advanced, no new command output hash. That catches the subtler spiral where the model alternates between two greps and a read forever. The deep point: every action was schema-valid. A per-request validator would say 'all good'. Progress is a TRAJECTORY property — you cannot detect a loop if you can't remember the last request. This trip-wire is the single best argument for session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easy-band task — add a --verbose flag — right after the local rung switched to a new GGUF build. The model's answer comes back with the tool call as TEXT — a &lt;tool_call&gt; tag inside the text block — because llama.cpp's chat template didn't map the model's native tool-call tokens to the structured field. Claude Code sees a model that TALKED about calling a tool and never did. It nudges; the model does it again; two parse strikes; trip-wire. Now the labeling decision that makes or breaks the flywheel: this outcome is tagged dialect_failure and routed to the REGISTRY — tool-call reliability drops 0.87 → 0.79 rolling — and it is EXCLUDED from difficulty training. The user still gets escalated (user comes first), but the fix is operational: repin the chat template, correct the --jinja mapping, or drop the offending quant. If this had been labeled 'task too hard', the learned router would slowly conclude that adding CLI flags requires a frontier model. One tripwire enum field is the difference between a flywheel and a garbage compactor.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local model is 40 seconds into a meandering attempt at 'make the retry logic more robust'. The user hits Escape and types 'just add exponential backoff with jitter to fetch_with_retry'. On the wire, the previous turn now ends with the harness marker '[Request interrupted by user]'. The feature extractor sees high lexical overlap with the previous turn plus the interruption: retry_signal = true. And here's the counterintuitive part: the rephrased request scores EASIER than the original — a naive router would send it local again. The rule says otherwise: escalate the retry one rung, regardless of heuristic score. Why? An interrupt-then-rephrase is the only label in the whole system that comes straight from the human, in-band, within seconds. The user just told you the local model was annoying them. Believe them — and bank the label: log a hard negative for the interrupted route and a positive for the retry. These clean human labels are rare; the flywheel treats them as gold.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Mid-turn, request 4 of 9, the local server OOMs and the socket resets. What fires: LiteLLM's fallback chain — APIConnectionError is an INFRA failure, so LiteLLM retries, first the same model on another endpoint (MLX, same box), then cheap-cloud. No strikes, no trip-wire; the escalation controller never wakes up, because nothing was semantically wrong. Two ladders exist side by side: exceptions go to LiteLLM fallbacks; bad-but-valid responses go to our trip-wires. They share one session store — and that's where the classic bug lives: the post-call hook MUST update session.route to where the response ACTUALLY came from. If it doesn't, request 5's sticky lookup routes back to the dead endpoint, fails, falls back again — every subsequent request eats a timeout before succeeding. Also: LiteLLM's health checks mark the rung unhealthy, so it disappears from NEW turn decisions (the layer-0 gate). And note what fallback can't do: the cloud provider cold-starts the whole prefix — slow and full-price. Expected; log it as infra cost, not model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 23 of a long frontier session, 112k tokens of context, and the user asks for a commit message — heuristically the easiest thing all day, score 0.08. But the feasibility gate runs before difficulty logic ever sees it: 112k is far beyond 80% of the local model's practical 32k window, so the local rung is structurally out. The policy falls through to the cheapest rung that FITS — cheap-cloud with its 200k window — routed direct, no cascade. Note it's not hardcoded frontier: that would waste money on an easy turn. Why not just truncate to fit local? Because WHICH 26k of the 112k? The diff is spread across the transcript; naive tail-truncation loses the early design decisions the message should mention. Compression changes the task. There's a flagged Phase-3 upgrade — context carving: recognize intents whose true context is computable and small (a commit message needs git diff --staged plus the last user goal, about 2k tokens) and synthesize a fresh minimal request for local. Powerful, but it means the router starts editing prompts, with its own failure modes — kept out of v1 until the flywheel proves the savings.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 3: investigating a startup crash, the local model reads .env — and the tool result comes back full of credentials: a database URL with a password, an AWS secret key. The post-call scanner (regex plus entropy on tool_results, about a millisecond) matches, and the session is privacy-pinned: a ONE-WAY flag; only a new session clears it. Turn 7, same session: 'refactor the config loading' — genuinely hard, 0.74, above T_HARD, wants frontier. The pin wins, by construction: the gate runs at layer 0, so the difficulty logic never executes. There is no code path where 'it looked hard' outranks the pin. Then mid-turn the local model struggles — edit strike two, trip-wire fires — and the escalation controller checks the pin and REFUSES to go to cloud. Instead it surfaces three options to the user: continue locally with smaller steps, start a fresh session without the secret in context, or explicitly override the pin. Why not redact-and-escalate? The secret PROPAGATES: quoted in the tool_result, echoed in the model's turn-3 answer, possibly in later command output. Reliable retroactive redaction of a 40k-token transcript is a research problem; a one-way session pin is an if statement. Pin violations are an alarm with target zero, not a 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strongest gates can collide: a privacy-pinned session whose context outgrows the local rung has NO legal rung. Long pinned sessions hit this on schedule, and the sharpest case is auto-compaction: a pinned session at 150k tokens needs a summary that no permitted model can even read. Defined v1 behavior, three steps. At 60% of local context: early warning to the user — this session is pinned and growing, consider wrapping up or starting fresh. At 75%: forced LOCAL compaction, summarizing the transcript while it still fits, chunked if needed — the summary will be worse than a frontier one; that is the price of the pin, and we say so rather than hide it. Past feasibility: hard stop — refuse cloud escalation and present the same three options as S9. Never silently pick a cloud rung. One rule generates all three steps: the pin always wins; feasibility problems surface to the human rather than weaken the pin.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fresh episode: 'refactor auth to the new session service across api/, worker/ and cli/'. The heuristics see refactor-verb, 'across' plus three top-level directories, a migration keyword, six files in context: score 0.86, above T_HARD — direct to frontier, no local attempt, decided in 9 milliseconds. The arithmetic justifies it. The registry says p(local completes a 0.86 turn without trip-wire) is about 0.15, and a local attempt burns 60–90 seconds of wall-clock before the wire fires. Cascade-first expected cost: 0.85 × (75s wasted + full frontier cost anyway) + 0.15 × (free local win) ≈ a 64-second latency tax AND 85% of the frontier cost. Direct-to-frontier: frontier cost, zero wasted latency. Cascading only pays where p(local success) is decent — that is the entire job of T_HARD. And these hard turns are exactly where users are least tolerant of a 60-second wrong-model detour. Bonus economics: once the episode is on frontier, hysteresis is self-reinforcing — Anthropic's prompt cache holds the prefix, so turns 2–8 pay ~10% input price. Yo-yoing rungs would re-cold-start both caches every time. 'Adaptive' does not mean 'always try cheap first' — the router's most valuable decisions are the ones where it DECLINES to use the local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HTTP request is an isolated event; the router's whole value comes from remembering things ACROSS requests. This is the minimum viable memory per session. route is the hottest read — the sticky lookup on every continuation. active_turn_id feeds the discriminator. strikes are the trip-wire counters, incremented atomically because parallel tool results can race. escalated_this_episode drives hysteresis. privacy_pinned is the one-way flag — only a new session clears it. working_summary is a two-line rolling intent summary that resolves references like 'do the same for the other module'. tool_id_map is the post-escalation scrubber's map, applied to EVERY request after an escalation, not once. Session identity: prefer the harness's own session metadata (Claude Code sends session/user identifiers); fall back to a hash of system prompt plus first user message. State expires after about 4 hours idle — sessions end silently.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answer first: the router needs a shared whiteboard, and Redis is the boring, battle-tested thing that checks all five boxes with near-zero ops effort. The five requirements: SHARED — with multiple proxy workers, requests 12 and 13 of one session can land on different workers, and a dict in worker A is invisible to worker B, which would re-route mid-turn or, worse, ignore a privacy pin. FAST — the sticky lookup sits on the hot path of every request and must cost well under a millisecond. ATOMIC — parallel tool results race; increment-strikes must not lose updates; Redis INCR/HINCRBY are atomic. SELF-CLEANING — EXPIRE makes state evaporate after 4 hours idle, no janitor process. LOG PIPE — Redis Streams give the flywheel an append-only outcome feed for free. But be honest about today: a single proxy process on one machine is genuinely fine with an in-process dict behind a SessionStore interface. The interface is the design decision; Redis is just the default grown-up implementation, swapped in the day we run more than one worker. And the flywheel ARCHIVE never belongs in Redis — that's Postgres, SQLite, or parquet; Redis holds live state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session walks this graph. Fresh sessions route their first turn and become LocalSticky or FrontierSticky. Continuations self-loop — they inherit. A trip-wire moves the session up (escalate plus hysteresis). The ONLY way back down is an episode boundary plus an easy next turn. Detecting a secret from any state forces PrivacyPinned — an absorbing state: one-way, whole-session; the only exits are the 4-hour idle TTL. Three deliberate asymmetries to internalize: escalation is easy, de-escalation is hard (hysteresis prevents flip-flopping); the pin is one-way; and everything expires silently rather than requiring cleanup.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S3 escalation, turns 7–9 are refactor follow-ups: the hysteresis gate keeps them on frontier. Then turn 10: 'great, that's done. now write a README for the new config module'. The episode-boundary detector runs four cheap, local signals: did the previous turn end clean (no strikes, success summary)? Is there an explicit completion phrase ('that's done', 'great, now…')? Is the intent verb class new (write-new vs refactor)? Is file-overlap with the episode's touched-set low (README vs src/)? Here: three, arguably four, of four → new episode → hysteresis releases → heuristic scores 0.18 → back to local. The state machine walks FrontierSticky to LocalSticky through the only door that exists. Crucial tie-break: when the detector is UNSURE, it stays up — a wasted frontier turn costs cents; a premature de-escalation costs an S3 replay: a failed local attempt, a trip-wire, a rebuild, and user-visible latency.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counterfactual that closes the loop: suppose the router 'optimized' request 5 of an in-flight frontier turn down to local. In order of failure: FIRST a protocol break — the pending tool_result references toolu_F2, an ID minted by the other provider; the local endpoint has never seen it: hard 400. Anthropic breaks symmetrically on foreign IDs and additionally rejects replayed thinking blocks whose signatures don't verify; Codex's encrypted reasoning items are unreadable by anyone else, period. SECOND, even with perfect re-keying: cache demolition — llama.cpp prefills the full 60k prefix cold, roughly 60–70 seconds before the first token, and when you hop back the provider cache rebuilds too; you paid twice to go nowhere. THIRD: cognitive whiplash — the local model inherits half-executed frontier reasoning and flails convincingly. This is why sticky is NOT a tuning choice that Phase-3 ML might learn to override: it's protocol correctness first, economics second, model quality third. If the team remembers one sentence from the whole deck, it's the one at the bottom of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S3's 'fix the failing test' but run it under Codex CLI. Everything about the handshake changes. Codex speaks the Responses API and ONLY the Responses API — OpenAI removed the chat-completions wire from Codex in February 2026, so every 2025-era guide showing wire_api='chat' for local providers is broken; that's reportedly the #1 source of dead Codex-plus-local configs. Three consequences for our stack. One: translation is mandatory — llama.cpp and MLX serve chat-completions, so LiteLLM translates Responses to chat and back for the local rung; this double-translation seam is young and is exactly where S5-style parse failures breed — budget real testing. Two: encrypted reasoning items cannot cross rungs — they're provider-opaque by design, so any escalation that changes provider must DROP them entirely; keeping them is an instant 4xx. Three: the edit dialect flips — Codex edits via apply_patch, unified-diff-ish patches that tolerate the whitespace drift that killed S3; the registry prices this: the same Qwen model scores 0.93 under Codex vs 0.87 under Claude Code. So the same turn is medium under Claude Code but easy-ish under Codex — thresholds are per-harness values. The architectural summary: 'one router' is really a family of dialect adapters around one policy. Store the harness in session state at first contact; never re-detect it mid-session.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investigation turn wants to read three files. A frontier model under Claude Code emits ONE assistant message with three tool_use blocks; the harness executes all three and replies with one user message carrying three tool_results. One round-trip. The local rung can't be trusted with that yet: evals showed ID mismatches when the 30B model emits multiple blocks — orphaned tool_results, which the API rejects — so the registry says parallel_tool_calls: false and the llama.cpp template is configured single-call. Same investigation: three round-trips. Each is cheap, but turn latency is roughly 3× the round-trip overhead — and the router's wall-clock predictor must price that in: a medium fan-out investigation on local costs more TIME than its token count suggests. The failure mode if you don't enforce this is a confusing trifecta: the local model emits two tool_use blocks, one with a malformed ID; the harness's paired tool_result references an ID the API never saw; hard 400 — it LOOKS like an infra failure (S7) but is actually a dialect failure (S5). The registry flag prevents it from ever starting. Parallelism isn't a model capability or a harness feature — it's a negotiation between them, and the router referees it via the registry.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Mid-refactor on frontier, the model needs a side answer and emits a Task tool call: 'Find every place RateLimiter is configured, list file:line'. Claude Code opens a brand-new API conversation: fresh, smaller agent-specific system prompt, empty history, read-only tools. From the proxy's viewpoint it's a new session that happens to start mid-someone-else's-turn. The discriminator labels it subagent and keys it linked-but-separate: s_17.sub_3. Inheritance is surgical: the child inherits the parent's privacy pin — it can read the same files! — but NOT the parent's escalation state; difficulty gets a clean slate. Policy then sees a read-only scope, fresh 3k context, bounded task: textbook local. Five tool calls later the file:line list folds back into the parent's frontier turn as a tool_result. Why this matters economically: the frontier model does the thinking, and it generates perfectly-shaped local workloads — small context, clear goal, read-only. Sessions like this can push a MAJORITY of raw token volume to the local rung even while every hard thought stays frontier. Two keying traps: hash the subagent into the parent's key and its five requests corrupt the parent's strike counters; give it a fully independent key and it silently LOSES the privacy pin. Linked-but-separate: own state, inherited constraints.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an escalated session crosses about 92% of the context window, Claude Code auto-compacts: it sends the ENTIRE 150k-token transcript with a harness-generated prompt asking for a summary preserving task state, files modified, key decisions, pending work. It SMELLS like a utility call — harness prompt, no human text. It is not S1's title generation, for one reason: the output becomes the episode's memory. Every subsequent turn of this frontier-grade episode reasons from this summary; a weak local summary that drops 'we decided to keep the legacy API behind a flag' quietly poisons every later decision, and you'd never trace the regression back to the compactor. So the routing rule: compaction quality must match the EPISODE'S rung, not 'utility'. Frontier episode → cheap-cloud minimum (a Haiku-class model summarizes reliably; local-small can't even fit 150k input). Local episode → local is fine. This is why the discriminator carries a second utility label: utility:light versus utility:compaction — the one place the v1 discriminator needs it. Operational tail: post-compaction the prompt prefix is brand new, so provider cache and llama.cpp slots are cold; the next 1–2 requests are slow and full-price BY DESIGN. Exempt them from wall-clock trip-wire budgets, and don't let the flywheel record the spike as rung slowness.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routed turn appends one record joining three things: the features the router saw, the decision it made (and which layer made it), and the outcome — did it escalate, which trip-wire, how many local tokens were wasted, did the user retry, did the diff survive an hour. Three uses, in order of value. First, dashboards: is this thing actually saving money without hurting quality? Second, threshold tuning: move T_EASY and T_HARD where the escalation data says they belong. Third, training data for the Layer-2 learned router: features → 'did local succeed without escalation' is a clean supervised label, and the capture proxy makes this nearly free — we already store request/response pairs; adding route/outcome columns also lets us REPLAY historical sessions against candidate policies offline before risking live traffic. Label honesty warnings: user_retried and diff_survived_1h are noisy proxies — weight them accordingly, and never train on 'diff accepted' alone, because silence is not success. diff_survived_1h also needs an owner — a small git-watcher job no component currently provides; if it doesn't ship in v1, drop the field rather than log nulls.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ways to mount the layer. Option A — ship this first: an in-process LiteLLM hook; async_pre_call_hook runs before every completion and may rewrite the request. Utility → hard-pin local-small. Continuation → sticky lookup. User turn or subagent → full policy, store the route, stamp a route_id into metadata as the flywheel join key. Trip-wire evaluation lives in the post-call path. Option B — evolve to a small sidecar FastAPI service between capture proxy and LiteLLM when the hook starts accumulating ML dependencies: same logic, but policy deploys and retrains without touching the data plane. Why not LiteLLM's built-in routers? All three (auto-router, complexity, adaptive-beta) are per-request and stateless — they'd classify tool-result payloads, re-decide mid-turn, and have no concept of strikes, stickiness, episodes, or privacy pins. Use LiteLLM for execution; own the decision. The ownership table is the anti-double-plumbing contract: we own semantic decisions (difficulty, episodes, stickiness, trip-wires, the pin); LiteLLM owns mechanical enforcement (endpoint health and failover within a rung, retries, cooldowns, spend caps as the hard backstop under our dashboards). Context feasibility is deliberately both: we gate at decision time, LiteLLM's enable_pre_call_checks backstops at call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temptations, each refused for a reason worth remembering. Re-route every request 'for maximum adaptivity': destroys caches, splits one thought across two models — turns only. LLM-judge each local action mid-flight: the judge costs about as much as the task; mechanical trip-wires in-flight, judging offline in the flywheel. Cascade everything through local first: for clearly-hard turns the expected cost is local waste plus frontier anyway plus the user's time — direct-to-frontier is cheaper; cascading pays only where p(local succeeds) is decent. Let the learned router override privacy gates: gates run first structurally; an 'escalation' that leaks a secret is a security incident, not a quality miss. Trust public benchmarks for the registry: tool-call reliability is harness-dialect-specific; measure with your own eval pack.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0, shadow, week one: discriminator, features and policy run on live traffic but LOG DECISIONS ONLY; we also replay historical captures offline. Zero risk. Exit gate: predicted local share and escalation rate look sane on at least 200 real turns; router overhead p50 under 20ms; the best-single-model baseline computed on replayed traffic — the number Phase 3 must eventually beat; and two assumptions tested against real captures — is metadata.user_id per-session or per-user, and do tool-call IDs need re-minting cross-provider or only internal consistency. Phase 1: pin utility calls to local, hardcoded. Near-zero risk — worst case is uglier session titles. Exit: no harness breakage after a week. Phase 2: gates and heuristics live, trip-wires armed, kill switch back to static config. Moderate risk. Exit: escalation rate under 30%, user-retry rate on local-handled turns no worse than the frontier baseline, zero privacy-pin violations. Phase 3: the learned router takes the ambiguous middle, only after beating both heuristics-only and the Phase-0 baseline on replay, then a live A/B for dollars-per-turn at equal retry rate. Note the design discipline: Phases 0–2 are ML-free on purpose. Two weeks of Phase 0/1 also answers 'is this worth it?' with our own numbers before any user-visible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side: the seven numbers that decide whether this project succeeded. Router overhead: under 5ms on the sticky path, under 30ms on the decision path. Percent of turns fully handled locally: the headline savings number, tracked weekly. Escalation rate of cascaded turns: under 30% — above roughly 50%, cascading is losing money and T_HARD needs tightening. Regret: escalations that gates or heuristics should have sent direct — wall-clock wasted, drives threshold tuning. User-retry rate by rung: local must stay at or below the frontier baseline — this is the quality tripcord. Dollars per session and tokens per turn, before/after from capture logs. And privacy-pin violations: an alarm, not a metric — the target is zero, ever. Right side: the risk register those metrics guard. Silent quality degradation is caught by the retry tripcord plus sampled offline judging plus diff-survival tracking. Flywheel mislabeling is prevented by storing the trip-wire TYPE with every outcome. Prefill latency that makes local FEEL slow is handled by gating on predicted wall-clock, not tokens. Learned-router underperformance is fenced by the Phase-3 baseline gate. Scope creep is fenced by keeping Phases 0–2 ML-free.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 v1 went through a deep-research vetting pass: a multi-agent harness — 108 agents across 5 search angles — fetched 26 sources, extracted 129 claims, and adversarially verified the top 25 with 3-vote panels: 23 confirmed, 2 refuted, 0 unverified. The verdict: directionally aligned with mid-2026 best practice. The strongest convergences: GitHub Copilot's production Auto router independently converged on sticky, cache-boundary routing — 'switching models mid-conversation breaks that cache, which can cost more than the routing change saves' — and runs a real-time health engine co-equal with its task router, which we adopted as the layer-0 health gate. OpenRouter's architecture validated the rung/endpoint split. GitHub's harness benchmarking and Harness-Bench (same model, up to 16 points across harnesses) validated keying the registry on (model, harness) pairs. And LLMRouterBench justified the humility about learned routers. The v1-to-v2 changelog came from these findings. Still open, and honestly held: no public benchmark exists for learned routing on multi-turn agentic traffic — ours would be first — and no verified evidence surfaced on privacy-driven routing constraints, meaning the one-way pin is unvalidated against, and possibly ahead of, industry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principles. Route turns, not requests — one thought, one model. Escalate on evidence, not vibes — mechanical trip-wires, handover with the full chart. Gates before difficulty — feasibility and privacy outrank 'it looked easy'. The pin always wins — feasibility problems surface to the human, never weaken the pin. Dumb rules on purpose — the learned router earns its way in against a best-single-model baseline, or it doesn't ship. Where to go next: the design doc for architecture and §16's changelog, the scenarios doc to see every one of these principles on the wire, and the vetting report for the evidence trail. Phase 0 is a week of shadow-mode logging — the fastest way to make this concrete is to start reading our own captured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slideLayout" Target="../slideLayouts/slideLayout1.xml"/><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slideLayout" Target="../slideLayouts/slideLayout1.xml"/><Relationship Id="rId7"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23A"/>
        </a:solidFill>
      </p:bgPr>
    </p:bg>
    <p:spTree>
      <p:nvGrpSpPr>
        <p:cNvPr id="1" name=""/>
        <p:cNvGrpSpPr/>
        <p:nvPr/>
      </p:nvGrpSpPr>
      <p:grpSpPr>
        <a:xfrm>
          <a:off x="0" y="0"/>
          <a:ext cx="0" cy="0"/>
          <a:chOff x="0" y="0"/>
          <a:chExt cx="0" cy="0"/>
        </a:xfrm>
      </p:grpSpPr>
      <p:sp>
        <p:nvSpPr>
          <p:cNvPr id="2" name="Text 0"/>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FB0C7"/>
                </a:solidFill>
                <a:latin typeface="Calibri" pitchFamily="34" charset="0"/>
                <a:ea typeface="Calibri" pitchFamily="34" charset="-122"/>
                <a:cs typeface="Calibri" pitchFamily="34" charset="-120"/>
              </a:rPr>
              <a:t>1</a:t>
            </a:r>
            <a:endParaRPr lang="en-US" sz="900" dirty="0"/>
          </a:p>
        </p:txBody>
      </p:sp>
      <p:sp>
        <p:nvSpPr>
          <p:cNvPr id="4" name="Text 1"/>
          <p:cNvSpPr/>
          <p:nvPr/>
        </p:nvSpPr>
        <p:spPr>
          <a:xfrm>
            <a:off x="822960" y="1170432"/>
            <a:ext cx="7315200" cy="274320"/>
          </a:xfrm>
          <a:prstGeom prst="rect">
            <a:avLst/>
          </a:prstGeom>
          <a:noFill/>
          <a:ln/>
        </p:spPr>
        <p:txBody>
          <a:bodyPr wrap="square" lIns="0" tIns="0" rIns="0" bIns="0" rtlCol="0" anchor="t"/>
          <a:lstStyle/>
          <a:p>
            <a:pPr algn="l" indent="0" marL="0">
              <a:buNone/>
            </a:pPr>
            <a:r>
              <a:rPr lang="en-US" sz="1100" b="1" spc="300" kern="0" dirty="0">
                <a:solidFill>
                  <a:srgbClr val="9FB0C7"/>
                </a:solidFill>
                <a:latin typeface="Calibri" pitchFamily="34" charset="0"/>
                <a:ea typeface="Calibri" pitchFamily="34" charset="-122"/>
                <a:cs typeface="Calibri" pitchFamily="34" charset="-120"/>
              </a:rPr>
              <a:t>ENGINEERING DESIGN HANDOVER · DRAFT V2</a:t>
            </a:r>
            <a:endParaRPr lang="en-US" sz="1100" dirty="0"/>
          </a:p>
        </p:txBody>
      </p:sp>
      <p:sp>
        <p:nvSpPr>
          <p:cNvPr id="5" name="Text 2"/>
          <p:cNvSpPr/>
          <p:nvPr/>
        </p:nvSpPr>
        <p:spPr>
          <a:xfrm>
            <a:off x="822960" y="1517904"/>
            <a:ext cx="6858000" cy="1463040"/>
          </a:xfrm>
          <a:prstGeom prst="rect">
            <a:avLst/>
          </a:prstGeom>
          <a:noFill/>
          <a:ln/>
        </p:spPr>
        <p:txBody>
          <a:bodyPr wrap="square" lIns="0" tIns="0" rIns="0" bIns="0" rtlCol="0" anchor="t"/>
          <a:lstStyle/>
          <a:p>
            <a:pPr algn="l" indent="0" marL="0">
              <a:buNone/>
            </a:pPr>
            <a:r>
              <a:rPr lang="en-US" sz="4400" b="1" dirty="0">
                <a:solidFill>
                  <a:srgbClr val="EAF0F8"/>
                </a:solidFill>
                <a:latin typeface="Cambria" pitchFamily="34" charset="0"/>
                <a:ea typeface="Cambria" pitchFamily="34" charset="-122"/>
                <a:cs typeface="Cambria" pitchFamily="34" charset="-120"/>
              </a:rPr>
              <a:t>The Adaptive Routing Layer</a:t>
            </a:r>
            <a:endParaRPr lang="en-US" sz="4400" dirty="0"/>
          </a:p>
        </p:txBody>
      </p:sp>
      <p:sp>
        <p:nvSpPr>
          <p:cNvPr id="6" name="Text 3"/>
          <p:cNvSpPr/>
          <p:nvPr/>
        </p:nvSpPr>
        <p:spPr>
          <a:xfrm>
            <a:off x="822960" y="2880360"/>
            <a:ext cx="6675120" cy="1005840"/>
          </a:xfrm>
          <a:prstGeom prst="rect">
            <a:avLst/>
          </a:prstGeom>
          <a:noFill/>
          <a:ln/>
        </p:spPr>
        <p:txBody>
          <a:bodyPr wrap="square" lIns="0" tIns="0" rIns="0" bIns="0" rtlCol="0" anchor="t"/>
          <a:lstStyle/>
          <a:p>
            <a:pPr algn="l" indent="0" marL="0">
              <a:lnSpc>
                <a:spcPct val="115000"/>
              </a:lnSpc>
              <a:buNone/>
            </a:pPr>
            <a:r>
              <a:rPr lang="en-US" sz="1500" dirty="0">
                <a:solidFill>
                  <a:srgbClr val="9FB0C7"/>
                </a:solidFill>
                <a:latin typeface="Calibri" pitchFamily="34" charset="0"/>
                <a:ea typeface="Calibri" pitchFamily="34" charset="-122"/>
                <a:cs typeface="Calibri" pitchFamily="34" charset="-120"/>
              </a:rPr>
              <a:t>How every piece of coding-agent work finds the cheapest model that can actually do it — and gets handed upward the moment that bet starts failing.</a:t>
            </a:r>
            <a:endParaRPr lang="en-US" sz="1500" dirty="0"/>
          </a:p>
        </p:txBody>
      </p:sp>
      <p:sp>
        <p:nvSpPr>
          <p:cNvPr id="7" name="Shape 4"/>
          <p:cNvSpPr/>
          <p:nvPr/>
        </p:nvSpPr>
        <p:spPr>
          <a:xfrm>
            <a:off x="8412480" y="1417320"/>
            <a:ext cx="3063240" cy="841248"/>
          </a:xfrm>
          <a:prstGeom prst="roundRect">
            <a:avLst>
              <a:gd name="adj" fmla="val 7609"/>
            </a:avLst>
          </a:prstGeom>
          <a:solidFill>
            <a:srgbClr val="20334F"/>
          </a:solidFill>
          <a:ln/>
          <a:effectLst>
            <a:outerShdw sx="100000" sy="100000" kx="0" ky="0" algn="bl" rotWithShape="0" blurRad="88900" dist="25400" dir="2700000">
              <a:srgbClr val="1F2A3D">
                <a:alpha val="14000"/>
              </a:srgbClr>
            </a:outerShdw>
          </a:effectLst>
        </p:spPr>
      </p:sp>
      <p:sp>
        <p:nvSpPr>
          <p:cNvPr id="8" name="Shape 5"/>
          <p:cNvSpPr/>
          <p:nvPr/>
        </p:nvSpPr>
        <p:spPr>
          <a:xfrm>
            <a:off x="8577072" y="1627632"/>
            <a:ext cx="420624" cy="420624"/>
          </a:xfrm>
          <a:prstGeom prst="ellipse">
            <a:avLst/>
          </a:prstGeom>
          <a:solidFill>
            <a:srgbClr val="5B21B6"/>
          </a:solidFill>
          <a:ln/>
        </p:spPr>
      </p:sp>
      <p:pic>
        <p:nvPicPr>
          <p:cNvPr id="9" name="Image 0" descr="preencoded.png">    </p:cNvPr>
          <p:cNvPicPr>
            <a:picLocks noChangeAspect="1"/>
          </p:cNvPicPr>
          <p:nvPr/>
        </p:nvPicPr>
        <p:blipFill>
          <a:blip r:embed="rId1"/>
          <a:stretch>
            <a:fillRect/>
          </a:stretch>
        </p:blipFill>
        <p:spPr>
          <a:xfrm>
            <a:off x="8686434" y="1736994"/>
            <a:ext cx="201900" cy="201900"/>
          </a:xfrm>
          <a:prstGeom prst="rect">
            <a:avLst/>
          </a:prstGeom>
        </p:spPr>
      </p:pic>
      <p:sp>
        <p:nvSpPr>
          <p:cNvPr id="10" name="Text 6"/>
          <p:cNvSpPr/>
          <p:nvPr/>
        </p:nvSpPr>
        <p:spPr>
          <a:xfrm>
            <a:off x="9144000" y="1563624"/>
            <a:ext cx="2240280" cy="274320"/>
          </a:xfrm>
          <a:prstGeom prst="rect">
            <a:avLst/>
          </a:prstGeom>
          <a:noFill/>
          <a:ln/>
        </p:spPr>
        <p:txBody>
          <a:bodyPr wrap="square" lIns="0" tIns="0" rIns="0" bIns="0" rtlCol="0" anchor="t"/>
          <a:lstStyle/>
          <a:p>
            <a:pPr algn="l" indent="0" marL="0">
              <a:buNone/>
            </a:pPr>
            <a:r>
              <a:rPr lang="en-US" sz="1250" b="1" spc="100" kern="0" dirty="0">
                <a:solidFill>
                  <a:srgbClr val="EAF0F8"/>
                </a:solidFill>
                <a:latin typeface="Calibri" pitchFamily="34" charset="0"/>
                <a:ea typeface="Calibri" pitchFamily="34" charset="-122"/>
                <a:cs typeface="Calibri" pitchFamily="34" charset="-120"/>
              </a:rPr>
              <a:t>FRONTIER</a:t>
            </a:r>
            <a:endParaRPr lang="en-US" sz="1250" dirty="0"/>
          </a:p>
        </p:txBody>
      </p:sp>
      <p:sp>
        <p:nvSpPr>
          <p:cNvPr id="11" name="Text 7"/>
          <p:cNvSpPr/>
          <p:nvPr/>
        </p:nvSpPr>
        <p:spPr>
          <a:xfrm>
            <a:off x="9144000" y="1856232"/>
            <a:ext cx="2240280" cy="274320"/>
          </a:xfrm>
          <a:prstGeom prst="rect">
            <a:avLst/>
          </a:prstGeom>
          <a:noFill/>
          <a:ln/>
        </p:spPr>
        <p:txBody>
          <a:bodyPr wrap="square" lIns="0" tIns="0" rIns="0" bIns="0" rtlCol="0" anchor="t"/>
          <a:lstStyle/>
          <a:p>
            <a:pPr algn="l" indent="0" marL="0">
              <a:buNone/>
            </a:pPr>
            <a:r>
              <a:rPr lang="en-US" sz="950" dirty="0">
                <a:solidFill>
                  <a:srgbClr val="9FB0C7"/>
                </a:solidFill>
                <a:latin typeface="Calibri" pitchFamily="34" charset="0"/>
                <a:ea typeface="Calibri" pitchFamily="34" charset="-122"/>
                <a:cs typeface="Calibri" pitchFamily="34" charset="-120"/>
              </a:rPr>
              <a:t>Opus / GPT-5 class · $15 /Mtok</a:t>
            </a:r>
            <a:endParaRPr lang="en-US" sz="950" dirty="0"/>
          </a:p>
        </p:txBody>
      </p:sp>
      <p:sp>
        <p:nvSpPr>
          <p:cNvPr id="12" name="Shape 8"/>
          <p:cNvSpPr/>
          <p:nvPr/>
        </p:nvSpPr>
        <p:spPr>
          <a:xfrm>
            <a:off x="8412480" y="2514600"/>
            <a:ext cx="3063240" cy="841248"/>
          </a:xfrm>
          <a:prstGeom prst="roundRect">
            <a:avLst>
              <a:gd name="adj" fmla="val 7609"/>
            </a:avLst>
          </a:prstGeom>
          <a:solidFill>
            <a:srgbClr val="20334F"/>
          </a:solidFill>
          <a:ln/>
          <a:effectLst>
            <a:outerShdw sx="100000" sy="100000" kx="0" ky="0" algn="bl" rotWithShape="0" blurRad="88900" dist="25400" dir="2700000">
              <a:srgbClr val="1F2A3D">
                <a:alpha val="14000"/>
              </a:srgbClr>
            </a:outerShdw>
          </a:effectLst>
        </p:spPr>
      </p:sp>
      <p:sp>
        <p:nvSpPr>
          <p:cNvPr id="13" name="Shape 9"/>
          <p:cNvSpPr/>
          <p:nvPr/>
        </p:nvSpPr>
        <p:spPr>
          <a:xfrm>
            <a:off x="8577072" y="2724912"/>
            <a:ext cx="420624" cy="420624"/>
          </a:xfrm>
          <a:prstGeom prst="ellipse">
            <a:avLst/>
          </a:prstGeom>
          <a:solidFill>
            <a:srgbClr val="B45309"/>
          </a:solidFill>
          <a:ln/>
        </p:spPr>
      </p:sp>
      <p:pic>
        <p:nvPicPr>
          <p:cNvPr id="14" name="Image 1" descr="preencoded.png">    </p:cNvPr>
          <p:cNvPicPr>
            <a:picLocks noChangeAspect="1"/>
          </p:cNvPicPr>
          <p:nvPr/>
        </p:nvPicPr>
        <p:blipFill>
          <a:blip r:embed="rId2"/>
          <a:stretch>
            <a:fillRect/>
          </a:stretch>
        </p:blipFill>
        <p:spPr>
          <a:xfrm>
            <a:off x="8686434" y="2834274"/>
            <a:ext cx="201900" cy="201900"/>
          </a:xfrm>
          <a:prstGeom prst="rect">
            <a:avLst/>
          </a:prstGeom>
        </p:spPr>
      </p:pic>
      <p:sp>
        <p:nvSpPr>
          <p:cNvPr id="15" name="Text 10"/>
          <p:cNvSpPr/>
          <p:nvPr/>
        </p:nvSpPr>
        <p:spPr>
          <a:xfrm>
            <a:off x="9144000" y="2660904"/>
            <a:ext cx="2240280" cy="274320"/>
          </a:xfrm>
          <a:prstGeom prst="rect">
            <a:avLst/>
          </a:prstGeom>
          <a:noFill/>
          <a:ln/>
        </p:spPr>
        <p:txBody>
          <a:bodyPr wrap="square" lIns="0" tIns="0" rIns="0" bIns="0" rtlCol="0" anchor="t"/>
          <a:lstStyle/>
          <a:p>
            <a:pPr algn="l" indent="0" marL="0">
              <a:buNone/>
            </a:pPr>
            <a:r>
              <a:rPr lang="en-US" sz="1250" b="1" spc="100" kern="0" dirty="0">
                <a:solidFill>
                  <a:srgbClr val="EAF0F8"/>
                </a:solidFill>
                <a:latin typeface="Calibri" pitchFamily="34" charset="0"/>
                <a:ea typeface="Calibri" pitchFamily="34" charset="-122"/>
                <a:cs typeface="Calibri" pitchFamily="34" charset="-120"/>
              </a:rPr>
              <a:t>CHEAP CLOUD</a:t>
            </a:r>
            <a:endParaRPr lang="en-US" sz="1250" dirty="0"/>
          </a:p>
        </p:txBody>
      </p:sp>
      <p:sp>
        <p:nvSpPr>
          <p:cNvPr id="16" name="Text 11"/>
          <p:cNvSpPr/>
          <p:nvPr/>
        </p:nvSpPr>
        <p:spPr>
          <a:xfrm>
            <a:off x="9144000" y="2953512"/>
            <a:ext cx="2240280" cy="274320"/>
          </a:xfrm>
          <a:prstGeom prst="rect">
            <a:avLst/>
          </a:prstGeom>
          <a:noFill/>
          <a:ln/>
        </p:spPr>
        <p:txBody>
          <a:bodyPr wrap="square" lIns="0" tIns="0" rIns="0" bIns="0" rtlCol="0" anchor="t"/>
          <a:lstStyle/>
          <a:p>
            <a:pPr algn="l" indent="0" marL="0">
              <a:buNone/>
            </a:pPr>
            <a:r>
              <a:rPr lang="en-US" sz="950" dirty="0">
                <a:solidFill>
                  <a:srgbClr val="9FB0C7"/>
                </a:solidFill>
                <a:latin typeface="Calibri" pitchFamily="34" charset="0"/>
                <a:ea typeface="Calibri" pitchFamily="34" charset="-122"/>
                <a:cs typeface="Calibri" pitchFamily="34" charset="-120"/>
              </a:rPr>
              <a:t>Haiku / mini class · $1 /Mtok</a:t>
            </a:r>
            <a:endParaRPr lang="en-US" sz="950" dirty="0"/>
          </a:p>
        </p:txBody>
      </p:sp>
      <p:sp>
        <p:nvSpPr>
          <p:cNvPr id="17" name="Shape 12"/>
          <p:cNvSpPr/>
          <p:nvPr/>
        </p:nvSpPr>
        <p:spPr>
          <a:xfrm>
            <a:off x="8412480" y="3611880"/>
            <a:ext cx="3063240" cy="841248"/>
          </a:xfrm>
          <a:prstGeom prst="roundRect">
            <a:avLst>
              <a:gd name="adj" fmla="val 7609"/>
            </a:avLst>
          </a:prstGeom>
          <a:solidFill>
            <a:srgbClr val="20334F"/>
          </a:solidFill>
          <a:ln/>
          <a:effectLst>
            <a:outerShdw sx="100000" sy="100000" kx="0" ky="0" algn="bl" rotWithShape="0" blurRad="88900" dist="25400" dir="2700000">
              <a:srgbClr val="1F2A3D">
                <a:alpha val="14000"/>
              </a:srgbClr>
            </a:outerShdw>
          </a:effectLst>
        </p:spPr>
      </p:sp>
      <p:sp>
        <p:nvSpPr>
          <p:cNvPr id="18" name="Shape 13"/>
          <p:cNvSpPr/>
          <p:nvPr/>
        </p:nvSpPr>
        <p:spPr>
          <a:xfrm>
            <a:off x="8577072" y="3822192"/>
            <a:ext cx="420624" cy="420624"/>
          </a:xfrm>
          <a:prstGeom prst="ellipse">
            <a:avLst/>
          </a:prstGeom>
          <a:solidFill>
            <a:srgbClr val="1F7A55"/>
          </a:solidFill>
          <a:ln/>
        </p:spPr>
      </p:sp>
      <p:pic>
        <p:nvPicPr>
          <p:cNvPr id="19" name="Image 2" descr="preencoded.png">    </p:cNvPr>
          <p:cNvPicPr>
            <a:picLocks noChangeAspect="1"/>
          </p:cNvPicPr>
          <p:nvPr/>
        </p:nvPicPr>
        <p:blipFill>
          <a:blip r:embed="rId3"/>
          <a:stretch>
            <a:fillRect/>
          </a:stretch>
        </p:blipFill>
        <p:spPr>
          <a:xfrm>
            <a:off x="8686434" y="3931554"/>
            <a:ext cx="201900" cy="201900"/>
          </a:xfrm>
          <a:prstGeom prst="rect">
            <a:avLst/>
          </a:prstGeom>
        </p:spPr>
      </p:pic>
      <p:sp>
        <p:nvSpPr>
          <p:cNvPr id="20" name="Text 14"/>
          <p:cNvSpPr/>
          <p:nvPr/>
        </p:nvSpPr>
        <p:spPr>
          <a:xfrm>
            <a:off x="9144000" y="3758184"/>
            <a:ext cx="2240280" cy="274320"/>
          </a:xfrm>
          <a:prstGeom prst="rect">
            <a:avLst/>
          </a:prstGeom>
          <a:noFill/>
          <a:ln/>
        </p:spPr>
        <p:txBody>
          <a:bodyPr wrap="square" lIns="0" tIns="0" rIns="0" bIns="0" rtlCol="0" anchor="t"/>
          <a:lstStyle/>
          <a:p>
            <a:pPr algn="l" indent="0" marL="0">
              <a:buNone/>
            </a:pPr>
            <a:r>
              <a:rPr lang="en-US" sz="1250" b="1" spc="100" kern="0" dirty="0">
                <a:solidFill>
                  <a:srgbClr val="EAF0F8"/>
                </a:solidFill>
                <a:latin typeface="Calibri" pitchFamily="34" charset="0"/>
                <a:ea typeface="Calibri" pitchFamily="34" charset="-122"/>
                <a:cs typeface="Calibri" pitchFamily="34" charset="-120"/>
              </a:rPr>
              <a:t>LOCAL</a:t>
            </a:r>
            <a:endParaRPr lang="en-US" sz="1250" dirty="0"/>
          </a:p>
        </p:txBody>
      </p:sp>
      <p:sp>
        <p:nvSpPr>
          <p:cNvPr id="21" name="Text 15"/>
          <p:cNvSpPr/>
          <p:nvPr/>
        </p:nvSpPr>
        <p:spPr>
          <a:xfrm>
            <a:off x="9144000" y="4050792"/>
            <a:ext cx="2240280" cy="274320"/>
          </a:xfrm>
          <a:prstGeom prst="rect">
            <a:avLst/>
          </a:prstGeom>
          <a:noFill/>
          <a:ln/>
        </p:spPr>
        <p:txBody>
          <a:bodyPr wrap="square" lIns="0" tIns="0" rIns="0" bIns="0" rtlCol="0" anchor="t"/>
          <a:lstStyle/>
          <a:p>
            <a:pPr algn="l" indent="0" marL="0">
              <a:buNone/>
            </a:pPr>
            <a:r>
              <a:rPr lang="en-US" sz="950" dirty="0">
                <a:solidFill>
                  <a:srgbClr val="9FB0C7"/>
                </a:solidFill>
                <a:latin typeface="Calibri" pitchFamily="34" charset="0"/>
                <a:ea typeface="Calibri" pitchFamily="34" charset="-122"/>
                <a:cs typeface="Calibri" pitchFamily="34" charset="-120"/>
              </a:rPr>
              <a:t>qwen3-coder-30b · $0 · private</a:t>
            </a:r>
            <a:endParaRPr lang="en-US" sz="950" dirty="0"/>
          </a:p>
        </p:txBody>
      </p:sp>
      <p:sp>
        <p:nvSpPr>
          <p:cNvPr id="22" name="Shape 16"/>
          <p:cNvSpPr/>
          <p:nvPr/>
        </p:nvSpPr>
        <p:spPr>
          <a:xfrm>
            <a:off x="8028432" y="4251960"/>
            <a:ext cx="0" cy="-2606040"/>
          </a:xfrm>
          <a:prstGeom prst="line">
            <a:avLst/>
          </a:prstGeom>
          <a:noFill/>
          <a:ln w="25400">
            <a:solidFill>
              <a:srgbClr val="9FB0C7"/>
            </a:solidFill>
            <a:prstDash val="solid"/>
            <a:headEnd type="none"/>
            <a:tailEnd type="triangle"/>
          </a:ln>
        </p:spPr>
      </p:sp>
      <p:sp>
        <p:nvSpPr>
          <p:cNvPr id="23" name="Text 17"/>
          <p:cNvSpPr/>
          <p:nvPr/>
        </p:nvSpPr>
        <p:spPr>
          <a:xfrm>
            <a:off x="7845552" y="4370832"/>
            <a:ext cx="1554480" cy="502920"/>
          </a:xfrm>
          <a:prstGeom prst="rect">
            <a:avLst/>
          </a:prstGeom>
          <a:noFill/>
          <a:ln/>
        </p:spPr>
        <p:txBody>
          <a:bodyPr wrap="square" lIns="0" tIns="0" rIns="0" bIns="0" rtlCol="0" anchor="t"/>
          <a:lstStyle/>
          <a:p>
            <a:pPr algn="l" indent="0" marL="0">
              <a:buNone/>
            </a:pPr>
            <a:r>
              <a:rPr lang="en-US" sz="900" i="1" dirty="0">
                <a:solidFill>
                  <a:srgbClr val="9FB0C7"/>
                </a:solidFill>
                <a:latin typeface="Calibri" pitchFamily="34" charset="0"/>
                <a:ea typeface="Calibri" pitchFamily="34" charset="-122"/>
                <a:cs typeface="Calibri" pitchFamily="34" charset="-120"/>
              </a:rPr>
              <a:t>escalate on evidence</a:t>
            </a:r>
            <a:endParaRPr lang="en-US" sz="900" dirty="0"/>
          </a:p>
        </p:txBody>
      </p:sp>
      <p:sp>
        <p:nvSpPr>
          <p:cNvPr id="24" name="Text 18"/>
          <p:cNvSpPr/>
          <p:nvPr/>
        </p:nvSpPr>
        <p:spPr>
          <a:xfrm>
            <a:off x="822960" y="6035040"/>
            <a:ext cx="10515600" cy="274320"/>
          </a:xfrm>
          <a:prstGeom prst="rect">
            <a:avLst/>
          </a:prstGeom>
          <a:noFill/>
          <a:ln/>
        </p:spPr>
        <p:txBody>
          <a:bodyPr wrap="square" lIns="0" tIns="0" rIns="0" bIns="0" rtlCol="0" anchor="t"/>
          <a:lstStyle/>
          <a:p>
            <a:pPr algn="l" indent="0" marL="0">
              <a:buNone/>
            </a:pPr>
            <a:r>
              <a:rPr lang="en-US" sz="1050" dirty="0">
                <a:solidFill>
                  <a:srgbClr val="9FB0C7"/>
                </a:solidFill>
                <a:latin typeface="Calibri" pitchFamily="34" charset="0"/>
                <a:ea typeface="Calibri" pitchFamily="34" charset="-122"/>
                <a:cs typeface="Calibri" pitchFamily="34" charset="-120"/>
              </a:rPr>
              <a:t>Sources: adaptive-routing-layer-design.md (v2) · adaptive-routing-scenarios.md (15 traces) · deep-research-vetting.md</a:t>
            </a:r>
            <a:endParaRPr lang="en-US" sz="1050" dirty="0"/>
          </a:p>
        </p:txBody>
      </p:sp>
      <p:sp>
        <p:nvSpPr>
          <p:cNvPr id="25" name="Text 19"/>
          <p:cNvSpPr/>
          <p:nvPr/>
        </p:nvSpPr>
        <p:spPr>
          <a:xfrm>
            <a:off x="822960" y="6355080"/>
            <a:ext cx="5486400" cy="274320"/>
          </a:xfrm>
          <a:prstGeom prst="rect">
            <a:avLst/>
          </a:prstGeom>
          <a:noFill/>
          <a:ln/>
        </p:spPr>
        <p:txBody>
          <a:bodyPr wrap="square" lIns="0" tIns="0" rIns="0" bIns="0" rtlCol="0" anchor="t"/>
          <a:lstStyle/>
          <a:p>
            <a:pPr algn="l" indent="0" marL="0">
              <a:buNone/>
            </a:pPr>
            <a:r>
              <a:rPr lang="en-US" sz="1050" dirty="0">
                <a:solidFill>
                  <a:srgbClr val="9FB0C7"/>
                </a:solidFill>
                <a:latin typeface="Calibri" pitchFamily="34" charset="0"/>
                <a:ea typeface="Calibri" pitchFamily="34" charset="-122"/>
                <a:cs typeface="Calibri" pitchFamily="34" charset="-120"/>
              </a:rPr>
              <a:t>Arun · July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ORIENTATION</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What this deck covers — and how to read it</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README · design doc §1–§16 · scenarios S1–S15</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2</a:t>
            </a:r>
            <a:endParaRPr lang="en-US" sz="900" dirty="0"/>
          </a:p>
        </p:txBody>
      </p:sp>
      <p:sp>
        <p:nvSpPr>
          <p:cNvPr id="7" name="Shape 4"/>
          <p:cNvSpPr/>
          <p:nvPr/>
        </p:nvSpPr>
        <p:spPr>
          <a:xfrm>
            <a:off x="548640" y="1426464"/>
            <a:ext cx="457200" cy="457200"/>
          </a:xfrm>
          <a:prstGeom prst="ellipse">
            <a:avLst/>
          </a:prstGeom>
          <a:solidFill>
            <a:srgbClr val="20334F"/>
          </a:solidFill>
          <a:ln/>
        </p:spPr>
      </p:sp>
      <p:pic>
        <p:nvPicPr>
          <p:cNvPr id="8" name="Image 0" descr="preencoded.png">    </p:cNvPr>
          <p:cNvPicPr>
            <a:picLocks noChangeAspect="1"/>
          </p:cNvPicPr>
          <p:nvPr/>
        </p:nvPicPr>
        <p:blipFill>
          <a:blip r:embed="rId1"/>
          <a:stretch>
            <a:fillRect/>
          </a:stretch>
        </p:blipFill>
        <p:spPr>
          <a:xfrm>
            <a:off x="667512" y="1545336"/>
            <a:ext cx="219456" cy="219456"/>
          </a:xfrm>
          <a:prstGeom prst="rect">
            <a:avLst/>
          </a:prstGeom>
        </p:spPr>
      </p:pic>
      <p:sp>
        <p:nvSpPr>
          <p:cNvPr id="9" name="Text 5"/>
          <p:cNvSpPr/>
          <p:nvPr/>
        </p:nvSpPr>
        <p:spPr>
          <a:xfrm>
            <a:off x="1234440" y="1371600"/>
            <a:ext cx="3931920" cy="274320"/>
          </a:xfrm>
          <a:prstGeom prst="rect">
            <a:avLst/>
          </a:prstGeom>
          <a:noFill/>
          <a:ln/>
        </p:spPr>
        <p:txBody>
          <a:bodyPr wrap="square" lIns="0" tIns="0" rIns="0" bIns="0" rtlCol="0" anchor="t"/>
          <a:lstStyle/>
          <a:p>
            <a:pPr algn="l" indent="0" marL="0">
              <a:buNone/>
            </a:pPr>
            <a:r>
              <a:rPr lang="en-US" sz="1350" b="1" dirty="0">
                <a:solidFill>
                  <a:srgbClr val="1F2A3D"/>
                </a:solidFill>
                <a:latin typeface="Calibri" pitchFamily="34" charset="0"/>
                <a:ea typeface="Calibri" pitchFamily="34" charset="-122"/>
                <a:cs typeface="Calibri" pitchFamily="34" charset="-120"/>
              </a:rPr>
              <a:t>Part 1 — The core idea</a:t>
            </a:r>
            <a:endParaRPr lang="en-US" sz="1350" dirty="0"/>
          </a:p>
        </p:txBody>
      </p:sp>
      <p:sp>
        <p:nvSpPr>
          <p:cNvPr id="10" name="Text 6"/>
          <p:cNvSpPr/>
          <p:nvPr/>
        </p:nvSpPr>
        <p:spPr>
          <a:xfrm>
            <a:off x="1234440" y="1655064"/>
            <a:ext cx="5120640" cy="274320"/>
          </a:xfrm>
          <a:prstGeom prst="rect">
            <a:avLst/>
          </a:prstGeom>
          <a:noFill/>
          <a:ln/>
        </p:spPr>
        <p:txBody>
          <a:bodyPr wrap="square" lIns="0" tIns="0" rIns="0" bIns="0" rtlCol="0" anchor="t"/>
          <a:lstStyle/>
          <a:p>
            <a:pPr algn="l" indent="0" marL="0">
              <a:buNone/>
            </a:pPr>
            <a:r>
              <a:rPr lang="en-US" sz="1100" dirty="0">
                <a:solidFill>
                  <a:srgbClr val="5D6B7E"/>
                </a:solidFill>
                <a:latin typeface="Calibri" pitchFamily="34" charset="0"/>
                <a:ea typeface="Calibri" pitchFamily="34" charset="-122"/>
                <a:cs typeface="Calibri" pitchFamily="34" charset="-120"/>
              </a:rPr>
              <a:t>Route turns, not requests — and why</a:t>
            </a:r>
            <a:endParaRPr lang="en-US" sz="1100" dirty="0"/>
          </a:p>
        </p:txBody>
      </p:sp>
      <p:sp>
        <p:nvSpPr>
          <p:cNvPr id="11" name="Text 7"/>
          <p:cNvSpPr/>
          <p:nvPr/>
        </p:nvSpPr>
        <p:spPr>
          <a:xfrm>
            <a:off x="5806440" y="1417320"/>
            <a:ext cx="1463040" cy="274320"/>
          </a:xfrm>
          <a:prstGeom prst="rect">
            <a:avLst/>
          </a:prstGeom>
          <a:noFill/>
          <a:ln/>
        </p:spPr>
        <p:txBody>
          <a:bodyPr wrap="square" lIns="0" tIns="0" rIns="0" bIns="0" rtlCol="0" anchor="t"/>
          <a:lstStyle/>
          <a:p>
            <a:pPr algn="l" indent="0" marL="0">
              <a:buNone/>
            </a:pPr>
            <a:r>
              <a:rPr lang="en-US" sz="950" i="1" dirty="0">
                <a:solidFill>
                  <a:srgbClr val="93A1B1"/>
                </a:solidFill>
                <a:latin typeface="Calibri" pitchFamily="34" charset="0"/>
                <a:ea typeface="Calibri" pitchFamily="34" charset="-122"/>
                <a:cs typeface="Calibri" pitchFamily="34" charset="-120"/>
              </a:rPr>
              <a:t>slides 7–11</a:t>
            </a:r>
            <a:endParaRPr lang="en-US" sz="950" dirty="0"/>
          </a:p>
        </p:txBody>
      </p:sp>
      <p:sp>
        <p:nvSpPr>
          <p:cNvPr id="12" name="Shape 8"/>
          <p:cNvSpPr/>
          <p:nvPr/>
        </p:nvSpPr>
        <p:spPr>
          <a:xfrm>
            <a:off x="548640" y="2139696"/>
            <a:ext cx="457200" cy="457200"/>
          </a:xfrm>
          <a:prstGeom prst="ellipse">
            <a:avLst/>
          </a:prstGeom>
          <a:solidFill>
            <a:srgbClr val="20334F"/>
          </a:solidFill>
          <a:ln/>
        </p:spPr>
      </p:sp>
      <p:pic>
        <p:nvPicPr>
          <p:cNvPr id="13" name="Image 1" descr="preencoded.png">    </p:cNvPr>
          <p:cNvPicPr>
            <a:picLocks noChangeAspect="1"/>
          </p:cNvPicPr>
          <p:nvPr/>
        </p:nvPicPr>
        <p:blipFill>
          <a:blip r:embed="rId2"/>
          <a:stretch>
            <a:fillRect/>
          </a:stretch>
        </p:blipFill>
        <p:spPr>
          <a:xfrm>
            <a:off x="667512" y="2258568"/>
            <a:ext cx="219456" cy="219456"/>
          </a:xfrm>
          <a:prstGeom prst="rect">
            <a:avLst/>
          </a:prstGeom>
        </p:spPr>
      </p:pic>
      <p:sp>
        <p:nvSpPr>
          <p:cNvPr id="14" name="Text 9"/>
          <p:cNvSpPr/>
          <p:nvPr/>
        </p:nvSpPr>
        <p:spPr>
          <a:xfrm>
            <a:off x="1234440" y="2084832"/>
            <a:ext cx="3931920" cy="274320"/>
          </a:xfrm>
          <a:prstGeom prst="rect">
            <a:avLst/>
          </a:prstGeom>
          <a:noFill/>
          <a:ln/>
        </p:spPr>
        <p:txBody>
          <a:bodyPr wrap="square" lIns="0" tIns="0" rIns="0" bIns="0" rtlCol="0" anchor="t"/>
          <a:lstStyle/>
          <a:p>
            <a:pPr algn="l" indent="0" marL="0">
              <a:buNone/>
            </a:pPr>
            <a:r>
              <a:rPr lang="en-US" sz="1350" b="1" dirty="0">
                <a:solidFill>
                  <a:srgbClr val="1F2A3D"/>
                </a:solidFill>
                <a:latin typeface="Calibri" pitchFamily="34" charset="0"/>
                <a:ea typeface="Calibri" pitchFamily="34" charset="-122"/>
                <a:cs typeface="Calibri" pitchFamily="34" charset="-120"/>
              </a:rPr>
              <a:t>Part 2 — The decision path</a:t>
            </a:r>
            <a:endParaRPr lang="en-US" sz="1350" dirty="0"/>
          </a:p>
        </p:txBody>
      </p:sp>
      <p:sp>
        <p:nvSpPr>
          <p:cNvPr id="15" name="Text 10"/>
          <p:cNvSpPr/>
          <p:nvPr/>
        </p:nvSpPr>
        <p:spPr>
          <a:xfrm>
            <a:off x="1234440" y="2368296"/>
            <a:ext cx="5120640" cy="274320"/>
          </a:xfrm>
          <a:prstGeom prst="rect">
            <a:avLst/>
          </a:prstGeom>
          <a:noFill/>
          <a:ln/>
        </p:spPr>
        <p:txBody>
          <a:bodyPr wrap="square" lIns="0" tIns="0" rIns="0" bIns="0" rtlCol="0" anchor="t"/>
          <a:lstStyle/>
          <a:p>
            <a:pPr algn="l" indent="0" marL="0">
              <a:buNone/>
            </a:pPr>
            <a:r>
              <a:rPr lang="en-US" sz="1100" dirty="0">
                <a:solidFill>
                  <a:srgbClr val="5D6B7E"/>
                </a:solidFill>
                <a:latin typeface="Calibri" pitchFamily="34" charset="0"/>
                <a:ea typeface="Calibri" pitchFamily="34" charset="-122"/>
                <a:cs typeface="Calibri" pitchFamily="34" charset="-120"/>
              </a:rPr>
              <a:t>Discriminator → features → 3-layer policy → registry</a:t>
            </a:r>
            <a:endParaRPr lang="en-US" sz="1100" dirty="0"/>
          </a:p>
        </p:txBody>
      </p:sp>
      <p:sp>
        <p:nvSpPr>
          <p:cNvPr id="16" name="Text 11"/>
          <p:cNvSpPr/>
          <p:nvPr/>
        </p:nvSpPr>
        <p:spPr>
          <a:xfrm>
            <a:off x="5806440" y="2130552"/>
            <a:ext cx="1463040" cy="274320"/>
          </a:xfrm>
          <a:prstGeom prst="rect">
            <a:avLst/>
          </a:prstGeom>
          <a:noFill/>
          <a:ln/>
        </p:spPr>
        <p:txBody>
          <a:bodyPr wrap="square" lIns="0" tIns="0" rIns="0" bIns="0" rtlCol="0" anchor="t"/>
          <a:lstStyle/>
          <a:p>
            <a:pPr algn="l" indent="0" marL="0">
              <a:buNone/>
            </a:pPr>
            <a:r>
              <a:rPr lang="en-US" sz="950" i="1" dirty="0">
                <a:solidFill>
                  <a:srgbClr val="93A1B1"/>
                </a:solidFill>
                <a:latin typeface="Calibri" pitchFamily="34" charset="0"/>
                <a:ea typeface="Calibri" pitchFamily="34" charset="-122"/>
                <a:cs typeface="Calibri" pitchFamily="34" charset="-120"/>
              </a:rPr>
              <a:t>slides 12–20</a:t>
            </a:r>
            <a:endParaRPr lang="en-US" sz="950" dirty="0"/>
          </a:p>
        </p:txBody>
      </p:sp>
      <p:sp>
        <p:nvSpPr>
          <p:cNvPr id="17" name="Shape 12"/>
          <p:cNvSpPr/>
          <p:nvPr/>
        </p:nvSpPr>
        <p:spPr>
          <a:xfrm>
            <a:off x="548640" y="2852928"/>
            <a:ext cx="457200" cy="457200"/>
          </a:xfrm>
          <a:prstGeom prst="ellipse">
            <a:avLst/>
          </a:prstGeom>
          <a:solidFill>
            <a:srgbClr val="20334F"/>
          </a:solidFill>
          <a:ln/>
        </p:spPr>
      </p:sp>
      <p:pic>
        <p:nvPicPr>
          <p:cNvPr id="18" name="Image 2" descr="preencoded.png">    </p:cNvPr>
          <p:cNvPicPr>
            <a:picLocks noChangeAspect="1"/>
          </p:cNvPicPr>
          <p:nvPr/>
        </p:nvPicPr>
        <p:blipFill>
          <a:blip r:embed="rId3"/>
          <a:stretch>
            <a:fillRect/>
          </a:stretch>
        </p:blipFill>
        <p:spPr>
          <a:xfrm>
            <a:off x="667512" y="2971800"/>
            <a:ext cx="219456" cy="219456"/>
          </a:xfrm>
          <a:prstGeom prst="rect">
            <a:avLst/>
          </a:prstGeom>
        </p:spPr>
      </p:pic>
      <p:sp>
        <p:nvSpPr>
          <p:cNvPr id="19" name="Text 13"/>
          <p:cNvSpPr/>
          <p:nvPr/>
        </p:nvSpPr>
        <p:spPr>
          <a:xfrm>
            <a:off x="1234440" y="2798064"/>
            <a:ext cx="3931920" cy="274320"/>
          </a:xfrm>
          <a:prstGeom prst="rect">
            <a:avLst/>
          </a:prstGeom>
          <a:noFill/>
          <a:ln/>
        </p:spPr>
        <p:txBody>
          <a:bodyPr wrap="square" lIns="0" tIns="0" rIns="0" bIns="0" rtlCol="0" anchor="t"/>
          <a:lstStyle/>
          <a:p>
            <a:pPr algn="l" indent="0" marL="0">
              <a:buNone/>
            </a:pPr>
            <a:r>
              <a:rPr lang="en-US" sz="1350" b="1" dirty="0">
                <a:solidFill>
                  <a:srgbClr val="1F2A3D"/>
                </a:solidFill>
                <a:latin typeface="Calibri" pitchFamily="34" charset="0"/>
                <a:ea typeface="Calibri" pitchFamily="34" charset="-122"/>
                <a:cs typeface="Calibri" pitchFamily="34" charset="-120"/>
              </a:rPr>
              <a:t>Part 3 — Escalation</a:t>
            </a:r>
            <a:endParaRPr lang="en-US" sz="1350" dirty="0"/>
          </a:p>
        </p:txBody>
      </p:sp>
      <p:sp>
        <p:nvSpPr>
          <p:cNvPr id="20" name="Text 14"/>
          <p:cNvSpPr/>
          <p:nvPr/>
        </p:nvSpPr>
        <p:spPr>
          <a:xfrm>
            <a:off x="1234440" y="3081528"/>
            <a:ext cx="5120640" cy="274320"/>
          </a:xfrm>
          <a:prstGeom prst="rect">
            <a:avLst/>
          </a:prstGeom>
          <a:noFill/>
          <a:ln/>
        </p:spPr>
        <p:txBody>
          <a:bodyPr wrap="square" lIns="0" tIns="0" rIns="0" bIns="0" rtlCol="0" anchor="t"/>
          <a:lstStyle/>
          <a:p>
            <a:pPr algn="l" indent="0" marL="0">
              <a:buNone/>
            </a:pPr>
            <a:r>
              <a:rPr lang="en-US" sz="1100" dirty="0">
                <a:solidFill>
                  <a:srgbClr val="5D6B7E"/>
                </a:solidFill>
                <a:latin typeface="Calibri" pitchFamily="34" charset="0"/>
                <a:ea typeface="Calibri" pitchFamily="34" charset="-122"/>
                <a:cs typeface="Calibri" pitchFamily="34" charset="-120"/>
              </a:rPr>
              <a:t>Trip-wires, the transcript rebuild, 4 worked failures</a:t>
            </a:r>
            <a:endParaRPr lang="en-US" sz="1100" dirty="0"/>
          </a:p>
        </p:txBody>
      </p:sp>
      <p:sp>
        <p:nvSpPr>
          <p:cNvPr id="21" name="Text 15"/>
          <p:cNvSpPr/>
          <p:nvPr/>
        </p:nvSpPr>
        <p:spPr>
          <a:xfrm>
            <a:off x="5806440" y="2843784"/>
            <a:ext cx="1463040" cy="274320"/>
          </a:xfrm>
          <a:prstGeom prst="rect">
            <a:avLst/>
          </a:prstGeom>
          <a:noFill/>
          <a:ln/>
        </p:spPr>
        <p:txBody>
          <a:bodyPr wrap="square" lIns="0" tIns="0" rIns="0" bIns="0" rtlCol="0" anchor="t"/>
          <a:lstStyle/>
          <a:p>
            <a:pPr algn="l" indent="0" marL="0">
              <a:buNone/>
            </a:pPr>
            <a:r>
              <a:rPr lang="en-US" sz="950" i="1" dirty="0">
                <a:solidFill>
                  <a:srgbClr val="93A1B1"/>
                </a:solidFill>
                <a:latin typeface="Calibri" pitchFamily="34" charset="0"/>
                <a:ea typeface="Calibri" pitchFamily="34" charset="-122"/>
                <a:cs typeface="Calibri" pitchFamily="34" charset="-120"/>
              </a:rPr>
              <a:t>slides 21–27</a:t>
            </a:r>
            <a:endParaRPr lang="en-US" sz="950" dirty="0"/>
          </a:p>
        </p:txBody>
      </p:sp>
      <p:sp>
        <p:nvSpPr>
          <p:cNvPr id="22" name="Shape 16"/>
          <p:cNvSpPr/>
          <p:nvPr/>
        </p:nvSpPr>
        <p:spPr>
          <a:xfrm>
            <a:off x="548640" y="3566160"/>
            <a:ext cx="457200" cy="457200"/>
          </a:xfrm>
          <a:prstGeom prst="ellipse">
            <a:avLst/>
          </a:prstGeom>
          <a:solidFill>
            <a:srgbClr val="20334F"/>
          </a:solidFill>
          <a:ln/>
        </p:spPr>
      </p:sp>
      <p:pic>
        <p:nvPicPr>
          <p:cNvPr id="23" name="Image 3" descr="preencoded.png">    </p:cNvPr>
          <p:cNvPicPr>
            <a:picLocks noChangeAspect="1"/>
          </p:cNvPicPr>
          <p:nvPr/>
        </p:nvPicPr>
        <p:blipFill>
          <a:blip r:embed="rId4"/>
          <a:stretch>
            <a:fillRect/>
          </a:stretch>
        </p:blipFill>
        <p:spPr>
          <a:xfrm>
            <a:off x="667512" y="3685032"/>
            <a:ext cx="219456" cy="219456"/>
          </a:xfrm>
          <a:prstGeom prst="rect">
            <a:avLst/>
          </a:prstGeom>
        </p:spPr>
      </p:pic>
      <p:sp>
        <p:nvSpPr>
          <p:cNvPr id="24" name="Text 17"/>
          <p:cNvSpPr/>
          <p:nvPr/>
        </p:nvSpPr>
        <p:spPr>
          <a:xfrm>
            <a:off x="1234440" y="3511296"/>
            <a:ext cx="3931920" cy="274320"/>
          </a:xfrm>
          <a:prstGeom prst="rect">
            <a:avLst/>
          </a:prstGeom>
          <a:noFill/>
          <a:ln/>
        </p:spPr>
        <p:txBody>
          <a:bodyPr wrap="square" lIns="0" tIns="0" rIns="0" bIns="0" rtlCol="0" anchor="t"/>
          <a:lstStyle/>
          <a:p>
            <a:pPr algn="l" indent="0" marL="0">
              <a:buNone/>
            </a:pPr>
            <a:r>
              <a:rPr lang="en-US" sz="1350" b="1" dirty="0">
                <a:solidFill>
                  <a:srgbClr val="1F2A3D"/>
                </a:solidFill>
                <a:latin typeface="Calibri" pitchFamily="34" charset="0"/>
                <a:ea typeface="Calibri" pitchFamily="34" charset="-122"/>
                <a:cs typeface="Calibri" pitchFamily="34" charset="-120"/>
              </a:rPr>
              <a:t>Part 4 — Gates in action</a:t>
            </a:r>
            <a:endParaRPr lang="en-US" sz="1350" dirty="0"/>
          </a:p>
        </p:txBody>
      </p:sp>
      <p:sp>
        <p:nvSpPr>
          <p:cNvPr id="25" name="Text 18"/>
          <p:cNvSpPr/>
          <p:nvPr/>
        </p:nvSpPr>
        <p:spPr>
          <a:xfrm>
            <a:off x="1234440" y="3794760"/>
            <a:ext cx="5120640" cy="274320"/>
          </a:xfrm>
          <a:prstGeom prst="rect">
            <a:avLst/>
          </a:prstGeom>
          <a:noFill/>
          <a:ln/>
        </p:spPr>
        <p:txBody>
          <a:bodyPr wrap="square" lIns="0" tIns="0" rIns="0" bIns="0" rtlCol="0" anchor="t"/>
          <a:lstStyle/>
          <a:p>
            <a:pPr algn="l" indent="0" marL="0">
              <a:buNone/>
            </a:pPr>
            <a:r>
              <a:rPr lang="en-US" sz="1100" dirty="0">
                <a:solidFill>
                  <a:srgbClr val="5D6B7E"/>
                </a:solidFill>
                <a:latin typeface="Calibri" pitchFamily="34" charset="0"/>
                <a:ea typeface="Calibri" pitchFamily="34" charset="-122"/>
                <a:cs typeface="Calibri" pitchFamily="34" charset="-120"/>
              </a:rPr>
              <a:t>Context cliffs, the privacy pin, direct-to-frontier math</a:t>
            </a:r>
            <a:endParaRPr lang="en-US" sz="1100" dirty="0"/>
          </a:p>
        </p:txBody>
      </p:sp>
      <p:sp>
        <p:nvSpPr>
          <p:cNvPr id="26" name="Text 19"/>
          <p:cNvSpPr/>
          <p:nvPr/>
        </p:nvSpPr>
        <p:spPr>
          <a:xfrm>
            <a:off x="5806440" y="3557016"/>
            <a:ext cx="1463040" cy="274320"/>
          </a:xfrm>
          <a:prstGeom prst="rect">
            <a:avLst/>
          </a:prstGeom>
          <a:noFill/>
          <a:ln/>
        </p:spPr>
        <p:txBody>
          <a:bodyPr wrap="square" lIns="0" tIns="0" rIns="0" bIns="0" rtlCol="0" anchor="t"/>
          <a:lstStyle/>
          <a:p>
            <a:pPr algn="l" indent="0" marL="0">
              <a:buNone/>
            </a:pPr>
            <a:r>
              <a:rPr lang="en-US" sz="950" i="1" dirty="0">
                <a:solidFill>
                  <a:srgbClr val="93A1B1"/>
                </a:solidFill>
                <a:latin typeface="Calibri" pitchFamily="34" charset="0"/>
                <a:ea typeface="Calibri" pitchFamily="34" charset="-122"/>
                <a:cs typeface="Calibri" pitchFamily="34" charset="-120"/>
              </a:rPr>
              <a:t>slides 28–31</a:t>
            </a:r>
            <a:endParaRPr lang="en-US" sz="950" dirty="0"/>
          </a:p>
        </p:txBody>
      </p:sp>
      <p:sp>
        <p:nvSpPr>
          <p:cNvPr id="27" name="Shape 20"/>
          <p:cNvSpPr/>
          <p:nvPr/>
        </p:nvSpPr>
        <p:spPr>
          <a:xfrm>
            <a:off x="548640" y="4279392"/>
            <a:ext cx="457200" cy="457200"/>
          </a:xfrm>
          <a:prstGeom prst="ellipse">
            <a:avLst/>
          </a:prstGeom>
          <a:solidFill>
            <a:srgbClr val="20334F"/>
          </a:solidFill>
          <a:ln/>
        </p:spPr>
      </p:sp>
      <p:pic>
        <p:nvPicPr>
          <p:cNvPr id="28" name="Image 4" descr="preencoded.png">    </p:cNvPr>
          <p:cNvPicPr>
            <a:picLocks noChangeAspect="1"/>
          </p:cNvPicPr>
          <p:nvPr/>
        </p:nvPicPr>
        <p:blipFill>
          <a:blip r:embed="rId5"/>
          <a:stretch>
            <a:fillRect/>
          </a:stretch>
        </p:blipFill>
        <p:spPr>
          <a:xfrm>
            <a:off x="667512" y="4398264"/>
            <a:ext cx="219456" cy="219456"/>
          </a:xfrm>
          <a:prstGeom prst="rect">
            <a:avLst/>
          </a:prstGeom>
        </p:spPr>
      </p:pic>
      <p:sp>
        <p:nvSpPr>
          <p:cNvPr id="29" name="Text 21"/>
          <p:cNvSpPr/>
          <p:nvPr/>
        </p:nvSpPr>
        <p:spPr>
          <a:xfrm>
            <a:off x="1234440" y="4224528"/>
            <a:ext cx="3931920" cy="274320"/>
          </a:xfrm>
          <a:prstGeom prst="rect">
            <a:avLst/>
          </a:prstGeom>
          <a:noFill/>
          <a:ln/>
        </p:spPr>
        <p:txBody>
          <a:bodyPr wrap="square" lIns="0" tIns="0" rIns="0" bIns="0" rtlCol="0" anchor="t"/>
          <a:lstStyle/>
          <a:p>
            <a:pPr algn="l" indent="0" marL="0">
              <a:buNone/>
            </a:pPr>
            <a:r>
              <a:rPr lang="en-US" sz="1350" b="1" dirty="0">
                <a:solidFill>
                  <a:srgbClr val="1F2A3D"/>
                </a:solidFill>
                <a:latin typeface="Calibri" pitchFamily="34" charset="0"/>
                <a:ea typeface="Calibri" pitchFamily="34" charset="-122"/>
                <a:cs typeface="Calibri" pitchFamily="34" charset="-120"/>
              </a:rPr>
              <a:t>Part 5 — State &amp; lifecycle</a:t>
            </a:r>
            <a:endParaRPr lang="en-US" sz="1350" dirty="0"/>
          </a:p>
        </p:txBody>
      </p:sp>
      <p:sp>
        <p:nvSpPr>
          <p:cNvPr id="30" name="Text 22"/>
          <p:cNvSpPr/>
          <p:nvPr/>
        </p:nvSpPr>
        <p:spPr>
          <a:xfrm>
            <a:off x="1234440" y="4507992"/>
            <a:ext cx="5120640" cy="274320"/>
          </a:xfrm>
          <a:prstGeom prst="rect">
            <a:avLst/>
          </a:prstGeom>
          <a:noFill/>
          <a:ln/>
        </p:spPr>
        <p:txBody>
          <a:bodyPr wrap="square" lIns="0" tIns="0" rIns="0" bIns="0" rtlCol="0" anchor="t"/>
          <a:lstStyle/>
          <a:p>
            <a:pPr algn="l" indent="0" marL="0">
              <a:buNone/>
            </a:pPr>
            <a:r>
              <a:rPr lang="en-US" sz="1100" dirty="0">
                <a:solidFill>
                  <a:srgbClr val="5D6B7E"/>
                </a:solidFill>
                <a:latin typeface="Calibri" pitchFamily="34" charset="0"/>
                <a:ea typeface="Calibri" pitchFamily="34" charset="-122"/>
                <a:cs typeface="Calibri" pitchFamily="34" charset="-120"/>
              </a:rPr>
              <a:t>The session whiteboard, Redis, the state machine</a:t>
            </a:r>
            <a:endParaRPr lang="en-US" sz="1100" dirty="0"/>
          </a:p>
        </p:txBody>
      </p:sp>
      <p:sp>
        <p:nvSpPr>
          <p:cNvPr id="31" name="Text 23"/>
          <p:cNvSpPr/>
          <p:nvPr/>
        </p:nvSpPr>
        <p:spPr>
          <a:xfrm>
            <a:off x="5806440" y="4270248"/>
            <a:ext cx="1463040" cy="274320"/>
          </a:xfrm>
          <a:prstGeom prst="rect">
            <a:avLst/>
          </a:prstGeom>
          <a:noFill/>
          <a:ln/>
        </p:spPr>
        <p:txBody>
          <a:bodyPr wrap="square" lIns="0" tIns="0" rIns="0" bIns="0" rtlCol="0" anchor="t"/>
          <a:lstStyle/>
          <a:p>
            <a:pPr algn="l" indent="0" marL="0">
              <a:buNone/>
            </a:pPr>
            <a:r>
              <a:rPr lang="en-US" sz="950" i="1" dirty="0">
                <a:solidFill>
                  <a:srgbClr val="93A1B1"/>
                </a:solidFill>
                <a:latin typeface="Calibri" pitchFamily="34" charset="0"/>
                <a:ea typeface="Calibri" pitchFamily="34" charset="-122"/>
                <a:cs typeface="Calibri" pitchFamily="34" charset="-120"/>
              </a:rPr>
              <a:t>slides 32–36</a:t>
            </a:r>
            <a:endParaRPr lang="en-US" sz="950" dirty="0"/>
          </a:p>
        </p:txBody>
      </p:sp>
      <p:sp>
        <p:nvSpPr>
          <p:cNvPr id="32" name="Shape 24"/>
          <p:cNvSpPr/>
          <p:nvPr/>
        </p:nvSpPr>
        <p:spPr>
          <a:xfrm>
            <a:off x="548640" y="4992624"/>
            <a:ext cx="457200" cy="457200"/>
          </a:xfrm>
          <a:prstGeom prst="ellipse">
            <a:avLst/>
          </a:prstGeom>
          <a:solidFill>
            <a:srgbClr val="20334F"/>
          </a:solidFill>
          <a:ln/>
        </p:spPr>
      </p:sp>
      <p:pic>
        <p:nvPicPr>
          <p:cNvPr id="33" name="Image 5" descr="preencoded.png">    </p:cNvPr>
          <p:cNvPicPr>
            <a:picLocks noChangeAspect="1"/>
          </p:cNvPicPr>
          <p:nvPr/>
        </p:nvPicPr>
        <p:blipFill>
          <a:blip r:embed="rId6"/>
          <a:stretch>
            <a:fillRect/>
          </a:stretch>
        </p:blipFill>
        <p:spPr>
          <a:xfrm>
            <a:off x="667512" y="5111496"/>
            <a:ext cx="219456" cy="219456"/>
          </a:xfrm>
          <a:prstGeom prst="rect">
            <a:avLst/>
          </a:prstGeom>
        </p:spPr>
      </p:pic>
      <p:sp>
        <p:nvSpPr>
          <p:cNvPr id="34" name="Text 25"/>
          <p:cNvSpPr/>
          <p:nvPr/>
        </p:nvSpPr>
        <p:spPr>
          <a:xfrm>
            <a:off x="1234440" y="4937760"/>
            <a:ext cx="3931920" cy="274320"/>
          </a:xfrm>
          <a:prstGeom prst="rect">
            <a:avLst/>
          </a:prstGeom>
          <a:noFill/>
          <a:ln/>
        </p:spPr>
        <p:txBody>
          <a:bodyPr wrap="square" lIns="0" tIns="0" rIns="0" bIns="0" rtlCol="0" anchor="t"/>
          <a:lstStyle/>
          <a:p>
            <a:pPr algn="l" indent="0" marL="0">
              <a:buNone/>
            </a:pPr>
            <a:r>
              <a:rPr lang="en-US" sz="1350" b="1" dirty="0">
                <a:solidFill>
                  <a:srgbClr val="1F2A3D"/>
                </a:solidFill>
                <a:latin typeface="Calibri" pitchFamily="34" charset="0"/>
                <a:ea typeface="Calibri" pitchFamily="34" charset="-122"/>
                <a:cs typeface="Calibri" pitchFamily="34" charset="-120"/>
              </a:rPr>
              <a:t>Part 6 — Harness dialects</a:t>
            </a:r>
            <a:endParaRPr lang="en-US" sz="1350" dirty="0"/>
          </a:p>
        </p:txBody>
      </p:sp>
      <p:sp>
        <p:nvSpPr>
          <p:cNvPr id="35" name="Text 26"/>
          <p:cNvSpPr/>
          <p:nvPr/>
        </p:nvSpPr>
        <p:spPr>
          <a:xfrm>
            <a:off x="1234440" y="5221224"/>
            <a:ext cx="5120640" cy="274320"/>
          </a:xfrm>
          <a:prstGeom prst="rect">
            <a:avLst/>
          </a:prstGeom>
          <a:noFill/>
          <a:ln/>
        </p:spPr>
        <p:txBody>
          <a:bodyPr wrap="square" lIns="0" tIns="0" rIns="0" bIns="0" rtlCol="0" anchor="t"/>
          <a:lstStyle/>
          <a:p>
            <a:pPr algn="l" indent="0" marL="0">
              <a:buNone/>
            </a:pPr>
            <a:r>
              <a:rPr lang="en-US" sz="1100" dirty="0">
                <a:solidFill>
                  <a:srgbClr val="5D6B7E"/>
                </a:solidFill>
                <a:latin typeface="Calibri" pitchFamily="34" charset="0"/>
                <a:ea typeface="Calibri" pitchFamily="34" charset="-122"/>
                <a:cs typeface="Calibri" pitchFamily="34" charset="-120"/>
              </a:rPr>
              <a:t>Codex vs Claude Code, parallel calls, subagents, compaction</a:t>
            </a:r>
            <a:endParaRPr lang="en-US" sz="1100" dirty="0"/>
          </a:p>
        </p:txBody>
      </p:sp>
      <p:sp>
        <p:nvSpPr>
          <p:cNvPr id="36" name="Text 27"/>
          <p:cNvSpPr/>
          <p:nvPr/>
        </p:nvSpPr>
        <p:spPr>
          <a:xfrm>
            <a:off x="5806440" y="4983480"/>
            <a:ext cx="1463040" cy="274320"/>
          </a:xfrm>
          <a:prstGeom prst="rect">
            <a:avLst/>
          </a:prstGeom>
          <a:noFill/>
          <a:ln/>
        </p:spPr>
        <p:txBody>
          <a:bodyPr wrap="square" lIns="0" tIns="0" rIns="0" bIns="0" rtlCol="0" anchor="t"/>
          <a:lstStyle/>
          <a:p>
            <a:pPr algn="l" indent="0" marL="0">
              <a:buNone/>
            </a:pPr>
            <a:r>
              <a:rPr lang="en-US" sz="950" i="1" dirty="0">
                <a:solidFill>
                  <a:srgbClr val="93A1B1"/>
                </a:solidFill>
                <a:latin typeface="Calibri" pitchFamily="34" charset="0"/>
                <a:ea typeface="Calibri" pitchFamily="34" charset="-122"/>
                <a:cs typeface="Calibri" pitchFamily="34" charset="-120"/>
              </a:rPr>
              <a:t>slides 37–40</a:t>
            </a:r>
            <a:endParaRPr lang="en-US" sz="950" dirty="0"/>
          </a:p>
        </p:txBody>
      </p:sp>
      <p:sp>
        <p:nvSpPr>
          <p:cNvPr id="37" name="Shape 28"/>
          <p:cNvSpPr/>
          <p:nvPr/>
        </p:nvSpPr>
        <p:spPr>
          <a:xfrm>
            <a:off x="548640" y="5705856"/>
            <a:ext cx="457200" cy="457200"/>
          </a:xfrm>
          <a:prstGeom prst="ellipse">
            <a:avLst/>
          </a:prstGeom>
          <a:solidFill>
            <a:srgbClr val="20334F"/>
          </a:solidFill>
          <a:ln/>
        </p:spPr>
      </p:sp>
      <p:pic>
        <p:nvPicPr>
          <p:cNvPr id="38" name="Image 6" descr="preencoded.png">    </p:cNvPr>
          <p:cNvPicPr>
            <a:picLocks noChangeAspect="1"/>
          </p:cNvPicPr>
          <p:nvPr/>
        </p:nvPicPr>
        <p:blipFill>
          <a:blip r:embed="rId7"/>
          <a:stretch>
            <a:fillRect/>
          </a:stretch>
        </p:blipFill>
        <p:spPr>
          <a:xfrm>
            <a:off x="667512" y="5824728"/>
            <a:ext cx="219456" cy="219456"/>
          </a:xfrm>
          <a:prstGeom prst="rect">
            <a:avLst/>
          </a:prstGeom>
        </p:spPr>
      </p:pic>
      <p:sp>
        <p:nvSpPr>
          <p:cNvPr id="39" name="Text 29"/>
          <p:cNvSpPr/>
          <p:nvPr/>
        </p:nvSpPr>
        <p:spPr>
          <a:xfrm>
            <a:off x="1234440" y="5650992"/>
            <a:ext cx="3931920" cy="274320"/>
          </a:xfrm>
          <a:prstGeom prst="rect">
            <a:avLst/>
          </a:prstGeom>
          <a:noFill/>
          <a:ln/>
        </p:spPr>
        <p:txBody>
          <a:bodyPr wrap="square" lIns="0" tIns="0" rIns="0" bIns="0" rtlCol="0" anchor="t"/>
          <a:lstStyle/>
          <a:p>
            <a:pPr algn="l" indent="0" marL="0">
              <a:buNone/>
            </a:pPr>
            <a:r>
              <a:rPr lang="en-US" sz="1350" b="1" dirty="0">
                <a:solidFill>
                  <a:srgbClr val="1F2A3D"/>
                </a:solidFill>
                <a:latin typeface="Calibri" pitchFamily="34" charset="0"/>
                <a:ea typeface="Calibri" pitchFamily="34" charset="-122"/>
                <a:cs typeface="Calibri" pitchFamily="34" charset="-120"/>
              </a:rPr>
              <a:t>Part 7 — Making it real</a:t>
            </a:r>
            <a:endParaRPr lang="en-US" sz="1350" dirty="0"/>
          </a:p>
        </p:txBody>
      </p:sp>
      <p:sp>
        <p:nvSpPr>
          <p:cNvPr id="40" name="Text 30"/>
          <p:cNvSpPr/>
          <p:nvPr/>
        </p:nvSpPr>
        <p:spPr>
          <a:xfrm>
            <a:off x="1234440" y="5934456"/>
            <a:ext cx="5120640" cy="274320"/>
          </a:xfrm>
          <a:prstGeom prst="rect">
            <a:avLst/>
          </a:prstGeom>
          <a:noFill/>
          <a:ln/>
        </p:spPr>
        <p:txBody>
          <a:bodyPr wrap="square" lIns="0" tIns="0" rIns="0" bIns="0" rtlCol="0" anchor="t"/>
          <a:lstStyle/>
          <a:p>
            <a:pPr algn="l" indent="0" marL="0">
              <a:buNone/>
            </a:pPr>
            <a:r>
              <a:rPr lang="en-US" sz="1100" dirty="0">
                <a:solidFill>
                  <a:srgbClr val="5D6B7E"/>
                </a:solidFill>
                <a:latin typeface="Calibri" pitchFamily="34" charset="0"/>
                <a:ea typeface="Calibri" pitchFamily="34" charset="-122"/>
                <a:cs typeface="Calibri" pitchFamily="34" charset="-120"/>
              </a:rPr>
              <a:t>Flywheel, LiteLLM split, rollout phases, metrics</a:t>
            </a:r>
            <a:endParaRPr lang="en-US" sz="1100" dirty="0"/>
          </a:p>
        </p:txBody>
      </p:sp>
      <p:sp>
        <p:nvSpPr>
          <p:cNvPr id="41" name="Text 31"/>
          <p:cNvSpPr/>
          <p:nvPr/>
        </p:nvSpPr>
        <p:spPr>
          <a:xfrm>
            <a:off x="5806440" y="5696712"/>
            <a:ext cx="1463040" cy="274320"/>
          </a:xfrm>
          <a:prstGeom prst="rect">
            <a:avLst/>
          </a:prstGeom>
          <a:noFill/>
          <a:ln/>
        </p:spPr>
        <p:txBody>
          <a:bodyPr wrap="square" lIns="0" tIns="0" rIns="0" bIns="0" rtlCol="0" anchor="t"/>
          <a:lstStyle/>
          <a:p>
            <a:pPr algn="l" indent="0" marL="0">
              <a:buNone/>
            </a:pPr>
            <a:r>
              <a:rPr lang="en-US" sz="950" i="1" dirty="0">
                <a:solidFill>
                  <a:srgbClr val="93A1B1"/>
                </a:solidFill>
                <a:latin typeface="Calibri" pitchFamily="34" charset="0"/>
                <a:ea typeface="Calibri" pitchFamily="34" charset="-122"/>
                <a:cs typeface="Calibri" pitchFamily="34" charset="-120"/>
              </a:rPr>
              <a:t>slides 41–47</a:t>
            </a:r>
            <a:endParaRPr lang="en-US" sz="950" dirty="0"/>
          </a:p>
        </p:txBody>
      </p:sp>
      <p:sp>
        <p:nvSpPr>
          <p:cNvPr id="42" name="Shape 32"/>
          <p:cNvSpPr/>
          <p:nvPr/>
        </p:nvSpPr>
        <p:spPr>
          <a:xfrm>
            <a:off x="7635240" y="1371600"/>
            <a:ext cx="3977640" cy="4892040"/>
          </a:xfrm>
          <a:prstGeom prst="roundRect">
            <a:avLst>
              <a:gd name="adj" fmla="val 1609"/>
            </a:avLst>
          </a:prstGeom>
          <a:solidFill>
            <a:srgbClr val="F3F6F9"/>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43" name="Text 33"/>
          <p:cNvSpPr/>
          <p:nvPr/>
        </p:nvSpPr>
        <p:spPr>
          <a:xfrm>
            <a:off x="7909560" y="1600200"/>
            <a:ext cx="3429000" cy="274320"/>
          </a:xfrm>
          <a:prstGeom prst="rect">
            <a:avLst/>
          </a:prstGeom>
          <a:noFill/>
          <a:ln/>
        </p:spPr>
        <p:txBody>
          <a:bodyPr wrap="square" lIns="0" tIns="0" rIns="0" bIns="0" rtlCol="0" anchor="t"/>
          <a:lstStyle/>
          <a:p>
            <a:pPr algn="l" indent="0" marL="0">
              <a:buNone/>
            </a:pPr>
            <a:r>
              <a:rPr lang="en-US" sz="1350" b="1" dirty="0">
                <a:solidFill>
                  <a:srgbClr val="1F2A3D"/>
                </a:solidFill>
                <a:latin typeface="Cambria" pitchFamily="34" charset="0"/>
                <a:ea typeface="Cambria" pitchFamily="34" charset="-122"/>
                <a:cs typeface="Cambria" pitchFamily="34" charset="-120"/>
              </a:rPr>
              <a:t>How to read this deck</a:t>
            </a:r>
            <a:endParaRPr lang="en-US" sz="1350" dirty="0"/>
          </a:p>
        </p:txBody>
      </p:sp>
      <p:sp>
        <p:nvSpPr>
          <p:cNvPr id="44" name="Shape 34"/>
          <p:cNvSpPr/>
          <p:nvPr/>
        </p:nvSpPr>
        <p:spPr>
          <a:xfrm>
            <a:off x="7909560" y="2057400"/>
            <a:ext cx="1051560" cy="292608"/>
          </a:xfrm>
          <a:prstGeom prst="roundRect">
            <a:avLst>
              <a:gd name="adj" fmla="val 28125"/>
            </a:avLst>
          </a:prstGeom>
          <a:solidFill>
            <a:srgbClr val="1F7A55"/>
          </a:solidFill>
          <a:ln/>
        </p:spPr>
      </p:sp>
      <p:sp>
        <p:nvSpPr>
          <p:cNvPr id="45" name="Text 35"/>
          <p:cNvSpPr/>
          <p:nvPr/>
        </p:nvSpPr>
        <p:spPr>
          <a:xfrm>
            <a:off x="7909560" y="2057400"/>
            <a:ext cx="10515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LOCAL</a:t>
            </a:r>
            <a:endParaRPr lang="en-US" sz="900" dirty="0"/>
          </a:p>
        </p:txBody>
      </p:sp>
      <p:sp>
        <p:nvSpPr>
          <p:cNvPr id="46" name="Shape 36"/>
          <p:cNvSpPr/>
          <p:nvPr/>
        </p:nvSpPr>
        <p:spPr>
          <a:xfrm>
            <a:off x="9052560" y="2057400"/>
            <a:ext cx="1234440" cy="292608"/>
          </a:xfrm>
          <a:prstGeom prst="roundRect">
            <a:avLst>
              <a:gd name="adj" fmla="val 28125"/>
            </a:avLst>
          </a:prstGeom>
          <a:solidFill>
            <a:srgbClr val="B45309"/>
          </a:solidFill>
          <a:ln/>
        </p:spPr>
      </p:sp>
      <p:sp>
        <p:nvSpPr>
          <p:cNvPr id="47" name="Text 37"/>
          <p:cNvSpPr/>
          <p:nvPr/>
        </p:nvSpPr>
        <p:spPr>
          <a:xfrm>
            <a:off x="9052560" y="2057400"/>
            <a:ext cx="123444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CHEAP CLOUD</a:t>
            </a:r>
            <a:endParaRPr lang="en-US" sz="900" dirty="0"/>
          </a:p>
        </p:txBody>
      </p:sp>
      <p:sp>
        <p:nvSpPr>
          <p:cNvPr id="48" name="Shape 38"/>
          <p:cNvSpPr/>
          <p:nvPr/>
        </p:nvSpPr>
        <p:spPr>
          <a:xfrm>
            <a:off x="10378440" y="2057400"/>
            <a:ext cx="960120" cy="292608"/>
          </a:xfrm>
          <a:prstGeom prst="roundRect">
            <a:avLst>
              <a:gd name="adj" fmla="val 28125"/>
            </a:avLst>
          </a:prstGeom>
          <a:solidFill>
            <a:srgbClr val="5B21B6"/>
          </a:solidFill>
          <a:ln/>
        </p:spPr>
      </p:sp>
      <p:sp>
        <p:nvSpPr>
          <p:cNvPr id="49" name="Text 39"/>
          <p:cNvSpPr/>
          <p:nvPr/>
        </p:nvSpPr>
        <p:spPr>
          <a:xfrm>
            <a:off x="10378440" y="2057400"/>
            <a:ext cx="96012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FRONTIER</a:t>
            </a:r>
            <a:endParaRPr lang="en-US" sz="900" dirty="0"/>
          </a:p>
        </p:txBody>
      </p:sp>
      <p:sp>
        <p:nvSpPr>
          <p:cNvPr id="50" name="Text 40"/>
          <p:cNvSpPr/>
          <p:nvPr/>
        </p:nvSpPr>
        <p:spPr>
          <a:xfrm>
            <a:off x="7909560" y="2514600"/>
            <a:ext cx="3429000" cy="3566160"/>
          </a:xfrm>
          <a:prstGeom prst="rect">
            <a:avLst/>
          </a:prstGeom>
          <a:noFill/>
          <a:ln/>
        </p:spPr>
        <p:txBody>
          <a:bodyPr wrap="square" lIns="0" tIns="0" rIns="0" bIns="0" rtlCol="0" anchor="t"/>
          <a:lstStyle/>
          <a:p>
            <a:pPr algn="l" indent="0" marL="0">
              <a:lnSpc>
                <a:spcPct val="108000"/>
              </a:lnSpc>
              <a:buNone/>
            </a:pPr>
            <a:r>
              <a:rPr lang="en-US" sz="1100" dirty="0">
                <a:solidFill>
                  <a:srgbClr val="5D6B7E"/>
                </a:solidFill>
                <a:latin typeface="Calibri" pitchFamily="34" charset="0"/>
                <a:ea typeface="Calibri" pitchFamily="34" charset="-122"/>
                <a:cs typeface="Calibri" pitchFamily="34" charset="-120"/>
              </a:rPr>
              <a:t>Rung colors are consistent on every slide.</a:t>
            </a:r>
            <a:endParaRPr lang="en-US" sz="1100" dirty="0"/>
          </a:p>
          <a:p>
            <a:pPr algn="l" indent="0" marL="0">
              <a:lnSpc>
                <a:spcPct val="108000"/>
              </a:lnSpc>
              <a:buNone/>
            </a:pPr>
            <a:r>
              <a:rPr lang="en-US" sz="1100" dirty="0">
                <a:solidFill>
                  <a:srgbClr val="1F2A3D"/>
                </a:solidFill>
                <a:latin typeface="Calibri" pitchFamily="34" charset="0"/>
                <a:ea typeface="Calibri" pitchFamily="34" charset="-122"/>
                <a:cs typeface="Calibri" pitchFamily="34" charset="-120"/>
              </a:rPr>
              <a:t> </a:t>
            </a:r>
            <a:endParaRPr lang="en-US" sz="1100" dirty="0"/>
          </a:p>
          <a:p>
            <a:pPr algn="l" indent="0" marL="0">
              <a:lnSpc>
                <a:spcPct val="108000"/>
              </a:lnSpc>
              <a:buNone/>
            </a:pPr>
            <a:r>
              <a:rPr lang="en-US" sz="1100" b="1" dirty="0">
                <a:solidFill>
                  <a:srgbClr val="1F2A3D"/>
                </a:solidFill>
                <a:latin typeface="Calibri" pitchFamily="34" charset="0"/>
                <a:ea typeface="Calibri" pitchFamily="34" charset="-122"/>
                <a:cs typeface="Calibri" pitchFamily="34" charset="-120"/>
              </a:rPr>
              <a:t>Dark boxes = real wire traffic</a:t>
            </a:r>
            <a:endParaRPr lang="en-US" sz="1100" dirty="0"/>
          </a:p>
          <a:p>
            <a:pPr algn="l" indent="0" marL="0">
              <a:lnSpc>
                <a:spcPct val="108000"/>
              </a:lnSpc>
              <a:buNone/>
            </a:pPr>
            <a:r>
              <a:rPr lang="en-US" sz="1100" dirty="0">
                <a:solidFill>
                  <a:srgbClr val="5D6B7E"/>
                </a:solidFill>
                <a:latin typeface="Calibri" pitchFamily="34" charset="0"/>
                <a:ea typeface="Calibri" pitchFamily="34" charset="-122"/>
                <a:cs typeface="Calibri" pitchFamily="34" charset="-120"/>
              </a:rPr>
              <a:t>Abbreviated request/response shapes from the scenario doc — what the proxy actually sees.</a:t>
            </a:r>
            <a:endParaRPr lang="en-US" sz="1100" dirty="0"/>
          </a:p>
          <a:p>
            <a:pPr algn="l" indent="0" marL="0">
              <a:lnSpc>
                <a:spcPct val="108000"/>
              </a:lnSpc>
              <a:buNone/>
            </a:pPr>
            <a:r>
              <a:rPr lang="en-US" sz="1100" dirty="0">
                <a:solidFill>
                  <a:srgbClr val="1F2A3D"/>
                </a:solidFill>
                <a:latin typeface="Calibri" pitchFamily="34" charset="0"/>
                <a:ea typeface="Calibri" pitchFamily="34" charset="-122"/>
                <a:cs typeface="Calibri" pitchFamily="34" charset="-120"/>
              </a:rPr>
              <a:t> </a:t>
            </a:r>
            <a:endParaRPr lang="en-US" sz="1100" dirty="0"/>
          </a:p>
          <a:p>
            <a:pPr algn="l" indent="0" marL="0">
              <a:lnSpc>
                <a:spcPct val="108000"/>
              </a:lnSpc>
              <a:buNone/>
            </a:pPr>
            <a:r>
              <a:rPr lang="en-US" sz="1100" b="1" dirty="0">
                <a:solidFill>
                  <a:srgbClr val="1F2A3D"/>
                </a:solidFill>
                <a:latin typeface="Calibri" pitchFamily="34" charset="0"/>
                <a:ea typeface="Calibri" pitchFamily="34" charset="-122"/>
                <a:cs typeface="Calibri" pitchFamily="34" charset="-120"/>
              </a:rPr>
              <a:t>§n / Sn = source references</a:t>
            </a:r>
            <a:endParaRPr lang="en-US" sz="1100" dirty="0"/>
          </a:p>
          <a:p>
            <a:pPr algn="l" indent="0" marL="0">
              <a:lnSpc>
                <a:spcPct val="108000"/>
              </a:lnSpc>
              <a:buNone/>
            </a:pPr>
            <a:r>
              <a:rPr lang="en-US" sz="1100" dirty="0">
                <a:solidFill>
                  <a:srgbClr val="5D6B7E"/>
                </a:solidFill>
                <a:latin typeface="Calibri" pitchFamily="34" charset="0"/>
                <a:ea typeface="Calibri" pitchFamily="34" charset="-122"/>
                <a:cs typeface="Calibri" pitchFamily="34" charset="-120"/>
              </a:rPr>
              <a:t>§ points into the design doc, S into the 15 scenario walkthroughs. Every slide cites its source.</a:t>
            </a:r>
            <a:endParaRPr lang="en-US" sz="1100" dirty="0"/>
          </a:p>
          <a:p>
            <a:pPr algn="l" indent="0" marL="0">
              <a:lnSpc>
                <a:spcPct val="108000"/>
              </a:lnSpc>
              <a:buNone/>
            </a:pPr>
            <a:r>
              <a:rPr lang="en-US" sz="1100" dirty="0">
                <a:solidFill>
                  <a:srgbClr val="1F2A3D"/>
                </a:solidFill>
                <a:latin typeface="Calibri" pitchFamily="34" charset="0"/>
                <a:ea typeface="Calibri" pitchFamily="34" charset="-122"/>
                <a:cs typeface="Calibri" pitchFamily="34" charset="-120"/>
              </a:rPr>
              <a:t> </a:t>
            </a:r>
            <a:endParaRPr lang="en-US" sz="1100" dirty="0"/>
          </a:p>
          <a:p>
            <a:pPr algn="l" indent="0" marL="0">
              <a:lnSpc>
                <a:spcPct val="108000"/>
              </a:lnSpc>
              <a:buNone/>
            </a:pPr>
            <a:r>
              <a:rPr lang="en-US" sz="1100" b="1" dirty="0">
                <a:solidFill>
                  <a:srgbClr val="1F2A3D"/>
                </a:solidFill>
                <a:latin typeface="Calibri" pitchFamily="34" charset="0"/>
                <a:ea typeface="Calibri" pitchFamily="34" charset="-122"/>
                <a:cs typeface="Calibri" pitchFamily="34" charset="-120"/>
              </a:rPr>
              <a:t>Speaker notes carry the story</a:t>
            </a:r>
            <a:endParaRPr lang="en-US" sz="1100" dirty="0"/>
          </a:p>
          <a:p>
            <a:pPr algn="l" indent="0" marL="0">
              <a:lnSpc>
                <a:spcPct val="108000"/>
              </a:lnSpc>
              <a:buNone/>
            </a:pPr>
            <a:r>
              <a:rPr lang="en-US" sz="1100" dirty="0">
                <a:solidFill>
                  <a:srgbClr val="5D6B7E"/>
                </a:solidFill>
                <a:latin typeface="Calibri" pitchFamily="34" charset="0"/>
                <a:ea typeface="Calibri" pitchFamily="34" charset="-122"/>
                <a:cs typeface="Calibri" pitchFamily="34" charset="-120"/>
              </a:rPr>
              <a:t>Each slide's notes retell it in plain language — the deck is built for self-study.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ORIENTATION</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Why we're building this</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design doc §1</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3</a:t>
            </a:r>
            <a:endParaRPr lang="en-US" sz="900" dirty="0"/>
          </a:p>
        </p:txBody>
      </p:sp>
      <p:sp>
        <p:nvSpPr>
          <p:cNvPr id="7" name="Shape 4"/>
          <p:cNvSpPr/>
          <p:nvPr/>
        </p:nvSpPr>
        <p:spPr>
          <a:xfrm>
            <a:off x="548640" y="1371600"/>
            <a:ext cx="5394960" cy="4846320"/>
          </a:xfrm>
          <a:prstGeom prst="roundRect">
            <a:avLst>
              <a:gd name="adj" fmla="val 1321"/>
            </a:avLst>
          </a:prstGeom>
          <a:solidFill>
            <a:srgbClr val="F3F6F9"/>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8" name="Text 5"/>
          <p:cNvSpPr/>
          <p:nvPr/>
        </p:nvSpPr>
        <p:spPr>
          <a:xfrm>
            <a:off x="822960" y="1627632"/>
            <a:ext cx="4846320" cy="320040"/>
          </a:xfrm>
          <a:prstGeom prst="rect">
            <a:avLst/>
          </a:prstGeom>
          <a:noFill/>
          <a:ln/>
        </p:spPr>
        <p:txBody>
          <a:bodyPr wrap="square" lIns="0" tIns="0" rIns="0" bIns="0" rtlCol="0" anchor="t"/>
          <a:lstStyle/>
          <a:p>
            <a:pPr algn="l" indent="0" marL="0">
              <a:buNone/>
            </a:pPr>
            <a:r>
              <a:rPr lang="en-US" sz="1500" b="1" dirty="0">
                <a:solidFill>
                  <a:srgbClr val="1F2A3D"/>
                </a:solidFill>
                <a:latin typeface="Cambria" pitchFamily="34" charset="0"/>
                <a:ea typeface="Cambria" pitchFamily="34" charset="-122"/>
                <a:cs typeface="Cambria" pitchFamily="34" charset="-120"/>
              </a:rPr>
              <a:t>Today: one static answer for every question</a:t>
            </a:r>
            <a:endParaRPr lang="en-US" sz="1500" dirty="0"/>
          </a:p>
        </p:txBody>
      </p:sp>
      <p:sp>
        <p:nvSpPr>
          <p:cNvPr id="9" name="Shape 6"/>
          <p:cNvSpPr/>
          <p:nvPr/>
        </p:nvSpPr>
        <p:spPr>
          <a:xfrm>
            <a:off x="868680" y="2148840"/>
            <a:ext cx="1371600" cy="566928"/>
          </a:xfrm>
          <a:prstGeom prst="roundRect">
            <a:avLst>
              <a:gd name="adj" fmla="val 11290"/>
            </a:avLst>
          </a:prstGeom>
          <a:solidFill>
            <a:srgbClr val="FFFFFF"/>
          </a:solidFill>
          <a:ln w="9525">
            <a:solidFill>
              <a:srgbClr val="D9E1E9"/>
            </a:solidFill>
            <a:prstDash val="solid"/>
          </a:ln>
        </p:spPr>
      </p:sp>
      <p:sp>
        <p:nvSpPr>
          <p:cNvPr id="10" name="Text 7"/>
          <p:cNvSpPr/>
          <p:nvPr/>
        </p:nvSpPr>
        <p:spPr>
          <a:xfrm>
            <a:off x="868680" y="2231136"/>
            <a:ext cx="1371600" cy="457200"/>
          </a:xfrm>
          <a:prstGeom prst="rect">
            <a:avLst/>
          </a:prstGeom>
          <a:noFill/>
          <a:ln/>
        </p:spPr>
        <p:txBody>
          <a:bodyPr wrap="square" lIns="0" tIns="0" rIns="0" bIns="0" rtlCol="0" anchor="t"/>
          <a:lstStyle/>
          <a:p>
            <a:pPr algn="ctr" indent="0" marL="0">
              <a:buNone/>
            </a:pPr>
            <a:r>
              <a:rPr lang="en-US" sz="900" b="1" dirty="0">
                <a:solidFill>
                  <a:srgbClr val="1F2A3D"/>
                </a:solidFill>
                <a:latin typeface="Calibri" pitchFamily="34" charset="0"/>
                <a:ea typeface="Calibri" pitchFamily="34" charset="-122"/>
                <a:cs typeface="Calibri" pitchFamily="34" charset="-120"/>
              </a:rPr>
              <a:t>Claude Code /</a:t>
            </a:r>
            <a:endParaRPr lang="en-US" sz="900" dirty="0"/>
          </a:p>
          <a:p>
            <a:pPr algn="ctr" indent="0" marL="0">
              <a:buNone/>
            </a:pPr>
            <a:r>
              <a:rPr lang="en-US" sz="900" b="1" dirty="0">
                <a:solidFill>
                  <a:srgbClr val="1F2A3D"/>
                </a:solidFill>
                <a:latin typeface="Calibri" pitchFamily="34" charset="0"/>
                <a:ea typeface="Calibri" pitchFamily="34" charset="-122"/>
                <a:cs typeface="Calibri" pitchFamily="34" charset="-120"/>
              </a:rPr>
              <a:t>Codex CLI</a:t>
            </a:r>
            <a:endParaRPr lang="en-US" sz="900" dirty="0"/>
          </a:p>
        </p:txBody>
      </p:sp>
      <p:sp>
        <p:nvSpPr>
          <p:cNvPr id="11" name="Shape 8"/>
          <p:cNvSpPr/>
          <p:nvPr/>
        </p:nvSpPr>
        <p:spPr>
          <a:xfrm>
            <a:off x="2286000" y="2432304"/>
            <a:ext cx="274320" cy="0"/>
          </a:xfrm>
          <a:prstGeom prst="line">
            <a:avLst/>
          </a:prstGeom>
          <a:noFill/>
          <a:ln w="22225">
            <a:solidFill>
              <a:srgbClr val="5D6B7E"/>
            </a:solidFill>
            <a:prstDash val="solid"/>
            <a:headEnd type="none"/>
            <a:tailEnd type="triangle"/>
          </a:ln>
        </p:spPr>
      </p:sp>
      <p:sp>
        <p:nvSpPr>
          <p:cNvPr id="12" name="Shape 9"/>
          <p:cNvSpPr/>
          <p:nvPr/>
        </p:nvSpPr>
        <p:spPr>
          <a:xfrm>
            <a:off x="2606040" y="2148840"/>
            <a:ext cx="1188720" cy="566928"/>
          </a:xfrm>
          <a:prstGeom prst="roundRect">
            <a:avLst>
              <a:gd name="adj" fmla="val 11290"/>
            </a:avLst>
          </a:prstGeom>
          <a:solidFill>
            <a:srgbClr val="FFFFFF"/>
          </a:solidFill>
          <a:ln w="9525">
            <a:solidFill>
              <a:srgbClr val="D9E1E9"/>
            </a:solidFill>
            <a:prstDash val="solid"/>
          </a:ln>
        </p:spPr>
      </p:sp>
      <p:sp>
        <p:nvSpPr>
          <p:cNvPr id="13" name="Text 10"/>
          <p:cNvSpPr/>
          <p:nvPr/>
        </p:nvSpPr>
        <p:spPr>
          <a:xfrm>
            <a:off x="2606040" y="2231136"/>
            <a:ext cx="1188720" cy="457200"/>
          </a:xfrm>
          <a:prstGeom prst="rect">
            <a:avLst/>
          </a:prstGeom>
          <a:noFill/>
          <a:ln/>
        </p:spPr>
        <p:txBody>
          <a:bodyPr wrap="square" lIns="0" tIns="0" rIns="0" bIns="0" rtlCol="0" anchor="t"/>
          <a:lstStyle/>
          <a:p>
            <a:pPr algn="ctr" indent="0" marL="0">
              <a:buNone/>
            </a:pPr>
            <a:r>
              <a:rPr lang="en-US" sz="900" b="1" dirty="0">
                <a:solidFill>
                  <a:srgbClr val="1F2A3D"/>
                </a:solidFill>
                <a:latin typeface="Calibri" pitchFamily="34" charset="0"/>
                <a:ea typeface="Calibri" pitchFamily="34" charset="-122"/>
                <a:cs typeface="Calibri" pitchFamily="34" charset="-120"/>
              </a:rPr>
              <a:t>static</a:t>
            </a:r>
            <a:endParaRPr lang="en-US" sz="900" dirty="0"/>
          </a:p>
          <a:p>
            <a:pPr algn="ctr" indent="0" marL="0">
              <a:buNone/>
            </a:pPr>
            <a:r>
              <a:rPr lang="en-US" sz="900" b="1" dirty="0">
                <a:solidFill>
                  <a:srgbClr val="1F2A3D"/>
                </a:solidFill>
                <a:latin typeface="Calibri" pitchFamily="34" charset="0"/>
                <a:ea typeface="Calibri" pitchFamily="34" charset="-122"/>
                <a:cs typeface="Calibri" pitchFamily="34" charset="-120"/>
              </a:rPr>
              <a:t>config</a:t>
            </a:r>
            <a:endParaRPr lang="en-US" sz="900" dirty="0"/>
          </a:p>
        </p:txBody>
      </p:sp>
      <p:sp>
        <p:nvSpPr>
          <p:cNvPr id="14" name="Shape 11"/>
          <p:cNvSpPr/>
          <p:nvPr/>
        </p:nvSpPr>
        <p:spPr>
          <a:xfrm>
            <a:off x="3840480" y="2432304"/>
            <a:ext cx="274320" cy="0"/>
          </a:xfrm>
          <a:prstGeom prst="line">
            <a:avLst/>
          </a:prstGeom>
          <a:noFill/>
          <a:ln w="22225">
            <a:solidFill>
              <a:srgbClr val="5D6B7E"/>
            </a:solidFill>
            <a:prstDash val="solid"/>
            <a:headEnd type="none"/>
            <a:tailEnd type="triangle"/>
          </a:ln>
        </p:spPr>
      </p:sp>
      <p:sp>
        <p:nvSpPr>
          <p:cNvPr id="15" name="Shape 12"/>
          <p:cNvSpPr/>
          <p:nvPr/>
        </p:nvSpPr>
        <p:spPr>
          <a:xfrm>
            <a:off x="4160520" y="2286000"/>
            <a:ext cx="1554480" cy="310896"/>
          </a:xfrm>
          <a:prstGeom prst="roundRect">
            <a:avLst>
              <a:gd name="adj" fmla="val 26471"/>
            </a:avLst>
          </a:prstGeom>
          <a:solidFill>
            <a:srgbClr val="5B21B6"/>
          </a:solidFill>
          <a:ln/>
        </p:spPr>
      </p:sp>
      <p:sp>
        <p:nvSpPr>
          <p:cNvPr id="16" name="Text 13"/>
          <p:cNvSpPr/>
          <p:nvPr/>
        </p:nvSpPr>
        <p:spPr>
          <a:xfrm>
            <a:off x="4160520" y="2286000"/>
            <a:ext cx="1554480" cy="310896"/>
          </a:xfrm>
          <a:prstGeom prst="rect">
            <a:avLst/>
          </a:prstGeom>
          <a:noFill/>
          <a:ln/>
        </p:spPr>
        <p:txBody>
          <a:bodyPr wrap="square" lIns="0" tIns="0" rIns="0" bIns="0" rtlCol="0" anchor="ctr"/>
          <a:lstStyle/>
          <a:p>
            <a:pPr algn="ctr" indent="0" marL="0">
              <a:buNone/>
            </a:pPr>
            <a:r>
              <a:rPr lang="en-US" sz="750" b="1" spc="100" kern="0" dirty="0">
                <a:solidFill>
                  <a:srgbClr val="FFFFFF"/>
                </a:solidFill>
                <a:latin typeface="Calibri" pitchFamily="34" charset="0"/>
                <a:ea typeface="Calibri" pitchFamily="34" charset="-122"/>
                <a:cs typeface="Calibri" pitchFamily="34" charset="-120"/>
              </a:rPr>
              <a:t>FRONTIER, ALWAYS</a:t>
            </a:r>
            <a:endParaRPr lang="en-US" sz="750" dirty="0"/>
          </a:p>
        </p:txBody>
      </p:sp>
      <p:sp>
        <p:nvSpPr>
          <p:cNvPr id="17" name="Text 14"/>
          <p:cNvSpPr/>
          <p:nvPr/>
        </p:nvSpPr>
        <p:spPr>
          <a:xfrm>
            <a:off x="822960" y="3063240"/>
            <a:ext cx="4754880" cy="2926080"/>
          </a:xfrm>
          <a:prstGeom prst="rect">
            <a:avLst/>
          </a:prstGeom>
          <a:noFill/>
          <a:ln/>
        </p:spPr>
        <p:txBody>
          <a:bodyPr wrap="square" lIns="0" tIns="0" rIns="0" bIns="0" rtlCol="0" anchor="t"/>
          <a:lstStyle/>
          <a:p>
            <a:pPr algn="l" indent="0" marL="0">
              <a:lnSpc>
                <a:spcPct val="108000"/>
              </a:lnSpc>
              <a:buNone/>
            </a:pPr>
            <a:r>
              <a:rPr lang="en-US" sz="1150" b="1" dirty="0">
                <a:solidFill>
                  <a:srgbClr val="1F2A3D"/>
                </a:solidFill>
                <a:latin typeface="Calibri" pitchFamily="34" charset="0"/>
                <a:ea typeface="Calibri" pitchFamily="34" charset="-122"/>
                <a:cs typeface="Calibri" pitchFamily="34" charset="-120"/>
              </a:rPr>
              <a:t>Frontier tokens burned on trivial work</a:t>
            </a:r>
            <a:endParaRPr lang="en-US" sz="1150" dirty="0"/>
          </a:p>
          <a:p>
            <a:pPr algn="l" indent="0" marL="0">
              <a:lnSpc>
                <a:spcPct val="108000"/>
              </a:lnSpc>
              <a:buNone/>
            </a:pPr>
            <a:r>
              <a:rPr lang="en-US" sz="1150" dirty="0">
                <a:solidFill>
                  <a:srgbClr val="5D6B7E"/>
                </a:solidFill>
                <a:latin typeface="Calibri" pitchFamily="34" charset="0"/>
                <a:ea typeface="Calibri" pitchFamily="34" charset="-122"/>
                <a:cs typeface="Calibri" pitchFamily="34" charset="-120"/>
              </a:rPr>
              <a:t>Commit messages, renames, session titles — all billed at ~$15/Mtok.</a:t>
            </a:r>
            <a:endParaRPr lang="en-US" sz="1150" dirty="0"/>
          </a:p>
          <a:p>
            <a:pPr algn="l" indent="0" marL="0">
              <a:lnSpc>
                <a:spcPct val="108000"/>
              </a:lnSpc>
              <a:buNone/>
            </a:pPr>
            <a:r>
              <a:rPr lang="en-US" sz="1150" dirty="0">
                <a:solidFill>
                  <a:srgbClr val="1F2A3D"/>
                </a:solidFill>
                <a:latin typeface="Calibri" pitchFamily="34" charset="0"/>
                <a:ea typeface="Calibri" pitchFamily="34" charset="-122"/>
                <a:cs typeface="Calibri" pitchFamily="34" charset="-120"/>
              </a:rPr>
              <a:t> </a:t>
            </a:r>
            <a:endParaRPr lang="en-US" sz="1150" dirty="0"/>
          </a:p>
          <a:p>
            <a:pPr algn="l" indent="0" marL="0">
              <a:lnSpc>
                <a:spcPct val="108000"/>
              </a:lnSpc>
              <a:buNone/>
            </a:pPr>
            <a:r>
              <a:rPr lang="en-US" sz="1150" b="1" dirty="0">
                <a:solidFill>
                  <a:srgbClr val="1F2A3D"/>
                </a:solidFill>
                <a:latin typeface="Calibri" pitchFamily="34" charset="0"/>
                <a:ea typeface="Calibri" pitchFamily="34" charset="-122"/>
                <a:cs typeface="Calibri" pitchFamily="34" charset="-120"/>
              </a:rPr>
              <a:t>Everything leaves the machine</a:t>
            </a:r>
            <a:endParaRPr lang="en-US" sz="1150" dirty="0"/>
          </a:p>
          <a:p>
            <a:pPr algn="l" indent="0" marL="0">
              <a:lnSpc>
                <a:spcPct val="108000"/>
              </a:lnSpc>
              <a:buNone/>
            </a:pPr>
            <a:r>
              <a:rPr lang="en-US" sz="1150" dirty="0">
                <a:solidFill>
                  <a:srgbClr val="5D6B7E"/>
                </a:solidFill>
                <a:latin typeface="Calibri" pitchFamily="34" charset="0"/>
                <a:ea typeface="Calibri" pitchFamily="34" charset="-122"/>
                <a:cs typeface="Calibri" pitchFamily="34" charset="-120"/>
              </a:rPr>
              <a:t>Even sessions that just read a .env file full of credentials.</a:t>
            </a:r>
            <a:endParaRPr lang="en-US" sz="1150" dirty="0"/>
          </a:p>
          <a:p>
            <a:pPr algn="l" indent="0" marL="0">
              <a:lnSpc>
                <a:spcPct val="108000"/>
              </a:lnSpc>
              <a:buNone/>
            </a:pPr>
            <a:r>
              <a:rPr lang="en-US" sz="1150" dirty="0">
                <a:solidFill>
                  <a:srgbClr val="1F2A3D"/>
                </a:solidFill>
                <a:latin typeface="Calibri" pitchFamily="34" charset="0"/>
                <a:ea typeface="Calibri" pitchFamily="34" charset="-122"/>
                <a:cs typeface="Calibri" pitchFamily="34" charset="-120"/>
              </a:rPr>
              <a:t> </a:t>
            </a:r>
            <a:endParaRPr lang="en-US" sz="1150" dirty="0"/>
          </a:p>
          <a:p>
            <a:pPr algn="l" indent="0" marL="0">
              <a:lnSpc>
                <a:spcPct val="108000"/>
              </a:lnSpc>
              <a:buNone/>
            </a:pPr>
            <a:r>
              <a:rPr lang="en-US" sz="1150" b="1" dirty="0">
                <a:solidFill>
                  <a:srgbClr val="1F2A3D"/>
                </a:solidFill>
                <a:latin typeface="Calibri" pitchFamily="34" charset="0"/>
                <a:ea typeface="Calibri" pitchFamily="34" charset="-122"/>
                <a:cs typeface="Calibri" pitchFamily="34" charset="-120"/>
              </a:rPr>
              <a:t>No memory, no learning</a:t>
            </a:r>
            <a:endParaRPr lang="en-US" sz="1150" dirty="0"/>
          </a:p>
          <a:p>
            <a:pPr algn="l" indent="0" marL="0">
              <a:lnSpc>
                <a:spcPct val="108000"/>
              </a:lnSpc>
              <a:buNone/>
            </a:pPr>
            <a:r>
              <a:rPr lang="en-US" sz="1150" dirty="0">
                <a:solidFill>
                  <a:srgbClr val="5D6B7E"/>
                </a:solidFill>
                <a:latin typeface="Calibri" pitchFamily="34" charset="0"/>
                <a:ea typeface="Calibri" pitchFamily="34" charset="-122"/>
                <a:cs typeface="Calibri" pitchFamily="34" charset="-120"/>
              </a:rPr>
              <a:t>The stack never notices which work a cheaper model could have done.</a:t>
            </a:r>
            <a:endParaRPr lang="en-US" sz="1150" dirty="0"/>
          </a:p>
        </p:txBody>
      </p:sp>
      <p:sp>
        <p:nvSpPr>
          <p:cNvPr id="18" name="Shape 15"/>
          <p:cNvSpPr/>
          <p:nvPr/>
        </p:nvSpPr>
        <p:spPr>
          <a:xfrm>
            <a:off x="6309360" y="1371600"/>
            <a:ext cx="5349240" cy="2286000"/>
          </a:xfrm>
          <a:prstGeom prst="roundRect">
            <a:avLst>
              <a:gd name="adj" fmla="val 2800"/>
            </a:avLst>
          </a:prstGeom>
          <a:solidFill>
            <a:srgbClr val="E3F1EA"/>
          </a:solidFill>
          <a:ln/>
          <a:effectLst>
            <a:outerShdw sx="100000" sy="100000" kx="0" ky="0" algn="bl" rotWithShape="0" blurRad="88900" dist="25400" dir="2700000">
              <a:srgbClr val="1F2A3D">
                <a:alpha val="14000"/>
              </a:srgbClr>
            </a:outerShdw>
          </a:effectLst>
        </p:spPr>
      </p:sp>
      <p:sp>
        <p:nvSpPr>
          <p:cNvPr id="19" name="Shape 16"/>
          <p:cNvSpPr/>
          <p:nvPr/>
        </p:nvSpPr>
        <p:spPr>
          <a:xfrm>
            <a:off x="6583680" y="1664208"/>
            <a:ext cx="457200" cy="457200"/>
          </a:xfrm>
          <a:prstGeom prst="ellipse">
            <a:avLst/>
          </a:prstGeom>
          <a:solidFill>
            <a:srgbClr val="1F7A55"/>
          </a:solidFill>
          <a:ln/>
        </p:spPr>
      </p:sp>
      <p:pic>
        <p:nvPicPr>
          <p:cNvPr id="20" name="Image 0" descr="preencoded.png">    </p:cNvPr>
          <p:cNvPicPr>
            <a:picLocks noChangeAspect="1"/>
          </p:cNvPicPr>
          <p:nvPr/>
        </p:nvPicPr>
        <p:blipFill>
          <a:blip r:embed="rId1"/>
          <a:stretch>
            <a:fillRect/>
          </a:stretch>
        </p:blipFill>
        <p:spPr>
          <a:xfrm>
            <a:off x="6702552" y="1783080"/>
            <a:ext cx="219456" cy="219456"/>
          </a:xfrm>
          <a:prstGeom prst="rect">
            <a:avLst/>
          </a:prstGeom>
        </p:spPr>
      </p:pic>
      <p:sp>
        <p:nvSpPr>
          <p:cNvPr id="21" name="Text 17"/>
          <p:cNvSpPr/>
          <p:nvPr/>
        </p:nvSpPr>
        <p:spPr>
          <a:xfrm>
            <a:off x="7223760" y="1709928"/>
            <a:ext cx="4023360" cy="274320"/>
          </a:xfrm>
          <a:prstGeom prst="rect">
            <a:avLst/>
          </a:prstGeom>
          <a:noFill/>
          <a:ln/>
        </p:spPr>
        <p:txBody>
          <a:bodyPr wrap="square" lIns="0" tIns="0" rIns="0" bIns="0" rtlCol="0" anchor="t"/>
          <a:lstStyle/>
          <a:p>
            <a:pPr algn="l" indent="0" marL="0">
              <a:buNone/>
            </a:pPr>
            <a:r>
              <a:rPr lang="en-US" sz="1300" b="1" spc="200" kern="0" dirty="0">
                <a:solidFill>
                  <a:srgbClr val="1F7A55"/>
                </a:solidFill>
                <a:latin typeface="Calibri" pitchFamily="34" charset="0"/>
                <a:ea typeface="Calibri" pitchFamily="34" charset="-122"/>
                <a:cs typeface="Calibri" pitchFamily="34" charset="-120"/>
              </a:rPr>
              <a:t>GOAL</a:t>
            </a:r>
            <a:endParaRPr lang="en-US" sz="1300" dirty="0"/>
          </a:p>
        </p:txBody>
      </p:sp>
      <p:sp>
        <p:nvSpPr>
          <p:cNvPr id="22" name="Text 18"/>
          <p:cNvSpPr/>
          <p:nvPr/>
        </p:nvSpPr>
        <p:spPr>
          <a:xfrm>
            <a:off x="6583680" y="2212848"/>
            <a:ext cx="4754880" cy="685800"/>
          </a:xfrm>
          <a:prstGeom prst="rect">
            <a:avLst/>
          </a:prstGeom>
          <a:noFill/>
          <a:ln/>
        </p:spPr>
        <p:txBody>
          <a:bodyPr wrap="square" lIns="0" tIns="0" rIns="0" bIns="0" rtlCol="0" anchor="t"/>
          <a:lstStyle/>
          <a:p>
            <a:pPr algn="l" indent="0" marL="0">
              <a:lnSpc>
                <a:spcPct val="110000"/>
              </a:lnSpc>
              <a:buNone/>
            </a:pPr>
            <a:r>
              <a:rPr lang="en-US" sz="1350" b="1" dirty="0">
                <a:solidFill>
                  <a:srgbClr val="1F2A3D"/>
                </a:solidFill>
                <a:latin typeface="Calibri" pitchFamily="34" charset="0"/>
                <a:ea typeface="Calibri" pitchFamily="34" charset="-122"/>
                <a:cs typeface="Calibri" pitchFamily="34" charset="-120"/>
              </a:rPr>
              <a:t>Cut cloud spend and keep data local where possible — without the user feeling a quality drop.</a:t>
            </a:r>
            <a:endParaRPr lang="en-US" sz="1350" dirty="0"/>
          </a:p>
        </p:txBody>
      </p:sp>
      <p:sp>
        <p:nvSpPr>
          <p:cNvPr id="23" name="Text 19"/>
          <p:cNvSpPr/>
          <p:nvPr/>
        </p:nvSpPr>
        <p:spPr>
          <a:xfrm>
            <a:off x="6583680" y="3063240"/>
            <a:ext cx="4754880" cy="457200"/>
          </a:xfrm>
          <a:prstGeom prst="rect">
            <a:avLst/>
          </a:prstGeom>
          <a:noFill/>
          <a:ln/>
        </p:spPr>
        <p:txBody>
          <a:bodyPr wrap="square" lIns="0" tIns="0" rIns="0" bIns="0" rtlCol="0" anchor="t"/>
          <a:lstStyle/>
          <a:p>
            <a:pPr algn="l" indent="0" marL="0">
              <a:buNone/>
            </a:pPr>
            <a:r>
              <a:rPr lang="en-US" sz="1100" dirty="0">
                <a:solidFill>
                  <a:srgbClr val="5D6B7E"/>
                </a:solidFill>
                <a:latin typeface="Calibri" pitchFamily="34" charset="0"/>
                <a:ea typeface="Calibri" pitchFamily="34" charset="-122"/>
                <a:cs typeface="Calibri" pitchFamily="34" charset="-120"/>
              </a:rPr>
              <a:t>The user types into the same harness and notices nothing except a smaller bill.</a:t>
            </a:r>
            <a:endParaRPr lang="en-US" sz="1100" dirty="0"/>
          </a:p>
        </p:txBody>
      </p:sp>
      <p:sp>
        <p:nvSpPr>
          <p:cNvPr id="24" name="Shape 20"/>
          <p:cNvSpPr/>
          <p:nvPr/>
        </p:nvSpPr>
        <p:spPr>
          <a:xfrm>
            <a:off x="6309360" y="3931920"/>
            <a:ext cx="5349240" cy="2286000"/>
          </a:xfrm>
          <a:prstGeom prst="roundRect">
            <a:avLst>
              <a:gd name="adj" fmla="val 2800"/>
            </a:avLst>
          </a:prstGeom>
          <a:solidFill>
            <a:srgbClr val="F3F6F9"/>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25" name="Shape 21"/>
          <p:cNvSpPr/>
          <p:nvPr/>
        </p:nvSpPr>
        <p:spPr>
          <a:xfrm>
            <a:off x="6583680" y="4224528"/>
            <a:ext cx="457200" cy="457200"/>
          </a:xfrm>
          <a:prstGeom prst="ellipse">
            <a:avLst/>
          </a:prstGeom>
          <a:solidFill>
            <a:srgbClr val="5D6B7E"/>
          </a:solidFill>
          <a:ln/>
        </p:spPr>
      </p:sp>
      <p:pic>
        <p:nvPicPr>
          <p:cNvPr id="26" name="Image 1" descr="preencoded.png">    </p:cNvPr>
          <p:cNvPicPr>
            <a:picLocks noChangeAspect="1"/>
          </p:cNvPicPr>
          <p:nvPr/>
        </p:nvPicPr>
        <p:blipFill>
          <a:blip r:embed="rId2"/>
          <a:stretch>
            <a:fillRect/>
          </a:stretch>
        </p:blipFill>
        <p:spPr>
          <a:xfrm>
            <a:off x="6702552" y="4343400"/>
            <a:ext cx="219456" cy="219456"/>
          </a:xfrm>
          <a:prstGeom prst="rect">
            <a:avLst/>
          </a:prstGeom>
        </p:spPr>
      </p:pic>
      <p:sp>
        <p:nvSpPr>
          <p:cNvPr id="27" name="Text 22"/>
          <p:cNvSpPr/>
          <p:nvPr/>
        </p:nvSpPr>
        <p:spPr>
          <a:xfrm>
            <a:off x="7223760" y="4270248"/>
            <a:ext cx="4023360" cy="274320"/>
          </a:xfrm>
          <a:prstGeom prst="rect">
            <a:avLst/>
          </a:prstGeom>
          <a:noFill/>
          <a:ln/>
        </p:spPr>
        <p:txBody>
          <a:bodyPr wrap="square" lIns="0" tIns="0" rIns="0" bIns="0" rtlCol="0" anchor="t"/>
          <a:lstStyle/>
          <a:p>
            <a:pPr algn="l" indent="0" marL="0">
              <a:buNone/>
            </a:pPr>
            <a:r>
              <a:rPr lang="en-US" sz="1300" b="1" spc="200" kern="0" dirty="0">
                <a:solidFill>
                  <a:srgbClr val="5D6B7E"/>
                </a:solidFill>
                <a:latin typeface="Calibri" pitchFamily="34" charset="0"/>
                <a:ea typeface="Calibri" pitchFamily="34" charset="-122"/>
                <a:cs typeface="Calibri" pitchFamily="34" charset="-120"/>
              </a:rPr>
              <a:t>NON-GOAL</a:t>
            </a:r>
            <a:endParaRPr lang="en-US" sz="1300" dirty="0"/>
          </a:p>
        </p:txBody>
      </p:sp>
      <p:sp>
        <p:nvSpPr>
          <p:cNvPr id="28" name="Text 23"/>
          <p:cNvSpPr/>
          <p:nvPr/>
        </p:nvSpPr>
        <p:spPr>
          <a:xfrm>
            <a:off x="6583680" y="4773168"/>
            <a:ext cx="4754880" cy="502920"/>
          </a:xfrm>
          <a:prstGeom prst="rect">
            <a:avLst/>
          </a:prstGeom>
          <a:noFill/>
          <a:ln/>
        </p:spPr>
        <p:txBody>
          <a:bodyPr wrap="square" lIns="0" tIns="0" rIns="0" bIns="0" rtlCol="0" anchor="t"/>
          <a:lstStyle/>
          <a:p>
            <a:pPr algn="l" indent="0" marL="0">
              <a:lnSpc>
                <a:spcPct val="110000"/>
              </a:lnSpc>
              <a:buNone/>
            </a:pPr>
            <a:r>
              <a:rPr lang="en-US" sz="1350" b="1" dirty="0">
                <a:solidFill>
                  <a:srgbClr val="1F2A3D"/>
                </a:solidFill>
                <a:latin typeface="Calibri" pitchFamily="34" charset="0"/>
                <a:ea typeface="Calibri" pitchFamily="34" charset="-122"/>
                <a:cs typeface="Calibri" pitchFamily="34" charset="-120"/>
              </a:rPr>
              <a:t>Beating the frontier model on hard tasks with clever routing.</a:t>
            </a:r>
            <a:endParaRPr lang="en-US" sz="1350" dirty="0"/>
          </a:p>
        </p:txBody>
      </p:sp>
      <p:sp>
        <p:nvSpPr>
          <p:cNvPr id="29" name="Text 24"/>
          <p:cNvSpPr/>
          <p:nvPr/>
        </p:nvSpPr>
        <p:spPr>
          <a:xfrm>
            <a:off x="6583680" y="5349240"/>
            <a:ext cx="4754880" cy="548640"/>
          </a:xfrm>
          <a:prstGeom prst="rect">
            <a:avLst/>
          </a:prstGeom>
          <a:noFill/>
          <a:ln/>
        </p:spPr>
        <p:txBody>
          <a:bodyPr wrap="square" lIns="0" tIns="0" rIns="0" bIns="0" rtlCol="0" anchor="t"/>
          <a:lstStyle/>
          <a:p>
            <a:pPr algn="l" indent="0" marL="0">
              <a:lnSpc>
                <a:spcPct val="110000"/>
              </a:lnSpc>
              <a:buNone/>
            </a:pPr>
            <a:r>
              <a:rPr lang="en-US" sz="1100" dirty="0">
                <a:solidFill>
                  <a:srgbClr val="5D6B7E"/>
                </a:solidFill>
                <a:latin typeface="Calibri" pitchFamily="34" charset="0"/>
                <a:ea typeface="Calibri" pitchFamily="34" charset="-122"/>
                <a:cs typeface="Calibri" pitchFamily="34" charset="-120"/>
              </a:rPr>
              <a:t>Hard tasks go straight to the frontier model. Routing wins by not wasting frontier tokens on easy work.</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ORIENTATION</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The mental model: hospital triage</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design doc §1</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4</a:t>
            </a:r>
            <a:endParaRPr lang="en-US" sz="900" dirty="0"/>
          </a:p>
        </p:txBody>
      </p:sp>
      <p:sp>
        <p:nvSpPr>
          <p:cNvPr id="7" name="Shape 4"/>
          <p:cNvSpPr/>
          <p:nvPr/>
        </p:nvSpPr>
        <p:spPr>
          <a:xfrm>
            <a:off x="548640" y="1417320"/>
            <a:ext cx="11091672" cy="1042416"/>
          </a:xfrm>
          <a:prstGeom prst="roundRect">
            <a:avLst>
              <a:gd name="adj" fmla="val 6140"/>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8" name="Shape 5"/>
          <p:cNvSpPr/>
          <p:nvPr/>
        </p:nvSpPr>
        <p:spPr>
          <a:xfrm>
            <a:off x="777240" y="1691640"/>
            <a:ext cx="512064" cy="512064"/>
          </a:xfrm>
          <a:prstGeom prst="ellipse">
            <a:avLst/>
          </a:prstGeom>
          <a:solidFill>
            <a:srgbClr val="1D6FA5"/>
          </a:solidFill>
          <a:ln/>
        </p:spPr>
      </p:sp>
      <p:pic>
        <p:nvPicPr>
          <p:cNvPr id="9" name="Image 0" descr="preencoded.png">    </p:cNvPr>
          <p:cNvPicPr>
            <a:picLocks noChangeAspect="1"/>
          </p:cNvPicPr>
          <p:nvPr/>
        </p:nvPicPr>
        <p:blipFill>
          <a:blip r:embed="rId1"/>
          <a:stretch>
            <a:fillRect/>
          </a:stretch>
        </p:blipFill>
        <p:spPr>
          <a:xfrm>
            <a:off x="910377" y="1824777"/>
            <a:ext cx="245791" cy="245791"/>
          </a:xfrm>
          <a:prstGeom prst="rect">
            <a:avLst/>
          </a:prstGeom>
        </p:spPr>
      </p:pic>
      <p:sp>
        <p:nvSpPr>
          <p:cNvPr id="10" name="Text 6"/>
          <p:cNvSpPr/>
          <p:nvPr/>
        </p:nvSpPr>
        <p:spPr>
          <a:xfrm>
            <a:off x="1508760" y="1581912"/>
            <a:ext cx="2651760" cy="320040"/>
          </a:xfrm>
          <a:prstGeom prst="rect">
            <a:avLst/>
          </a:prstGeom>
          <a:noFill/>
          <a:ln/>
        </p:spPr>
        <p:txBody>
          <a:bodyPr wrap="square" lIns="0" tIns="0" rIns="0" bIns="0" rtlCol="0" anchor="t"/>
          <a:lstStyle/>
          <a:p>
            <a:pPr algn="l" indent="0" marL="0">
              <a:buNone/>
            </a:pPr>
            <a:r>
              <a:rPr lang="en-US" sz="1450" b="1" dirty="0">
                <a:solidFill>
                  <a:srgbClr val="1F2A3D"/>
                </a:solidFill>
                <a:latin typeface="Cambria" pitchFamily="34" charset="0"/>
                <a:ea typeface="Cambria" pitchFamily="34" charset="-122"/>
                <a:cs typeface="Cambria" pitchFamily="34" charset="-120"/>
              </a:rPr>
              <a:t>Triage nurse</a:t>
            </a:r>
            <a:endParaRPr lang="en-US" sz="1450" dirty="0"/>
          </a:p>
        </p:txBody>
      </p:sp>
      <p:sp>
        <p:nvSpPr>
          <p:cNvPr id="11" name="Text 7"/>
          <p:cNvSpPr/>
          <p:nvPr/>
        </p:nvSpPr>
        <p:spPr>
          <a:xfrm>
            <a:off x="1508760" y="1965960"/>
            <a:ext cx="3291840" cy="320040"/>
          </a:xfrm>
          <a:prstGeom prst="rect">
            <a:avLst/>
          </a:prstGeom>
          <a:noFill/>
          <a:ln/>
        </p:spPr>
        <p:txBody>
          <a:bodyPr wrap="square" lIns="0" tIns="0" rIns="0" bIns="0" rtlCol="0" anchor="t"/>
          <a:lstStyle/>
          <a:p>
            <a:pPr algn="l" indent="0" marL="0">
              <a:buNone/>
            </a:pPr>
            <a:r>
              <a:rPr lang="en-US" sz="1100" b="1" dirty="0">
                <a:solidFill>
                  <a:srgbClr val="1D6FA5"/>
                </a:solidFill>
                <a:latin typeface="Calibri" pitchFamily="34" charset="0"/>
                <a:ea typeface="Calibri" pitchFamily="34" charset="-122"/>
                <a:cs typeface="Calibri" pitchFamily="34" charset="-120"/>
              </a:rPr>
              <a:t>= Call-type discriminator + policy engine</a:t>
            </a:r>
            <a:endParaRPr lang="en-US" sz="1100" dirty="0"/>
          </a:p>
        </p:txBody>
      </p:sp>
      <p:sp>
        <p:nvSpPr>
          <p:cNvPr id="12" name="Text 8"/>
          <p:cNvSpPr/>
          <p:nvPr/>
        </p:nvSpPr>
        <p:spPr>
          <a:xfrm>
            <a:off x="5029200" y="1581912"/>
            <a:ext cx="6355080" cy="777240"/>
          </a:xfrm>
          <a:prstGeom prst="rect">
            <a:avLst/>
          </a:prstGeom>
          <a:noFill/>
          <a:ln/>
        </p:spPr>
        <p:txBody>
          <a:bodyPr wrap="square" lIns="0" tIns="0" rIns="0" bIns="0" rtlCol="0" anchor="ctr"/>
          <a:lstStyle/>
          <a:p>
            <a:pPr algn="l" indent="0" marL="0">
              <a:lnSpc>
                <a:spcPct val="108000"/>
              </a:lnSpc>
              <a:buNone/>
            </a:pPr>
            <a:r>
              <a:rPr lang="en-US" sz="1150" dirty="0">
                <a:solidFill>
                  <a:srgbClr val="5D6B7E"/>
                </a:solidFill>
                <a:latin typeface="Calibri" pitchFamily="34" charset="0"/>
                <a:ea typeface="Calibri" pitchFamily="34" charset="-122"/>
                <a:cs typeface="Calibri" pitchFamily="34" charset="-120"/>
              </a:rPr>
              <a:t>Looks at each incoming case for a few microseconds and decides who should handle it — mechanical rules, no deep exam.</a:t>
            </a:r>
            <a:endParaRPr lang="en-US" sz="1150" dirty="0"/>
          </a:p>
        </p:txBody>
      </p:sp>
      <p:sp>
        <p:nvSpPr>
          <p:cNvPr id="13" name="Shape 9"/>
          <p:cNvSpPr/>
          <p:nvPr/>
        </p:nvSpPr>
        <p:spPr>
          <a:xfrm>
            <a:off x="548640" y="2624328"/>
            <a:ext cx="11091672" cy="1042416"/>
          </a:xfrm>
          <a:prstGeom prst="roundRect">
            <a:avLst>
              <a:gd name="adj" fmla="val 6140"/>
            </a:avLst>
          </a:prstGeom>
          <a:solidFill>
            <a:srgbClr val="F3F6F9"/>
          </a:solidFill>
          <a:ln w="9525">
            <a:solidFill>
              <a:srgbClr val="D9E1E9"/>
            </a:solidFill>
            <a:prstDash val="solid"/>
          </a:ln>
        </p:spPr>
      </p:sp>
      <p:sp>
        <p:nvSpPr>
          <p:cNvPr id="14" name="Shape 10"/>
          <p:cNvSpPr/>
          <p:nvPr/>
        </p:nvSpPr>
        <p:spPr>
          <a:xfrm>
            <a:off x="777240" y="2898648"/>
            <a:ext cx="512064" cy="512064"/>
          </a:xfrm>
          <a:prstGeom prst="ellipse">
            <a:avLst/>
          </a:prstGeom>
          <a:solidFill>
            <a:srgbClr val="1F7A55"/>
          </a:solidFill>
          <a:ln/>
        </p:spPr>
      </p:sp>
      <p:pic>
        <p:nvPicPr>
          <p:cNvPr id="15" name="Image 1" descr="preencoded.png">    </p:cNvPr>
          <p:cNvPicPr>
            <a:picLocks noChangeAspect="1"/>
          </p:cNvPicPr>
          <p:nvPr/>
        </p:nvPicPr>
        <p:blipFill>
          <a:blip r:embed="rId2"/>
          <a:stretch>
            <a:fillRect/>
          </a:stretch>
        </p:blipFill>
        <p:spPr>
          <a:xfrm>
            <a:off x="910377" y="3031785"/>
            <a:ext cx="245791" cy="245791"/>
          </a:xfrm>
          <a:prstGeom prst="rect">
            <a:avLst/>
          </a:prstGeom>
        </p:spPr>
      </p:pic>
      <p:sp>
        <p:nvSpPr>
          <p:cNvPr id="16" name="Text 11"/>
          <p:cNvSpPr/>
          <p:nvPr/>
        </p:nvSpPr>
        <p:spPr>
          <a:xfrm>
            <a:off x="1508760" y="2788920"/>
            <a:ext cx="2651760" cy="320040"/>
          </a:xfrm>
          <a:prstGeom prst="rect">
            <a:avLst/>
          </a:prstGeom>
          <a:noFill/>
          <a:ln/>
        </p:spPr>
        <p:txBody>
          <a:bodyPr wrap="square" lIns="0" tIns="0" rIns="0" bIns="0" rtlCol="0" anchor="t"/>
          <a:lstStyle/>
          <a:p>
            <a:pPr algn="l" indent="0" marL="0">
              <a:buNone/>
            </a:pPr>
            <a:r>
              <a:rPr lang="en-US" sz="1450" b="1" dirty="0">
                <a:solidFill>
                  <a:srgbClr val="1F2A3D"/>
                </a:solidFill>
                <a:latin typeface="Cambria" pitchFamily="34" charset="0"/>
                <a:ea typeface="Cambria" pitchFamily="34" charset="-122"/>
                <a:cs typeface="Cambria" pitchFamily="34" charset="-120"/>
              </a:rPr>
              <a:t>Junior doctor</a:t>
            </a:r>
            <a:endParaRPr lang="en-US" sz="1450" dirty="0"/>
          </a:p>
        </p:txBody>
      </p:sp>
      <p:sp>
        <p:nvSpPr>
          <p:cNvPr id="17" name="Text 12"/>
          <p:cNvSpPr/>
          <p:nvPr/>
        </p:nvSpPr>
        <p:spPr>
          <a:xfrm>
            <a:off x="1508760" y="3172968"/>
            <a:ext cx="3291840" cy="320040"/>
          </a:xfrm>
          <a:prstGeom prst="rect">
            <a:avLst/>
          </a:prstGeom>
          <a:noFill/>
          <a:ln/>
        </p:spPr>
        <p:txBody>
          <a:bodyPr wrap="square" lIns="0" tIns="0" rIns="0" bIns="0" rtlCol="0" anchor="t"/>
          <a:lstStyle/>
          <a:p>
            <a:pPr algn="l" indent="0" marL="0">
              <a:buNone/>
            </a:pPr>
            <a:r>
              <a:rPr lang="en-US" sz="1100" b="1" dirty="0">
                <a:solidFill>
                  <a:srgbClr val="1F7A55"/>
                </a:solidFill>
                <a:latin typeface="Calibri" pitchFamily="34" charset="0"/>
                <a:ea typeface="Calibri" pitchFamily="34" charset="-122"/>
                <a:cs typeface="Calibri" pitchFamily="34" charset="-120"/>
              </a:rPr>
              <a:t>= Local model (llama.cpp / MLX)</a:t>
            </a:r>
            <a:endParaRPr lang="en-US" sz="1100" dirty="0"/>
          </a:p>
        </p:txBody>
      </p:sp>
      <p:sp>
        <p:nvSpPr>
          <p:cNvPr id="18" name="Text 13"/>
          <p:cNvSpPr/>
          <p:nvPr/>
        </p:nvSpPr>
        <p:spPr>
          <a:xfrm>
            <a:off x="5029200" y="2788920"/>
            <a:ext cx="6355080" cy="777240"/>
          </a:xfrm>
          <a:prstGeom prst="rect">
            <a:avLst/>
          </a:prstGeom>
          <a:noFill/>
          <a:ln/>
        </p:spPr>
        <p:txBody>
          <a:bodyPr wrap="square" lIns="0" tIns="0" rIns="0" bIns="0" rtlCol="0" anchor="ctr"/>
          <a:lstStyle/>
          <a:p>
            <a:pPr algn="l" indent="0" marL="0">
              <a:lnSpc>
                <a:spcPct val="108000"/>
              </a:lnSpc>
              <a:buNone/>
            </a:pPr>
            <a:r>
              <a:rPr lang="en-US" sz="1150" dirty="0">
                <a:solidFill>
                  <a:srgbClr val="5D6B7E"/>
                </a:solidFill>
                <a:latin typeface="Calibri" pitchFamily="34" charset="0"/>
                <a:ea typeface="Calibri" pitchFamily="34" charset="-122"/>
                <a:cs typeface="Calibri" pitchFamily="34" charset="-120"/>
              </a:rPr>
              <a:t>Handles the routine cases — renames, explanations, small fixes — competently and for free.</a:t>
            </a:r>
            <a:endParaRPr lang="en-US" sz="1150" dirty="0"/>
          </a:p>
        </p:txBody>
      </p:sp>
      <p:sp>
        <p:nvSpPr>
          <p:cNvPr id="19" name="Shape 14"/>
          <p:cNvSpPr/>
          <p:nvPr/>
        </p:nvSpPr>
        <p:spPr>
          <a:xfrm>
            <a:off x="548640" y="3831336"/>
            <a:ext cx="11091672" cy="1042416"/>
          </a:xfrm>
          <a:prstGeom prst="roundRect">
            <a:avLst>
              <a:gd name="adj" fmla="val 6140"/>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20" name="Shape 15"/>
          <p:cNvSpPr/>
          <p:nvPr/>
        </p:nvSpPr>
        <p:spPr>
          <a:xfrm>
            <a:off x="777240" y="4105656"/>
            <a:ext cx="512064" cy="512064"/>
          </a:xfrm>
          <a:prstGeom prst="ellipse">
            <a:avLst/>
          </a:prstGeom>
          <a:solidFill>
            <a:srgbClr val="B3261E"/>
          </a:solidFill>
          <a:ln/>
        </p:spPr>
      </p:sp>
      <p:pic>
        <p:nvPicPr>
          <p:cNvPr id="21" name="Image 2" descr="preencoded.png">    </p:cNvPr>
          <p:cNvPicPr>
            <a:picLocks noChangeAspect="1"/>
          </p:cNvPicPr>
          <p:nvPr/>
        </p:nvPicPr>
        <p:blipFill>
          <a:blip r:embed="rId3"/>
          <a:stretch>
            <a:fillRect/>
          </a:stretch>
        </p:blipFill>
        <p:spPr>
          <a:xfrm>
            <a:off x="910377" y="4238793"/>
            <a:ext cx="245791" cy="245791"/>
          </a:xfrm>
          <a:prstGeom prst="rect">
            <a:avLst/>
          </a:prstGeom>
        </p:spPr>
      </p:pic>
      <p:sp>
        <p:nvSpPr>
          <p:cNvPr id="22" name="Text 16"/>
          <p:cNvSpPr/>
          <p:nvPr/>
        </p:nvSpPr>
        <p:spPr>
          <a:xfrm>
            <a:off x="1508760" y="3995928"/>
            <a:ext cx="2651760" cy="320040"/>
          </a:xfrm>
          <a:prstGeom prst="rect">
            <a:avLst/>
          </a:prstGeom>
          <a:noFill/>
          <a:ln/>
        </p:spPr>
        <p:txBody>
          <a:bodyPr wrap="square" lIns="0" tIns="0" rIns="0" bIns="0" rtlCol="0" anchor="t"/>
          <a:lstStyle/>
          <a:p>
            <a:pPr algn="l" indent="0" marL="0">
              <a:buNone/>
            </a:pPr>
            <a:r>
              <a:rPr lang="en-US" sz="1450" b="1" dirty="0">
                <a:solidFill>
                  <a:srgbClr val="1F2A3D"/>
                </a:solidFill>
                <a:latin typeface="Cambria" pitchFamily="34" charset="0"/>
                <a:ea typeface="Cambria" pitchFamily="34" charset="-122"/>
                <a:cs typeface="Cambria" pitchFamily="34" charset="-120"/>
              </a:rPr>
              <a:t>Supervision protocol</a:t>
            </a:r>
            <a:endParaRPr lang="en-US" sz="1450" dirty="0"/>
          </a:p>
        </p:txBody>
      </p:sp>
      <p:sp>
        <p:nvSpPr>
          <p:cNvPr id="23" name="Text 17"/>
          <p:cNvSpPr/>
          <p:nvPr/>
        </p:nvSpPr>
        <p:spPr>
          <a:xfrm>
            <a:off x="1508760" y="4379976"/>
            <a:ext cx="3291840" cy="320040"/>
          </a:xfrm>
          <a:prstGeom prst="rect">
            <a:avLst/>
          </a:prstGeom>
          <a:noFill/>
          <a:ln/>
        </p:spPr>
        <p:txBody>
          <a:bodyPr wrap="square" lIns="0" tIns="0" rIns="0" bIns="0" rtlCol="0" anchor="t"/>
          <a:lstStyle/>
          <a:p>
            <a:pPr algn="l" indent="0" marL="0">
              <a:buNone/>
            </a:pPr>
            <a:r>
              <a:rPr lang="en-US" sz="1100" b="1" dirty="0">
                <a:solidFill>
                  <a:srgbClr val="B3261E"/>
                </a:solidFill>
                <a:latin typeface="Calibri" pitchFamily="34" charset="0"/>
                <a:ea typeface="Calibri" pitchFamily="34" charset="-122"/>
                <a:cs typeface="Calibri" pitchFamily="34" charset="-120"/>
              </a:rPr>
              <a:t>= Trip-wires (escalation controller)</a:t>
            </a:r>
            <a:endParaRPr lang="en-US" sz="1100" dirty="0"/>
          </a:p>
        </p:txBody>
      </p:sp>
      <p:sp>
        <p:nvSpPr>
          <p:cNvPr id="24" name="Text 18"/>
          <p:cNvSpPr/>
          <p:nvPr/>
        </p:nvSpPr>
        <p:spPr>
          <a:xfrm>
            <a:off x="5029200" y="3995928"/>
            <a:ext cx="6355080" cy="777240"/>
          </a:xfrm>
          <a:prstGeom prst="rect">
            <a:avLst/>
          </a:prstGeom>
          <a:noFill/>
          <a:ln/>
        </p:spPr>
        <p:txBody>
          <a:bodyPr wrap="square" lIns="0" tIns="0" rIns="0" bIns="0" rtlCol="0" anchor="ctr"/>
          <a:lstStyle/>
          <a:p>
            <a:pPr algn="l" indent="0" marL="0">
              <a:lnSpc>
                <a:spcPct val="108000"/>
              </a:lnSpc>
              <a:buNone/>
            </a:pPr>
            <a:r>
              <a:rPr lang="en-US" sz="1150" dirty="0">
                <a:solidFill>
                  <a:srgbClr val="5D6B7E"/>
                </a:solidFill>
                <a:latin typeface="Calibri" pitchFamily="34" charset="0"/>
                <a:ea typeface="Calibri" pitchFamily="34" charset="-122"/>
                <a:cs typeface="Calibri" pitchFamily="34" charset="-120"/>
              </a:rPr>
              <a:t>Explicit, cheap criteria for when to page the specialist: two failed edits, a loop, no progress. Not judgment — rules.</a:t>
            </a:r>
            <a:endParaRPr lang="en-US" sz="1150" dirty="0"/>
          </a:p>
        </p:txBody>
      </p:sp>
      <p:sp>
        <p:nvSpPr>
          <p:cNvPr id="25" name="Shape 19"/>
          <p:cNvSpPr/>
          <p:nvPr/>
        </p:nvSpPr>
        <p:spPr>
          <a:xfrm>
            <a:off x="548640" y="5038344"/>
            <a:ext cx="11091672" cy="1042416"/>
          </a:xfrm>
          <a:prstGeom prst="roundRect">
            <a:avLst>
              <a:gd name="adj" fmla="val 6140"/>
            </a:avLst>
          </a:prstGeom>
          <a:solidFill>
            <a:srgbClr val="F3F6F9"/>
          </a:solidFill>
          <a:ln w="9525">
            <a:solidFill>
              <a:srgbClr val="D9E1E9"/>
            </a:solidFill>
            <a:prstDash val="solid"/>
          </a:ln>
        </p:spPr>
      </p:sp>
      <p:sp>
        <p:nvSpPr>
          <p:cNvPr id="26" name="Shape 20"/>
          <p:cNvSpPr/>
          <p:nvPr/>
        </p:nvSpPr>
        <p:spPr>
          <a:xfrm>
            <a:off x="777240" y="5312664"/>
            <a:ext cx="512064" cy="512064"/>
          </a:xfrm>
          <a:prstGeom prst="ellipse">
            <a:avLst/>
          </a:prstGeom>
          <a:solidFill>
            <a:srgbClr val="5B21B6"/>
          </a:solidFill>
          <a:ln/>
        </p:spPr>
      </p:sp>
      <p:pic>
        <p:nvPicPr>
          <p:cNvPr id="27" name="Image 3" descr="preencoded.png">    </p:cNvPr>
          <p:cNvPicPr>
            <a:picLocks noChangeAspect="1"/>
          </p:cNvPicPr>
          <p:nvPr/>
        </p:nvPicPr>
        <p:blipFill>
          <a:blip r:embed="rId4"/>
          <a:stretch>
            <a:fillRect/>
          </a:stretch>
        </p:blipFill>
        <p:spPr>
          <a:xfrm>
            <a:off x="910377" y="5445801"/>
            <a:ext cx="245791" cy="245791"/>
          </a:xfrm>
          <a:prstGeom prst="rect">
            <a:avLst/>
          </a:prstGeom>
        </p:spPr>
      </p:pic>
      <p:sp>
        <p:nvSpPr>
          <p:cNvPr id="28" name="Text 21"/>
          <p:cNvSpPr/>
          <p:nvPr/>
        </p:nvSpPr>
        <p:spPr>
          <a:xfrm>
            <a:off x="1508760" y="5202936"/>
            <a:ext cx="2651760" cy="320040"/>
          </a:xfrm>
          <a:prstGeom prst="rect">
            <a:avLst/>
          </a:prstGeom>
          <a:noFill/>
          <a:ln/>
        </p:spPr>
        <p:txBody>
          <a:bodyPr wrap="square" lIns="0" tIns="0" rIns="0" bIns="0" rtlCol="0" anchor="t"/>
          <a:lstStyle/>
          <a:p>
            <a:pPr algn="l" indent="0" marL="0">
              <a:buNone/>
            </a:pPr>
            <a:r>
              <a:rPr lang="en-US" sz="1450" b="1" dirty="0">
                <a:solidFill>
                  <a:srgbClr val="1F2A3D"/>
                </a:solidFill>
                <a:latin typeface="Cambria" pitchFamily="34" charset="0"/>
                <a:ea typeface="Cambria" pitchFamily="34" charset="-122"/>
                <a:cs typeface="Cambria" pitchFamily="34" charset="-120"/>
              </a:rPr>
              <a:t>Specialist + the full chart</a:t>
            </a:r>
            <a:endParaRPr lang="en-US" sz="1450" dirty="0"/>
          </a:p>
        </p:txBody>
      </p:sp>
      <p:sp>
        <p:nvSpPr>
          <p:cNvPr id="29" name="Text 22"/>
          <p:cNvSpPr/>
          <p:nvPr/>
        </p:nvSpPr>
        <p:spPr>
          <a:xfrm>
            <a:off x="1508760" y="5586984"/>
            <a:ext cx="3291840" cy="320040"/>
          </a:xfrm>
          <a:prstGeom prst="rect">
            <a:avLst/>
          </a:prstGeom>
          <a:noFill/>
          <a:ln/>
        </p:spPr>
        <p:txBody>
          <a:bodyPr wrap="square" lIns="0" tIns="0" rIns="0" bIns="0" rtlCol="0" anchor="t"/>
          <a:lstStyle/>
          <a:p>
            <a:pPr algn="l" indent="0" marL="0">
              <a:buNone/>
            </a:pPr>
            <a:r>
              <a:rPr lang="en-US" sz="1100" b="1" dirty="0">
                <a:solidFill>
                  <a:srgbClr val="5B21B6"/>
                </a:solidFill>
                <a:latin typeface="Calibri" pitchFamily="34" charset="0"/>
                <a:ea typeface="Calibri" pitchFamily="34" charset="-122"/>
                <a:cs typeface="Calibri" pitchFamily="34" charset="-120"/>
              </a:rPr>
              <a:t>= Frontier model + transcript replay</a:t>
            </a:r>
            <a:endParaRPr lang="en-US" sz="1100" dirty="0"/>
          </a:p>
        </p:txBody>
      </p:sp>
      <p:sp>
        <p:nvSpPr>
          <p:cNvPr id="30" name="Text 23"/>
          <p:cNvSpPr/>
          <p:nvPr/>
        </p:nvSpPr>
        <p:spPr>
          <a:xfrm>
            <a:off x="5029200" y="5202936"/>
            <a:ext cx="6355080" cy="777240"/>
          </a:xfrm>
          <a:prstGeom prst="rect">
            <a:avLst/>
          </a:prstGeom>
          <a:noFill/>
          <a:ln/>
        </p:spPr>
        <p:txBody>
          <a:bodyPr wrap="square" lIns="0" tIns="0" rIns="0" bIns="0" rtlCol="0" anchor="ctr"/>
          <a:lstStyle/>
          <a:p>
            <a:pPr algn="l" indent="0" marL="0">
              <a:lnSpc>
                <a:spcPct val="108000"/>
              </a:lnSpc>
              <a:buNone/>
            </a:pPr>
            <a:r>
              <a:rPr lang="en-US" sz="1150" dirty="0">
                <a:solidFill>
                  <a:srgbClr val="5D6B7E"/>
                </a:solidFill>
                <a:latin typeface="Calibri" pitchFamily="34" charset="0"/>
                <a:ea typeface="Calibri" pitchFamily="34" charset="-122"/>
                <a:cs typeface="Calibri" pitchFamily="34" charset="-120"/>
              </a:rPr>
              <a:t>When the case goes up, the whole history goes with it — the patient never repeats their story.</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ORIENTATION</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Where the layer sits</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design doc §3</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5</a:t>
            </a:r>
            <a:endParaRPr lang="en-US" sz="900" dirty="0"/>
          </a:p>
        </p:txBody>
      </p:sp>
      <p:sp>
        <p:nvSpPr>
          <p:cNvPr id="7" name="Shape 4"/>
          <p:cNvSpPr/>
          <p:nvPr/>
        </p:nvSpPr>
        <p:spPr>
          <a:xfrm>
            <a:off x="777240" y="1371600"/>
            <a:ext cx="5760720" cy="640080"/>
          </a:xfrm>
          <a:prstGeom prst="roundRect">
            <a:avLst>
              <a:gd name="adj" fmla="val 10000"/>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8" name="Text 5"/>
          <p:cNvSpPr/>
          <p:nvPr/>
        </p:nvSpPr>
        <p:spPr>
          <a:xfrm>
            <a:off x="1005840" y="1481328"/>
            <a:ext cx="5303520" cy="274320"/>
          </a:xfrm>
          <a:prstGeom prst="rect">
            <a:avLst/>
          </a:prstGeom>
          <a:noFill/>
          <a:ln/>
        </p:spPr>
        <p:txBody>
          <a:bodyPr wrap="square" lIns="0" tIns="0" rIns="0" bIns="0" rtlCol="0" anchor="t"/>
          <a:lstStyle/>
          <a:p>
            <a:pPr algn="l" indent="0" marL="0">
              <a:buNone/>
            </a:pPr>
            <a:r>
              <a:rPr lang="en-US" sz="1250" b="1" dirty="0">
                <a:solidFill>
                  <a:srgbClr val="1F2A3D"/>
                </a:solidFill>
                <a:latin typeface="Calibri" pitchFamily="34" charset="0"/>
                <a:ea typeface="Calibri" pitchFamily="34" charset="-122"/>
                <a:cs typeface="Calibri" pitchFamily="34" charset="-120"/>
              </a:rPr>
              <a:t>Claude Code / Codex CLI</a:t>
            </a:r>
            <a:endParaRPr lang="en-US" sz="1250" dirty="0"/>
          </a:p>
        </p:txBody>
      </p:sp>
      <p:sp>
        <p:nvSpPr>
          <p:cNvPr id="9" name="Text 6"/>
          <p:cNvSpPr/>
          <p:nvPr/>
        </p:nvSpPr>
        <p:spPr>
          <a:xfrm>
            <a:off x="1005840" y="1737360"/>
            <a:ext cx="5303520" cy="256032"/>
          </a:xfrm>
          <a:prstGeom prst="rect">
            <a:avLst/>
          </a:prstGeom>
          <a:noFill/>
          <a:ln/>
        </p:spPr>
        <p:txBody>
          <a:bodyPr wrap="square" lIns="0" tIns="0" rIns="0" bIns="0" rtlCol="0" anchor="t"/>
          <a:lstStyle/>
          <a:p>
            <a:pPr algn="l" indent="0" marL="0">
              <a:buNone/>
            </a:pPr>
            <a:r>
              <a:rPr lang="en-US" sz="1000" dirty="0">
                <a:solidFill>
                  <a:srgbClr val="5D6B7E"/>
                </a:solidFill>
                <a:latin typeface="Calibri" pitchFamily="34" charset="0"/>
                <a:ea typeface="Calibri" pitchFamily="34" charset="-122"/>
                <a:cs typeface="Calibri" pitchFamily="34" charset="-120"/>
              </a:rPr>
              <a:t>asks for one model alias: "adaptive-code"</a:t>
            </a:r>
            <a:endParaRPr lang="en-US" sz="1000" dirty="0"/>
          </a:p>
        </p:txBody>
      </p:sp>
      <p:sp>
        <p:nvSpPr>
          <p:cNvPr id="10" name="Shape 7"/>
          <p:cNvSpPr/>
          <p:nvPr/>
        </p:nvSpPr>
        <p:spPr>
          <a:xfrm>
            <a:off x="3657600" y="2048256"/>
            <a:ext cx="0" cy="219456"/>
          </a:xfrm>
          <a:prstGeom prst="line">
            <a:avLst/>
          </a:prstGeom>
          <a:noFill/>
          <a:ln w="22225">
            <a:solidFill>
              <a:srgbClr val="5D6B7E"/>
            </a:solidFill>
            <a:prstDash val="solid"/>
            <a:headEnd type="none"/>
            <a:tailEnd type="triangle"/>
          </a:ln>
        </p:spPr>
      </p:sp>
      <p:sp>
        <p:nvSpPr>
          <p:cNvPr id="11" name="Shape 8"/>
          <p:cNvSpPr/>
          <p:nvPr/>
        </p:nvSpPr>
        <p:spPr>
          <a:xfrm>
            <a:off x="777240" y="2304288"/>
            <a:ext cx="5760720" cy="640080"/>
          </a:xfrm>
          <a:prstGeom prst="roundRect">
            <a:avLst>
              <a:gd name="adj" fmla="val 10000"/>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2" name="Text 9"/>
          <p:cNvSpPr/>
          <p:nvPr/>
        </p:nvSpPr>
        <p:spPr>
          <a:xfrm>
            <a:off x="1005840" y="2414016"/>
            <a:ext cx="5303520" cy="274320"/>
          </a:xfrm>
          <a:prstGeom prst="rect">
            <a:avLst/>
          </a:prstGeom>
          <a:noFill/>
          <a:ln/>
        </p:spPr>
        <p:txBody>
          <a:bodyPr wrap="square" lIns="0" tIns="0" rIns="0" bIns="0" rtlCol="0" anchor="t"/>
          <a:lstStyle/>
          <a:p>
            <a:pPr algn="l" indent="0" marL="0">
              <a:buNone/>
            </a:pPr>
            <a:r>
              <a:rPr lang="en-US" sz="1250" b="1" dirty="0">
                <a:solidFill>
                  <a:srgbClr val="1F2A3D"/>
                </a:solidFill>
                <a:latin typeface="Calibri" pitchFamily="34" charset="0"/>
                <a:ea typeface="Calibri" pitchFamily="34" charset="-122"/>
                <a:cs typeface="Calibri" pitchFamily="34" charset="-120"/>
              </a:rPr>
              <a:t>Capture proxy  (existing)</a:t>
            </a:r>
            <a:endParaRPr lang="en-US" sz="1250" dirty="0"/>
          </a:p>
        </p:txBody>
      </p:sp>
      <p:sp>
        <p:nvSpPr>
          <p:cNvPr id="13" name="Text 10"/>
          <p:cNvSpPr/>
          <p:nvPr/>
        </p:nvSpPr>
        <p:spPr>
          <a:xfrm>
            <a:off x="1005840" y="2670048"/>
            <a:ext cx="5303520" cy="256032"/>
          </a:xfrm>
          <a:prstGeom prst="rect">
            <a:avLst/>
          </a:prstGeom>
          <a:noFill/>
          <a:ln/>
        </p:spPr>
        <p:txBody>
          <a:bodyPr wrap="square" lIns="0" tIns="0" rIns="0" bIns="0" rtlCol="0" anchor="t"/>
          <a:lstStyle/>
          <a:p>
            <a:pPr algn="l" indent="0" marL="0">
              <a:buNone/>
            </a:pPr>
            <a:r>
              <a:rPr lang="en-US" sz="1000" dirty="0">
                <a:solidFill>
                  <a:srgbClr val="5D6B7E"/>
                </a:solidFill>
                <a:latin typeface="Calibri" pitchFamily="34" charset="0"/>
                <a:ea typeface="Calibri" pitchFamily="34" charset="-122"/>
                <a:cs typeface="Calibri" pitchFamily="34" charset="-120"/>
              </a:rPr>
              <a:t>taps every request + response → flywheel's raw data</a:t>
            </a:r>
            <a:endParaRPr lang="en-US" sz="1000" dirty="0"/>
          </a:p>
        </p:txBody>
      </p:sp>
      <p:sp>
        <p:nvSpPr>
          <p:cNvPr id="14" name="Shape 11"/>
          <p:cNvSpPr/>
          <p:nvPr/>
        </p:nvSpPr>
        <p:spPr>
          <a:xfrm>
            <a:off x="3657600" y="2980944"/>
            <a:ext cx="0" cy="219456"/>
          </a:xfrm>
          <a:prstGeom prst="line">
            <a:avLst/>
          </a:prstGeom>
          <a:noFill/>
          <a:ln w="22225">
            <a:solidFill>
              <a:srgbClr val="5D6B7E"/>
            </a:solidFill>
            <a:prstDash val="solid"/>
            <a:headEnd type="none"/>
            <a:tailEnd type="triangle"/>
          </a:ln>
        </p:spPr>
      </p:sp>
      <p:sp>
        <p:nvSpPr>
          <p:cNvPr id="15" name="Shape 12"/>
          <p:cNvSpPr/>
          <p:nvPr/>
        </p:nvSpPr>
        <p:spPr>
          <a:xfrm>
            <a:off x="777240" y="3236976"/>
            <a:ext cx="5760720" cy="1170432"/>
          </a:xfrm>
          <a:prstGeom prst="roundRect">
            <a:avLst>
              <a:gd name="adj" fmla="val 5469"/>
            </a:avLst>
          </a:prstGeom>
          <a:solidFill>
            <a:srgbClr val="E4EEF6"/>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6" name="Text 13"/>
          <p:cNvSpPr/>
          <p:nvPr/>
        </p:nvSpPr>
        <p:spPr>
          <a:xfrm>
            <a:off x="1005840" y="3346704"/>
            <a:ext cx="5303520" cy="274320"/>
          </a:xfrm>
          <a:prstGeom prst="rect">
            <a:avLst/>
          </a:prstGeom>
          <a:noFill/>
          <a:ln/>
        </p:spPr>
        <p:txBody>
          <a:bodyPr wrap="square" lIns="0" tIns="0" rIns="0" bIns="0" rtlCol="0" anchor="t"/>
          <a:lstStyle/>
          <a:p>
            <a:pPr algn="l" indent="0" marL="0">
              <a:buNone/>
            </a:pPr>
            <a:r>
              <a:rPr lang="en-US" sz="1250" b="1" dirty="0">
                <a:solidFill>
                  <a:srgbClr val="1F2A3D"/>
                </a:solidFill>
                <a:latin typeface="Calibri" pitchFamily="34" charset="0"/>
                <a:ea typeface="Calibri" pitchFamily="34" charset="-122"/>
                <a:cs typeface="Calibri" pitchFamily="34" charset="-120"/>
              </a:rPr>
              <a:t>ADAPTIVE ROUTING LAYER  (new)</a:t>
            </a:r>
            <a:endParaRPr lang="en-US" sz="1250" dirty="0"/>
          </a:p>
        </p:txBody>
      </p:sp>
      <p:sp>
        <p:nvSpPr>
          <p:cNvPr id="17" name="Shape 14"/>
          <p:cNvSpPr/>
          <p:nvPr/>
        </p:nvSpPr>
        <p:spPr>
          <a:xfrm>
            <a:off x="1005840" y="3694176"/>
            <a:ext cx="1700784" cy="566928"/>
          </a:xfrm>
          <a:prstGeom prst="roundRect">
            <a:avLst>
              <a:gd name="adj" fmla="val 11290"/>
            </a:avLst>
          </a:prstGeom>
          <a:solidFill>
            <a:srgbClr val="FFFFFF"/>
          </a:solidFill>
          <a:ln w="9525">
            <a:solidFill>
              <a:srgbClr val="D9E1E9"/>
            </a:solidFill>
            <a:prstDash val="solid"/>
          </a:ln>
        </p:spPr>
      </p:sp>
      <p:sp>
        <p:nvSpPr>
          <p:cNvPr id="18" name="Text 15"/>
          <p:cNvSpPr/>
          <p:nvPr/>
        </p:nvSpPr>
        <p:spPr>
          <a:xfrm>
            <a:off x="1069848" y="3749040"/>
            <a:ext cx="1591056" cy="475488"/>
          </a:xfrm>
          <a:prstGeom prst="rect">
            <a:avLst/>
          </a:prstGeom>
          <a:noFill/>
          <a:ln/>
        </p:spPr>
        <p:txBody>
          <a:bodyPr wrap="square" lIns="0" tIns="0" rIns="0" bIns="0" rtlCol="0" anchor="ctr"/>
          <a:lstStyle/>
          <a:p>
            <a:pPr algn="ctr" indent="0" marL="0">
              <a:buNone/>
            </a:pPr>
            <a:r>
              <a:rPr lang="en-US" sz="950" b="1" dirty="0">
                <a:solidFill>
                  <a:srgbClr val="1F2A3D"/>
                </a:solidFill>
                <a:latin typeface="Calibri" pitchFamily="34" charset="0"/>
                <a:ea typeface="Calibri" pitchFamily="34" charset="-122"/>
                <a:cs typeface="Calibri" pitchFamily="34" charset="-120"/>
              </a:rPr>
              <a:t>1 · Call-type discriminator</a:t>
            </a:r>
            <a:endParaRPr lang="en-US" sz="950" dirty="0"/>
          </a:p>
        </p:txBody>
      </p:sp>
      <p:sp>
        <p:nvSpPr>
          <p:cNvPr id="19" name="Shape 16"/>
          <p:cNvSpPr/>
          <p:nvPr/>
        </p:nvSpPr>
        <p:spPr>
          <a:xfrm>
            <a:off x="2816352" y="3694176"/>
            <a:ext cx="1700784" cy="566928"/>
          </a:xfrm>
          <a:prstGeom prst="roundRect">
            <a:avLst>
              <a:gd name="adj" fmla="val 11290"/>
            </a:avLst>
          </a:prstGeom>
          <a:solidFill>
            <a:srgbClr val="FFFFFF"/>
          </a:solidFill>
          <a:ln w="9525">
            <a:solidFill>
              <a:srgbClr val="D9E1E9"/>
            </a:solidFill>
            <a:prstDash val="solid"/>
          </a:ln>
        </p:spPr>
      </p:sp>
      <p:sp>
        <p:nvSpPr>
          <p:cNvPr id="20" name="Text 17"/>
          <p:cNvSpPr/>
          <p:nvPr/>
        </p:nvSpPr>
        <p:spPr>
          <a:xfrm>
            <a:off x="2880360" y="3749040"/>
            <a:ext cx="1591056" cy="475488"/>
          </a:xfrm>
          <a:prstGeom prst="rect">
            <a:avLst/>
          </a:prstGeom>
          <a:noFill/>
          <a:ln/>
        </p:spPr>
        <p:txBody>
          <a:bodyPr wrap="square" lIns="0" tIns="0" rIns="0" bIns="0" rtlCol="0" anchor="ctr"/>
          <a:lstStyle/>
          <a:p>
            <a:pPr algn="ctr" indent="0" marL="0">
              <a:buNone/>
            </a:pPr>
            <a:r>
              <a:rPr lang="en-US" sz="950" b="1" dirty="0">
                <a:solidFill>
                  <a:srgbClr val="1F2A3D"/>
                </a:solidFill>
                <a:latin typeface="Calibri" pitchFamily="34" charset="0"/>
                <a:ea typeface="Calibri" pitchFamily="34" charset="-122"/>
                <a:cs typeface="Calibri" pitchFamily="34" charset="-120"/>
              </a:rPr>
              <a:t>2 · Policy engine</a:t>
            </a:r>
            <a:endParaRPr lang="en-US" sz="950" dirty="0"/>
          </a:p>
        </p:txBody>
      </p:sp>
      <p:sp>
        <p:nvSpPr>
          <p:cNvPr id="21" name="Shape 18"/>
          <p:cNvSpPr/>
          <p:nvPr/>
        </p:nvSpPr>
        <p:spPr>
          <a:xfrm>
            <a:off x="4626864" y="3694176"/>
            <a:ext cx="1700784" cy="566928"/>
          </a:xfrm>
          <a:prstGeom prst="roundRect">
            <a:avLst>
              <a:gd name="adj" fmla="val 11290"/>
            </a:avLst>
          </a:prstGeom>
          <a:solidFill>
            <a:srgbClr val="FFFFFF"/>
          </a:solidFill>
          <a:ln w="9525">
            <a:solidFill>
              <a:srgbClr val="D9E1E9"/>
            </a:solidFill>
            <a:prstDash val="solid"/>
          </a:ln>
        </p:spPr>
      </p:sp>
      <p:sp>
        <p:nvSpPr>
          <p:cNvPr id="22" name="Text 19"/>
          <p:cNvSpPr/>
          <p:nvPr/>
        </p:nvSpPr>
        <p:spPr>
          <a:xfrm>
            <a:off x="4690872" y="3749040"/>
            <a:ext cx="1591056" cy="475488"/>
          </a:xfrm>
          <a:prstGeom prst="rect">
            <a:avLst/>
          </a:prstGeom>
          <a:noFill/>
          <a:ln/>
        </p:spPr>
        <p:txBody>
          <a:bodyPr wrap="square" lIns="0" tIns="0" rIns="0" bIns="0" rtlCol="0" anchor="ctr"/>
          <a:lstStyle/>
          <a:p>
            <a:pPr algn="ctr" indent="0" marL="0">
              <a:buNone/>
            </a:pPr>
            <a:r>
              <a:rPr lang="en-US" sz="950" b="1" dirty="0">
                <a:solidFill>
                  <a:srgbClr val="1F2A3D"/>
                </a:solidFill>
                <a:latin typeface="Calibri" pitchFamily="34" charset="0"/>
                <a:ea typeface="Calibri" pitchFamily="34" charset="-122"/>
                <a:cs typeface="Calibri" pitchFamily="34" charset="-120"/>
              </a:rPr>
              <a:t>3 · Escalation controller</a:t>
            </a:r>
            <a:endParaRPr lang="en-US" sz="950" dirty="0"/>
          </a:p>
        </p:txBody>
      </p:sp>
      <p:sp>
        <p:nvSpPr>
          <p:cNvPr id="23" name="Shape 20"/>
          <p:cNvSpPr/>
          <p:nvPr/>
        </p:nvSpPr>
        <p:spPr>
          <a:xfrm>
            <a:off x="3657600" y="4443984"/>
            <a:ext cx="0" cy="219456"/>
          </a:xfrm>
          <a:prstGeom prst="line">
            <a:avLst/>
          </a:prstGeom>
          <a:noFill/>
          <a:ln w="22225">
            <a:solidFill>
              <a:srgbClr val="5D6B7E"/>
            </a:solidFill>
            <a:prstDash val="solid"/>
            <a:headEnd type="none"/>
            <a:tailEnd type="triangle"/>
          </a:ln>
        </p:spPr>
      </p:sp>
      <p:sp>
        <p:nvSpPr>
          <p:cNvPr id="24" name="Shape 21"/>
          <p:cNvSpPr/>
          <p:nvPr/>
        </p:nvSpPr>
        <p:spPr>
          <a:xfrm>
            <a:off x="777240" y="4700016"/>
            <a:ext cx="5760720" cy="640080"/>
          </a:xfrm>
          <a:prstGeom prst="roundRect">
            <a:avLst>
              <a:gd name="adj" fmla="val 10000"/>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25" name="Text 22"/>
          <p:cNvSpPr/>
          <p:nvPr/>
        </p:nvSpPr>
        <p:spPr>
          <a:xfrm>
            <a:off x="1005840" y="4809744"/>
            <a:ext cx="5303520" cy="274320"/>
          </a:xfrm>
          <a:prstGeom prst="rect">
            <a:avLst/>
          </a:prstGeom>
          <a:noFill/>
          <a:ln/>
        </p:spPr>
        <p:txBody>
          <a:bodyPr wrap="square" lIns="0" tIns="0" rIns="0" bIns="0" rtlCol="0" anchor="t"/>
          <a:lstStyle/>
          <a:p>
            <a:pPr algn="l" indent="0" marL="0">
              <a:buNone/>
            </a:pPr>
            <a:r>
              <a:rPr lang="en-US" sz="1250" b="1" dirty="0">
                <a:solidFill>
                  <a:srgbClr val="1F2A3D"/>
                </a:solidFill>
                <a:latin typeface="Calibri" pitchFamily="34" charset="0"/>
                <a:ea typeface="Calibri" pitchFamily="34" charset="-122"/>
                <a:cs typeface="Calibri" pitchFamily="34" charset="-120"/>
              </a:rPr>
              <a:t>LiteLLM proxy  (existing)</a:t>
            </a:r>
            <a:endParaRPr lang="en-US" sz="1250" dirty="0"/>
          </a:p>
        </p:txBody>
      </p:sp>
      <p:sp>
        <p:nvSpPr>
          <p:cNvPr id="26" name="Text 23"/>
          <p:cNvSpPr/>
          <p:nvPr/>
        </p:nvSpPr>
        <p:spPr>
          <a:xfrm>
            <a:off x="1005840" y="5065776"/>
            <a:ext cx="5303520" cy="256032"/>
          </a:xfrm>
          <a:prstGeom prst="rect">
            <a:avLst/>
          </a:prstGeom>
          <a:noFill/>
          <a:ln/>
        </p:spPr>
        <p:txBody>
          <a:bodyPr wrap="square" lIns="0" tIns="0" rIns="0" bIns="0" rtlCol="0" anchor="t"/>
          <a:lstStyle/>
          <a:p>
            <a:pPr algn="l" indent="0" marL="0">
              <a:buNone/>
            </a:pPr>
            <a:r>
              <a:rPr lang="en-US" sz="1000" dirty="0">
                <a:solidFill>
                  <a:srgbClr val="5D6B7E"/>
                </a:solidFill>
                <a:latin typeface="Calibri" pitchFamily="34" charset="0"/>
                <a:ea typeface="Calibri" pitchFamily="34" charset="-122"/>
                <a:cs typeface="Calibri" pitchFamily="34" charset="-120"/>
              </a:rPr>
              <a:t>model map · Anthropic↔OpenAI translation · retries · spend</a:t>
            </a:r>
            <a:endParaRPr lang="en-US" sz="1000" dirty="0"/>
          </a:p>
        </p:txBody>
      </p:sp>
      <p:sp>
        <p:nvSpPr>
          <p:cNvPr id="27" name="Shape 24"/>
          <p:cNvSpPr/>
          <p:nvPr/>
        </p:nvSpPr>
        <p:spPr>
          <a:xfrm>
            <a:off x="3657600" y="5394960"/>
            <a:ext cx="0" cy="219456"/>
          </a:xfrm>
          <a:prstGeom prst="line">
            <a:avLst/>
          </a:prstGeom>
          <a:noFill/>
          <a:ln w="22225">
            <a:solidFill>
              <a:srgbClr val="5D6B7E"/>
            </a:solidFill>
            <a:prstDash val="solid"/>
            <a:headEnd type="none"/>
            <a:tailEnd type="triangle"/>
          </a:ln>
        </p:spPr>
      </p:sp>
      <p:sp>
        <p:nvSpPr>
          <p:cNvPr id="28" name="Shape 25"/>
          <p:cNvSpPr/>
          <p:nvPr/>
        </p:nvSpPr>
        <p:spPr>
          <a:xfrm>
            <a:off x="777240" y="5650992"/>
            <a:ext cx="1828800" cy="365760"/>
          </a:xfrm>
          <a:prstGeom prst="roundRect">
            <a:avLst>
              <a:gd name="adj" fmla="val 22500"/>
            </a:avLst>
          </a:prstGeom>
          <a:solidFill>
            <a:srgbClr val="1F7A55"/>
          </a:solidFill>
          <a:ln/>
        </p:spPr>
      </p:sp>
      <p:sp>
        <p:nvSpPr>
          <p:cNvPr id="29" name="Text 26"/>
          <p:cNvSpPr/>
          <p:nvPr/>
        </p:nvSpPr>
        <p:spPr>
          <a:xfrm>
            <a:off x="777240" y="5650992"/>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LOCAL</a:t>
            </a:r>
            <a:endParaRPr lang="en-US" sz="1050" dirty="0"/>
          </a:p>
        </p:txBody>
      </p:sp>
      <p:sp>
        <p:nvSpPr>
          <p:cNvPr id="30" name="Text 27"/>
          <p:cNvSpPr/>
          <p:nvPr/>
        </p:nvSpPr>
        <p:spPr>
          <a:xfrm>
            <a:off x="777240" y="6053328"/>
            <a:ext cx="1828800" cy="228600"/>
          </a:xfrm>
          <a:prstGeom prst="rect">
            <a:avLst/>
          </a:prstGeom>
          <a:noFill/>
          <a:ln/>
        </p:spPr>
        <p:txBody>
          <a:bodyPr wrap="square" lIns="0" tIns="0" rIns="0" bIns="0" rtlCol="0" anchor="t"/>
          <a:lstStyle/>
          <a:p>
            <a:pPr algn="ctr" indent="0" marL="0">
              <a:buNone/>
            </a:pPr>
            <a:r>
              <a:rPr lang="en-US" sz="900" dirty="0">
                <a:solidFill>
                  <a:srgbClr val="5D6B7E"/>
                </a:solidFill>
                <a:latin typeface="Calibri" pitchFamily="34" charset="0"/>
                <a:ea typeface="Calibri" pitchFamily="34" charset="-122"/>
                <a:cs typeface="Calibri" pitchFamily="34" charset="-120"/>
              </a:rPr>
              <a:t>llama.cpp / MLX</a:t>
            </a:r>
            <a:endParaRPr lang="en-US" sz="900" dirty="0"/>
          </a:p>
        </p:txBody>
      </p:sp>
      <p:sp>
        <p:nvSpPr>
          <p:cNvPr id="31" name="Shape 28"/>
          <p:cNvSpPr/>
          <p:nvPr/>
        </p:nvSpPr>
        <p:spPr>
          <a:xfrm>
            <a:off x="2743200" y="5650992"/>
            <a:ext cx="1828800" cy="365760"/>
          </a:xfrm>
          <a:prstGeom prst="roundRect">
            <a:avLst>
              <a:gd name="adj" fmla="val 22500"/>
            </a:avLst>
          </a:prstGeom>
          <a:solidFill>
            <a:srgbClr val="B45309"/>
          </a:solidFill>
          <a:ln/>
        </p:spPr>
      </p:sp>
      <p:sp>
        <p:nvSpPr>
          <p:cNvPr id="32" name="Text 29"/>
          <p:cNvSpPr/>
          <p:nvPr/>
        </p:nvSpPr>
        <p:spPr>
          <a:xfrm>
            <a:off x="2743200" y="5650992"/>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CHEAP CLOUD</a:t>
            </a:r>
            <a:endParaRPr lang="en-US" sz="1050" dirty="0"/>
          </a:p>
        </p:txBody>
      </p:sp>
      <p:sp>
        <p:nvSpPr>
          <p:cNvPr id="33" name="Text 30"/>
          <p:cNvSpPr/>
          <p:nvPr/>
        </p:nvSpPr>
        <p:spPr>
          <a:xfrm>
            <a:off x="2743200" y="6053328"/>
            <a:ext cx="1828800" cy="228600"/>
          </a:xfrm>
          <a:prstGeom prst="rect">
            <a:avLst/>
          </a:prstGeom>
          <a:noFill/>
          <a:ln/>
        </p:spPr>
        <p:txBody>
          <a:bodyPr wrap="square" lIns="0" tIns="0" rIns="0" bIns="0" rtlCol="0" anchor="t"/>
          <a:lstStyle/>
          <a:p>
            <a:pPr algn="ctr" indent="0" marL="0">
              <a:buNone/>
            </a:pPr>
            <a:r>
              <a:rPr lang="en-US" sz="900" dirty="0">
                <a:solidFill>
                  <a:srgbClr val="5D6B7E"/>
                </a:solidFill>
                <a:latin typeface="Calibri" pitchFamily="34" charset="0"/>
                <a:ea typeface="Calibri" pitchFamily="34" charset="-122"/>
                <a:cs typeface="Calibri" pitchFamily="34" charset="-120"/>
              </a:rPr>
              <a:t>Haiku-class API</a:t>
            </a:r>
            <a:endParaRPr lang="en-US" sz="900" dirty="0"/>
          </a:p>
        </p:txBody>
      </p:sp>
      <p:sp>
        <p:nvSpPr>
          <p:cNvPr id="34" name="Shape 31"/>
          <p:cNvSpPr/>
          <p:nvPr/>
        </p:nvSpPr>
        <p:spPr>
          <a:xfrm>
            <a:off x="4709160" y="5650992"/>
            <a:ext cx="1828800" cy="365760"/>
          </a:xfrm>
          <a:prstGeom prst="roundRect">
            <a:avLst>
              <a:gd name="adj" fmla="val 22500"/>
            </a:avLst>
          </a:prstGeom>
          <a:solidFill>
            <a:srgbClr val="5B21B6"/>
          </a:solidFill>
          <a:ln/>
        </p:spPr>
      </p:sp>
      <p:sp>
        <p:nvSpPr>
          <p:cNvPr id="35" name="Text 32"/>
          <p:cNvSpPr/>
          <p:nvPr/>
        </p:nvSpPr>
        <p:spPr>
          <a:xfrm>
            <a:off x="4709160" y="5650992"/>
            <a:ext cx="1828800" cy="365760"/>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FRONTIER</a:t>
            </a:r>
            <a:endParaRPr lang="en-US" sz="1050" dirty="0"/>
          </a:p>
        </p:txBody>
      </p:sp>
      <p:sp>
        <p:nvSpPr>
          <p:cNvPr id="36" name="Text 33"/>
          <p:cNvSpPr/>
          <p:nvPr/>
        </p:nvSpPr>
        <p:spPr>
          <a:xfrm>
            <a:off x="4709160" y="6053328"/>
            <a:ext cx="1828800" cy="228600"/>
          </a:xfrm>
          <a:prstGeom prst="rect">
            <a:avLst/>
          </a:prstGeom>
          <a:noFill/>
          <a:ln/>
        </p:spPr>
        <p:txBody>
          <a:bodyPr wrap="square" lIns="0" tIns="0" rIns="0" bIns="0" rtlCol="0" anchor="t"/>
          <a:lstStyle/>
          <a:p>
            <a:pPr algn="ctr" indent="0" marL="0">
              <a:buNone/>
            </a:pPr>
            <a:r>
              <a:rPr lang="en-US" sz="900" dirty="0">
                <a:solidFill>
                  <a:srgbClr val="5D6B7E"/>
                </a:solidFill>
                <a:latin typeface="Calibri" pitchFamily="34" charset="0"/>
                <a:ea typeface="Calibri" pitchFamily="34" charset="-122"/>
                <a:cs typeface="Calibri" pitchFamily="34" charset="-120"/>
              </a:rPr>
              <a:t>Opus / GPT-5 API</a:t>
            </a:r>
            <a:endParaRPr lang="en-US" sz="900" dirty="0"/>
          </a:p>
        </p:txBody>
      </p:sp>
      <p:sp>
        <p:nvSpPr>
          <p:cNvPr id="37" name="Text 34"/>
          <p:cNvSpPr/>
          <p:nvPr/>
        </p:nvSpPr>
        <p:spPr>
          <a:xfrm>
            <a:off x="6995160" y="1371600"/>
            <a:ext cx="4617720" cy="320040"/>
          </a:xfrm>
          <a:prstGeom prst="rect">
            <a:avLst/>
          </a:prstGeom>
          <a:noFill/>
          <a:ln/>
        </p:spPr>
        <p:txBody>
          <a:bodyPr wrap="square" lIns="0" tIns="0" rIns="0" bIns="0" rtlCol="0" anchor="t"/>
          <a:lstStyle/>
          <a:p>
            <a:pPr algn="l" indent="0" marL="0">
              <a:buNone/>
            </a:pPr>
            <a:r>
              <a:rPr lang="en-US" sz="1500" b="1" dirty="0">
                <a:solidFill>
                  <a:srgbClr val="1F2A3D"/>
                </a:solidFill>
                <a:latin typeface="Cambria" pitchFamily="34" charset="0"/>
                <a:ea typeface="Cambria" pitchFamily="34" charset="-122"/>
                <a:cs typeface="Cambria" pitchFamily="34" charset="-120"/>
              </a:rPr>
              <a:t>Division of labour</a:t>
            </a:r>
            <a:endParaRPr lang="en-US" sz="1500" dirty="0"/>
          </a:p>
        </p:txBody>
      </p:sp>
      <p:sp>
        <p:nvSpPr>
          <p:cNvPr id="38" name="Shape 35"/>
          <p:cNvSpPr/>
          <p:nvPr/>
        </p:nvSpPr>
        <p:spPr>
          <a:xfrm>
            <a:off x="6995160" y="1828800"/>
            <a:ext cx="420624" cy="420624"/>
          </a:xfrm>
          <a:prstGeom prst="ellipse">
            <a:avLst/>
          </a:prstGeom>
          <a:solidFill>
            <a:srgbClr val="1F2A3D"/>
          </a:solidFill>
          <a:ln/>
        </p:spPr>
      </p:sp>
      <p:pic>
        <p:nvPicPr>
          <p:cNvPr id="39" name="Image 0" descr="preencoded.png">    </p:cNvPr>
          <p:cNvPicPr>
            <a:picLocks noChangeAspect="1"/>
          </p:cNvPicPr>
          <p:nvPr/>
        </p:nvPicPr>
        <p:blipFill>
          <a:blip r:embed="rId1"/>
          <a:stretch>
            <a:fillRect/>
          </a:stretch>
        </p:blipFill>
        <p:spPr>
          <a:xfrm>
            <a:off x="7104522" y="1938162"/>
            <a:ext cx="201900" cy="201900"/>
          </a:xfrm>
          <a:prstGeom prst="rect">
            <a:avLst/>
          </a:prstGeom>
        </p:spPr>
      </p:pic>
      <p:sp>
        <p:nvSpPr>
          <p:cNvPr id="40" name="Text 36"/>
          <p:cNvSpPr/>
          <p:nvPr/>
        </p:nvSpPr>
        <p:spPr>
          <a:xfrm>
            <a:off x="7598664" y="1810512"/>
            <a:ext cx="4014216" cy="457200"/>
          </a:xfrm>
          <a:prstGeom prst="rect">
            <a:avLst/>
          </a:prstGeom>
          <a:noFill/>
          <a:ln/>
        </p:spPr>
        <p:txBody>
          <a:bodyPr wrap="square" lIns="0" tIns="0" rIns="0" bIns="0" rtlCol="0" anchor="t"/>
          <a:lstStyle/>
          <a:p>
            <a:pPr algn="l" indent="0" marL="0">
              <a:lnSpc>
                <a:spcPct val="100000"/>
              </a:lnSpc>
              <a:buNone/>
            </a:pPr>
            <a:r>
              <a:rPr lang="en-US" sz="1200" b="1" dirty="0">
                <a:solidFill>
                  <a:srgbClr val="1F2A3D"/>
                </a:solidFill>
                <a:latin typeface="Calibri" pitchFamily="34" charset="0"/>
                <a:ea typeface="Calibri" pitchFamily="34" charset="-122"/>
                <a:cs typeface="Calibri" pitchFamily="34" charset="-120"/>
              </a:rPr>
              <a:t>The harness doesn't know any of this exists</a:t>
            </a:r>
            <a:endParaRPr lang="en-US" sz="1200" dirty="0"/>
          </a:p>
        </p:txBody>
      </p:sp>
      <p:sp>
        <p:nvSpPr>
          <p:cNvPr id="41" name="Text 37"/>
          <p:cNvSpPr/>
          <p:nvPr/>
        </p:nvSpPr>
        <p:spPr>
          <a:xfrm>
            <a:off x="7598664" y="2212848"/>
            <a:ext cx="4014216" cy="566928"/>
          </a:xfrm>
          <a:prstGeom prst="rect">
            <a:avLst/>
          </a:prstGeom>
          <a:noFill/>
          <a:ln/>
        </p:spPr>
        <p:txBody>
          <a:bodyPr wrap="square" lIns="0" tIns="0" rIns="0" bIns="0" rtlCol="0" anchor="t"/>
          <a:lstStyle/>
          <a:p>
            <a:pPr algn="l" indent="0" marL="0">
              <a:lnSpc>
                <a:spcPct val="105000"/>
              </a:lnSpc>
              <a:buNone/>
            </a:pPr>
            <a:r>
              <a:rPr lang="en-US" sz="1050" dirty="0">
                <a:solidFill>
                  <a:srgbClr val="5D6B7E"/>
                </a:solidFill>
                <a:latin typeface="Calibri" pitchFamily="34" charset="0"/>
                <a:ea typeface="Calibri" pitchFamily="34" charset="-122"/>
                <a:cs typeface="Calibri" pitchFamily="34" charset="-120"/>
              </a:rPr>
              <a:t>It talks to one alias. No harness changes, ever.</a:t>
            </a:r>
            <a:endParaRPr lang="en-US" sz="1050" dirty="0"/>
          </a:p>
        </p:txBody>
      </p:sp>
      <p:sp>
        <p:nvSpPr>
          <p:cNvPr id="42" name="Shape 38"/>
          <p:cNvSpPr/>
          <p:nvPr/>
        </p:nvSpPr>
        <p:spPr>
          <a:xfrm>
            <a:off x="6995160" y="2944368"/>
            <a:ext cx="420624" cy="420624"/>
          </a:xfrm>
          <a:prstGeom prst="ellipse">
            <a:avLst/>
          </a:prstGeom>
          <a:solidFill>
            <a:srgbClr val="1D6FA5"/>
          </a:solidFill>
          <a:ln/>
        </p:spPr>
      </p:sp>
      <p:pic>
        <p:nvPicPr>
          <p:cNvPr id="43" name="Image 1" descr="preencoded.png">    </p:cNvPr>
          <p:cNvPicPr>
            <a:picLocks noChangeAspect="1"/>
          </p:cNvPicPr>
          <p:nvPr/>
        </p:nvPicPr>
        <p:blipFill>
          <a:blip r:embed="rId2"/>
          <a:stretch>
            <a:fillRect/>
          </a:stretch>
        </p:blipFill>
        <p:spPr>
          <a:xfrm>
            <a:off x="7104522" y="3053730"/>
            <a:ext cx="201900" cy="201900"/>
          </a:xfrm>
          <a:prstGeom prst="rect">
            <a:avLst/>
          </a:prstGeom>
        </p:spPr>
      </p:pic>
      <p:sp>
        <p:nvSpPr>
          <p:cNvPr id="44" name="Text 39"/>
          <p:cNvSpPr/>
          <p:nvPr/>
        </p:nvSpPr>
        <p:spPr>
          <a:xfrm>
            <a:off x="7598664" y="2926080"/>
            <a:ext cx="4014216" cy="457200"/>
          </a:xfrm>
          <a:prstGeom prst="rect">
            <a:avLst/>
          </a:prstGeom>
          <a:noFill/>
          <a:ln/>
        </p:spPr>
        <p:txBody>
          <a:bodyPr wrap="square" lIns="0" tIns="0" rIns="0" bIns="0" rtlCol="0" anchor="t"/>
          <a:lstStyle/>
          <a:p>
            <a:pPr algn="l" indent="0" marL="0">
              <a:lnSpc>
                <a:spcPct val="100000"/>
              </a:lnSpc>
              <a:buNone/>
            </a:pPr>
            <a:r>
              <a:rPr lang="en-US" sz="1200" b="1" dirty="0">
                <a:solidFill>
                  <a:srgbClr val="1F2A3D"/>
                </a:solidFill>
                <a:latin typeface="Calibri" pitchFamily="34" charset="0"/>
                <a:ea typeface="Calibri" pitchFamily="34" charset="-122"/>
                <a:cs typeface="Calibri" pitchFamily="34" charset="-120"/>
              </a:rPr>
              <a:t>The layer makes exactly one decision</a:t>
            </a:r>
            <a:endParaRPr lang="en-US" sz="1200" dirty="0"/>
          </a:p>
        </p:txBody>
      </p:sp>
      <p:sp>
        <p:nvSpPr>
          <p:cNvPr id="45" name="Text 40"/>
          <p:cNvSpPr/>
          <p:nvPr/>
        </p:nvSpPr>
        <p:spPr>
          <a:xfrm>
            <a:off x="7598664" y="3328416"/>
            <a:ext cx="4014216" cy="566928"/>
          </a:xfrm>
          <a:prstGeom prst="rect">
            <a:avLst/>
          </a:prstGeom>
          <a:noFill/>
          <a:ln/>
        </p:spPr>
        <p:txBody>
          <a:bodyPr wrap="square" lIns="0" tIns="0" rIns="0" bIns="0" rtlCol="0" anchor="t"/>
          <a:lstStyle/>
          <a:p>
            <a:pPr algn="l" indent="0" marL="0">
              <a:lnSpc>
                <a:spcPct val="105000"/>
              </a:lnSpc>
              <a:buNone/>
            </a:pPr>
            <a:r>
              <a:rPr lang="en-US" sz="1050" dirty="0">
                <a:solidFill>
                  <a:srgbClr val="5D6B7E"/>
                </a:solidFill>
                <a:latin typeface="Calibri" pitchFamily="34" charset="0"/>
                <a:ea typeface="Calibri" pitchFamily="34" charset="-122"/>
                <a:cs typeface="Calibri" pitchFamily="34" charset="-120"/>
              </a:rPr>
              <a:t>Which model name goes in this request? It never talks to providers itself.</a:t>
            </a:r>
            <a:endParaRPr lang="en-US" sz="1050" dirty="0"/>
          </a:p>
        </p:txBody>
      </p:sp>
      <p:sp>
        <p:nvSpPr>
          <p:cNvPr id="46" name="Shape 41"/>
          <p:cNvSpPr/>
          <p:nvPr/>
        </p:nvSpPr>
        <p:spPr>
          <a:xfrm>
            <a:off x="6995160" y="4059936"/>
            <a:ext cx="420624" cy="420624"/>
          </a:xfrm>
          <a:prstGeom prst="ellipse">
            <a:avLst/>
          </a:prstGeom>
          <a:solidFill>
            <a:srgbClr val="B45309"/>
          </a:solidFill>
          <a:ln/>
        </p:spPr>
      </p:sp>
      <p:pic>
        <p:nvPicPr>
          <p:cNvPr id="47" name="Image 2" descr="preencoded.png">    </p:cNvPr>
          <p:cNvPicPr>
            <a:picLocks noChangeAspect="1"/>
          </p:cNvPicPr>
          <p:nvPr/>
        </p:nvPicPr>
        <p:blipFill>
          <a:blip r:embed="rId3"/>
          <a:stretch>
            <a:fillRect/>
          </a:stretch>
        </p:blipFill>
        <p:spPr>
          <a:xfrm>
            <a:off x="7104522" y="4169298"/>
            <a:ext cx="201900" cy="201900"/>
          </a:xfrm>
          <a:prstGeom prst="rect">
            <a:avLst/>
          </a:prstGeom>
        </p:spPr>
      </p:pic>
      <p:sp>
        <p:nvSpPr>
          <p:cNvPr id="48" name="Text 42"/>
          <p:cNvSpPr/>
          <p:nvPr/>
        </p:nvSpPr>
        <p:spPr>
          <a:xfrm>
            <a:off x="7598664" y="4041648"/>
            <a:ext cx="4014216" cy="457200"/>
          </a:xfrm>
          <a:prstGeom prst="rect">
            <a:avLst/>
          </a:prstGeom>
          <a:noFill/>
          <a:ln/>
        </p:spPr>
        <p:txBody>
          <a:bodyPr wrap="square" lIns="0" tIns="0" rIns="0" bIns="0" rtlCol="0" anchor="t"/>
          <a:lstStyle/>
          <a:p>
            <a:pPr algn="l" indent="0" marL="0">
              <a:lnSpc>
                <a:spcPct val="100000"/>
              </a:lnSpc>
              <a:buNone/>
            </a:pPr>
            <a:r>
              <a:rPr lang="en-US" sz="1200" b="1" dirty="0">
                <a:solidFill>
                  <a:srgbClr val="1F2A3D"/>
                </a:solidFill>
                <a:latin typeface="Calibri" pitchFamily="34" charset="0"/>
                <a:ea typeface="Calibri" pitchFamily="34" charset="-122"/>
                <a:cs typeface="Calibri" pitchFamily="34" charset="-120"/>
              </a:rPr>
              <a:t>LiteLLM stays the muscle</a:t>
            </a:r>
            <a:endParaRPr lang="en-US" sz="1200" dirty="0"/>
          </a:p>
        </p:txBody>
      </p:sp>
      <p:sp>
        <p:nvSpPr>
          <p:cNvPr id="49" name="Text 43"/>
          <p:cNvSpPr/>
          <p:nvPr/>
        </p:nvSpPr>
        <p:spPr>
          <a:xfrm>
            <a:off x="7598664" y="4443984"/>
            <a:ext cx="4014216" cy="566928"/>
          </a:xfrm>
          <a:prstGeom prst="rect">
            <a:avLst/>
          </a:prstGeom>
          <a:noFill/>
          <a:ln/>
        </p:spPr>
        <p:txBody>
          <a:bodyPr wrap="square" lIns="0" tIns="0" rIns="0" bIns="0" rtlCol="0" anchor="t"/>
          <a:lstStyle/>
          <a:p>
            <a:pPr algn="l" indent="0" marL="0">
              <a:lnSpc>
                <a:spcPct val="105000"/>
              </a:lnSpc>
              <a:buNone/>
            </a:pPr>
            <a:r>
              <a:rPr lang="en-US" sz="1050" dirty="0">
                <a:solidFill>
                  <a:srgbClr val="5D6B7E"/>
                </a:solidFill>
                <a:latin typeface="Calibri" pitchFamily="34" charset="0"/>
                <a:ea typeface="Calibri" pitchFamily="34" charset="-122"/>
                <a:cs typeface="Calibri" pitchFamily="34" charset="-120"/>
              </a:rPr>
              <a:t>Endpoint mapping, format translation, infra retries, health checks, spend caps.</a:t>
            </a:r>
            <a:endParaRPr lang="en-US" sz="1050" dirty="0"/>
          </a:p>
        </p:txBody>
      </p:sp>
      <p:sp>
        <p:nvSpPr>
          <p:cNvPr id="50" name="Shape 44"/>
          <p:cNvSpPr/>
          <p:nvPr/>
        </p:nvSpPr>
        <p:spPr>
          <a:xfrm>
            <a:off x="6995160" y="5175504"/>
            <a:ext cx="420624" cy="420624"/>
          </a:xfrm>
          <a:prstGeom prst="ellipse">
            <a:avLst/>
          </a:prstGeom>
          <a:solidFill>
            <a:srgbClr val="B3261E"/>
          </a:solidFill>
          <a:ln/>
        </p:spPr>
      </p:sp>
      <p:pic>
        <p:nvPicPr>
          <p:cNvPr id="51" name="Image 3" descr="preencoded.png">    </p:cNvPr>
          <p:cNvPicPr>
            <a:picLocks noChangeAspect="1"/>
          </p:cNvPicPr>
          <p:nvPr/>
        </p:nvPicPr>
        <p:blipFill>
          <a:blip r:embed="rId4"/>
          <a:stretch>
            <a:fillRect/>
          </a:stretch>
        </p:blipFill>
        <p:spPr>
          <a:xfrm>
            <a:off x="7104522" y="5284866"/>
            <a:ext cx="201900" cy="201900"/>
          </a:xfrm>
          <a:prstGeom prst="rect">
            <a:avLst/>
          </a:prstGeom>
        </p:spPr>
      </p:pic>
      <p:sp>
        <p:nvSpPr>
          <p:cNvPr id="52" name="Text 45"/>
          <p:cNvSpPr/>
          <p:nvPr/>
        </p:nvSpPr>
        <p:spPr>
          <a:xfrm>
            <a:off x="7598664" y="5157216"/>
            <a:ext cx="4014216" cy="457200"/>
          </a:xfrm>
          <a:prstGeom prst="rect">
            <a:avLst/>
          </a:prstGeom>
          <a:noFill/>
          <a:ln/>
        </p:spPr>
        <p:txBody>
          <a:bodyPr wrap="square" lIns="0" tIns="0" rIns="0" bIns="0" rtlCol="0" anchor="t"/>
          <a:lstStyle/>
          <a:p>
            <a:pPr algn="l" indent="0" marL="0">
              <a:lnSpc>
                <a:spcPct val="100000"/>
              </a:lnSpc>
              <a:buNone/>
            </a:pPr>
            <a:r>
              <a:rPr lang="en-US" sz="1200" b="1" dirty="0">
                <a:solidFill>
                  <a:srgbClr val="1F2A3D"/>
                </a:solidFill>
                <a:latin typeface="Calibri" pitchFamily="34" charset="0"/>
                <a:ea typeface="Calibri" pitchFamily="34" charset="-122"/>
                <a:cs typeface="Calibri" pitchFamily="34" charset="-120"/>
              </a:rPr>
              <a:t>LiteLLM's built-in auto-router: not used</a:t>
            </a:r>
            <a:endParaRPr lang="en-US" sz="1200" dirty="0"/>
          </a:p>
        </p:txBody>
      </p:sp>
      <p:sp>
        <p:nvSpPr>
          <p:cNvPr id="53" name="Text 46"/>
          <p:cNvSpPr/>
          <p:nvPr/>
        </p:nvSpPr>
        <p:spPr>
          <a:xfrm>
            <a:off x="7598664" y="5559552"/>
            <a:ext cx="4014216" cy="566928"/>
          </a:xfrm>
          <a:prstGeom prst="rect">
            <a:avLst/>
          </a:prstGeom>
          <a:noFill/>
          <a:ln/>
        </p:spPr>
        <p:txBody>
          <a:bodyPr wrap="square" lIns="0" tIns="0" rIns="0" bIns="0" rtlCol="0" anchor="t"/>
          <a:lstStyle/>
          <a:p>
            <a:pPr algn="l" indent="0" marL="0">
              <a:lnSpc>
                <a:spcPct val="105000"/>
              </a:lnSpc>
              <a:buNone/>
            </a:pPr>
            <a:r>
              <a:rPr lang="en-US" sz="1050" dirty="0">
                <a:solidFill>
                  <a:srgbClr val="5D6B7E"/>
                </a:solidFill>
                <a:latin typeface="Calibri" pitchFamily="34" charset="0"/>
                <a:ea typeface="Calibri" pitchFamily="34" charset="-122"/>
                <a:cs typeface="Calibri" pitchFamily="34" charset="-120"/>
              </a:rPr>
              <a:t>Per-request + stateless — it would classify tool payloads and re-decide mid-turn (§8.1).</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ORIENTATION</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Six words the rest of the deck depends on</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design doc §2, §14 (glossary)</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6</a:t>
            </a:r>
            <a:endParaRPr lang="en-US" sz="900" dirty="0"/>
          </a:p>
        </p:txBody>
      </p:sp>
      <p:sp>
        <p:nvSpPr>
          <p:cNvPr id="7" name="Shape 4"/>
          <p:cNvSpPr/>
          <p:nvPr/>
        </p:nvSpPr>
        <p:spPr>
          <a:xfrm>
            <a:off x="548640" y="1463040"/>
            <a:ext cx="3566160" cy="2148840"/>
          </a:xfrm>
          <a:prstGeom prst="roundRect">
            <a:avLst>
              <a:gd name="adj" fmla="val 2979"/>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8" name="Text 5"/>
          <p:cNvSpPr/>
          <p:nvPr/>
        </p:nvSpPr>
        <p:spPr>
          <a:xfrm>
            <a:off x="804672" y="1664208"/>
            <a:ext cx="3054096" cy="384048"/>
          </a:xfrm>
          <a:prstGeom prst="rect">
            <a:avLst/>
          </a:prstGeom>
          <a:noFill/>
          <a:ln/>
        </p:spPr>
        <p:txBody>
          <a:bodyPr wrap="square" lIns="0" tIns="0" rIns="0" bIns="0" rtlCol="0" anchor="t"/>
          <a:lstStyle/>
          <a:p>
            <a:pPr algn="l" indent="0" marL="0">
              <a:buNone/>
            </a:pPr>
            <a:r>
              <a:rPr lang="en-US" sz="1900" b="1" dirty="0">
                <a:solidFill>
                  <a:srgbClr val="1D6FA5"/>
                </a:solidFill>
                <a:latin typeface="Cambria" pitchFamily="34" charset="0"/>
                <a:ea typeface="Cambria" pitchFamily="34" charset="-122"/>
                <a:cs typeface="Cambria" pitchFamily="34" charset="-120"/>
              </a:rPr>
              <a:t>Turn</a:t>
            </a:r>
            <a:endParaRPr lang="en-US" sz="1900" dirty="0"/>
          </a:p>
        </p:txBody>
      </p:sp>
      <p:sp>
        <p:nvSpPr>
          <p:cNvPr id="9" name="Text 6"/>
          <p:cNvSpPr/>
          <p:nvPr/>
        </p:nvSpPr>
        <p:spPr>
          <a:xfrm>
            <a:off x="804672" y="2176272"/>
            <a:ext cx="3054096" cy="868680"/>
          </a:xfrm>
          <a:prstGeom prst="rect">
            <a:avLst/>
          </a:prstGeom>
          <a:noFill/>
          <a:ln/>
        </p:spPr>
        <p:txBody>
          <a:bodyPr wrap="square" lIns="0" tIns="0" rIns="0" bIns="0" rtlCol="0" anchor="t"/>
          <a:lstStyle/>
          <a:p>
            <a:pPr algn="l" indent="0" marL="0">
              <a:lnSpc>
                <a:spcPct val="110000"/>
              </a:lnSpc>
              <a:buNone/>
            </a:pPr>
            <a:r>
              <a:rPr lang="en-US" sz="1150" dirty="0">
                <a:solidFill>
                  <a:srgbClr val="1F2A3D"/>
                </a:solidFill>
                <a:latin typeface="Calibri" pitchFamily="34" charset="0"/>
                <a:ea typeface="Calibri" pitchFamily="34" charset="-122"/>
                <a:cs typeface="Calibri" pitchFamily="34" charset="-120"/>
              </a:rPr>
              <a:t>One user instruction + all the model/tool ping-pong until the model answers.</a:t>
            </a:r>
            <a:endParaRPr lang="en-US" sz="1150" dirty="0"/>
          </a:p>
        </p:txBody>
      </p:sp>
      <p:sp>
        <p:nvSpPr>
          <p:cNvPr id="10" name="Text 7"/>
          <p:cNvSpPr/>
          <p:nvPr/>
        </p:nvSpPr>
        <p:spPr>
          <a:xfrm>
            <a:off x="804672" y="3108960"/>
            <a:ext cx="3054096" cy="411480"/>
          </a:xfrm>
          <a:prstGeom prst="rect">
            <a:avLst/>
          </a:prstGeom>
          <a:noFill/>
          <a:ln/>
        </p:spPr>
        <p:txBody>
          <a:bodyPr wrap="square" lIns="0" tIns="0" rIns="0" bIns="0" rtlCol="0" anchor="t"/>
          <a:lstStyle/>
          <a:p>
            <a:pPr algn="l" indent="0" marL="0">
              <a:buNone/>
            </a:pPr>
            <a:r>
              <a:rPr lang="en-US" sz="1000" i="1" dirty="0">
                <a:solidFill>
                  <a:srgbClr val="5D6B7E"/>
                </a:solidFill>
                <a:latin typeface="Calibri" pitchFamily="34" charset="0"/>
                <a:ea typeface="Calibri" pitchFamily="34" charset="-122"/>
                <a:cs typeface="Calibri" pitchFamily="34" charset="-120"/>
              </a:rPr>
              <a:t>"fix the failing test" = 1 turn, 9 HTTP requests</a:t>
            </a:r>
            <a:endParaRPr lang="en-US" sz="1000" dirty="0"/>
          </a:p>
        </p:txBody>
      </p:sp>
      <p:sp>
        <p:nvSpPr>
          <p:cNvPr id="11" name="Shape 8"/>
          <p:cNvSpPr/>
          <p:nvPr/>
        </p:nvSpPr>
        <p:spPr>
          <a:xfrm>
            <a:off x="4343400" y="1463040"/>
            <a:ext cx="3566160" cy="2148840"/>
          </a:xfrm>
          <a:prstGeom prst="roundRect">
            <a:avLst>
              <a:gd name="adj" fmla="val 2979"/>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2" name="Text 9"/>
          <p:cNvSpPr/>
          <p:nvPr/>
        </p:nvSpPr>
        <p:spPr>
          <a:xfrm>
            <a:off x="4599432" y="1664208"/>
            <a:ext cx="3054096" cy="384048"/>
          </a:xfrm>
          <a:prstGeom prst="rect">
            <a:avLst/>
          </a:prstGeom>
          <a:noFill/>
          <a:ln/>
        </p:spPr>
        <p:txBody>
          <a:bodyPr wrap="square" lIns="0" tIns="0" rIns="0" bIns="0" rtlCol="0" anchor="t"/>
          <a:lstStyle/>
          <a:p>
            <a:pPr algn="l" indent="0" marL="0">
              <a:buNone/>
            </a:pPr>
            <a:r>
              <a:rPr lang="en-US" sz="1900" b="1" dirty="0">
                <a:solidFill>
                  <a:srgbClr val="1D6FA5"/>
                </a:solidFill>
                <a:latin typeface="Cambria" pitchFamily="34" charset="0"/>
                <a:ea typeface="Cambria" pitchFamily="34" charset="-122"/>
                <a:cs typeface="Cambria" pitchFamily="34" charset="-120"/>
              </a:rPr>
              <a:t>Episode</a:t>
            </a:r>
            <a:endParaRPr lang="en-US" sz="1900" dirty="0"/>
          </a:p>
        </p:txBody>
      </p:sp>
      <p:sp>
        <p:nvSpPr>
          <p:cNvPr id="13" name="Text 10"/>
          <p:cNvSpPr/>
          <p:nvPr/>
        </p:nvSpPr>
        <p:spPr>
          <a:xfrm>
            <a:off x="4599432" y="2176272"/>
            <a:ext cx="3054096" cy="868680"/>
          </a:xfrm>
          <a:prstGeom prst="rect">
            <a:avLst/>
          </a:prstGeom>
          <a:noFill/>
          <a:ln/>
        </p:spPr>
        <p:txBody>
          <a:bodyPr wrap="square" lIns="0" tIns="0" rIns="0" bIns="0" rtlCol="0" anchor="t"/>
          <a:lstStyle/>
          <a:p>
            <a:pPr algn="l" indent="0" marL="0">
              <a:lnSpc>
                <a:spcPct val="110000"/>
              </a:lnSpc>
              <a:buNone/>
            </a:pPr>
            <a:r>
              <a:rPr lang="en-US" sz="1150" dirty="0">
                <a:solidFill>
                  <a:srgbClr val="1F2A3D"/>
                </a:solidFill>
                <a:latin typeface="Calibri" pitchFamily="34" charset="0"/>
                <a:ea typeface="Calibri" pitchFamily="34" charset="-122"/>
                <a:cs typeface="Calibri" pitchFamily="34" charset="-120"/>
              </a:rPr>
              <a:t>A run of related turns on the same piece of work.</a:t>
            </a:r>
            <a:endParaRPr lang="en-US" sz="1150" dirty="0"/>
          </a:p>
        </p:txBody>
      </p:sp>
      <p:sp>
        <p:nvSpPr>
          <p:cNvPr id="14" name="Text 11"/>
          <p:cNvSpPr/>
          <p:nvPr/>
        </p:nvSpPr>
        <p:spPr>
          <a:xfrm>
            <a:off x="4599432" y="3108960"/>
            <a:ext cx="3054096" cy="411480"/>
          </a:xfrm>
          <a:prstGeom prst="rect">
            <a:avLst/>
          </a:prstGeom>
          <a:noFill/>
          <a:ln/>
        </p:spPr>
        <p:txBody>
          <a:bodyPr wrap="square" lIns="0" tIns="0" rIns="0" bIns="0" rtlCol="0" anchor="t"/>
          <a:lstStyle/>
          <a:p>
            <a:pPr algn="l" indent="0" marL="0">
              <a:buNone/>
            </a:pPr>
            <a:r>
              <a:rPr lang="en-US" sz="1000" i="1" dirty="0">
                <a:solidFill>
                  <a:srgbClr val="5D6B7E"/>
                </a:solidFill>
                <a:latin typeface="Calibri" pitchFamily="34" charset="0"/>
                <a:ea typeface="Calibri" pitchFamily="34" charset="-122"/>
                <a:cs typeface="Calibri" pitchFamily="34" charset="-120"/>
              </a:rPr>
              <a:t>"fix it" → "now add a test" → "update docs"</a:t>
            </a:r>
            <a:endParaRPr lang="en-US" sz="1000" dirty="0"/>
          </a:p>
        </p:txBody>
      </p:sp>
      <p:sp>
        <p:nvSpPr>
          <p:cNvPr id="15" name="Shape 12"/>
          <p:cNvSpPr/>
          <p:nvPr/>
        </p:nvSpPr>
        <p:spPr>
          <a:xfrm>
            <a:off x="8138160" y="1463040"/>
            <a:ext cx="3566160" cy="2148840"/>
          </a:xfrm>
          <a:prstGeom prst="roundRect">
            <a:avLst>
              <a:gd name="adj" fmla="val 2979"/>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6" name="Text 13"/>
          <p:cNvSpPr/>
          <p:nvPr/>
        </p:nvSpPr>
        <p:spPr>
          <a:xfrm>
            <a:off x="8394192" y="1664208"/>
            <a:ext cx="3054096" cy="384048"/>
          </a:xfrm>
          <a:prstGeom prst="rect">
            <a:avLst/>
          </a:prstGeom>
          <a:noFill/>
          <a:ln/>
        </p:spPr>
        <p:txBody>
          <a:bodyPr wrap="square" lIns="0" tIns="0" rIns="0" bIns="0" rtlCol="0" anchor="t"/>
          <a:lstStyle/>
          <a:p>
            <a:pPr algn="l" indent="0" marL="0">
              <a:buNone/>
            </a:pPr>
            <a:r>
              <a:rPr lang="en-US" sz="1900" b="1" dirty="0">
                <a:solidFill>
                  <a:srgbClr val="5B21B6"/>
                </a:solidFill>
                <a:latin typeface="Cambria" pitchFamily="34" charset="0"/>
                <a:ea typeface="Cambria" pitchFamily="34" charset="-122"/>
                <a:cs typeface="Cambria" pitchFamily="34" charset="-120"/>
              </a:rPr>
              <a:t>Rung</a:t>
            </a:r>
            <a:endParaRPr lang="en-US" sz="1900" dirty="0"/>
          </a:p>
        </p:txBody>
      </p:sp>
      <p:sp>
        <p:nvSpPr>
          <p:cNvPr id="17" name="Text 14"/>
          <p:cNvSpPr/>
          <p:nvPr/>
        </p:nvSpPr>
        <p:spPr>
          <a:xfrm>
            <a:off x="8394192" y="2176272"/>
            <a:ext cx="3054096" cy="868680"/>
          </a:xfrm>
          <a:prstGeom prst="rect">
            <a:avLst/>
          </a:prstGeom>
          <a:noFill/>
          <a:ln/>
        </p:spPr>
        <p:txBody>
          <a:bodyPr wrap="square" lIns="0" tIns="0" rIns="0" bIns="0" rtlCol="0" anchor="t"/>
          <a:lstStyle/>
          <a:p>
            <a:pPr algn="l" indent="0" marL="0">
              <a:lnSpc>
                <a:spcPct val="110000"/>
              </a:lnSpc>
              <a:buNone/>
            </a:pPr>
            <a:r>
              <a:rPr lang="en-US" sz="1150" dirty="0">
                <a:solidFill>
                  <a:srgbClr val="1F2A3D"/>
                </a:solidFill>
                <a:latin typeface="Calibri" pitchFamily="34" charset="0"/>
                <a:ea typeface="Calibri" pitchFamily="34" charset="-122"/>
                <a:cs typeface="Calibri" pitchFamily="34" charset="-120"/>
              </a:rPr>
              <a:t>A tier in the model ladder — a model class, never a specific machine.</a:t>
            </a:r>
            <a:endParaRPr lang="en-US" sz="1150" dirty="0"/>
          </a:p>
        </p:txBody>
      </p:sp>
      <p:sp>
        <p:nvSpPr>
          <p:cNvPr id="18" name="Text 15"/>
          <p:cNvSpPr/>
          <p:nvPr/>
        </p:nvSpPr>
        <p:spPr>
          <a:xfrm>
            <a:off x="8394192" y="3108960"/>
            <a:ext cx="3054096" cy="411480"/>
          </a:xfrm>
          <a:prstGeom prst="rect">
            <a:avLst/>
          </a:prstGeom>
          <a:noFill/>
          <a:ln/>
        </p:spPr>
        <p:txBody>
          <a:bodyPr wrap="square" lIns="0" tIns="0" rIns="0" bIns="0" rtlCol="0" anchor="t"/>
          <a:lstStyle/>
          <a:p>
            <a:pPr algn="l" indent="0" marL="0">
              <a:buNone/>
            </a:pPr>
            <a:r>
              <a:rPr lang="en-US" sz="1000" i="1" dirty="0">
                <a:solidFill>
                  <a:srgbClr val="5D6B7E"/>
                </a:solidFill>
                <a:latin typeface="Calibri" pitchFamily="34" charset="0"/>
                <a:ea typeface="Calibri" pitchFamily="34" charset="-122"/>
                <a:cs typeface="Calibri" pitchFamily="34" charset="-120"/>
              </a:rPr>
              <a:t>local 30B → cheap cloud → frontier</a:t>
            </a:r>
            <a:endParaRPr lang="en-US" sz="1000" dirty="0"/>
          </a:p>
        </p:txBody>
      </p:sp>
      <p:sp>
        <p:nvSpPr>
          <p:cNvPr id="19" name="Shape 16"/>
          <p:cNvSpPr/>
          <p:nvPr/>
        </p:nvSpPr>
        <p:spPr>
          <a:xfrm>
            <a:off x="548640" y="3840480"/>
            <a:ext cx="3566160" cy="2148840"/>
          </a:xfrm>
          <a:prstGeom prst="roundRect">
            <a:avLst>
              <a:gd name="adj" fmla="val 2979"/>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20" name="Text 17"/>
          <p:cNvSpPr/>
          <p:nvPr/>
        </p:nvSpPr>
        <p:spPr>
          <a:xfrm>
            <a:off x="804672" y="4041648"/>
            <a:ext cx="3054096" cy="384048"/>
          </a:xfrm>
          <a:prstGeom prst="rect">
            <a:avLst/>
          </a:prstGeom>
          <a:noFill/>
          <a:ln/>
        </p:spPr>
        <p:txBody>
          <a:bodyPr wrap="square" lIns="0" tIns="0" rIns="0" bIns="0" rtlCol="0" anchor="t"/>
          <a:lstStyle/>
          <a:p>
            <a:pPr algn="l" indent="0" marL="0">
              <a:buNone/>
            </a:pPr>
            <a:r>
              <a:rPr lang="en-US" sz="1900" b="1" dirty="0">
                <a:solidFill>
                  <a:srgbClr val="1F7A55"/>
                </a:solidFill>
                <a:latin typeface="Cambria" pitchFamily="34" charset="0"/>
                <a:ea typeface="Cambria" pitchFamily="34" charset="-122"/>
                <a:cs typeface="Cambria" pitchFamily="34" charset="-120"/>
              </a:rPr>
              <a:t>Sticky</a:t>
            </a:r>
            <a:endParaRPr lang="en-US" sz="1900" dirty="0"/>
          </a:p>
        </p:txBody>
      </p:sp>
      <p:sp>
        <p:nvSpPr>
          <p:cNvPr id="21" name="Text 18"/>
          <p:cNvSpPr/>
          <p:nvPr/>
        </p:nvSpPr>
        <p:spPr>
          <a:xfrm>
            <a:off x="804672" y="4553712"/>
            <a:ext cx="3054096" cy="868680"/>
          </a:xfrm>
          <a:prstGeom prst="rect">
            <a:avLst/>
          </a:prstGeom>
          <a:noFill/>
          <a:ln/>
        </p:spPr>
        <p:txBody>
          <a:bodyPr wrap="square" lIns="0" tIns="0" rIns="0" bIns="0" rtlCol="0" anchor="t"/>
          <a:lstStyle/>
          <a:p>
            <a:pPr algn="l" indent="0" marL="0">
              <a:lnSpc>
                <a:spcPct val="110000"/>
              </a:lnSpc>
              <a:buNone/>
            </a:pPr>
            <a:r>
              <a:rPr lang="en-US" sz="1150" dirty="0">
                <a:solidFill>
                  <a:srgbClr val="1F2A3D"/>
                </a:solidFill>
                <a:latin typeface="Calibri" pitchFamily="34" charset="0"/>
                <a:ea typeface="Calibri" pitchFamily="34" charset="-122"/>
                <a:cs typeface="Calibri" pitchFamily="34" charset="-120"/>
              </a:rPr>
              <a:t>Mid-turn requests keep the turn's route instead of re-deciding.</a:t>
            </a:r>
            <a:endParaRPr lang="en-US" sz="1150" dirty="0"/>
          </a:p>
        </p:txBody>
      </p:sp>
      <p:sp>
        <p:nvSpPr>
          <p:cNvPr id="22" name="Text 19"/>
          <p:cNvSpPr/>
          <p:nvPr/>
        </p:nvSpPr>
        <p:spPr>
          <a:xfrm>
            <a:off x="804672" y="5486400"/>
            <a:ext cx="3054096" cy="411480"/>
          </a:xfrm>
          <a:prstGeom prst="rect">
            <a:avLst/>
          </a:prstGeom>
          <a:noFill/>
          <a:ln/>
        </p:spPr>
        <p:txBody>
          <a:bodyPr wrap="square" lIns="0" tIns="0" rIns="0" bIns="0" rtlCol="0" anchor="t"/>
          <a:lstStyle/>
          <a:p>
            <a:pPr algn="l" indent="0" marL="0">
              <a:buNone/>
            </a:pPr>
            <a:r>
              <a:rPr lang="en-US" sz="1000" i="1" dirty="0">
                <a:solidFill>
                  <a:srgbClr val="5D6B7E"/>
                </a:solidFill>
                <a:latin typeface="Calibri" pitchFamily="34" charset="0"/>
                <a:ea typeface="Calibri" pitchFamily="34" charset="-122"/>
                <a:cs typeface="Calibri" pitchFamily="34" charset="-120"/>
              </a:rPr>
              <a:t>requests 2–9 inherit request 1's model</a:t>
            </a:r>
            <a:endParaRPr lang="en-US" sz="1000" dirty="0"/>
          </a:p>
        </p:txBody>
      </p:sp>
      <p:sp>
        <p:nvSpPr>
          <p:cNvPr id="23" name="Shape 20"/>
          <p:cNvSpPr/>
          <p:nvPr/>
        </p:nvSpPr>
        <p:spPr>
          <a:xfrm>
            <a:off x="4343400" y="3840480"/>
            <a:ext cx="3566160" cy="2148840"/>
          </a:xfrm>
          <a:prstGeom prst="roundRect">
            <a:avLst>
              <a:gd name="adj" fmla="val 2979"/>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24" name="Text 21"/>
          <p:cNvSpPr/>
          <p:nvPr/>
        </p:nvSpPr>
        <p:spPr>
          <a:xfrm>
            <a:off x="4599432" y="4041648"/>
            <a:ext cx="3054096" cy="384048"/>
          </a:xfrm>
          <a:prstGeom prst="rect">
            <a:avLst/>
          </a:prstGeom>
          <a:noFill/>
          <a:ln/>
        </p:spPr>
        <p:txBody>
          <a:bodyPr wrap="square" lIns="0" tIns="0" rIns="0" bIns="0" rtlCol="0" anchor="t"/>
          <a:lstStyle/>
          <a:p>
            <a:pPr algn="l" indent="0" marL="0">
              <a:buNone/>
            </a:pPr>
            <a:r>
              <a:rPr lang="en-US" sz="1900" b="1" dirty="0">
                <a:solidFill>
                  <a:srgbClr val="B3261E"/>
                </a:solidFill>
                <a:latin typeface="Cambria" pitchFamily="34" charset="0"/>
                <a:ea typeface="Cambria" pitchFamily="34" charset="-122"/>
                <a:cs typeface="Cambria" pitchFamily="34" charset="-120"/>
              </a:rPr>
              <a:t>Trip-wire</a:t>
            </a:r>
            <a:endParaRPr lang="en-US" sz="1900" dirty="0"/>
          </a:p>
        </p:txBody>
      </p:sp>
      <p:sp>
        <p:nvSpPr>
          <p:cNvPr id="25" name="Text 22"/>
          <p:cNvSpPr/>
          <p:nvPr/>
        </p:nvSpPr>
        <p:spPr>
          <a:xfrm>
            <a:off x="4599432" y="4553712"/>
            <a:ext cx="3054096" cy="868680"/>
          </a:xfrm>
          <a:prstGeom prst="rect">
            <a:avLst/>
          </a:prstGeom>
          <a:noFill/>
          <a:ln/>
        </p:spPr>
        <p:txBody>
          <a:bodyPr wrap="square" lIns="0" tIns="0" rIns="0" bIns="0" rtlCol="0" anchor="t"/>
          <a:lstStyle/>
          <a:p>
            <a:pPr algn="l" indent="0" marL="0">
              <a:lnSpc>
                <a:spcPct val="110000"/>
              </a:lnSpc>
              <a:buNone/>
            </a:pPr>
            <a:r>
              <a:rPr lang="en-US" sz="1150" dirty="0">
                <a:solidFill>
                  <a:srgbClr val="1F2A3D"/>
                </a:solidFill>
                <a:latin typeface="Calibri" pitchFamily="34" charset="0"/>
                <a:ea typeface="Calibri" pitchFamily="34" charset="-122"/>
                <a:cs typeface="Calibri" pitchFamily="34" charset="-120"/>
              </a:rPr>
              <a:t>A cheap, mechanical signal that the current rung is failing.</a:t>
            </a:r>
            <a:endParaRPr lang="en-US" sz="1150" dirty="0"/>
          </a:p>
        </p:txBody>
      </p:sp>
      <p:sp>
        <p:nvSpPr>
          <p:cNvPr id="26" name="Text 23"/>
          <p:cNvSpPr/>
          <p:nvPr/>
        </p:nvSpPr>
        <p:spPr>
          <a:xfrm>
            <a:off x="4599432" y="5486400"/>
            <a:ext cx="3054096" cy="411480"/>
          </a:xfrm>
          <a:prstGeom prst="rect">
            <a:avLst/>
          </a:prstGeom>
          <a:noFill/>
          <a:ln/>
        </p:spPr>
        <p:txBody>
          <a:bodyPr wrap="square" lIns="0" tIns="0" rIns="0" bIns="0" rtlCol="0" anchor="t"/>
          <a:lstStyle/>
          <a:p>
            <a:pPr algn="l" indent="0" marL="0">
              <a:buNone/>
            </a:pPr>
            <a:r>
              <a:rPr lang="en-US" sz="1000" i="1" dirty="0">
                <a:solidFill>
                  <a:srgbClr val="5D6B7E"/>
                </a:solidFill>
                <a:latin typeface="Calibri" pitchFamily="34" charset="0"/>
                <a:ea typeface="Calibri" pitchFamily="34" charset="-122"/>
                <a:cs typeface="Calibri" pitchFamily="34" charset="-120"/>
              </a:rPr>
              <a:t>the same edit fails to apply twice</a:t>
            </a:r>
            <a:endParaRPr lang="en-US" sz="1000" dirty="0"/>
          </a:p>
        </p:txBody>
      </p:sp>
      <p:sp>
        <p:nvSpPr>
          <p:cNvPr id="27" name="Shape 24"/>
          <p:cNvSpPr/>
          <p:nvPr/>
        </p:nvSpPr>
        <p:spPr>
          <a:xfrm>
            <a:off x="8138160" y="3840480"/>
            <a:ext cx="3566160" cy="2148840"/>
          </a:xfrm>
          <a:prstGeom prst="roundRect">
            <a:avLst>
              <a:gd name="adj" fmla="val 2979"/>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28" name="Text 25"/>
          <p:cNvSpPr/>
          <p:nvPr/>
        </p:nvSpPr>
        <p:spPr>
          <a:xfrm>
            <a:off x="8394192" y="4041648"/>
            <a:ext cx="3054096" cy="384048"/>
          </a:xfrm>
          <a:prstGeom prst="rect">
            <a:avLst/>
          </a:prstGeom>
          <a:noFill/>
          <a:ln/>
        </p:spPr>
        <p:txBody>
          <a:bodyPr wrap="square" lIns="0" tIns="0" rIns="0" bIns="0" rtlCol="0" anchor="t"/>
          <a:lstStyle/>
          <a:p>
            <a:pPr algn="l" indent="0" marL="0">
              <a:buNone/>
            </a:pPr>
            <a:r>
              <a:rPr lang="en-US" sz="1900" b="1" dirty="0">
                <a:solidFill>
                  <a:srgbClr val="B45309"/>
                </a:solidFill>
                <a:latin typeface="Cambria" pitchFamily="34" charset="0"/>
                <a:ea typeface="Cambria" pitchFamily="34" charset="-122"/>
                <a:cs typeface="Cambria" pitchFamily="34" charset="-120"/>
              </a:rPr>
              <a:t>Hysteresis</a:t>
            </a:r>
            <a:endParaRPr lang="en-US" sz="1900" dirty="0"/>
          </a:p>
        </p:txBody>
      </p:sp>
      <p:sp>
        <p:nvSpPr>
          <p:cNvPr id="29" name="Text 26"/>
          <p:cNvSpPr/>
          <p:nvPr/>
        </p:nvSpPr>
        <p:spPr>
          <a:xfrm>
            <a:off x="8394192" y="4553712"/>
            <a:ext cx="3054096" cy="868680"/>
          </a:xfrm>
          <a:prstGeom prst="rect">
            <a:avLst/>
          </a:prstGeom>
          <a:noFill/>
          <a:ln/>
        </p:spPr>
        <p:txBody>
          <a:bodyPr wrap="square" lIns="0" tIns="0" rIns="0" bIns="0" rtlCol="0" anchor="t"/>
          <a:lstStyle/>
          <a:p>
            <a:pPr algn="l" indent="0" marL="0">
              <a:lnSpc>
                <a:spcPct val="110000"/>
              </a:lnSpc>
              <a:buNone/>
            </a:pPr>
            <a:r>
              <a:rPr lang="en-US" sz="1150" dirty="0">
                <a:solidFill>
                  <a:srgbClr val="1F2A3D"/>
                </a:solidFill>
                <a:latin typeface="Calibri" pitchFamily="34" charset="0"/>
                <a:ea typeface="Calibri" pitchFamily="34" charset="-122"/>
                <a:cs typeface="Calibri" pitchFamily="34" charset="-120"/>
              </a:rPr>
              <a:t>Once escalated, stay up until a clear new-task boundary.</a:t>
            </a:r>
            <a:endParaRPr lang="en-US" sz="1150" dirty="0"/>
          </a:p>
        </p:txBody>
      </p:sp>
      <p:sp>
        <p:nvSpPr>
          <p:cNvPr id="30" name="Text 27"/>
          <p:cNvSpPr/>
          <p:nvPr/>
        </p:nvSpPr>
        <p:spPr>
          <a:xfrm>
            <a:off x="8394192" y="5486400"/>
            <a:ext cx="3054096" cy="411480"/>
          </a:xfrm>
          <a:prstGeom prst="rect">
            <a:avLst/>
          </a:prstGeom>
          <a:noFill/>
          <a:ln/>
        </p:spPr>
        <p:txBody>
          <a:bodyPr wrap="square" lIns="0" tIns="0" rIns="0" bIns="0" rtlCol="0" anchor="t"/>
          <a:lstStyle/>
          <a:p>
            <a:pPr algn="l" indent="0" marL="0">
              <a:buNone/>
            </a:pPr>
            <a:r>
              <a:rPr lang="en-US" sz="1000" i="1" dirty="0">
                <a:solidFill>
                  <a:srgbClr val="5D6B7E"/>
                </a:solidFill>
                <a:latin typeface="Calibri" pitchFamily="34" charset="0"/>
                <a:ea typeface="Calibri" pitchFamily="34" charset="-122"/>
                <a:cs typeface="Calibri" pitchFamily="34" charset="-120"/>
              </a:rPr>
              <a:t>no flip-flopping between rungs mid-episode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PART 1 · THE CORE IDEA</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Route turns, not HTTP requests</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design doc §2</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7</a:t>
            </a:r>
            <a:endParaRPr lang="en-US" sz="900" dirty="0"/>
          </a:p>
        </p:txBody>
      </p:sp>
      <p:sp>
        <p:nvSpPr>
          <p:cNvPr id="7" name="Text 4"/>
          <p:cNvSpPr/>
          <p:nvPr/>
        </p:nvSpPr>
        <p:spPr>
          <a:xfrm>
            <a:off x="548640" y="1371600"/>
            <a:ext cx="2286000" cy="274320"/>
          </a:xfrm>
          <a:prstGeom prst="rect">
            <a:avLst/>
          </a:prstGeom>
          <a:noFill/>
          <a:ln/>
        </p:spPr>
        <p:txBody>
          <a:bodyPr wrap="square" lIns="0" tIns="0" rIns="0" bIns="0" rtlCol="0" anchor="t"/>
          <a:lstStyle/>
          <a:p>
            <a:pPr algn="l" indent="0" marL="0">
              <a:buNone/>
            </a:pPr>
            <a:r>
              <a:rPr lang="en-US" sz="1250" b="1" dirty="0">
                <a:solidFill>
                  <a:srgbClr val="1F2A3D"/>
                </a:solidFill>
                <a:latin typeface="Calibri" pitchFamily="34" charset="0"/>
                <a:ea typeface="Calibri" pitchFamily="34" charset="-122"/>
                <a:cs typeface="Calibri" pitchFamily="34" charset="-120"/>
              </a:rPr>
              <a:t>One keystroke…</a:t>
            </a:r>
            <a:endParaRPr lang="en-US" sz="1250" dirty="0"/>
          </a:p>
        </p:txBody>
      </p:sp>
      <p:sp>
        <p:nvSpPr>
          <p:cNvPr id="8" name="Shape 5"/>
          <p:cNvSpPr/>
          <p:nvPr/>
        </p:nvSpPr>
        <p:spPr>
          <a:xfrm>
            <a:off x="548640" y="1691640"/>
            <a:ext cx="2377440" cy="731520"/>
          </a:xfrm>
          <a:prstGeom prst="roundRect">
            <a:avLst>
              <a:gd name="adj" fmla="val 8750"/>
            </a:avLst>
          </a:prstGeom>
          <a:solidFill>
            <a:srgbClr val="E4EEF6"/>
          </a:solidFill>
          <a:ln/>
          <a:effectLst>
            <a:outerShdw sx="100000" sy="100000" kx="0" ky="0" algn="bl" rotWithShape="0" blurRad="88900" dist="25400" dir="2700000">
              <a:srgbClr val="1F2A3D">
                <a:alpha val="14000"/>
              </a:srgbClr>
            </a:outerShdw>
          </a:effectLst>
        </p:spPr>
      </p:sp>
      <p:sp>
        <p:nvSpPr>
          <p:cNvPr id="9" name="Text 6"/>
          <p:cNvSpPr/>
          <p:nvPr/>
        </p:nvSpPr>
        <p:spPr>
          <a:xfrm>
            <a:off x="685800" y="1810512"/>
            <a:ext cx="2103120" cy="502920"/>
          </a:xfrm>
          <a:prstGeom prst="rect">
            <a:avLst/>
          </a:prstGeom>
          <a:noFill/>
          <a:ln/>
        </p:spPr>
        <p:txBody>
          <a:bodyPr wrap="square" lIns="0" tIns="0" rIns="0" bIns="0" rtlCol="0" anchor="ctr"/>
          <a:lstStyle/>
          <a:p>
            <a:pPr algn="l" indent="0" marL="0">
              <a:buNone/>
            </a:pPr>
            <a:r>
              <a:rPr lang="en-US" sz="1200" i="1" dirty="0">
                <a:solidFill>
                  <a:srgbClr val="1F2A3D"/>
                </a:solidFill>
                <a:latin typeface="Calibri" pitchFamily="34" charset="0"/>
                <a:ea typeface="Calibri" pitchFamily="34" charset="-122"/>
                <a:cs typeface="Calibri" pitchFamily="34" charset="-120"/>
              </a:rPr>
              <a:t>“fix the failing test”</a:t>
            </a:r>
            <a:endParaRPr lang="en-US" sz="1200" dirty="0"/>
          </a:p>
        </p:txBody>
      </p:sp>
      <p:sp>
        <p:nvSpPr>
          <p:cNvPr id="10" name="Shape 7"/>
          <p:cNvSpPr/>
          <p:nvPr/>
        </p:nvSpPr>
        <p:spPr>
          <a:xfrm>
            <a:off x="3063240" y="2057400"/>
            <a:ext cx="457200" cy="0"/>
          </a:xfrm>
          <a:prstGeom prst="line">
            <a:avLst/>
          </a:prstGeom>
          <a:noFill/>
          <a:ln w="22225">
            <a:solidFill>
              <a:srgbClr val="5D6B7E"/>
            </a:solidFill>
            <a:prstDash val="solid"/>
            <a:headEnd type="none"/>
            <a:tailEnd type="triangle"/>
          </a:ln>
        </p:spPr>
      </p:sp>
      <p:sp>
        <p:nvSpPr>
          <p:cNvPr id="11" name="Text 8"/>
          <p:cNvSpPr/>
          <p:nvPr/>
        </p:nvSpPr>
        <p:spPr>
          <a:xfrm>
            <a:off x="3657600" y="1371600"/>
            <a:ext cx="5486400" cy="274320"/>
          </a:xfrm>
          <a:prstGeom prst="rect">
            <a:avLst/>
          </a:prstGeom>
          <a:noFill/>
          <a:ln/>
        </p:spPr>
        <p:txBody>
          <a:bodyPr wrap="square" lIns="0" tIns="0" rIns="0" bIns="0" rtlCol="0" anchor="t"/>
          <a:lstStyle/>
          <a:p>
            <a:pPr algn="l" indent="0" marL="0">
              <a:buNone/>
            </a:pPr>
            <a:r>
              <a:rPr lang="en-US" sz="1250" b="1" dirty="0">
                <a:solidFill>
                  <a:srgbClr val="1F2A3D"/>
                </a:solidFill>
                <a:latin typeface="Calibri" pitchFamily="34" charset="0"/>
                <a:ea typeface="Calibri" pitchFamily="34" charset="-122"/>
                <a:cs typeface="Calibri" pitchFamily="34" charset="-120"/>
              </a:rPr>
              <a:t>…becomes a burst of requests — one turn</a:t>
            </a:r>
            <a:endParaRPr lang="en-US" sz="1250" dirty="0"/>
          </a:p>
        </p:txBody>
      </p:sp>
      <p:sp>
        <p:nvSpPr>
          <p:cNvPr id="12" name="Shape 9"/>
          <p:cNvSpPr/>
          <p:nvPr/>
        </p:nvSpPr>
        <p:spPr>
          <a:xfrm>
            <a:off x="3657600" y="1691640"/>
            <a:ext cx="1261872" cy="731520"/>
          </a:xfrm>
          <a:prstGeom prst="roundRect">
            <a:avLst>
              <a:gd name="adj" fmla="val 8750"/>
            </a:avLst>
          </a:prstGeom>
          <a:solidFill>
            <a:srgbClr val="E4EEF6"/>
          </a:solidFill>
          <a:ln/>
        </p:spPr>
      </p:sp>
      <p:sp>
        <p:nvSpPr>
          <p:cNvPr id="13" name="Text 10"/>
          <p:cNvSpPr/>
          <p:nvPr/>
        </p:nvSpPr>
        <p:spPr>
          <a:xfrm>
            <a:off x="3730752" y="1783080"/>
            <a:ext cx="1133856" cy="320040"/>
          </a:xfrm>
          <a:prstGeom prst="rect">
            <a:avLst/>
          </a:prstGeom>
          <a:noFill/>
          <a:ln/>
        </p:spPr>
        <p:txBody>
          <a:bodyPr wrap="square" lIns="0" tIns="0" rIns="0" bIns="0" rtlCol="0" anchor="t"/>
          <a:lstStyle/>
          <a:p>
            <a:pPr algn="ctr" indent="0" marL="0">
              <a:buNone/>
            </a:pPr>
            <a:r>
              <a:rPr lang="en-US" sz="950" b="1" dirty="0">
                <a:solidFill>
                  <a:srgbClr val="1F2A3D"/>
                </a:solidFill>
                <a:latin typeface="Calibri" pitchFamily="34" charset="0"/>
                <a:ea typeface="Calibri" pitchFamily="34" charset="-122"/>
                <a:cs typeface="Calibri" pitchFamily="34" charset="-120"/>
              </a:rPr>
              <a:t>1 · user text</a:t>
            </a:r>
            <a:endParaRPr lang="en-US" sz="950" dirty="0"/>
          </a:p>
        </p:txBody>
      </p:sp>
      <p:sp>
        <p:nvSpPr>
          <p:cNvPr id="14" name="Text 11"/>
          <p:cNvSpPr/>
          <p:nvPr/>
        </p:nvSpPr>
        <p:spPr>
          <a:xfrm>
            <a:off x="3730752" y="2103120"/>
            <a:ext cx="1133856" cy="228600"/>
          </a:xfrm>
          <a:prstGeom prst="rect">
            <a:avLst/>
          </a:prstGeom>
          <a:noFill/>
          <a:ln/>
        </p:spPr>
        <p:txBody>
          <a:bodyPr wrap="square" lIns="0" tIns="0" rIns="0" bIns="0" rtlCol="0" anchor="t"/>
          <a:lstStyle/>
          <a:p>
            <a:pPr algn="ctr" indent="0" marL="0">
              <a:buNone/>
            </a:pPr>
            <a:r>
              <a:rPr lang="en-US" sz="850" b="1" dirty="0">
                <a:solidFill>
                  <a:srgbClr val="1D6FA5"/>
                </a:solidFill>
                <a:latin typeface="Calibri" pitchFamily="34" charset="0"/>
                <a:ea typeface="Calibri" pitchFamily="34" charset="-122"/>
                <a:cs typeface="Calibri" pitchFamily="34" charset="-120"/>
              </a:rPr>
              <a:t>DECIDE</a:t>
            </a:r>
            <a:endParaRPr lang="en-US" sz="850" dirty="0"/>
          </a:p>
        </p:txBody>
      </p:sp>
      <p:sp>
        <p:nvSpPr>
          <p:cNvPr id="15" name="Shape 12"/>
          <p:cNvSpPr/>
          <p:nvPr/>
        </p:nvSpPr>
        <p:spPr>
          <a:xfrm>
            <a:off x="5029200" y="1691640"/>
            <a:ext cx="1261872" cy="731520"/>
          </a:xfrm>
          <a:prstGeom prst="roundRect">
            <a:avLst>
              <a:gd name="adj" fmla="val 8750"/>
            </a:avLst>
          </a:prstGeom>
          <a:solidFill>
            <a:srgbClr val="F3F6F9"/>
          </a:solidFill>
          <a:ln w="9525">
            <a:solidFill>
              <a:srgbClr val="D9E1E9"/>
            </a:solidFill>
            <a:prstDash val="solid"/>
          </a:ln>
        </p:spPr>
      </p:sp>
      <p:sp>
        <p:nvSpPr>
          <p:cNvPr id="16" name="Text 13"/>
          <p:cNvSpPr/>
          <p:nvPr/>
        </p:nvSpPr>
        <p:spPr>
          <a:xfrm>
            <a:off x="5102352" y="1783080"/>
            <a:ext cx="1133856" cy="320040"/>
          </a:xfrm>
          <a:prstGeom prst="rect">
            <a:avLst/>
          </a:prstGeom>
          <a:noFill/>
          <a:ln/>
        </p:spPr>
        <p:txBody>
          <a:bodyPr wrap="square" lIns="0" tIns="0" rIns="0" bIns="0" rtlCol="0" anchor="t"/>
          <a:lstStyle/>
          <a:p>
            <a:pPr algn="ctr" indent="0" marL="0">
              <a:buNone/>
            </a:pPr>
            <a:r>
              <a:rPr lang="en-US" sz="950" dirty="0">
                <a:solidFill>
                  <a:srgbClr val="1F2A3D"/>
                </a:solidFill>
                <a:latin typeface="Calibri" pitchFamily="34" charset="0"/>
                <a:ea typeface="Calibri" pitchFamily="34" charset="-122"/>
                <a:cs typeface="Calibri" pitchFamily="34" charset="-120"/>
              </a:rPr>
              <a:t>2 · run tests →</a:t>
            </a:r>
            <a:endParaRPr lang="en-US" sz="950" dirty="0"/>
          </a:p>
        </p:txBody>
      </p:sp>
      <p:sp>
        <p:nvSpPr>
          <p:cNvPr id="17" name="Text 14"/>
          <p:cNvSpPr/>
          <p:nvPr/>
        </p:nvSpPr>
        <p:spPr>
          <a:xfrm>
            <a:off x="5102352" y="2103120"/>
            <a:ext cx="1133856" cy="228600"/>
          </a:xfrm>
          <a:prstGeom prst="rect">
            <a:avLst/>
          </a:prstGeom>
          <a:noFill/>
          <a:ln/>
        </p:spPr>
        <p:txBody>
          <a:bodyPr wrap="square" lIns="0" tIns="0" rIns="0" bIns="0" rtlCol="0" anchor="t"/>
          <a:lstStyle/>
          <a:p>
            <a:pPr algn="ctr" indent="0" marL="0">
              <a:buNone/>
            </a:pPr>
            <a:r>
              <a:rPr lang="en-US" sz="850" dirty="0">
                <a:solidFill>
                  <a:srgbClr val="93A1B1"/>
                </a:solidFill>
                <a:latin typeface="Calibri" pitchFamily="34" charset="0"/>
                <a:ea typeface="Calibri" pitchFamily="34" charset="-122"/>
                <a:cs typeface="Calibri" pitchFamily="34" charset="-120"/>
              </a:rPr>
              <a:t>sticky</a:t>
            </a:r>
            <a:endParaRPr lang="en-US" sz="850" dirty="0"/>
          </a:p>
        </p:txBody>
      </p:sp>
      <p:sp>
        <p:nvSpPr>
          <p:cNvPr id="18" name="Shape 15"/>
          <p:cNvSpPr/>
          <p:nvPr/>
        </p:nvSpPr>
        <p:spPr>
          <a:xfrm>
            <a:off x="6400800" y="1691640"/>
            <a:ext cx="1261872" cy="731520"/>
          </a:xfrm>
          <a:prstGeom prst="roundRect">
            <a:avLst>
              <a:gd name="adj" fmla="val 8750"/>
            </a:avLst>
          </a:prstGeom>
          <a:solidFill>
            <a:srgbClr val="F3F6F9"/>
          </a:solidFill>
          <a:ln w="9525">
            <a:solidFill>
              <a:srgbClr val="D9E1E9"/>
            </a:solidFill>
            <a:prstDash val="solid"/>
          </a:ln>
        </p:spPr>
      </p:sp>
      <p:sp>
        <p:nvSpPr>
          <p:cNvPr id="19" name="Text 16"/>
          <p:cNvSpPr/>
          <p:nvPr/>
        </p:nvSpPr>
        <p:spPr>
          <a:xfrm>
            <a:off x="6473952" y="1783080"/>
            <a:ext cx="1133856" cy="320040"/>
          </a:xfrm>
          <a:prstGeom prst="rect">
            <a:avLst/>
          </a:prstGeom>
          <a:noFill/>
          <a:ln/>
        </p:spPr>
        <p:txBody>
          <a:bodyPr wrap="square" lIns="0" tIns="0" rIns="0" bIns="0" rtlCol="0" anchor="t"/>
          <a:lstStyle/>
          <a:p>
            <a:pPr algn="ctr" indent="0" marL="0">
              <a:buNone/>
            </a:pPr>
            <a:r>
              <a:rPr lang="en-US" sz="950" dirty="0">
                <a:solidFill>
                  <a:srgbClr val="1F2A3D"/>
                </a:solidFill>
                <a:latin typeface="Calibri" pitchFamily="34" charset="0"/>
                <a:ea typeface="Calibri" pitchFamily="34" charset="-122"/>
                <a:cs typeface="Calibri" pitchFamily="34" charset="-120"/>
              </a:rPr>
              <a:t>3 · read file →</a:t>
            </a:r>
            <a:endParaRPr lang="en-US" sz="950" dirty="0"/>
          </a:p>
        </p:txBody>
      </p:sp>
      <p:sp>
        <p:nvSpPr>
          <p:cNvPr id="20" name="Text 17"/>
          <p:cNvSpPr/>
          <p:nvPr/>
        </p:nvSpPr>
        <p:spPr>
          <a:xfrm>
            <a:off x="6473952" y="2103120"/>
            <a:ext cx="1133856" cy="228600"/>
          </a:xfrm>
          <a:prstGeom prst="rect">
            <a:avLst/>
          </a:prstGeom>
          <a:noFill/>
          <a:ln/>
        </p:spPr>
        <p:txBody>
          <a:bodyPr wrap="square" lIns="0" tIns="0" rIns="0" bIns="0" rtlCol="0" anchor="t"/>
          <a:lstStyle/>
          <a:p>
            <a:pPr algn="ctr" indent="0" marL="0">
              <a:buNone/>
            </a:pPr>
            <a:r>
              <a:rPr lang="en-US" sz="850" dirty="0">
                <a:solidFill>
                  <a:srgbClr val="93A1B1"/>
                </a:solidFill>
                <a:latin typeface="Calibri" pitchFamily="34" charset="0"/>
                <a:ea typeface="Calibri" pitchFamily="34" charset="-122"/>
                <a:cs typeface="Calibri" pitchFamily="34" charset="-120"/>
              </a:rPr>
              <a:t>sticky</a:t>
            </a:r>
            <a:endParaRPr lang="en-US" sz="850" dirty="0"/>
          </a:p>
        </p:txBody>
      </p:sp>
      <p:sp>
        <p:nvSpPr>
          <p:cNvPr id="21" name="Shape 18"/>
          <p:cNvSpPr/>
          <p:nvPr/>
        </p:nvSpPr>
        <p:spPr>
          <a:xfrm>
            <a:off x="7772400" y="1691640"/>
            <a:ext cx="1261872" cy="731520"/>
          </a:xfrm>
          <a:prstGeom prst="roundRect">
            <a:avLst>
              <a:gd name="adj" fmla="val 8750"/>
            </a:avLst>
          </a:prstGeom>
          <a:solidFill>
            <a:srgbClr val="F3F6F9"/>
          </a:solidFill>
          <a:ln w="9525">
            <a:solidFill>
              <a:srgbClr val="D9E1E9"/>
            </a:solidFill>
            <a:prstDash val="solid"/>
          </a:ln>
        </p:spPr>
      </p:sp>
      <p:sp>
        <p:nvSpPr>
          <p:cNvPr id="22" name="Text 19"/>
          <p:cNvSpPr/>
          <p:nvPr/>
        </p:nvSpPr>
        <p:spPr>
          <a:xfrm>
            <a:off x="7845552" y="1783080"/>
            <a:ext cx="1133856" cy="320040"/>
          </a:xfrm>
          <a:prstGeom prst="rect">
            <a:avLst/>
          </a:prstGeom>
          <a:noFill/>
          <a:ln/>
        </p:spPr>
        <p:txBody>
          <a:bodyPr wrap="square" lIns="0" tIns="0" rIns="0" bIns="0" rtlCol="0" anchor="t"/>
          <a:lstStyle/>
          <a:p>
            <a:pPr algn="ctr" indent="0" marL="0">
              <a:buNone/>
            </a:pPr>
            <a:r>
              <a:rPr lang="en-US" sz="950" dirty="0">
                <a:solidFill>
                  <a:srgbClr val="1F2A3D"/>
                </a:solidFill>
                <a:latin typeface="Calibri" pitchFamily="34" charset="0"/>
                <a:ea typeface="Calibri" pitchFamily="34" charset="-122"/>
                <a:cs typeface="Calibri" pitchFamily="34" charset="-120"/>
              </a:rPr>
              <a:t>4 · edit →</a:t>
            </a:r>
            <a:endParaRPr lang="en-US" sz="950" dirty="0"/>
          </a:p>
        </p:txBody>
      </p:sp>
      <p:sp>
        <p:nvSpPr>
          <p:cNvPr id="23" name="Text 20"/>
          <p:cNvSpPr/>
          <p:nvPr/>
        </p:nvSpPr>
        <p:spPr>
          <a:xfrm>
            <a:off x="7845552" y="2103120"/>
            <a:ext cx="1133856" cy="228600"/>
          </a:xfrm>
          <a:prstGeom prst="rect">
            <a:avLst/>
          </a:prstGeom>
          <a:noFill/>
          <a:ln/>
        </p:spPr>
        <p:txBody>
          <a:bodyPr wrap="square" lIns="0" tIns="0" rIns="0" bIns="0" rtlCol="0" anchor="t"/>
          <a:lstStyle/>
          <a:p>
            <a:pPr algn="ctr" indent="0" marL="0">
              <a:buNone/>
            </a:pPr>
            <a:r>
              <a:rPr lang="en-US" sz="850" dirty="0">
                <a:solidFill>
                  <a:srgbClr val="93A1B1"/>
                </a:solidFill>
                <a:latin typeface="Calibri" pitchFamily="34" charset="0"/>
                <a:ea typeface="Calibri" pitchFamily="34" charset="-122"/>
                <a:cs typeface="Calibri" pitchFamily="34" charset="-120"/>
              </a:rPr>
              <a:t>sticky</a:t>
            </a:r>
            <a:endParaRPr lang="en-US" sz="850" dirty="0"/>
          </a:p>
        </p:txBody>
      </p:sp>
      <p:sp>
        <p:nvSpPr>
          <p:cNvPr id="24" name="Shape 21"/>
          <p:cNvSpPr/>
          <p:nvPr/>
        </p:nvSpPr>
        <p:spPr>
          <a:xfrm>
            <a:off x="9144000" y="1691640"/>
            <a:ext cx="1261872" cy="731520"/>
          </a:xfrm>
          <a:prstGeom prst="roundRect">
            <a:avLst>
              <a:gd name="adj" fmla="val 8750"/>
            </a:avLst>
          </a:prstGeom>
          <a:solidFill>
            <a:srgbClr val="F3F6F9"/>
          </a:solidFill>
          <a:ln w="9525">
            <a:solidFill>
              <a:srgbClr val="D9E1E9"/>
            </a:solidFill>
            <a:prstDash val="solid"/>
          </a:ln>
        </p:spPr>
      </p:sp>
      <p:sp>
        <p:nvSpPr>
          <p:cNvPr id="25" name="Text 22"/>
          <p:cNvSpPr/>
          <p:nvPr/>
        </p:nvSpPr>
        <p:spPr>
          <a:xfrm>
            <a:off x="9217152" y="1783080"/>
            <a:ext cx="1133856" cy="320040"/>
          </a:xfrm>
          <a:prstGeom prst="rect">
            <a:avLst/>
          </a:prstGeom>
          <a:noFill/>
          <a:ln/>
        </p:spPr>
        <p:txBody>
          <a:bodyPr wrap="square" lIns="0" tIns="0" rIns="0" bIns="0" rtlCol="0" anchor="t"/>
          <a:lstStyle/>
          <a:p>
            <a:pPr algn="ctr" indent="0" marL="0">
              <a:buNone/>
            </a:pPr>
            <a:r>
              <a:rPr lang="en-US" sz="950" dirty="0">
                <a:solidFill>
                  <a:srgbClr val="1F2A3D"/>
                </a:solidFill>
                <a:latin typeface="Calibri" pitchFamily="34" charset="0"/>
                <a:ea typeface="Calibri" pitchFamily="34" charset="-122"/>
                <a:cs typeface="Calibri" pitchFamily="34" charset="-120"/>
              </a:rPr>
              <a:t>5 · edit →</a:t>
            </a:r>
            <a:endParaRPr lang="en-US" sz="950" dirty="0"/>
          </a:p>
        </p:txBody>
      </p:sp>
      <p:sp>
        <p:nvSpPr>
          <p:cNvPr id="26" name="Text 23"/>
          <p:cNvSpPr/>
          <p:nvPr/>
        </p:nvSpPr>
        <p:spPr>
          <a:xfrm>
            <a:off x="9217152" y="2103120"/>
            <a:ext cx="1133856" cy="228600"/>
          </a:xfrm>
          <a:prstGeom prst="rect">
            <a:avLst/>
          </a:prstGeom>
          <a:noFill/>
          <a:ln/>
        </p:spPr>
        <p:txBody>
          <a:bodyPr wrap="square" lIns="0" tIns="0" rIns="0" bIns="0" rtlCol="0" anchor="t"/>
          <a:lstStyle/>
          <a:p>
            <a:pPr algn="ctr" indent="0" marL="0">
              <a:buNone/>
            </a:pPr>
            <a:r>
              <a:rPr lang="en-US" sz="850" dirty="0">
                <a:solidFill>
                  <a:srgbClr val="93A1B1"/>
                </a:solidFill>
                <a:latin typeface="Calibri" pitchFamily="34" charset="0"/>
                <a:ea typeface="Calibri" pitchFamily="34" charset="-122"/>
                <a:cs typeface="Calibri" pitchFamily="34" charset="-120"/>
              </a:rPr>
              <a:t>sticky</a:t>
            </a:r>
            <a:endParaRPr lang="en-US" sz="850" dirty="0"/>
          </a:p>
        </p:txBody>
      </p:sp>
      <p:sp>
        <p:nvSpPr>
          <p:cNvPr id="27" name="Shape 24"/>
          <p:cNvSpPr/>
          <p:nvPr/>
        </p:nvSpPr>
        <p:spPr>
          <a:xfrm>
            <a:off x="10515600" y="1691640"/>
            <a:ext cx="1261872" cy="731520"/>
          </a:xfrm>
          <a:prstGeom prst="roundRect">
            <a:avLst>
              <a:gd name="adj" fmla="val 8750"/>
            </a:avLst>
          </a:prstGeom>
          <a:solidFill>
            <a:srgbClr val="F3F6F9"/>
          </a:solidFill>
          <a:ln w="9525">
            <a:solidFill>
              <a:srgbClr val="D9E1E9"/>
            </a:solidFill>
            <a:prstDash val="solid"/>
          </a:ln>
        </p:spPr>
      </p:sp>
      <p:sp>
        <p:nvSpPr>
          <p:cNvPr id="28" name="Text 25"/>
          <p:cNvSpPr/>
          <p:nvPr/>
        </p:nvSpPr>
        <p:spPr>
          <a:xfrm>
            <a:off x="10588752" y="1783080"/>
            <a:ext cx="1133856" cy="320040"/>
          </a:xfrm>
          <a:prstGeom prst="rect">
            <a:avLst/>
          </a:prstGeom>
          <a:noFill/>
          <a:ln/>
        </p:spPr>
        <p:txBody>
          <a:bodyPr wrap="square" lIns="0" tIns="0" rIns="0" bIns="0" rtlCol="0" anchor="t"/>
          <a:lstStyle/>
          <a:p>
            <a:pPr algn="ctr" indent="0" marL="0">
              <a:buNone/>
            </a:pPr>
            <a:r>
              <a:rPr lang="en-US" sz="950" dirty="0">
                <a:solidFill>
                  <a:srgbClr val="1F2A3D"/>
                </a:solidFill>
                <a:latin typeface="Calibri" pitchFamily="34" charset="0"/>
                <a:ea typeface="Calibri" pitchFamily="34" charset="-122"/>
                <a:cs typeface="Calibri" pitchFamily="34" charset="-120"/>
              </a:rPr>
              <a:t>6 · answer</a:t>
            </a:r>
            <a:endParaRPr lang="en-US" sz="950" dirty="0"/>
          </a:p>
        </p:txBody>
      </p:sp>
      <p:sp>
        <p:nvSpPr>
          <p:cNvPr id="29" name="Text 26"/>
          <p:cNvSpPr/>
          <p:nvPr/>
        </p:nvSpPr>
        <p:spPr>
          <a:xfrm>
            <a:off x="10588752" y="2103120"/>
            <a:ext cx="1133856" cy="228600"/>
          </a:xfrm>
          <a:prstGeom prst="rect">
            <a:avLst/>
          </a:prstGeom>
          <a:noFill/>
          <a:ln/>
        </p:spPr>
        <p:txBody>
          <a:bodyPr wrap="square" lIns="0" tIns="0" rIns="0" bIns="0" rtlCol="0" anchor="t"/>
          <a:lstStyle/>
          <a:p>
            <a:pPr algn="ctr" indent="0" marL="0">
              <a:buNone/>
            </a:pPr>
            <a:r>
              <a:rPr lang="en-US" sz="850" dirty="0">
                <a:solidFill>
                  <a:srgbClr val="93A1B1"/>
                </a:solidFill>
                <a:latin typeface="Calibri" pitchFamily="34" charset="0"/>
                <a:ea typeface="Calibri" pitchFamily="34" charset="-122"/>
                <a:cs typeface="Calibri" pitchFamily="34" charset="-120"/>
              </a:rPr>
              <a:t>sticky</a:t>
            </a:r>
            <a:endParaRPr lang="en-US" sz="850" dirty="0"/>
          </a:p>
        </p:txBody>
      </p:sp>
      <p:sp>
        <p:nvSpPr>
          <p:cNvPr id="30" name="Text 27"/>
          <p:cNvSpPr/>
          <p:nvPr/>
        </p:nvSpPr>
        <p:spPr>
          <a:xfrm>
            <a:off x="3657600" y="2542032"/>
            <a:ext cx="7772400" cy="274320"/>
          </a:xfrm>
          <a:prstGeom prst="rect">
            <a:avLst/>
          </a:prstGeom>
          <a:noFill/>
          <a:ln/>
        </p:spPr>
        <p:txBody>
          <a:bodyPr wrap="square" lIns="0" tIns="0" rIns="0" bIns="0" rtlCol="0" anchor="t"/>
          <a:lstStyle/>
          <a:p>
            <a:pPr algn="l" indent="0" marL="0">
              <a:buNone/>
            </a:pPr>
            <a:r>
              <a:rPr lang="en-US" sz="1050" i="1" dirty="0">
                <a:solidFill>
                  <a:srgbClr val="5D6B7E"/>
                </a:solidFill>
                <a:latin typeface="Calibri" pitchFamily="34" charset="0"/>
                <a:ea typeface="Calibri" pitchFamily="34" charset="-122"/>
                <a:cs typeface="Calibri" pitchFamily="34" charset="-120"/>
              </a:rPr>
              <a:t>most requests are the middle of a thought — not a new task</a:t>
            </a:r>
            <a:endParaRPr lang="en-US" sz="1050" dirty="0"/>
          </a:p>
        </p:txBody>
      </p:sp>
      <p:sp>
        <p:nvSpPr>
          <p:cNvPr id="31" name="Text 28"/>
          <p:cNvSpPr/>
          <p:nvPr/>
        </p:nvSpPr>
        <p:spPr>
          <a:xfrm>
            <a:off x="548640" y="3108960"/>
            <a:ext cx="10058400" cy="320040"/>
          </a:xfrm>
          <a:prstGeom prst="rect">
            <a:avLst/>
          </a:prstGeom>
          <a:noFill/>
          <a:ln/>
        </p:spPr>
        <p:txBody>
          <a:bodyPr wrap="square" lIns="0" tIns="0" rIns="0" bIns="0" rtlCol="0" anchor="t"/>
          <a:lstStyle/>
          <a:p>
            <a:pPr algn="l" indent="0" marL="0">
              <a:buNone/>
            </a:pPr>
            <a:r>
              <a:rPr lang="en-US" sz="1400" b="1" dirty="0">
                <a:solidFill>
                  <a:srgbClr val="1F2A3D"/>
                </a:solidFill>
                <a:latin typeface="Cambria" pitchFamily="34" charset="0"/>
                <a:ea typeface="Cambria" pitchFamily="34" charset="-122"/>
                <a:cs typeface="Cambria" pitchFamily="34" charset="-120"/>
              </a:rPr>
              <a:t>The route can change at exactly three moments — nothing else moves it</a:t>
            </a:r>
            <a:endParaRPr lang="en-US" sz="1400" dirty="0"/>
          </a:p>
        </p:txBody>
      </p:sp>
      <p:sp>
        <p:nvSpPr>
          <p:cNvPr id="32" name="Shape 29"/>
          <p:cNvSpPr/>
          <p:nvPr/>
        </p:nvSpPr>
        <p:spPr>
          <a:xfrm>
            <a:off x="548640" y="3566160"/>
            <a:ext cx="3566160" cy="2331720"/>
          </a:xfrm>
          <a:prstGeom prst="roundRect">
            <a:avLst>
              <a:gd name="adj" fmla="val 2745"/>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33" name="Shape 30"/>
          <p:cNvSpPr/>
          <p:nvPr/>
        </p:nvSpPr>
        <p:spPr>
          <a:xfrm>
            <a:off x="804672" y="3794760"/>
            <a:ext cx="457200" cy="457200"/>
          </a:xfrm>
          <a:prstGeom prst="ellipse">
            <a:avLst/>
          </a:prstGeom>
          <a:solidFill>
            <a:srgbClr val="1D6FA5"/>
          </a:solidFill>
          <a:ln/>
        </p:spPr>
      </p:sp>
      <p:pic>
        <p:nvPicPr>
          <p:cNvPr id="34" name="Image 0" descr="preencoded.png">    </p:cNvPr>
          <p:cNvPicPr>
            <a:picLocks noChangeAspect="1"/>
          </p:cNvPicPr>
          <p:nvPr/>
        </p:nvPicPr>
        <p:blipFill>
          <a:blip r:embed="rId1"/>
          <a:stretch>
            <a:fillRect/>
          </a:stretch>
        </p:blipFill>
        <p:spPr>
          <a:xfrm>
            <a:off x="923544" y="3913632"/>
            <a:ext cx="219456" cy="219456"/>
          </a:xfrm>
          <a:prstGeom prst="rect">
            <a:avLst/>
          </a:prstGeom>
        </p:spPr>
      </p:pic>
      <p:sp>
        <p:nvSpPr>
          <p:cNvPr id="35" name="Text 31"/>
          <p:cNvSpPr/>
          <p:nvPr/>
        </p:nvSpPr>
        <p:spPr>
          <a:xfrm>
            <a:off x="1417320" y="3858768"/>
            <a:ext cx="2560320" cy="320040"/>
          </a:xfrm>
          <a:prstGeom prst="rect">
            <a:avLst/>
          </a:prstGeom>
          <a:noFill/>
          <a:ln/>
        </p:spPr>
        <p:txBody>
          <a:bodyPr wrap="square" lIns="0" tIns="0" rIns="0" bIns="0" rtlCol="0" anchor="t"/>
          <a:lstStyle/>
          <a:p>
            <a:pPr algn="l" indent="0" marL="0">
              <a:buNone/>
            </a:pPr>
            <a:r>
              <a:rPr lang="en-US" sz="1350" b="1" dirty="0">
                <a:solidFill>
                  <a:srgbClr val="1F2A3D"/>
                </a:solidFill>
                <a:latin typeface="Calibri" pitchFamily="34" charset="0"/>
                <a:ea typeface="Calibri" pitchFamily="34" charset="-122"/>
                <a:cs typeface="Calibri" pitchFamily="34" charset="-120"/>
              </a:rPr>
              <a:t>New user turn</a:t>
            </a:r>
            <a:endParaRPr lang="en-US" sz="1350" dirty="0"/>
          </a:p>
        </p:txBody>
      </p:sp>
      <p:sp>
        <p:nvSpPr>
          <p:cNvPr id="36" name="Text 32"/>
          <p:cNvSpPr/>
          <p:nvPr/>
        </p:nvSpPr>
        <p:spPr>
          <a:xfrm>
            <a:off x="804672" y="4434840"/>
            <a:ext cx="3054096" cy="1097280"/>
          </a:xfrm>
          <a:prstGeom prst="rect">
            <a:avLst/>
          </a:prstGeom>
          <a:noFill/>
          <a:ln/>
        </p:spPr>
        <p:txBody>
          <a:bodyPr wrap="square" lIns="0" tIns="0" rIns="0" bIns="0" rtlCol="0" anchor="t"/>
          <a:lstStyle/>
          <a:p>
            <a:pPr algn="l" indent="0" marL="0">
              <a:lnSpc>
                <a:spcPct val="108000"/>
              </a:lnSpc>
              <a:buNone/>
            </a:pPr>
            <a:r>
              <a:rPr lang="en-US" sz="1050" dirty="0">
                <a:solidFill>
                  <a:srgbClr val="5D6B7E"/>
                </a:solidFill>
                <a:latin typeface="Calibri" pitchFamily="34" charset="0"/>
                <a:ea typeface="Calibri" pitchFamily="34" charset="-122"/>
                <a:cs typeface="Calibri" pitchFamily="34" charset="-120"/>
              </a:rPr>
              <a:t>The human typed something. The full policy runs: gates → heuristics → learned router.</a:t>
            </a:r>
            <a:endParaRPr lang="en-US" sz="1050" dirty="0"/>
          </a:p>
        </p:txBody>
      </p:sp>
      <p:sp>
        <p:nvSpPr>
          <p:cNvPr id="37" name="Text 33"/>
          <p:cNvSpPr/>
          <p:nvPr/>
        </p:nvSpPr>
        <p:spPr>
          <a:xfrm>
            <a:off x="804672" y="5559552"/>
            <a:ext cx="3054096" cy="274320"/>
          </a:xfrm>
          <a:prstGeom prst="rect">
            <a:avLst/>
          </a:prstGeom>
          <a:noFill/>
          <a:ln/>
        </p:spPr>
        <p:txBody>
          <a:bodyPr wrap="square" lIns="0" tIns="0" rIns="0" bIns="0" rtlCol="0" anchor="t"/>
          <a:lstStyle/>
          <a:p>
            <a:pPr algn="l" indent="0" marL="0">
              <a:buNone/>
            </a:pPr>
            <a:r>
              <a:rPr lang="en-US" sz="950" b="1" i="1" dirty="0">
                <a:solidFill>
                  <a:srgbClr val="1D6FA5"/>
                </a:solidFill>
                <a:latin typeface="Calibri" pitchFamily="34" charset="0"/>
                <a:ea typeface="Calibri" pitchFamily="34" charset="-122"/>
                <a:cs typeface="Calibri" pitchFamily="34" charset="-120"/>
              </a:rPr>
              <a:t>decided by policy</a:t>
            </a:r>
            <a:endParaRPr lang="en-US" sz="950" dirty="0"/>
          </a:p>
        </p:txBody>
      </p:sp>
      <p:sp>
        <p:nvSpPr>
          <p:cNvPr id="38" name="Shape 34"/>
          <p:cNvSpPr/>
          <p:nvPr/>
        </p:nvSpPr>
        <p:spPr>
          <a:xfrm>
            <a:off x="4343400" y="3566160"/>
            <a:ext cx="3566160" cy="2331720"/>
          </a:xfrm>
          <a:prstGeom prst="roundRect">
            <a:avLst>
              <a:gd name="adj" fmla="val 2745"/>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39" name="Shape 35"/>
          <p:cNvSpPr/>
          <p:nvPr/>
        </p:nvSpPr>
        <p:spPr>
          <a:xfrm>
            <a:off x="4599432" y="3794760"/>
            <a:ext cx="457200" cy="457200"/>
          </a:xfrm>
          <a:prstGeom prst="ellipse">
            <a:avLst/>
          </a:prstGeom>
          <a:solidFill>
            <a:srgbClr val="B3261E"/>
          </a:solidFill>
          <a:ln/>
        </p:spPr>
      </p:sp>
      <p:pic>
        <p:nvPicPr>
          <p:cNvPr id="40" name="Image 1" descr="preencoded.png">    </p:cNvPr>
          <p:cNvPicPr>
            <a:picLocks noChangeAspect="1"/>
          </p:cNvPicPr>
          <p:nvPr/>
        </p:nvPicPr>
        <p:blipFill>
          <a:blip r:embed="rId2"/>
          <a:stretch>
            <a:fillRect/>
          </a:stretch>
        </p:blipFill>
        <p:spPr>
          <a:xfrm>
            <a:off x="4718304" y="3913632"/>
            <a:ext cx="219456" cy="219456"/>
          </a:xfrm>
          <a:prstGeom prst="rect">
            <a:avLst/>
          </a:prstGeom>
        </p:spPr>
      </p:pic>
      <p:sp>
        <p:nvSpPr>
          <p:cNvPr id="41" name="Text 36"/>
          <p:cNvSpPr/>
          <p:nvPr/>
        </p:nvSpPr>
        <p:spPr>
          <a:xfrm>
            <a:off x="5212080" y="3858768"/>
            <a:ext cx="2560320" cy="320040"/>
          </a:xfrm>
          <a:prstGeom prst="rect">
            <a:avLst/>
          </a:prstGeom>
          <a:noFill/>
          <a:ln/>
        </p:spPr>
        <p:txBody>
          <a:bodyPr wrap="square" lIns="0" tIns="0" rIns="0" bIns="0" rtlCol="0" anchor="t"/>
          <a:lstStyle/>
          <a:p>
            <a:pPr algn="l" indent="0" marL="0">
              <a:buNone/>
            </a:pPr>
            <a:r>
              <a:rPr lang="en-US" sz="1350" b="1" dirty="0">
                <a:solidFill>
                  <a:srgbClr val="1F2A3D"/>
                </a:solidFill>
                <a:latin typeface="Calibri" pitchFamily="34" charset="0"/>
                <a:ea typeface="Calibri" pitchFamily="34" charset="-122"/>
                <a:cs typeface="Calibri" pitchFamily="34" charset="-120"/>
              </a:rPr>
              <a:t>Trip-wire fires</a:t>
            </a:r>
            <a:endParaRPr lang="en-US" sz="1350" dirty="0"/>
          </a:p>
        </p:txBody>
      </p:sp>
      <p:sp>
        <p:nvSpPr>
          <p:cNvPr id="42" name="Text 37"/>
          <p:cNvSpPr/>
          <p:nvPr/>
        </p:nvSpPr>
        <p:spPr>
          <a:xfrm>
            <a:off x="4599432" y="4434840"/>
            <a:ext cx="3054096" cy="1097280"/>
          </a:xfrm>
          <a:prstGeom prst="rect">
            <a:avLst/>
          </a:prstGeom>
          <a:noFill/>
          <a:ln/>
        </p:spPr>
        <p:txBody>
          <a:bodyPr wrap="square" lIns="0" tIns="0" rIns="0" bIns="0" rtlCol="0" anchor="t"/>
          <a:lstStyle/>
          <a:p>
            <a:pPr algn="l" indent="0" marL="0">
              <a:lnSpc>
                <a:spcPct val="108000"/>
              </a:lnSpc>
              <a:buNone/>
            </a:pPr>
            <a:r>
              <a:rPr lang="en-US" sz="1050" dirty="0">
                <a:solidFill>
                  <a:srgbClr val="5D6B7E"/>
                </a:solidFill>
                <a:latin typeface="Calibri" pitchFamily="34" charset="0"/>
                <a:ea typeface="Calibri" pitchFamily="34" charset="-122"/>
                <a:cs typeface="Calibri" pitchFamily="34" charset="-120"/>
              </a:rPr>
              <a:t>The current rung is mechanically failing. Acts at the next action boundary — the only moment a switch is even physically possible.</a:t>
            </a:r>
            <a:endParaRPr lang="en-US" sz="1050" dirty="0"/>
          </a:p>
        </p:txBody>
      </p:sp>
      <p:sp>
        <p:nvSpPr>
          <p:cNvPr id="43" name="Text 38"/>
          <p:cNvSpPr/>
          <p:nvPr/>
        </p:nvSpPr>
        <p:spPr>
          <a:xfrm>
            <a:off x="4599432" y="5559552"/>
            <a:ext cx="3054096" cy="274320"/>
          </a:xfrm>
          <a:prstGeom prst="rect">
            <a:avLst/>
          </a:prstGeom>
          <a:noFill/>
          <a:ln/>
        </p:spPr>
        <p:txBody>
          <a:bodyPr wrap="square" lIns="0" tIns="0" rIns="0" bIns="0" rtlCol="0" anchor="t"/>
          <a:lstStyle/>
          <a:p>
            <a:pPr algn="l" indent="0" marL="0">
              <a:buNone/>
            </a:pPr>
            <a:r>
              <a:rPr lang="en-US" sz="950" b="1" i="1" dirty="0">
                <a:solidFill>
                  <a:srgbClr val="B3261E"/>
                </a:solidFill>
                <a:latin typeface="Calibri" pitchFamily="34" charset="0"/>
                <a:ea typeface="Calibri" pitchFamily="34" charset="-122"/>
                <a:cs typeface="Calibri" pitchFamily="34" charset="-120"/>
              </a:rPr>
              <a:t>decided by escalation controller</a:t>
            </a:r>
            <a:endParaRPr lang="en-US" sz="950" dirty="0"/>
          </a:p>
        </p:txBody>
      </p:sp>
      <p:sp>
        <p:nvSpPr>
          <p:cNvPr id="44" name="Shape 39"/>
          <p:cNvSpPr/>
          <p:nvPr/>
        </p:nvSpPr>
        <p:spPr>
          <a:xfrm>
            <a:off x="8138160" y="3566160"/>
            <a:ext cx="3566160" cy="2331720"/>
          </a:xfrm>
          <a:prstGeom prst="roundRect">
            <a:avLst>
              <a:gd name="adj" fmla="val 2745"/>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45" name="Shape 40"/>
          <p:cNvSpPr/>
          <p:nvPr/>
        </p:nvSpPr>
        <p:spPr>
          <a:xfrm>
            <a:off x="8394192" y="3794760"/>
            <a:ext cx="457200" cy="457200"/>
          </a:xfrm>
          <a:prstGeom prst="ellipse">
            <a:avLst/>
          </a:prstGeom>
          <a:solidFill>
            <a:srgbClr val="B45309"/>
          </a:solidFill>
          <a:ln/>
        </p:spPr>
      </p:sp>
      <p:pic>
        <p:nvPicPr>
          <p:cNvPr id="46" name="Image 2" descr="preencoded.png">    </p:cNvPr>
          <p:cNvPicPr>
            <a:picLocks noChangeAspect="1"/>
          </p:cNvPicPr>
          <p:nvPr/>
        </p:nvPicPr>
        <p:blipFill>
          <a:blip r:embed="rId3"/>
          <a:stretch>
            <a:fillRect/>
          </a:stretch>
        </p:blipFill>
        <p:spPr>
          <a:xfrm>
            <a:off x="8513064" y="3913632"/>
            <a:ext cx="219456" cy="219456"/>
          </a:xfrm>
          <a:prstGeom prst="rect">
            <a:avLst/>
          </a:prstGeom>
        </p:spPr>
      </p:pic>
      <p:sp>
        <p:nvSpPr>
          <p:cNvPr id="47" name="Text 41"/>
          <p:cNvSpPr/>
          <p:nvPr/>
        </p:nvSpPr>
        <p:spPr>
          <a:xfrm>
            <a:off x="9006840" y="3858768"/>
            <a:ext cx="2560320" cy="320040"/>
          </a:xfrm>
          <a:prstGeom prst="rect">
            <a:avLst/>
          </a:prstGeom>
          <a:noFill/>
          <a:ln/>
        </p:spPr>
        <p:txBody>
          <a:bodyPr wrap="square" lIns="0" tIns="0" rIns="0" bIns="0" rtlCol="0" anchor="t"/>
          <a:lstStyle/>
          <a:p>
            <a:pPr algn="l" indent="0" marL="0">
              <a:buNone/>
            </a:pPr>
            <a:r>
              <a:rPr lang="en-US" sz="1350" b="1" dirty="0">
                <a:solidFill>
                  <a:srgbClr val="1F2A3D"/>
                </a:solidFill>
                <a:latin typeface="Calibri" pitchFamily="34" charset="0"/>
                <a:ea typeface="Calibri" pitchFamily="34" charset="-122"/>
                <a:cs typeface="Calibri" pitchFamily="34" charset="-120"/>
              </a:rPr>
              <a:t>Infra fallback</a:t>
            </a:r>
            <a:endParaRPr lang="en-US" sz="1350" dirty="0"/>
          </a:p>
        </p:txBody>
      </p:sp>
      <p:sp>
        <p:nvSpPr>
          <p:cNvPr id="48" name="Text 42"/>
          <p:cNvSpPr/>
          <p:nvPr/>
        </p:nvSpPr>
        <p:spPr>
          <a:xfrm>
            <a:off x="8394192" y="4434840"/>
            <a:ext cx="3054096" cy="1097280"/>
          </a:xfrm>
          <a:prstGeom prst="rect">
            <a:avLst/>
          </a:prstGeom>
          <a:noFill/>
          <a:ln/>
        </p:spPr>
        <p:txBody>
          <a:bodyPr wrap="square" lIns="0" tIns="0" rIns="0" bIns="0" rtlCol="0" anchor="t"/>
          <a:lstStyle/>
          <a:p>
            <a:pPr algn="l" indent="0" marL="0">
              <a:lnSpc>
                <a:spcPct val="108000"/>
              </a:lnSpc>
              <a:buNone/>
            </a:pPr>
            <a:r>
              <a:rPr lang="en-US" sz="1050" dirty="0">
                <a:solidFill>
                  <a:srgbClr val="5D6B7E"/>
                </a:solidFill>
                <a:latin typeface="Calibri" pitchFamily="34" charset="0"/>
                <a:ea typeface="Calibri" pitchFamily="34" charset="-122"/>
                <a:cs typeface="Calibri" pitchFamily="34" charset="-120"/>
              </a:rPr>
              <a:t>LiteLLM retried a dead endpoint on another rung. The router doesn't decide it — but must record it, or sticky state points at a dead endpoint (S7).</a:t>
            </a:r>
            <a:endParaRPr lang="en-US" sz="1050" dirty="0"/>
          </a:p>
        </p:txBody>
      </p:sp>
      <p:sp>
        <p:nvSpPr>
          <p:cNvPr id="49" name="Text 43"/>
          <p:cNvSpPr/>
          <p:nvPr/>
        </p:nvSpPr>
        <p:spPr>
          <a:xfrm>
            <a:off x="8394192" y="5559552"/>
            <a:ext cx="3054096" cy="274320"/>
          </a:xfrm>
          <a:prstGeom prst="rect">
            <a:avLst/>
          </a:prstGeom>
          <a:noFill/>
          <a:ln/>
        </p:spPr>
        <p:txBody>
          <a:bodyPr wrap="square" lIns="0" tIns="0" rIns="0" bIns="0" rtlCol="0" anchor="t"/>
          <a:lstStyle/>
          <a:p>
            <a:pPr algn="l" indent="0" marL="0">
              <a:buNone/>
            </a:pPr>
            <a:r>
              <a:rPr lang="en-US" sz="950" b="1" i="1" dirty="0">
                <a:solidFill>
                  <a:srgbClr val="B45309"/>
                </a:solidFill>
                <a:latin typeface="Calibri" pitchFamily="34" charset="0"/>
                <a:ea typeface="Calibri" pitchFamily="34" charset="-122"/>
                <a:cs typeface="Calibri" pitchFamily="34" charset="-120"/>
              </a:rPr>
              <a:t>decided by LiteLLM, recorded by us</a:t>
            </a:r>
            <a:endParaRPr lang="en-US" sz="950" dirty="0"/>
          </a:p>
        </p:txBody>
      </p:sp>
      <p:sp>
        <p:nvSpPr>
          <p:cNvPr id="50" name="Text 44"/>
          <p:cNvSpPr/>
          <p:nvPr/>
        </p:nvSpPr>
        <p:spPr>
          <a:xfrm>
            <a:off x="548640" y="6053328"/>
            <a:ext cx="10058400" cy="274320"/>
          </a:xfrm>
          <a:prstGeom prst="rect">
            <a:avLst/>
          </a:prstGeom>
          <a:noFill/>
          <a:ln/>
        </p:spPr>
        <p:txBody>
          <a:bodyPr wrap="square" lIns="0" tIns="0" rIns="0" bIns="0" rtlCol="0" anchor="t"/>
          <a:lstStyle/>
          <a:p>
            <a:pPr algn="l" indent="0" marL="0">
              <a:buNone/>
            </a:pPr>
            <a:r>
              <a:rPr lang="en-US" sz="1250" b="1" dirty="0">
                <a:solidFill>
                  <a:srgbClr val="1F7A55"/>
                </a:solidFill>
                <a:latin typeface="Calibri" pitchFamily="34" charset="0"/>
                <a:ea typeface="Calibri" pitchFamily="34" charset="-122"/>
                <a:cs typeface="Calibri" pitchFamily="34" charset="-120"/>
              </a:rPr>
              <a:t>Everything else inherits the current route — “sticky”.</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PART 1 · THE CORE IDEA · EXAMPLE</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One turn on the wire: “rename usr_cnt to user_count”</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scenario S2 · design doc §2</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8</a:t>
            </a:r>
            <a:endParaRPr lang="en-US" sz="900" dirty="0"/>
          </a:p>
        </p:txBody>
      </p:sp>
      <p:sp>
        <p:nvSpPr>
          <p:cNvPr id="7" name="Shape 4"/>
          <p:cNvSpPr/>
          <p:nvPr/>
        </p:nvSpPr>
        <p:spPr>
          <a:xfrm>
            <a:off x="548640" y="1417320"/>
            <a:ext cx="6720840" cy="3703320"/>
          </a:xfrm>
          <a:prstGeom prst="roundRect">
            <a:avLst>
              <a:gd name="adj" fmla="val 1728"/>
            </a:avLst>
          </a:prstGeom>
          <a:solidFill>
            <a:srgbClr val="101D31"/>
          </a:solidFill>
          <a:ln/>
          <a:effectLst>
            <a:outerShdw sx="100000" sy="100000" kx="0" ky="0" algn="bl" rotWithShape="0" blurRad="88900" dist="25400" dir="2700000">
              <a:srgbClr val="1F2A3D">
                <a:alpha val="14000"/>
              </a:srgbClr>
            </a:outerShdw>
          </a:effectLst>
        </p:spPr>
      </p:sp>
      <p:sp>
        <p:nvSpPr>
          <p:cNvPr id="8" name="Text 5"/>
          <p:cNvSpPr/>
          <p:nvPr/>
        </p:nvSpPr>
        <p:spPr>
          <a:xfrm>
            <a:off x="749808" y="1563624"/>
            <a:ext cx="6318504" cy="3410712"/>
          </a:xfrm>
          <a:prstGeom prst="rect">
            <a:avLst/>
          </a:prstGeom>
          <a:noFill/>
          <a:ln/>
        </p:spPr>
        <p:txBody>
          <a:bodyPr wrap="square" lIns="0" tIns="0" rIns="0" bIns="0" rtlCol="0" anchor="ctr"/>
          <a:lstStyle/>
          <a:p>
            <a:pPr indent="0" marL="0">
              <a:lnSpc>
                <a:spcPct val="112000"/>
              </a:lnSpc>
              <a:buNone/>
            </a:pPr>
            <a:r>
              <a:rPr lang="en-US" sz="1050" b="1" dirty="0">
                <a:solidFill>
                  <a:srgbClr val="9CC3EC"/>
                </a:solidFill>
                <a:latin typeface="Courier New" pitchFamily="34" charset="0"/>
                <a:ea typeface="Courier New" pitchFamily="34" charset="-122"/>
                <a:cs typeface="Courier New" pitchFamily="34" charset="-120"/>
              </a:rPr>
              <a:t>req 1  user: "rename usr_cnt to user_count everywhere"</a:t>
            </a:r>
            <a:endParaRPr lang="en-US" sz="1050" dirty="0"/>
          </a:p>
          <a:p>
            <a:pPr indent="0" marL="0">
              <a:lnSpc>
                <a:spcPct val="112000"/>
              </a:lnSpc>
              <a:buNone/>
            </a:pPr>
            <a:r>
              <a:rPr lang="en-US" sz="1050" dirty="0">
                <a:solidFill>
                  <a:srgbClr val="D9E4F3"/>
                </a:solidFill>
                <a:latin typeface="Courier New" pitchFamily="34" charset="0"/>
                <a:ea typeface="Courier New" pitchFamily="34" charset="-122"/>
                <a:cs typeface="Courier New" pitchFamily="34" charset="-120"/>
              </a:rPr>
              <a:t>       ← assistant: tool_use Grep {pattern:"usr_cnt"}            (toolu_L1)</a:t>
            </a:r>
            <a:endParaRPr lang="en-US" sz="1050" dirty="0"/>
          </a:p>
          <a:p>
            <a:pPr indent="0" marL="0">
              <a:lnSpc>
                <a:spcPct val="112000"/>
              </a:lnSpc>
              <a:buNone/>
            </a:pPr>
            <a:r>
              <a:rPr lang="en-US" sz="1050" dirty="0">
                <a:solidFill>
                  <a:srgbClr val="8ED6AC"/>
                </a:solidFill>
                <a:latin typeface="Courier New" pitchFamily="34" charset="0"/>
                <a:ea typeface="Courier New" pitchFamily="34" charset="-122"/>
                <a:cs typeface="Courier New" pitchFamily="34" charset="-120"/>
              </a:rPr>
              <a:t>req 2  … {"type":"tool_result","tool_use_id":"toolu_L1",</a:t>
            </a:r>
            <a:endParaRPr lang="en-US" sz="1050" dirty="0"/>
          </a:p>
          <a:p>
            <a:pPr indent="0" marL="0">
              <a:lnSpc>
                <a:spcPct val="112000"/>
              </a:lnSpc>
              <a:buNone/>
            </a:pPr>
            <a:r>
              <a:rPr lang="en-US" sz="1050" dirty="0">
                <a:solidFill>
                  <a:srgbClr val="8ED6AC"/>
                </a:solidFill>
                <a:latin typeface="Courier New" pitchFamily="34" charset="0"/>
                <a:ea typeface="Courier New" pitchFamily="34" charset="-122"/>
                <a:cs typeface="Courier New" pitchFamily="34" charset="-120"/>
              </a:rPr>
              <a:t>          "content":"src/stats.py:14: usr_cnt = 0 …"}</a:t>
            </a:r>
            <a:endParaRPr lang="en-US" sz="1050" dirty="0"/>
          </a:p>
          <a:p>
            <a:pPr indent="0" marL="0">
              <a:lnSpc>
                <a:spcPct val="112000"/>
              </a:lnSpc>
              <a:buNone/>
            </a:pPr>
            <a:r>
              <a:rPr lang="en-US" sz="1050" dirty="0">
                <a:solidFill>
                  <a:srgbClr val="D9E4F3"/>
                </a:solidFill>
                <a:latin typeface="Courier New" pitchFamily="34" charset="0"/>
                <a:ea typeface="Courier New" pitchFamily="34" charset="-122"/>
                <a:cs typeface="Courier New" pitchFamily="34" charset="-120"/>
              </a:rPr>
              <a:t>       ← assistant: tool_use Read {file_path:"src/stats.py"}     (toolu_L2)</a:t>
            </a:r>
            <a:endParaRPr lang="en-US" sz="1050" dirty="0"/>
          </a:p>
          <a:p>
            <a:pPr indent="0" marL="0">
              <a:lnSpc>
                <a:spcPct val="112000"/>
              </a:lnSpc>
              <a:buNone/>
            </a:pPr>
            <a:r>
              <a:rPr lang="en-US" sz="1050" dirty="0">
                <a:solidFill>
                  <a:srgbClr val="8ED6AC"/>
                </a:solidFill>
                <a:latin typeface="Courier New" pitchFamily="34" charset="0"/>
                <a:ea typeface="Courier New" pitchFamily="34" charset="-122"/>
                <a:cs typeface="Courier New" pitchFamily="34" charset="-120"/>
              </a:rPr>
              <a:t>req 3  … tool_result(toolu_L2) … ← tool_use Edit {old→new}</a:t>
            </a:r>
            <a:endParaRPr lang="en-US" sz="1050" dirty="0"/>
          </a:p>
          <a:p>
            <a:pPr indent="0" marL="0">
              <a:lnSpc>
                <a:spcPct val="112000"/>
              </a:lnSpc>
              <a:buNone/>
            </a:pPr>
            <a:r>
              <a:rPr lang="en-US" sz="1050" dirty="0">
                <a:solidFill>
                  <a:srgbClr val="8ED6AC"/>
                </a:solidFill>
                <a:latin typeface="Courier New" pitchFamily="34" charset="0"/>
                <a:ea typeface="Courier New" pitchFamily="34" charset="-122"/>
                <a:cs typeface="Courier New" pitchFamily="34" charset="-120"/>
              </a:rPr>
              <a:t>req 4–8  Edit ✓ · Edit ✓ · Bash("pytest -q") ✓</a:t>
            </a:r>
            <a:endParaRPr lang="en-US" sz="1050" dirty="0"/>
          </a:p>
          <a:p>
            <a:pPr indent="0" marL="0">
              <a:lnSpc>
                <a:spcPct val="112000"/>
              </a:lnSpc>
              <a:buNone/>
            </a:pPr>
            <a:r>
              <a:rPr lang="en-US" sz="1050" dirty="0">
                <a:solidFill>
                  <a:srgbClr val="8ED6AC"/>
                </a:solidFill>
                <a:latin typeface="Courier New" pitchFamily="34" charset="0"/>
                <a:ea typeface="Courier New" pitchFamily="34" charset="-122"/>
                <a:cs typeface="Courier New" pitchFamily="34" charset="-120"/>
              </a:rPr>
              <a:t>req 9  … tool_result(pytest passed) …</a:t>
            </a:r>
            <a:endParaRPr lang="en-US" sz="1050" dirty="0"/>
          </a:p>
          <a:p>
            <a:pPr indent="0" marL="0">
              <a:lnSpc>
                <a:spcPct val="112000"/>
              </a:lnSpc>
              <a:buNone/>
            </a:pPr>
            <a:r>
              <a:rPr lang="en-US" sz="1050" dirty="0">
                <a:solidFill>
                  <a:srgbClr val="D9E4F3"/>
                </a:solidFill>
                <a:latin typeface="Courier New" pitchFamily="34" charset="0"/>
                <a:ea typeface="Courier New" pitchFamily="34" charset="-122"/>
                <a:cs typeface="Courier New" pitchFamily="34" charset="-120"/>
              </a:rPr>
              <a:t>       ← assistant: "Renamed in 3 places, tests pass."</a:t>
            </a:r>
            <a:endParaRPr lang="en-US" sz="1050" dirty="0"/>
          </a:p>
          <a:p>
            <a:pPr indent="0" marL="0">
              <a:lnSpc>
                <a:spcPct val="112000"/>
              </a:lnSpc>
              <a:buNone/>
            </a:pPr>
            <a:r>
              <a:rPr lang="en-US" sz="1050" dirty="0">
                <a:solidFill>
                  <a:srgbClr val="D9E4F3"/>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b="1" dirty="0">
                <a:solidFill>
                  <a:srgbClr val="EFCB84"/>
                </a:solidFill>
                <a:latin typeface="Courier New" pitchFamily="34" charset="0"/>
                <a:ea typeface="Courier New" pitchFamily="34" charset="-122"/>
                <a:cs typeface="Courier New" pitchFamily="34" charset="-120"/>
              </a:rPr>
              <a:t>requests 2–9 all end in a tool_result block — that's the tell</a:t>
            </a:r>
            <a:endParaRPr lang="en-US" sz="1050" dirty="0"/>
          </a:p>
        </p:txBody>
      </p:sp>
      <p:sp>
        <p:nvSpPr>
          <p:cNvPr id="9" name="Shape 6"/>
          <p:cNvSpPr/>
          <p:nvPr/>
        </p:nvSpPr>
        <p:spPr>
          <a:xfrm>
            <a:off x="7635240" y="1417320"/>
            <a:ext cx="4023360" cy="1691640"/>
          </a:xfrm>
          <a:prstGeom prst="roundRect">
            <a:avLst>
              <a:gd name="adj" fmla="val 3784"/>
            </a:avLst>
          </a:prstGeom>
          <a:solidFill>
            <a:srgbClr val="E4EEF6"/>
          </a:solidFill>
          <a:ln/>
          <a:effectLst>
            <a:outerShdw sx="100000" sy="100000" kx="0" ky="0" algn="bl" rotWithShape="0" blurRad="88900" dist="25400" dir="2700000">
              <a:srgbClr val="1F2A3D">
                <a:alpha val="14000"/>
              </a:srgbClr>
            </a:outerShdw>
          </a:effectLst>
        </p:spPr>
      </p:sp>
      <p:sp>
        <p:nvSpPr>
          <p:cNvPr id="10" name="Text 7"/>
          <p:cNvSpPr/>
          <p:nvPr/>
        </p:nvSpPr>
        <p:spPr>
          <a:xfrm>
            <a:off x="7891272" y="1600200"/>
            <a:ext cx="3511296" cy="274320"/>
          </a:xfrm>
          <a:prstGeom prst="rect">
            <a:avLst/>
          </a:prstGeom>
          <a:noFill/>
          <a:ln/>
        </p:spPr>
        <p:txBody>
          <a:bodyPr wrap="square" lIns="0" tIns="0" rIns="0" bIns="0" rtlCol="0" anchor="t"/>
          <a:lstStyle/>
          <a:p>
            <a:pPr algn="l" indent="0" marL="0">
              <a:buNone/>
            </a:pPr>
            <a:r>
              <a:rPr lang="en-US" sz="1250" b="1" dirty="0">
                <a:solidFill>
                  <a:srgbClr val="1D6FA5"/>
                </a:solidFill>
                <a:latin typeface="Calibri" pitchFamily="34" charset="0"/>
                <a:ea typeface="Calibri" pitchFamily="34" charset="-122"/>
                <a:cs typeface="Calibri" pitchFamily="34" charset="-120"/>
              </a:rPr>
              <a:t>req 1 — DECIDE</a:t>
            </a:r>
            <a:endParaRPr lang="en-US" sz="1250" dirty="0"/>
          </a:p>
        </p:txBody>
      </p:sp>
      <p:sp>
        <p:nvSpPr>
          <p:cNvPr id="11" name="Text 8"/>
          <p:cNvSpPr/>
          <p:nvPr/>
        </p:nvSpPr>
        <p:spPr>
          <a:xfrm>
            <a:off x="7891272" y="1920240"/>
            <a:ext cx="3511296" cy="777240"/>
          </a:xfrm>
          <a:prstGeom prst="rect">
            <a:avLst/>
          </a:prstGeom>
          <a:noFill/>
          <a:ln/>
        </p:spPr>
        <p:txBody>
          <a:bodyPr wrap="square" lIns="0" tIns="0" rIns="0" bIns="0" rtlCol="0" anchor="t"/>
          <a:lstStyle/>
          <a:p>
            <a:pPr algn="l" indent="0" marL="0">
              <a:lnSpc>
                <a:spcPct val="108000"/>
              </a:lnSpc>
              <a:buNone/>
            </a:pPr>
            <a:r>
              <a:rPr lang="en-US" sz="1100" dirty="0">
                <a:solidFill>
                  <a:srgbClr val="1F2A3D"/>
                </a:solidFill>
                <a:latin typeface="Calibri" pitchFamily="34" charset="0"/>
                <a:ea typeface="Calibri" pitchFamily="34" charset="-122"/>
                <a:cs typeface="Calibri" pitchFamily="34" charset="-120"/>
              </a:rPr>
              <a:t>Full decision path: discriminate → extract features → gates → heuristics. Routes local, cascade armed.</a:t>
            </a:r>
            <a:endParaRPr lang="en-US" sz="1100" dirty="0"/>
          </a:p>
        </p:txBody>
      </p:sp>
      <p:sp>
        <p:nvSpPr>
          <p:cNvPr id="12" name="Text 9"/>
          <p:cNvSpPr/>
          <p:nvPr/>
        </p:nvSpPr>
        <p:spPr>
          <a:xfrm>
            <a:off x="7891272" y="2743200"/>
            <a:ext cx="3511296" cy="274320"/>
          </a:xfrm>
          <a:prstGeom prst="rect">
            <a:avLst/>
          </a:prstGeom>
          <a:noFill/>
          <a:ln/>
        </p:spPr>
        <p:txBody>
          <a:bodyPr wrap="square" lIns="0" tIns="0" rIns="0" bIns="0" rtlCol="0" anchor="t"/>
          <a:lstStyle/>
          <a:p>
            <a:pPr algn="l" indent="0" marL="0">
              <a:buNone/>
            </a:pPr>
            <a:r>
              <a:rPr lang="en-US" sz="1050" b="1" dirty="0">
                <a:solidFill>
                  <a:srgbClr val="1D6FA5"/>
                </a:solidFill>
                <a:latin typeface="Calibri" pitchFamily="34" charset="0"/>
                <a:ea typeface="Calibri" pitchFamily="34" charset="-122"/>
                <a:cs typeface="Calibri" pitchFamily="34" charset="-120"/>
              </a:rPr>
              <a:t>~12 ms, once per turn</a:t>
            </a:r>
            <a:endParaRPr lang="en-US" sz="1050" dirty="0"/>
          </a:p>
        </p:txBody>
      </p:sp>
      <p:sp>
        <p:nvSpPr>
          <p:cNvPr id="13" name="Shape 10"/>
          <p:cNvSpPr/>
          <p:nvPr/>
        </p:nvSpPr>
        <p:spPr>
          <a:xfrm>
            <a:off x="7635240" y="3291840"/>
            <a:ext cx="4023360" cy="1691640"/>
          </a:xfrm>
          <a:prstGeom prst="roundRect">
            <a:avLst>
              <a:gd name="adj" fmla="val 3784"/>
            </a:avLst>
          </a:prstGeom>
          <a:solidFill>
            <a:srgbClr val="E3F1EA"/>
          </a:solidFill>
          <a:ln/>
          <a:effectLst>
            <a:outerShdw sx="100000" sy="100000" kx="0" ky="0" algn="bl" rotWithShape="0" blurRad="88900" dist="25400" dir="2700000">
              <a:srgbClr val="1F2A3D">
                <a:alpha val="14000"/>
              </a:srgbClr>
            </a:outerShdw>
          </a:effectLst>
        </p:spPr>
      </p:sp>
      <p:sp>
        <p:nvSpPr>
          <p:cNvPr id="14" name="Text 11"/>
          <p:cNvSpPr/>
          <p:nvPr/>
        </p:nvSpPr>
        <p:spPr>
          <a:xfrm>
            <a:off x="7891272" y="3474720"/>
            <a:ext cx="3511296" cy="274320"/>
          </a:xfrm>
          <a:prstGeom prst="rect">
            <a:avLst/>
          </a:prstGeom>
          <a:noFill/>
          <a:ln/>
        </p:spPr>
        <p:txBody>
          <a:bodyPr wrap="square" lIns="0" tIns="0" rIns="0" bIns="0" rtlCol="0" anchor="t"/>
          <a:lstStyle/>
          <a:p>
            <a:pPr algn="l" indent="0" marL="0">
              <a:buNone/>
            </a:pPr>
            <a:r>
              <a:rPr lang="en-US" sz="1250" b="1" dirty="0">
                <a:solidFill>
                  <a:srgbClr val="1F7A55"/>
                </a:solidFill>
                <a:latin typeface="Calibri" pitchFamily="34" charset="0"/>
                <a:ea typeface="Calibri" pitchFamily="34" charset="-122"/>
                <a:cs typeface="Calibri" pitchFamily="34" charset="-120"/>
              </a:rPr>
              <a:t>req 2–9 — STICKY</a:t>
            </a:r>
            <a:endParaRPr lang="en-US" sz="1250" dirty="0"/>
          </a:p>
        </p:txBody>
      </p:sp>
      <p:sp>
        <p:nvSpPr>
          <p:cNvPr id="15" name="Text 12"/>
          <p:cNvSpPr/>
          <p:nvPr/>
        </p:nvSpPr>
        <p:spPr>
          <a:xfrm>
            <a:off x="7891272" y="3794760"/>
            <a:ext cx="3511296" cy="777240"/>
          </a:xfrm>
          <a:prstGeom prst="rect">
            <a:avLst/>
          </a:prstGeom>
          <a:noFill/>
          <a:ln/>
        </p:spPr>
        <p:txBody>
          <a:bodyPr wrap="square" lIns="0" tIns="0" rIns="0" bIns="0" rtlCol="0" anchor="t"/>
          <a:lstStyle/>
          <a:p>
            <a:pPr algn="l" indent="0" marL="0">
              <a:lnSpc>
                <a:spcPct val="108000"/>
              </a:lnSpc>
              <a:buNone/>
            </a:pPr>
            <a:r>
              <a:rPr lang="en-US" sz="1100" dirty="0">
                <a:solidFill>
                  <a:srgbClr val="1F2A3D"/>
                </a:solidFill>
                <a:latin typeface="Calibri" pitchFamily="34" charset="0"/>
                <a:ea typeface="Calibri" pitchFamily="34" charset="-122"/>
                <a:cs typeface="Calibri" pitchFamily="34" charset="-120"/>
              </a:rPr>
              <a:t>One state lookup: model = session.route. No features, no policy, no ML — eight times in a row.</a:t>
            </a:r>
            <a:endParaRPr lang="en-US" sz="1100" dirty="0"/>
          </a:p>
        </p:txBody>
      </p:sp>
      <p:sp>
        <p:nvSpPr>
          <p:cNvPr id="16" name="Text 13"/>
          <p:cNvSpPr/>
          <p:nvPr/>
        </p:nvSpPr>
        <p:spPr>
          <a:xfrm>
            <a:off x="7891272" y="4617720"/>
            <a:ext cx="3511296" cy="274320"/>
          </a:xfrm>
          <a:prstGeom prst="rect">
            <a:avLst/>
          </a:prstGeom>
          <a:noFill/>
          <a:ln/>
        </p:spPr>
        <p:txBody>
          <a:bodyPr wrap="square" lIns="0" tIns="0" rIns="0" bIns="0" rtlCol="0" anchor="t"/>
          <a:lstStyle/>
          <a:p>
            <a:pPr algn="l" indent="0" marL="0">
              <a:buNone/>
            </a:pPr>
            <a:r>
              <a:rPr lang="en-US" sz="1050" b="1" dirty="0">
                <a:solidFill>
                  <a:srgbClr val="1F7A55"/>
                </a:solidFill>
                <a:latin typeface="Calibri" pitchFamily="34" charset="0"/>
                <a:ea typeface="Calibri" pitchFamily="34" charset="-122"/>
                <a:cs typeface="Calibri" pitchFamily="34" charset="-120"/>
              </a:rPr>
              <a:t>&lt;1 ms each</a:t>
            </a:r>
            <a:endParaRPr lang="en-US" sz="1050" dirty="0"/>
          </a:p>
        </p:txBody>
      </p:sp>
      <p:sp>
        <p:nvSpPr>
          <p:cNvPr id="17" name="Text 14"/>
          <p:cNvSpPr/>
          <p:nvPr/>
        </p:nvSpPr>
        <p:spPr>
          <a:xfrm>
            <a:off x="548640" y="5440680"/>
            <a:ext cx="10881360" cy="320040"/>
          </a:xfrm>
          <a:prstGeom prst="rect">
            <a:avLst/>
          </a:prstGeom>
          <a:noFill/>
          <a:ln/>
        </p:spPr>
        <p:txBody>
          <a:bodyPr wrap="square" lIns="0" tIns="0" rIns="0" bIns="0" rtlCol="0" anchor="t"/>
          <a:lstStyle/>
          <a:p>
            <a:pPr algn="l" indent="0" marL="0">
              <a:buNone/>
            </a:pPr>
            <a:r>
              <a:rPr lang="en-US" sz="1200" i="1" dirty="0">
                <a:solidFill>
                  <a:srgbClr val="5D6B7E"/>
                </a:solidFill>
                <a:latin typeface="Calibri" pitchFamily="34" charset="0"/>
                <a:ea typeface="Calibri" pitchFamily="34" charset="-122"/>
                <a:cs typeface="Calibri" pitchFamily="34" charset="-120"/>
              </a:rPr>
              <a:t>Outcome: fully local, $0.00, tests green. The flywheel logs {decision: heuristic, escalated: false}.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PART 1 · THE CORE IDEA</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Why per-request routing fails — systematically, not by bad luck</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design doc §2 · scenario S15B</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9</a:t>
            </a:r>
            <a:endParaRPr lang="en-US" sz="900" dirty="0"/>
          </a:p>
        </p:txBody>
      </p:sp>
      <p:sp>
        <p:nvSpPr>
          <p:cNvPr id="7" name="Shape 4"/>
          <p:cNvSpPr/>
          <p:nvPr/>
        </p:nvSpPr>
        <p:spPr>
          <a:xfrm>
            <a:off x="548640" y="1371600"/>
            <a:ext cx="11091672" cy="914400"/>
          </a:xfrm>
          <a:prstGeom prst="roundRect">
            <a:avLst>
              <a:gd name="adj" fmla="val 7000"/>
            </a:avLst>
          </a:prstGeom>
          <a:solidFill>
            <a:srgbClr val="F3F6F9"/>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8" name="Text 5"/>
          <p:cNvSpPr/>
          <p:nvPr/>
        </p:nvSpPr>
        <p:spPr>
          <a:xfrm>
            <a:off x="822960" y="1536192"/>
            <a:ext cx="10515600" cy="640080"/>
          </a:xfrm>
          <a:prstGeom prst="rect">
            <a:avLst/>
          </a:prstGeom>
          <a:noFill/>
          <a:ln/>
        </p:spPr>
        <p:txBody>
          <a:bodyPr wrap="square" lIns="0" tIns="0" rIns="0" bIns="0" rtlCol="0" anchor="t"/>
          <a:lstStyle/>
          <a:p>
            <a:pPr algn="l" indent="0" marL="0">
              <a:lnSpc>
                <a:spcPct val="110000"/>
              </a:lnSpc>
              <a:buNone/>
            </a:pPr>
            <a:r>
              <a:rPr lang="en-US" sz="1250" b="1" dirty="0">
                <a:solidFill>
                  <a:srgbClr val="1F2A3D"/>
                </a:solidFill>
                <a:latin typeface="Calibri" pitchFamily="34" charset="0"/>
                <a:ea typeface="Calibri" pitchFamily="34" charset="-122"/>
                <a:cs typeface="Calibri" pitchFamily="34" charset="-120"/>
              </a:rPr>
              <a:t>The ratchet:  </a:t>
            </a:r>
            <a:pPr algn="l" indent="0" marL="0">
              <a:lnSpc>
                <a:spcPct val="110000"/>
              </a:lnSpc>
              <a:buNone/>
            </a:pPr>
            <a:r>
              <a:rPr lang="en-US" sz="1250" dirty="0">
                <a:solidFill>
                  <a:srgbClr val="5D6B7E"/>
                </a:solidFill>
                <a:latin typeface="Calibri" pitchFamily="34" charset="0"/>
                <a:ea typeface="Calibri" pitchFamily="34" charset="-122"/>
                <a:cs typeface="Calibri" pitchFamily="34" charset="-120"/>
              </a:rPr>
              <a:t>context grows with every handshake inside a turn — so any per-request policy that scores context size climbs until it crosses a threshold mid-turn. A mid-thought switch isn't occasional bad luck; it's guaranteed.</a:t>
            </a:r>
            <a:endParaRPr lang="en-US" sz="1250" dirty="0"/>
          </a:p>
        </p:txBody>
      </p:sp>
      <p:sp>
        <p:nvSpPr>
          <p:cNvPr id="9" name="Shape 6"/>
          <p:cNvSpPr/>
          <p:nvPr/>
        </p:nvSpPr>
        <p:spPr>
          <a:xfrm>
            <a:off x="548640" y="2560320"/>
            <a:ext cx="3566160" cy="2743200"/>
          </a:xfrm>
          <a:prstGeom prst="roundRect">
            <a:avLst>
              <a:gd name="adj" fmla="val 2333"/>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0" name="Shape 7"/>
          <p:cNvSpPr/>
          <p:nvPr/>
        </p:nvSpPr>
        <p:spPr>
          <a:xfrm>
            <a:off x="804672" y="2788920"/>
            <a:ext cx="457200" cy="457200"/>
          </a:xfrm>
          <a:prstGeom prst="ellipse">
            <a:avLst/>
          </a:prstGeom>
          <a:solidFill>
            <a:srgbClr val="B3261E"/>
          </a:solidFill>
          <a:ln/>
        </p:spPr>
      </p:sp>
      <p:pic>
        <p:nvPicPr>
          <p:cNvPr id="11" name="Image 0" descr="preencoded.png">    </p:cNvPr>
          <p:cNvPicPr>
            <a:picLocks noChangeAspect="1"/>
          </p:cNvPicPr>
          <p:nvPr/>
        </p:nvPicPr>
        <p:blipFill>
          <a:blip r:embed="rId1"/>
          <a:stretch>
            <a:fillRect/>
          </a:stretch>
        </p:blipFill>
        <p:spPr>
          <a:xfrm>
            <a:off x="923544" y="2907792"/>
            <a:ext cx="219456" cy="219456"/>
          </a:xfrm>
          <a:prstGeom prst="rect">
            <a:avLst/>
          </a:prstGeom>
        </p:spPr>
      </p:pic>
      <p:sp>
        <p:nvSpPr>
          <p:cNvPr id="12" name="Text 8"/>
          <p:cNvSpPr/>
          <p:nvPr/>
        </p:nvSpPr>
        <p:spPr>
          <a:xfrm>
            <a:off x="1417320" y="2852928"/>
            <a:ext cx="2514600" cy="320040"/>
          </a:xfrm>
          <a:prstGeom prst="rect">
            <a:avLst/>
          </a:prstGeom>
          <a:noFill/>
          <a:ln/>
        </p:spPr>
        <p:txBody>
          <a:bodyPr wrap="square" lIns="0" tIns="0" rIns="0" bIns="0" rtlCol="0" anchor="t"/>
          <a:lstStyle/>
          <a:p>
            <a:pPr algn="l" indent="0" marL="0">
              <a:buNone/>
            </a:pPr>
            <a:r>
              <a:rPr lang="en-US" sz="1350" b="1" dirty="0">
                <a:solidFill>
                  <a:srgbClr val="1F2A3D"/>
                </a:solidFill>
                <a:latin typeface="Calibri" pitchFamily="34" charset="0"/>
                <a:ea typeface="Calibri" pitchFamily="34" charset="-122"/>
                <a:cs typeface="Calibri" pitchFamily="34" charset="-120"/>
              </a:rPr>
              <a:t>1 · Protocol break</a:t>
            </a:r>
            <a:endParaRPr lang="en-US" sz="1350" dirty="0"/>
          </a:p>
        </p:txBody>
      </p:sp>
      <p:sp>
        <p:nvSpPr>
          <p:cNvPr id="13" name="Text 9"/>
          <p:cNvSpPr/>
          <p:nvPr/>
        </p:nvSpPr>
        <p:spPr>
          <a:xfrm>
            <a:off x="804672" y="3429000"/>
            <a:ext cx="3054096" cy="1737360"/>
          </a:xfrm>
          <a:prstGeom prst="rect">
            <a:avLst/>
          </a:prstGeom>
          <a:noFill/>
          <a:ln/>
        </p:spPr>
        <p:txBody>
          <a:bodyPr wrap="square" lIns="0" tIns="0" rIns="0" bIns="0" rtlCol="0" anchor="t"/>
          <a:lstStyle/>
          <a:p>
            <a:pPr algn="l" indent="0" marL="0">
              <a:lnSpc>
                <a:spcPct val="112000"/>
              </a:lnSpc>
              <a:buNone/>
            </a:pPr>
            <a:r>
              <a:rPr lang="en-US" sz="1100" dirty="0">
                <a:solidFill>
                  <a:srgbClr val="5D6B7E"/>
                </a:solidFill>
                <a:latin typeface="Calibri" pitchFamily="34" charset="0"/>
                <a:ea typeface="Calibri" pitchFamily="34" charset="-122"/>
                <a:cs typeface="Calibri" pitchFamily="34" charset="-120"/>
              </a:rPr>
              <a:t>Thinking-block signatures (Anthropic) and encrypted reasoning items (OpenAI) don't cross providers. Foreign tool-call IDs get rejected. The API answers with a hard 400.</a:t>
            </a:r>
            <a:endParaRPr lang="en-US" sz="1100" dirty="0"/>
          </a:p>
        </p:txBody>
      </p:sp>
      <p:sp>
        <p:nvSpPr>
          <p:cNvPr id="14" name="Shape 10"/>
          <p:cNvSpPr/>
          <p:nvPr/>
        </p:nvSpPr>
        <p:spPr>
          <a:xfrm>
            <a:off x="4343400" y="2560320"/>
            <a:ext cx="3566160" cy="2743200"/>
          </a:xfrm>
          <a:prstGeom prst="roundRect">
            <a:avLst>
              <a:gd name="adj" fmla="val 2333"/>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5" name="Shape 11"/>
          <p:cNvSpPr/>
          <p:nvPr/>
        </p:nvSpPr>
        <p:spPr>
          <a:xfrm>
            <a:off x="4599432" y="2788920"/>
            <a:ext cx="457200" cy="457200"/>
          </a:xfrm>
          <a:prstGeom prst="ellipse">
            <a:avLst/>
          </a:prstGeom>
          <a:solidFill>
            <a:srgbClr val="B45309"/>
          </a:solidFill>
          <a:ln/>
        </p:spPr>
      </p:sp>
      <p:pic>
        <p:nvPicPr>
          <p:cNvPr id="16" name="Image 1" descr="preencoded.png">    </p:cNvPr>
          <p:cNvPicPr>
            <a:picLocks noChangeAspect="1"/>
          </p:cNvPicPr>
          <p:nvPr/>
        </p:nvPicPr>
        <p:blipFill>
          <a:blip r:embed="rId2"/>
          <a:stretch>
            <a:fillRect/>
          </a:stretch>
        </p:blipFill>
        <p:spPr>
          <a:xfrm>
            <a:off x="4718304" y="2907792"/>
            <a:ext cx="219456" cy="219456"/>
          </a:xfrm>
          <a:prstGeom prst="rect">
            <a:avLst/>
          </a:prstGeom>
        </p:spPr>
      </p:pic>
      <p:sp>
        <p:nvSpPr>
          <p:cNvPr id="17" name="Text 12"/>
          <p:cNvSpPr/>
          <p:nvPr/>
        </p:nvSpPr>
        <p:spPr>
          <a:xfrm>
            <a:off x="5212080" y="2852928"/>
            <a:ext cx="2514600" cy="320040"/>
          </a:xfrm>
          <a:prstGeom prst="rect">
            <a:avLst/>
          </a:prstGeom>
          <a:noFill/>
          <a:ln/>
        </p:spPr>
        <p:txBody>
          <a:bodyPr wrap="square" lIns="0" tIns="0" rIns="0" bIns="0" rtlCol="0" anchor="t"/>
          <a:lstStyle/>
          <a:p>
            <a:pPr algn="l" indent="0" marL="0">
              <a:buNone/>
            </a:pPr>
            <a:r>
              <a:rPr lang="en-US" sz="1350" b="1" dirty="0">
                <a:solidFill>
                  <a:srgbClr val="1F2A3D"/>
                </a:solidFill>
                <a:latin typeface="Calibri" pitchFamily="34" charset="0"/>
                <a:ea typeface="Calibri" pitchFamily="34" charset="-122"/>
                <a:cs typeface="Calibri" pitchFamily="34" charset="-120"/>
              </a:rPr>
              <a:t>2 · Cache demolition</a:t>
            </a:r>
            <a:endParaRPr lang="en-US" sz="1350" dirty="0"/>
          </a:p>
        </p:txBody>
      </p:sp>
      <p:sp>
        <p:nvSpPr>
          <p:cNvPr id="18" name="Text 13"/>
          <p:cNvSpPr/>
          <p:nvPr/>
        </p:nvSpPr>
        <p:spPr>
          <a:xfrm>
            <a:off x="4599432" y="3429000"/>
            <a:ext cx="3054096" cy="1737360"/>
          </a:xfrm>
          <a:prstGeom prst="rect">
            <a:avLst/>
          </a:prstGeom>
          <a:noFill/>
          <a:ln/>
        </p:spPr>
        <p:txBody>
          <a:bodyPr wrap="square" lIns="0" tIns="0" rIns="0" bIns="0" rtlCol="0" anchor="t"/>
          <a:lstStyle/>
          <a:p>
            <a:pPr algn="l" indent="0" marL="0">
              <a:lnSpc>
                <a:spcPct val="112000"/>
              </a:lnSpc>
              <a:buNone/>
            </a:pPr>
            <a:r>
              <a:rPr lang="en-US" sz="1100" dirty="0">
                <a:solidFill>
                  <a:srgbClr val="5D6B7E"/>
                </a:solidFill>
                <a:latin typeface="Calibri" pitchFamily="34" charset="0"/>
                <a:ea typeface="Calibri" pitchFamily="34" charset="-122"/>
                <a:cs typeface="Calibri" pitchFamily="34" charset="-120"/>
              </a:rPr>
              <a:t>The new rung cold-starts its KV / prompt cache; the old rung's warm cache is wasted. Full re-prefill on both sides — you pay twice to go nowhere.</a:t>
            </a:r>
            <a:endParaRPr lang="en-US" sz="1100" dirty="0"/>
          </a:p>
        </p:txBody>
      </p:sp>
      <p:sp>
        <p:nvSpPr>
          <p:cNvPr id="19" name="Shape 14"/>
          <p:cNvSpPr/>
          <p:nvPr/>
        </p:nvSpPr>
        <p:spPr>
          <a:xfrm>
            <a:off x="8138160" y="2560320"/>
            <a:ext cx="3566160" cy="2743200"/>
          </a:xfrm>
          <a:prstGeom prst="roundRect">
            <a:avLst>
              <a:gd name="adj" fmla="val 2333"/>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20" name="Shape 15"/>
          <p:cNvSpPr/>
          <p:nvPr/>
        </p:nvSpPr>
        <p:spPr>
          <a:xfrm>
            <a:off x="8394192" y="2788920"/>
            <a:ext cx="457200" cy="457200"/>
          </a:xfrm>
          <a:prstGeom prst="ellipse">
            <a:avLst/>
          </a:prstGeom>
          <a:solidFill>
            <a:srgbClr val="5B21B6"/>
          </a:solidFill>
          <a:ln/>
        </p:spPr>
      </p:sp>
      <p:pic>
        <p:nvPicPr>
          <p:cNvPr id="21" name="Image 2" descr="preencoded.png">    </p:cNvPr>
          <p:cNvPicPr>
            <a:picLocks noChangeAspect="1"/>
          </p:cNvPicPr>
          <p:nvPr/>
        </p:nvPicPr>
        <p:blipFill>
          <a:blip r:embed="rId3"/>
          <a:stretch>
            <a:fillRect/>
          </a:stretch>
        </p:blipFill>
        <p:spPr>
          <a:xfrm>
            <a:off x="8513064" y="2907792"/>
            <a:ext cx="219456" cy="219456"/>
          </a:xfrm>
          <a:prstGeom prst="rect">
            <a:avLst/>
          </a:prstGeom>
        </p:spPr>
      </p:pic>
      <p:sp>
        <p:nvSpPr>
          <p:cNvPr id="22" name="Text 16"/>
          <p:cNvSpPr/>
          <p:nvPr/>
        </p:nvSpPr>
        <p:spPr>
          <a:xfrm>
            <a:off x="9006840" y="2852928"/>
            <a:ext cx="2514600" cy="320040"/>
          </a:xfrm>
          <a:prstGeom prst="rect">
            <a:avLst/>
          </a:prstGeom>
          <a:noFill/>
          <a:ln/>
        </p:spPr>
        <p:txBody>
          <a:bodyPr wrap="square" lIns="0" tIns="0" rIns="0" bIns="0" rtlCol="0" anchor="t"/>
          <a:lstStyle/>
          <a:p>
            <a:pPr algn="l" indent="0" marL="0">
              <a:buNone/>
            </a:pPr>
            <a:r>
              <a:rPr lang="en-US" sz="1350" b="1" dirty="0">
                <a:solidFill>
                  <a:srgbClr val="1F2A3D"/>
                </a:solidFill>
                <a:latin typeface="Calibri" pitchFamily="34" charset="0"/>
                <a:ea typeface="Calibri" pitchFamily="34" charset="-122"/>
                <a:cs typeface="Calibri" pitchFamily="34" charset="-120"/>
              </a:rPr>
              <a:t>3 · Cognitive whiplash</a:t>
            </a:r>
            <a:endParaRPr lang="en-US" sz="1350" dirty="0"/>
          </a:p>
        </p:txBody>
      </p:sp>
      <p:sp>
        <p:nvSpPr>
          <p:cNvPr id="23" name="Text 17"/>
          <p:cNvSpPr/>
          <p:nvPr/>
        </p:nvSpPr>
        <p:spPr>
          <a:xfrm>
            <a:off x="8394192" y="3429000"/>
            <a:ext cx="3054096" cy="1737360"/>
          </a:xfrm>
          <a:prstGeom prst="rect">
            <a:avLst/>
          </a:prstGeom>
          <a:noFill/>
          <a:ln/>
        </p:spPr>
        <p:txBody>
          <a:bodyPr wrap="square" lIns="0" tIns="0" rIns="0" bIns="0" rtlCol="0" anchor="t"/>
          <a:lstStyle/>
          <a:p>
            <a:pPr algn="l" indent="0" marL="0">
              <a:lnSpc>
                <a:spcPct val="112000"/>
              </a:lnSpc>
              <a:buNone/>
            </a:pPr>
            <a:r>
              <a:rPr lang="en-US" sz="1100" dirty="0">
                <a:solidFill>
                  <a:srgbClr val="5D6B7E"/>
                </a:solidFill>
                <a:latin typeface="Calibri" pitchFamily="34" charset="0"/>
                <a:ea typeface="Calibri" pitchFamily="34" charset="-122"/>
                <a:cs typeface="Calibri" pitchFamily="34" charset="-120"/>
              </a:rPr>
              <a:t>The new model inherits a half-finished plan it didn't make, in another model's reasoning style — and reliably does the thing trip-wires exist to catch: flails convincingly.</a:t>
            </a:r>
            <a:endParaRPr lang="en-US" sz="1100" dirty="0"/>
          </a:p>
        </p:txBody>
      </p:sp>
      <p:sp>
        <p:nvSpPr>
          <p:cNvPr id="24" name="Text 18"/>
          <p:cNvSpPr/>
          <p:nvPr/>
        </p:nvSpPr>
        <p:spPr>
          <a:xfrm>
            <a:off x="548640" y="5623560"/>
            <a:ext cx="11064240" cy="457200"/>
          </a:xfrm>
          <a:prstGeom prst="rect">
            <a:avLst/>
          </a:prstGeom>
          <a:noFill/>
          <a:ln/>
        </p:spPr>
        <p:txBody>
          <a:bodyPr wrap="square" lIns="0" tIns="0" rIns="0" bIns="0" rtlCol="0" anchor="t"/>
          <a:lstStyle/>
          <a:p>
            <a:pPr algn="l" indent="0" marL="0">
              <a:buNone/>
            </a:pPr>
            <a:r>
              <a:rPr lang="en-US" sz="1300" b="1" dirty="0">
                <a:solidFill>
                  <a:srgbClr val="1F2A3D"/>
                </a:solidFill>
                <a:latin typeface="Cambria" pitchFamily="34" charset="0"/>
                <a:ea typeface="Cambria" pitchFamily="34" charset="-122"/>
                <a:cs typeface="Cambria" pitchFamily="34" charset="-120"/>
              </a:rPr>
              <a:t>Sticky routing is protocol correctness first, economics second, model quality third — three independent reasons, any one of which suffices.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PART 1 · THE CORE IDEA · EXAMPLE</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The cache math that stickiness protects</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scenario S2</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10</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766560" cy="914400"/>
        </p:xfrm>
        <a:graphic>
          <a:graphicData uri="http://schemas.openxmlformats.org/drawingml/2006/table">
            <a:tbl>
              <a:tblPr/>
              <a:tblGrid>
                <a:gridCol w="2377440"/>
                <a:gridCol w="2103120"/>
                <a:gridCol w="2286000"/>
              </a:tblGrid>
              <a:tr h="50292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request 5 of the turn (~18k ctx)</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20334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prefix WARM (sticky)</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20334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prefix COLD (after a flap)</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20334F"/>
                    </a:solidFill>
                  </a:tcPr>
                </a:tc>
              </a:tr>
              <a:tr h="502920">
                <a:tc>
                  <a:txBody>
                    <a:bodyPr/>
                    <a:lstStyle/>
                    <a:p>
                      <a:pPr indent="0" marL="0">
                        <a:buNone/>
                      </a:pPr>
                      <a:r>
                        <a:rPr lang="en-US" sz="1050" b="1" dirty="0">
                          <a:solidFill>
                            <a:srgbClr val="1F2A3D"/>
                          </a:solidFill>
                          <a:latin typeface="Calibri" pitchFamily="34" charset="0"/>
                          <a:ea typeface="Calibri" pitchFamily="34" charset="-122"/>
                          <a:cs typeface="Calibri" pitchFamily="34" charset="-120"/>
                        </a:rPr>
                        <a:t>prefill work</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50" dirty="0">
                          <a:solidFill>
                            <a:srgbClr val="1F2A3D"/>
                          </a:solidFill>
                          <a:latin typeface="Calibri" pitchFamily="34" charset="0"/>
                          <a:ea typeface="Calibri" pitchFamily="34" charset="-122"/>
                          <a:cs typeface="Calibri" pitchFamily="34" charset="-120"/>
                        </a:rPr>
                        <a:t>~400 new tokens (just the delta)</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E3F1EA"/>
                    </a:solidFill>
                  </a:tcPr>
                </a:tc>
                <a:tc>
                  <a:txBody>
                    <a:bodyPr/>
                    <a:lstStyle/>
                    <a:p>
                      <a:pPr indent="0" marL="0">
                        <a:buNone/>
                      </a:pPr>
                      <a:r>
                        <a:rPr lang="en-US" sz="1050" dirty="0">
                          <a:solidFill>
                            <a:srgbClr val="1F2A3D"/>
                          </a:solidFill>
                          <a:latin typeface="Calibri" pitchFamily="34" charset="0"/>
                          <a:ea typeface="Calibri" pitchFamily="34" charset="-122"/>
                          <a:cs typeface="Calibri" pitchFamily="34" charset="-120"/>
                        </a:rPr>
                        <a:t>full 18k re-prefill</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9E7E4"/>
                    </a:solidFill>
                  </a:tcPr>
                </a:tc>
              </a:tr>
              <a:tr h="502920">
                <a:tc>
                  <a:txBody>
                    <a:bodyPr/>
                    <a:lstStyle/>
                    <a:p>
                      <a:pPr indent="0" marL="0">
                        <a:buNone/>
                      </a:pPr>
                      <a:r>
                        <a:rPr lang="en-US" sz="1050" b="1" dirty="0">
                          <a:solidFill>
                            <a:srgbClr val="1F2A3D"/>
                          </a:solidFill>
                          <a:latin typeface="Calibri" pitchFamily="34" charset="0"/>
                          <a:ea typeface="Calibri" pitchFamily="34" charset="-122"/>
                          <a:cs typeface="Calibri" pitchFamily="34" charset="-120"/>
                        </a:rPr>
                        <a:t>wall-clock @ ~900 tok/s prefill</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50" b="1" dirty="0">
                          <a:solidFill>
                            <a:srgbClr val="1F2A3D"/>
                          </a:solidFill>
                          <a:latin typeface="Calibri" pitchFamily="34" charset="0"/>
                          <a:ea typeface="Calibri" pitchFamily="34" charset="-122"/>
                          <a:cs typeface="Calibri" pitchFamily="34" charset="-120"/>
                        </a:rPr>
                        <a:t>&lt;1 s</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E3F1EA"/>
                    </a:solidFill>
                  </a:tcPr>
                </a:tc>
                <a:tc>
                  <a:txBody>
                    <a:bodyPr/>
                    <a:lstStyle/>
                    <a:p>
                      <a:pPr indent="0" marL="0">
                        <a:buNone/>
                      </a:pPr>
                      <a:r>
                        <a:rPr lang="en-US" sz="1050" b="1" dirty="0">
                          <a:solidFill>
                            <a:srgbClr val="1F2A3D"/>
                          </a:solidFill>
                          <a:latin typeface="Calibri" pitchFamily="34" charset="0"/>
                          <a:ea typeface="Calibri" pitchFamily="34" charset="-122"/>
                          <a:cs typeface="Calibri" pitchFamily="34" charset="-120"/>
                        </a:rPr>
                        <a:t>~20 s before the first output token</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9E7E4"/>
                    </a:solidFill>
                  </a:tcPr>
                </a:tc>
              </a:tr>
            </a:tbl>
          </a:graphicData>
        </a:graphic>
      </p:graphicFrame>
      <p:sp>
        <p:nvSpPr>
          <p:cNvPr id="8" name="Shape 4"/>
          <p:cNvSpPr/>
          <p:nvPr/>
        </p:nvSpPr>
        <p:spPr>
          <a:xfrm>
            <a:off x="548640" y="3291840"/>
            <a:ext cx="6766560" cy="1371600"/>
          </a:xfrm>
          <a:prstGeom prst="roundRect">
            <a:avLst>
              <a:gd name="adj" fmla="val 4667"/>
            </a:avLst>
          </a:prstGeom>
          <a:solidFill>
            <a:srgbClr val="F3F6F9"/>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9" name="Text 5"/>
          <p:cNvSpPr/>
          <p:nvPr/>
        </p:nvSpPr>
        <p:spPr>
          <a:xfrm>
            <a:off x="822960" y="3474720"/>
            <a:ext cx="6217920" cy="1051560"/>
          </a:xfrm>
          <a:prstGeom prst="rect">
            <a:avLst/>
          </a:prstGeom>
          <a:noFill/>
          <a:ln/>
        </p:spPr>
        <p:txBody>
          <a:bodyPr wrap="square" lIns="0" tIns="0" rIns="0" bIns="0" rtlCol="0" anchor="t"/>
          <a:lstStyle/>
          <a:p>
            <a:pPr algn="l" indent="0" marL="0">
              <a:lnSpc>
                <a:spcPct val="110000"/>
              </a:lnSpc>
              <a:buNone/>
            </a:pPr>
            <a:r>
              <a:rPr lang="en-US" sz="1150" b="1" dirty="0">
                <a:solidFill>
                  <a:srgbClr val="1F2A3D"/>
                </a:solidFill>
                <a:latin typeface="Calibri" pitchFamily="34" charset="0"/>
                <a:ea typeface="Calibri" pitchFamily="34" charset="-122"/>
                <a:cs typeface="Calibri" pitchFamily="34" charset="-120"/>
              </a:rPr>
              <a:t>Same story in the cloud:</a:t>
            </a:r>
            <a:endParaRPr lang="en-US" sz="1150" dirty="0"/>
          </a:p>
          <a:p>
            <a:pPr algn="l" indent="0" marL="0">
              <a:lnSpc>
                <a:spcPct val="110000"/>
              </a:lnSpc>
              <a:buNone/>
            </a:pPr>
            <a:r>
              <a:rPr lang="en-US" sz="1150" dirty="0">
                <a:solidFill>
                  <a:srgbClr val="5D6B7E"/>
                </a:solidFill>
                <a:latin typeface="Calibri" pitchFamily="34" charset="0"/>
                <a:ea typeface="Calibri" pitchFamily="34" charset="-122"/>
                <a:cs typeface="Calibri" pitchFamily="34" charset="-120"/>
              </a:rPr>
              <a:t>Anthropic's prompt cache (cache_control breakpoints on system + tools) makes repeat input ~90% cheaper — but only while consecutive requests keep hitting the same provider.</a:t>
            </a:r>
            <a:endParaRPr lang="en-US" sz="1150" dirty="0"/>
          </a:p>
        </p:txBody>
      </p:sp>
      <p:sp>
        <p:nvSpPr>
          <p:cNvPr id="10" name="Shape 6"/>
          <p:cNvSpPr/>
          <p:nvPr/>
        </p:nvSpPr>
        <p:spPr>
          <a:xfrm>
            <a:off x="7772400" y="1463040"/>
            <a:ext cx="3886200" cy="3200400"/>
          </a:xfrm>
          <a:prstGeom prst="roundRect">
            <a:avLst>
              <a:gd name="adj" fmla="val 2000"/>
            </a:avLst>
          </a:prstGeom>
          <a:solidFill>
            <a:srgbClr val="15223A"/>
          </a:solidFill>
          <a:ln/>
          <a:effectLst>
            <a:outerShdw sx="100000" sy="100000" kx="0" ky="0" algn="bl" rotWithShape="0" blurRad="88900" dist="25400" dir="2700000">
              <a:srgbClr val="1F2A3D">
                <a:alpha val="14000"/>
              </a:srgbClr>
            </a:outerShdw>
          </a:effectLst>
        </p:spPr>
      </p:sp>
      <p:sp>
        <p:nvSpPr>
          <p:cNvPr id="11" name="Text 7"/>
          <p:cNvSpPr/>
          <p:nvPr/>
        </p:nvSpPr>
        <p:spPr>
          <a:xfrm>
            <a:off x="8001000" y="1828800"/>
            <a:ext cx="3429000" cy="822960"/>
          </a:xfrm>
          <a:prstGeom prst="rect">
            <a:avLst/>
          </a:prstGeom>
          <a:noFill/>
          <a:ln/>
        </p:spPr>
        <p:txBody>
          <a:bodyPr wrap="square" lIns="0" tIns="0" rIns="0" bIns="0" rtlCol="0" anchor="t"/>
          <a:lstStyle/>
          <a:p>
            <a:pPr algn="ctr" indent="0" marL="0">
              <a:buNone/>
            </a:pPr>
            <a:r>
              <a:rPr lang="en-US" sz="4000" b="1" dirty="0">
                <a:solidFill>
                  <a:srgbClr val="FFFFFF"/>
                </a:solidFill>
                <a:latin typeface="Cambria" pitchFamily="34" charset="0"/>
                <a:ea typeface="Cambria" pitchFamily="34" charset="-122"/>
                <a:cs typeface="Cambria" pitchFamily="34" charset="-120"/>
              </a:rPr>
              <a:t>20 s → &lt;1 s</a:t>
            </a:r>
            <a:endParaRPr lang="en-US" sz="4000" dirty="0"/>
          </a:p>
        </p:txBody>
      </p:sp>
      <p:sp>
        <p:nvSpPr>
          <p:cNvPr id="12" name="Text 8"/>
          <p:cNvSpPr/>
          <p:nvPr/>
        </p:nvSpPr>
        <p:spPr>
          <a:xfrm>
            <a:off x="8001000" y="2743200"/>
            <a:ext cx="3429000" cy="548640"/>
          </a:xfrm>
          <a:prstGeom prst="rect">
            <a:avLst/>
          </a:prstGeom>
          <a:noFill/>
          <a:ln/>
        </p:spPr>
        <p:txBody>
          <a:bodyPr wrap="square" lIns="0" tIns="0" rIns="0" bIns="0" rtlCol="0" anchor="t"/>
          <a:lstStyle/>
          <a:p>
            <a:pPr algn="ctr" indent="0" marL="0">
              <a:lnSpc>
                <a:spcPct val="110000"/>
              </a:lnSpc>
              <a:buNone/>
            </a:pPr>
            <a:r>
              <a:rPr lang="en-US" sz="1100" dirty="0">
                <a:solidFill>
                  <a:srgbClr val="9FB0C7"/>
                </a:solidFill>
                <a:latin typeface="Calibri" pitchFamily="34" charset="0"/>
                <a:ea typeface="Calibri" pitchFamily="34" charset="-122"/>
                <a:cs typeface="Calibri" pitchFamily="34" charset="-120"/>
              </a:rPr>
              <a:t>time-to-first-token protected by keeping one turn on one model</a:t>
            </a:r>
            <a:endParaRPr lang="en-US" sz="1100" dirty="0"/>
          </a:p>
        </p:txBody>
      </p:sp>
      <p:sp>
        <p:nvSpPr>
          <p:cNvPr id="13" name="Text 9"/>
          <p:cNvSpPr/>
          <p:nvPr/>
        </p:nvSpPr>
        <p:spPr>
          <a:xfrm>
            <a:off x="8001000" y="3566160"/>
            <a:ext cx="3429000" cy="320040"/>
          </a:xfrm>
          <a:prstGeom prst="rect">
            <a:avLst/>
          </a:prstGeom>
          <a:noFill/>
          <a:ln/>
        </p:spPr>
        <p:txBody>
          <a:bodyPr wrap="square" lIns="0" tIns="0" rIns="0" bIns="0" rtlCol="0" anchor="t"/>
          <a:lstStyle/>
          <a:p>
            <a:pPr algn="ctr" indent="0" marL="0">
              <a:buNone/>
            </a:pPr>
            <a:r>
              <a:rPr lang="en-US" sz="1250" b="1" dirty="0">
                <a:solidFill>
                  <a:srgbClr val="8ED6AC"/>
                </a:solidFill>
                <a:latin typeface="Calibri" pitchFamily="34" charset="0"/>
                <a:ea typeface="Calibri" pitchFamily="34" charset="-122"/>
                <a:cs typeface="Calibri" pitchFamily="34" charset="-120"/>
              </a:rPr>
              <a:t>~85% of requests = one dict lookup</a:t>
            </a:r>
            <a:endParaRPr lang="en-US" sz="1250" dirty="0"/>
          </a:p>
        </p:txBody>
      </p:sp>
      <p:sp>
        <p:nvSpPr>
          <p:cNvPr id="14" name="Text 10"/>
          <p:cNvSpPr/>
          <p:nvPr/>
        </p:nvSpPr>
        <p:spPr>
          <a:xfrm>
            <a:off x="548640" y="5074920"/>
            <a:ext cx="11064240" cy="502920"/>
          </a:xfrm>
          <a:prstGeom prst="rect">
            <a:avLst/>
          </a:prstGeom>
          <a:noFill/>
          <a:ln/>
        </p:spPr>
        <p:txBody>
          <a:bodyPr wrap="square" lIns="0" tIns="0" rIns="0" bIns="0" rtlCol="0" anchor="t"/>
          <a:lstStyle/>
          <a:p>
            <a:pPr algn="ctr" indent="0" marL="0">
              <a:buNone/>
            </a:pPr>
            <a:r>
              <a:rPr lang="en-US" sz="1400" i="1" dirty="0">
                <a:solidFill>
                  <a:srgbClr val="1F2A3D"/>
                </a:solidFill>
                <a:latin typeface="Cambria" pitchFamily="34" charset="0"/>
                <a:ea typeface="Cambria" pitchFamily="34" charset="-122"/>
                <a:cs typeface="Cambria" pitchFamily="34" charset="-120"/>
              </a:rPr>
              <a:t>“If your router's median added latency isn't measured in microseconds for continuations, you built it wrong.”</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PART 1 · THE CORE IDEA</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Know your traffic: what actually flows through the proxy</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design doc §4</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11</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2103120"/>
                <a:gridCol w="1051560"/>
                <a:gridCol w="3913632"/>
                <a:gridCol w="4023360"/>
              </a:tblGrid>
              <a:tr h="56692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Request kind</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20334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Share</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20334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is</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20334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Router action</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20334F"/>
                    </a:solidFill>
                  </a:tcPr>
                </a:tc>
              </a:tr>
              <a:tr h="566928">
                <a:tc>
                  <a:txBody>
                    <a:bodyPr/>
                    <a:lstStyle/>
                    <a:p>
                      <a:pPr indent="0" marL="0">
                        <a:buNone/>
                      </a:pPr>
                      <a:r>
                        <a:rPr lang="en-US" sz="1050" b="1" dirty="0">
                          <a:solidFill>
                            <a:srgbClr val="1F2A3D"/>
                          </a:solidFill>
                          <a:latin typeface="Calibri" pitchFamily="34" charset="0"/>
                          <a:ea typeface="Calibri" pitchFamily="34" charset="-122"/>
                          <a:cs typeface="Calibri" pitchFamily="34" charset="-120"/>
                        </a:rPr>
                        <a:t>Tool continuation</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50" b="1" dirty="0">
                          <a:solidFill>
                            <a:srgbClr val="1F7A55"/>
                          </a:solidFill>
                          <a:latin typeface="Calibri" pitchFamily="34" charset="0"/>
                          <a:ea typeface="Calibri" pitchFamily="34" charset="-122"/>
                          <a:cs typeface="Calibri" pitchFamily="34" charset="-120"/>
                        </a:rPr>
                        <a:t>70–90%</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50" dirty="0">
                          <a:solidFill>
                            <a:srgbClr val="1F2A3D"/>
                          </a:solidFill>
                          <a:latin typeface="Calibri" pitchFamily="34" charset="0"/>
                          <a:ea typeface="Calibri" pitchFamily="34" charset="-122"/>
                          <a:cs typeface="Calibri" pitchFamily="34" charset="-120"/>
                        </a:rPr>
                        <a:t>The harness returning a tool result mid-turn</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50" b="1" dirty="0">
                          <a:solidFill>
                            <a:srgbClr val="1F7A55"/>
                          </a:solidFill>
                          <a:latin typeface="Calibri" pitchFamily="34" charset="0"/>
                          <a:ea typeface="Calibri" pitchFamily="34" charset="-122"/>
                          <a:cs typeface="Calibri" pitchFamily="34" charset="-120"/>
                        </a:rPr>
                        <a:t>Inherit the turn's route. No thinking.</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1F2A3D"/>
                          </a:solidFill>
                          <a:latin typeface="Calibri" pitchFamily="34" charset="0"/>
                          <a:ea typeface="Calibri" pitchFamily="34" charset="-122"/>
                          <a:cs typeface="Calibri" pitchFamily="34" charset="-120"/>
                        </a:rPr>
                        <a:t>Housekeeping / utility</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50" b="1" dirty="0">
                          <a:solidFill>
                            <a:srgbClr val="B45309"/>
                          </a:solidFill>
                          <a:latin typeface="Calibri" pitchFamily="34" charset="0"/>
                          <a:ea typeface="Calibri" pitchFamily="34" charset="-122"/>
                          <a:cs typeface="Calibri" pitchFamily="34" charset="-120"/>
                        </a:rPr>
                        <a:t>5–15%</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50" dirty="0">
                          <a:solidFill>
                            <a:srgbClr val="1F2A3D"/>
                          </a:solidFill>
                          <a:latin typeface="Calibri" pitchFamily="34" charset="0"/>
                          <a:ea typeface="Calibri" pitchFamily="34" charset="-122"/>
                          <a:cs typeface="Calibri" pitchFamily="34" charset="-120"/>
                        </a:rPr>
                        <a:t>Harness sidecar work: titles, topic detection, compaction summaries</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50" b="1" dirty="0">
                          <a:solidFill>
                            <a:srgbClr val="B45309"/>
                          </a:solidFill>
                          <a:latin typeface="Calibri" pitchFamily="34" charset="0"/>
                          <a:ea typeface="Calibri" pitchFamily="34" charset="-122"/>
                          <a:cs typeface="Calibri" pitchFamily="34" charset="-120"/>
                        </a:rPr>
                        <a:t>Hard-pin to local. Zero risk, instant savings.</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1F2A3D"/>
                          </a:solidFill>
                          <a:latin typeface="Calibri" pitchFamily="34" charset="0"/>
                          <a:ea typeface="Calibri" pitchFamily="34" charset="-122"/>
                          <a:cs typeface="Calibri" pitchFamily="34" charset="-120"/>
                        </a:rPr>
                        <a:t>New user turn</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50" b="1" dirty="0">
                          <a:solidFill>
                            <a:srgbClr val="1D6FA5"/>
                          </a:solidFill>
                          <a:latin typeface="Calibri" pitchFamily="34" charset="0"/>
                          <a:ea typeface="Calibri" pitchFamily="34" charset="-122"/>
                          <a:cs typeface="Calibri" pitchFamily="34" charset="-120"/>
                        </a:rPr>
                        <a:t>5–15%</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50" dirty="0">
                          <a:solidFill>
                            <a:srgbClr val="1F2A3D"/>
                          </a:solidFill>
                          <a:latin typeface="Calibri" pitchFamily="34" charset="0"/>
                          <a:ea typeface="Calibri" pitchFamily="34" charset="-122"/>
                          <a:cs typeface="Calibri" pitchFamily="34" charset="-120"/>
                        </a:rPr>
                        <a:t>The human actually typed something</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50" b="1" dirty="0">
                          <a:solidFill>
                            <a:srgbClr val="1D6FA5"/>
                          </a:solidFill>
                          <a:latin typeface="Calibri" pitchFamily="34" charset="0"/>
                          <a:ea typeface="Calibri" pitchFamily="34" charset="-122"/>
                          <a:cs typeface="Calibri" pitchFamily="34" charset="-120"/>
                        </a:rPr>
                        <a:t>Full routing decision.</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r h="566928">
                <a:tc>
                  <a:txBody>
                    <a:bodyPr/>
                    <a:lstStyle/>
                    <a:p>
                      <a:pPr indent="0" marL="0">
                        <a:buNone/>
                      </a:pPr>
                      <a:r>
                        <a:rPr lang="en-US" sz="1050" b="1" dirty="0">
                          <a:solidFill>
                            <a:srgbClr val="1F2A3D"/>
                          </a:solidFill>
                          <a:latin typeface="Calibri" pitchFamily="34" charset="0"/>
                          <a:ea typeface="Calibri" pitchFamily="34" charset="-122"/>
                          <a:cs typeface="Calibri" pitchFamily="34" charset="-120"/>
                        </a:rPr>
                        <a:t>Subagent spawn</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50" b="1" dirty="0">
                          <a:solidFill>
                            <a:srgbClr val="5B21B6"/>
                          </a:solidFill>
                          <a:latin typeface="Calibri" pitchFamily="34" charset="0"/>
                          <a:ea typeface="Calibri" pitchFamily="34" charset="-122"/>
                          <a:cs typeface="Calibri" pitchFamily="34" charset="-120"/>
                        </a:rPr>
                        <a:t>occasional</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50" dirty="0">
                          <a:solidFill>
                            <a:srgbClr val="1F2A3D"/>
                          </a:solidFill>
                          <a:latin typeface="Calibri" pitchFamily="34" charset="0"/>
                          <a:ea typeface="Calibri" pitchFamily="34" charset="-122"/>
                          <a:cs typeface="Calibri" pitchFamily="34" charset="-120"/>
                        </a:rPr>
                        <a:t>Bounded helper (“find where X is defined”)</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50" b="1" dirty="0">
                          <a:solidFill>
                            <a:srgbClr val="5B21B6"/>
                          </a:solidFill>
                          <a:latin typeface="Calibri" pitchFamily="34" charset="0"/>
                          <a:ea typeface="Calibri" pitchFamily="34" charset="-122"/>
                          <a:cs typeface="Calibri" pitchFamily="34" charset="-120"/>
                        </a:rPr>
                        <a:t>Route independently; usually local (fresh, small context).</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4343400"/>
            <a:ext cx="5422392" cy="1828800"/>
          </a:xfrm>
          <a:prstGeom prst="roundRect">
            <a:avLst>
              <a:gd name="adj" fmla="val 3500"/>
            </a:avLst>
          </a:prstGeom>
          <a:solidFill>
            <a:srgbClr val="E4EEF6"/>
          </a:solidFill>
          <a:ln/>
          <a:effectLst>
            <a:outerShdw sx="100000" sy="100000" kx="0" ky="0" algn="bl" rotWithShape="0" blurRad="88900" dist="25400" dir="2700000">
              <a:srgbClr val="1F2A3D">
                <a:alpha val="14000"/>
              </a:srgbClr>
            </a:outerShdw>
          </a:effectLst>
        </p:spPr>
      </p:sp>
      <p:sp>
        <p:nvSpPr>
          <p:cNvPr id="9" name="Text 5"/>
          <p:cNvSpPr/>
          <p:nvPr/>
        </p:nvSpPr>
        <p:spPr>
          <a:xfrm>
            <a:off x="804672" y="4526280"/>
            <a:ext cx="4910328" cy="256032"/>
          </a:xfrm>
          <a:prstGeom prst="rect">
            <a:avLst/>
          </a:prstGeom>
          <a:noFill/>
          <a:ln/>
        </p:spPr>
        <p:txBody>
          <a:bodyPr wrap="square" lIns="0" tIns="0" rIns="0" bIns="0" rtlCol="0" anchor="t"/>
          <a:lstStyle/>
          <a:p>
            <a:pPr algn="l" indent="0" marL="0">
              <a:buNone/>
            </a:pPr>
            <a:r>
              <a:rPr lang="en-US" sz="950" b="1" spc="200" kern="0" dirty="0">
                <a:solidFill>
                  <a:srgbClr val="1D6FA5"/>
                </a:solidFill>
                <a:latin typeface="Calibri" pitchFamily="34" charset="0"/>
                <a:ea typeface="Calibri" pitchFamily="34" charset="-122"/>
                <a:cs typeface="Calibri" pitchFamily="34" charset="-120"/>
              </a:rPr>
              <a:t>CONSEQUENCE 1</a:t>
            </a:r>
            <a:endParaRPr lang="en-US" sz="950" dirty="0"/>
          </a:p>
        </p:txBody>
      </p:sp>
      <p:sp>
        <p:nvSpPr>
          <p:cNvPr id="10" name="Text 6"/>
          <p:cNvSpPr/>
          <p:nvPr/>
        </p:nvSpPr>
        <p:spPr>
          <a:xfrm>
            <a:off x="804672" y="4800600"/>
            <a:ext cx="4910328" cy="384048"/>
          </a:xfrm>
          <a:prstGeom prst="rect">
            <a:avLst/>
          </a:prstGeom>
          <a:noFill/>
          <a:ln/>
        </p:spPr>
        <p:txBody>
          <a:bodyPr wrap="square" lIns="0" tIns="0" rIns="0" bIns="0" rtlCol="0" anchor="t"/>
          <a:lstStyle/>
          <a:p>
            <a:pPr algn="l" indent="0" marL="0">
              <a:buNone/>
            </a:pPr>
            <a:r>
              <a:rPr lang="en-US" sz="1250" b="1" dirty="0">
                <a:solidFill>
                  <a:srgbClr val="1F2A3D"/>
                </a:solidFill>
                <a:latin typeface="Calibri" pitchFamily="34" charset="0"/>
                <a:ea typeface="Calibri" pitchFamily="34" charset="-122"/>
                <a:cs typeface="Calibri" pitchFamily="34" charset="-120"/>
              </a:rPr>
              <a:t>The expensive machinery runs on 5–15% of requests.</a:t>
            </a:r>
            <a:endParaRPr lang="en-US" sz="1250" dirty="0"/>
          </a:p>
        </p:txBody>
      </p:sp>
      <p:sp>
        <p:nvSpPr>
          <p:cNvPr id="11" name="Text 7"/>
          <p:cNvSpPr/>
          <p:nvPr/>
        </p:nvSpPr>
        <p:spPr>
          <a:xfrm>
            <a:off x="804672" y="5230368"/>
            <a:ext cx="4910328" cy="868680"/>
          </a:xfrm>
          <a:prstGeom prst="rect">
            <a:avLst/>
          </a:prstGeom>
          <a:noFill/>
          <a:ln/>
        </p:spPr>
        <p:txBody>
          <a:bodyPr wrap="square" lIns="0" tIns="0" rIns="0" bIns="0" rtlCol="0" anchor="t"/>
          <a:lstStyle/>
          <a:p>
            <a:pPr algn="l" indent="0" marL="0">
              <a:lnSpc>
                <a:spcPct val="110000"/>
              </a:lnSpc>
              <a:buNone/>
            </a:pPr>
            <a:r>
              <a:rPr lang="en-US" sz="1050" dirty="0">
                <a:solidFill>
                  <a:srgbClr val="5D6B7E"/>
                </a:solidFill>
                <a:latin typeface="Calibri" pitchFamily="34" charset="0"/>
                <a:ea typeface="Calibri" pitchFamily="34" charset="-122"/>
                <a:cs typeface="Calibri" pitchFamily="34" charset="-120"/>
              </a:rPr>
              <a:t>Features, policy, and ML only ever see new turns. The other ~85% costs one state lookup — that's what keeps router overhead near zero.</a:t>
            </a:r>
            <a:endParaRPr lang="en-US" sz="1050" dirty="0"/>
          </a:p>
        </p:txBody>
      </p:sp>
      <p:sp>
        <p:nvSpPr>
          <p:cNvPr id="12" name="Shape 8"/>
          <p:cNvSpPr/>
          <p:nvPr/>
        </p:nvSpPr>
        <p:spPr>
          <a:xfrm>
            <a:off x="6217920" y="4343400"/>
            <a:ext cx="5422392" cy="1828800"/>
          </a:xfrm>
          <a:prstGeom prst="roundRect">
            <a:avLst>
              <a:gd name="adj" fmla="val 3500"/>
            </a:avLst>
          </a:prstGeom>
          <a:solidFill>
            <a:srgbClr val="F3F6F9"/>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3" name="Text 9"/>
          <p:cNvSpPr/>
          <p:nvPr/>
        </p:nvSpPr>
        <p:spPr>
          <a:xfrm>
            <a:off x="6473952" y="4526280"/>
            <a:ext cx="4910328" cy="256032"/>
          </a:xfrm>
          <a:prstGeom prst="rect">
            <a:avLst/>
          </a:prstGeom>
          <a:noFill/>
          <a:ln/>
        </p:spPr>
        <p:txBody>
          <a:bodyPr wrap="square" lIns="0" tIns="0" rIns="0" bIns="0" rtlCol="0" anchor="t"/>
          <a:lstStyle/>
          <a:p>
            <a:pPr algn="l" indent="0" marL="0">
              <a:buNone/>
            </a:pPr>
            <a:r>
              <a:rPr lang="en-US" sz="950" b="1" spc="200" kern="0" dirty="0">
                <a:solidFill>
                  <a:srgbClr val="1D6FA5"/>
                </a:solidFill>
                <a:latin typeface="Calibri" pitchFamily="34" charset="0"/>
                <a:ea typeface="Calibri" pitchFamily="34" charset="-122"/>
                <a:cs typeface="Calibri" pitchFamily="34" charset="-120"/>
              </a:rPr>
              <a:t>CONSEQUENCE 2</a:t>
            </a:r>
            <a:endParaRPr lang="en-US" sz="950" dirty="0"/>
          </a:p>
        </p:txBody>
      </p:sp>
      <p:sp>
        <p:nvSpPr>
          <p:cNvPr id="14" name="Text 10"/>
          <p:cNvSpPr/>
          <p:nvPr/>
        </p:nvSpPr>
        <p:spPr>
          <a:xfrm>
            <a:off x="6473952" y="4800600"/>
            <a:ext cx="4910328" cy="384048"/>
          </a:xfrm>
          <a:prstGeom prst="rect">
            <a:avLst/>
          </a:prstGeom>
          <a:noFill/>
          <a:ln/>
        </p:spPr>
        <p:txBody>
          <a:bodyPr wrap="square" lIns="0" tIns="0" rIns="0" bIns="0" rtlCol="0" anchor="t"/>
          <a:lstStyle/>
          <a:p>
            <a:pPr algn="l" indent="0" marL="0">
              <a:buNone/>
            </a:pPr>
            <a:r>
              <a:rPr lang="en-US" sz="1250" b="1" dirty="0">
                <a:solidFill>
                  <a:srgbClr val="1F2A3D"/>
                </a:solidFill>
                <a:latin typeface="Calibri" pitchFamily="34" charset="0"/>
                <a:ea typeface="Calibri" pitchFamily="34" charset="-122"/>
                <a:cs typeface="Calibri" pitchFamily="34" charset="-120"/>
              </a:rPr>
              <a:t>You cannot classify the raw request body.</a:t>
            </a:r>
            <a:endParaRPr lang="en-US" sz="1250" dirty="0"/>
          </a:p>
        </p:txBody>
      </p:sp>
      <p:sp>
        <p:nvSpPr>
          <p:cNvPr id="15" name="Text 11"/>
          <p:cNvSpPr/>
          <p:nvPr/>
        </p:nvSpPr>
        <p:spPr>
          <a:xfrm>
            <a:off x="6473952" y="5230368"/>
            <a:ext cx="4910328" cy="868680"/>
          </a:xfrm>
          <a:prstGeom prst="rect">
            <a:avLst/>
          </a:prstGeom>
          <a:noFill/>
          <a:ln/>
        </p:spPr>
        <p:txBody>
          <a:bodyPr wrap="square" lIns="0" tIns="0" rIns="0" bIns="0" rtlCol="0" anchor="t"/>
          <a:lstStyle/>
          <a:p>
            <a:pPr algn="l" indent="0" marL="0">
              <a:lnSpc>
                <a:spcPct val="110000"/>
              </a:lnSpc>
              <a:buNone/>
            </a:pPr>
            <a:r>
              <a:rPr lang="en-US" sz="1050" dirty="0">
                <a:solidFill>
                  <a:srgbClr val="5D6B7E"/>
                </a:solidFill>
                <a:latin typeface="Calibri" pitchFamily="34" charset="0"/>
                <a:ea typeface="Calibri" pitchFamily="34" charset="-122"/>
                <a:cs typeface="Calibri" pitchFamily="34" charset="-120"/>
              </a:rPr>
              <a:t>20 turns in, the “message” is 95% system prompt, file dumps and tool output. Embedding that classifies the files, not the intent — isolate the human sentence first.</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PART 2 · THE DECISION PATH</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Call-type discriminator: label every request in microseconds</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design doc §5.1</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12</a:t>
            </a:r>
            <a:endParaRPr lang="en-US" sz="900" dirty="0"/>
          </a:p>
        </p:txBody>
      </p:sp>
      <p:sp>
        <p:nvSpPr>
          <p:cNvPr id="7" name="Shape 4"/>
          <p:cNvSpPr/>
          <p:nvPr/>
        </p:nvSpPr>
        <p:spPr>
          <a:xfrm>
            <a:off x="548640" y="1417320"/>
            <a:ext cx="5422392" cy="1600200"/>
          </a:xfrm>
          <a:prstGeom prst="roundRect">
            <a:avLst>
              <a:gd name="adj" fmla="val 4000"/>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8" name="Shape 5"/>
          <p:cNvSpPr/>
          <p:nvPr/>
        </p:nvSpPr>
        <p:spPr>
          <a:xfrm>
            <a:off x="804672" y="1636776"/>
            <a:ext cx="1600200" cy="347472"/>
          </a:xfrm>
          <a:prstGeom prst="roundRect">
            <a:avLst>
              <a:gd name="adj" fmla="val 23684"/>
            </a:avLst>
          </a:prstGeom>
          <a:solidFill>
            <a:srgbClr val="1F7A55"/>
          </a:solidFill>
          <a:ln/>
        </p:spPr>
      </p:sp>
      <p:sp>
        <p:nvSpPr>
          <p:cNvPr id="9" name="Text 6"/>
          <p:cNvSpPr/>
          <p:nvPr/>
        </p:nvSpPr>
        <p:spPr>
          <a:xfrm>
            <a:off x="804672" y="1636776"/>
            <a:ext cx="1600200" cy="347472"/>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continuation</a:t>
            </a:r>
            <a:endParaRPr lang="en-US" sz="1050" dirty="0"/>
          </a:p>
        </p:txBody>
      </p:sp>
      <p:sp>
        <p:nvSpPr>
          <p:cNvPr id="10" name="Text 7"/>
          <p:cNvSpPr/>
          <p:nvPr/>
        </p:nvSpPr>
        <p:spPr>
          <a:xfrm>
            <a:off x="804672" y="2130552"/>
            <a:ext cx="4910328" cy="548640"/>
          </a:xfrm>
          <a:prstGeom prst="rect">
            <a:avLst/>
          </a:prstGeom>
          <a:noFill/>
          <a:ln/>
        </p:spPr>
        <p:txBody>
          <a:bodyPr wrap="square" lIns="0" tIns="0" rIns="0" bIns="0" rtlCol="0" anchor="t"/>
          <a:lstStyle/>
          <a:p>
            <a:pPr algn="l" indent="0" marL="0">
              <a:lnSpc>
                <a:spcPct val="105000"/>
              </a:lnSpc>
              <a:buNone/>
            </a:pPr>
            <a:r>
              <a:rPr lang="en-US" sz="1050" b="1" dirty="0">
                <a:solidFill>
                  <a:srgbClr val="1F2A3D"/>
                </a:solidFill>
                <a:latin typeface="Calibri" pitchFamily="34" charset="0"/>
                <a:ea typeface="Calibri" pitchFamily="34" charset="-122"/>
                <a:cs typeface="Calibri" pitchFamily="34" charset="-120"/>
              </a:rPr>
              <a:t>tell:  </a:t>
            </a:r>
            <a:pPr algn="l" indent="0" marL="0">
              <a:lnSpc>
                <a:spcPct val="105000"/>
              </a:lnSpc>
              <a:buNone/>
            </a:pPr>
            <a:r>
              <a:rPr lang="en-US" sz="1050" dirty="0">
                <a:solidFill>
                  <a:srgbClr val="5D6B7E"/>
                </a:solidFill>
                <a:latin typeface="Courier New" pitchFamily="34" charset="0"/>
                <a:ea typeface="Courier New" pitchFamily="34" charset="-122"/>
                <a:cs typeface="Courier New" pitchFamily="34" charset="-120"/>
              </a:rPr>
              <a:t>last message carries a tool_result block + session has an active turn</a:t>
            </a:r>
            <a:endParaRPr lang="en-US" sz="1050" dirty="0"/>
          </a:p>
        </p:txBody>
      </p:sp>
      <p:sp>
        <p:nvSpPr>
          <p:cNvPr id="11" name="Text 8"/>
          <p:cNvSpPr/>
          <p:nvPr/>
        </p:nvSpPr>
        <p:spPr>
          <a:xfrm>
            <a:off x="804672" y="2679192"/>
            <a:ext cx="4910328" cy="274320"/>
          </a:xfrm>
          <a:prstGeom prst="rect">
            <a:avLst/>
          </a:prstGeom>
          <a:noFill/>
          <a:ln/>
        </p:spPr>
        <p:txBody>
          <a:bodyPr wrap="square" lIns="0" tIns="0" rIns="0" bIns="0" rtlCol="0" anchor="t"/>
          <a:lstStyle/>
          <a:p>
            <a:pPr algn="l" indent="0" marL="0">
              <a:buNone/>
            </a:pPr>
            <a:r>
              <a:rPr lang="en-US" sz="1050" b="1" dirty="0">
                <a:solidFill>
                  <a:srgbClr val="1F2A3D"/>
                </a:solidFill>
                <a:latin typeface="Calibri" pitchFamily="34" charset="0"/>
                <a:ea typeface="Calibri" pitchFamily="34" charset="-122"/>
                <a:cs typeface="Calibri" pitchFamily="34" charset="-120"/>
              </a:rPr>
              <a:t>action:  </a:t>
            </a:r>
            <a:pPr algn="l" indent="0" marL="0">
              <a:buNone/>
            </a:pPr>
            <a:r>
              <a:rPr lang="en-US" sz="1050" b="1" dirty="0">
                <a:solidFill>
                  <a:srgbClr val="1F7A55"/>
                </a:solidFill>
                <a:latin typeface="Calibri" pitchFamily="34" charset="0"/>
                <a:ea typeface="Calibri" pitchFamily="34" charset="-122"/>
                <a:cs typeface="Calibri" pitchFamily="34" charset="-120"/>
              </a:rPr>
              <a:t>inherit the route (sticky)</a:t>
            </a:r>
            <a:endParaRPr lang="en-US" sz="1050" dirty="0"/>
          </a:p>
        </p:txBody>
      </p:sp>
      <p:sp>
        <p:nvSpPr>
          <p:cNvPr id="12" name="Shape 9"/>
          <p:cNvSpPr/>
          <p:nvPr/>
        </p:nvSpPr>
        <p:spPr>
          <a:xfrm>
            <a:off x="6217920" y="1417320"/>
            <a:ext cx="5422392" cy="1600200"/>
          </a:xfrm>
          <a:prstGeom prst="roundRect">
            <a:avLst>
              <a:gd name="adj" fmla="val 4000"/>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3" name="Shape 10"/>
          <p:cNvSpPr/>
          <p:nvPr/>
        </p:nvSpPr>
        <p:spPr>
          <a:xfrm>
            <a:off x="6473952" y="1636776"/>
            <a:ext cx="1600200" cy="347472"/>
          </a:xfrm>
          <a:prstGeom prst="roundRect">
            <a:avLst>
              <a:gd name="adj" fmla="val 23684"/>
            </a:avLst>
          </a:prstGeom>
          <a:solidFill>
            <a:srgbClr val="B45309"/>
          </a:solidFill>
          <a:ln/>
        </p:spPr>
      </p:sp>
      <p:sp>
        <p:nvSpPr>
          <p:cNvPr id="14" name="Text 11"/>
          <p:cNvSpPr/>
          <p:nvPr/>
        </p:nvSpPr>
        <p:spPr>
          <a:xfrm>
            <a:off x="6473952" y="1636776"/>
            <a:ext cx="1600200" cy="347472"/>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utility</a:t>
            </a:r>
            <a:endParaRPr lang="en-US" sz="1050" dirty="0"/>
          </a:p>
        </p:txBody>
      </p:sp>
      <p:sp>
        <p:nvSpPr>
          <p:cNvPr id="15" name="Text 12"/>
          <p:cNvSpPr/>
          <p:nvPr/>
        </p:nvSpPr>
        <p:spPr>
          <a:xfrm>
            <a:off x="6473952" y="2130552"/>
            <a:ext cx="4910328" cy="548640"/>
          </a:xfrm>
          <a:prstGeom prst="rect">
            <a:avLst/>
          </a:prstGeom>
          <a:noFill/>
          <a:ln/>
        </p:spPr>
        <p:txBody>
          <a:bodyPr wrap="square" lIns="0" tIns="0" rIns="0" bIns="0" rtlCol="0" anchor="t"/>
          <a:lstStyle/>
          <a:p>
            <a:pPr algn="l" indent="0" marL="0">
              <a:lnSpc>
                <a:spcPct val="105000"/>
              </a:lnSpc>
              <a:buNone/>
            </a:pPr>
            <a:r>
              <a:rPr lang="en-US" sz="1050" b="1" dirty="0">
                <a:solidFill>
                  <a:srgbClr val="1F2A3D"/>
                </a:solidFill>
                <a:latin typeface="Calibri" pitchFamily="34" charset="0"/>
                <a:ea typeface="Calibri" pitchFamily="34" charset="-122"/>
                <a:cs typeface="Calibri" pitchFamily="34" charset="-120"/>
              </a:rPr>
              <a:t>tell:  </a:t>
            </a:r>
            <a:pPr algn="l" indent="0" marL="0">
              <a:lnSpc>
                <a:spcPct val="105000"/>
              </a:lnSpc>
              <a:buNone/>
            </a:pPr>
            <a:r>
              <a:rPr lang="en-US" sz="1050" dirty="0">
                <a:solidFill>
                  <a:srgbClr val="5D6B7E"/>
                </a:solidFill>
                <a:latin typeface="Courier New" pitchFamily="34" charset="0"/>
                <a:ea typeface="Courier New" pitchFamily="34" charset="-122"/>
                <a:cs typeface="Courier New" pitchFamily="34" charset="-120"/>
              </a:rPr>
              <a:t>housekeeping fingerprint: Haiku-class model id · tiny max_tokens · known system prompts</a:t>
            </a:r>
            <a:endParaRPr lang="en-US" sz="1050" dirty="0"/>
          </a:p>
        </p:txBody>
      </p:sp>
      <p:sp>
        <p:nvSpPr>
          <p:cNvPr id="16" name="Text 13"/>
          <p:cNvSpPr/>
          <p:nvPr/>
        </p:nvSpPr>
        <p:spPr>
          <a:xfrm>
            <a:off x="6473952" y="2679192"/>
            <a:ext cx="4910328" cy="274320"/>
          </a:xfrm>
          <a:prstGeom prst="rect">
            <a:avLst/>
          </a:prstGeom>
          <a:noFill/>
          <a:ln/>
        </p:spPr>
        <p:txBody>
          <a:bodyPr wrap="square" lIns="0" tIns="0" rIns="0" bIns="0" rtlCol="0" anchor="t"/>
          <a:lstStyle/>
          <a:p>
            <a:pPr algn="l" indent="0" marL="0">
              <a:buNone/>
            </a:pPr>
            <a:r>
              <a:rPr lang="en-US" sz="1050" b="1" dirty="0">
                <a:solidFill>
                  <a:srgbClr val="1F2A3D"/>
                </a:solidFill>
                <a:latin typeface="Calibri" pitchFamily="34" charset="0"/>
                <a:ea typeface="Calibri" pitchFamily="34" charset="-122"/>
                <a:cs typeface="Calibri" pitchFamily="34" charset="-120"/>
              </a:rPr>
              <a:t>action:  </a:t>
            </a:r>
            <a:pPr algn="l" indent="0" marL="0">
              <a:buNone/>
            </a:pPr>
            <a:r>
              <a:rPr lang="en-US" sz="1050" b="1" dirty="0">
                <a:solidFill>
                  <a:srgbClr val="B45309"/>
                </a:solidFill>
                <a:latin typeface="Calibri" pitchFamily="34" charset="0"/>
                <a:ea typeface="Calibri" pitchFamily="34" charset="-122"/>
                <a:cs typeface="Calibri" pitchFamily="34" charset="-120"/>
              </a:rPr>
              <a:t>light → pin local-small · compaction → by episode rung</a:t>
            </a:r>
            <a:endParaRPr lang="en-US" sz="1050" dirty="0"/>
          </a:p>
        </p:txBody>
      </p:sp>
      <p:sp>
        <p:nvSpPr>
          <p:cNvPr id="17" name="Shape 14"/>
          <p:cNvSpPr/>
          <p:nvPr/>
        </p:nvSpPr>
        <p:spPr>
          <a:xfrm>
            <a:off x="548640" y="3200400"/>
            <a:ext cx="5422392" cy="1600200"/>
          </a:xfrm>
          <a:prstGeom prst="roundRect">
            <a:avLst>
              <a:gd name="adj" fmla="val 4000"/>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8" name="Shape 15"/>
          <p:cNvSpPr/>
          <p:nvPr/>
        </p:nvSpPr>
        <p:spPr>
          <a:xfrm>
            <a:off x="804672" y="3419856"/>
            <a:ext cx="1600200" cy="347472"/>
          </a:xfrm>
          <a:prstGeom prst="roundRect">
            <a:avLst>
              <a:gd name="adj" fmla="val 23684"/>
            </a:avLst>
          </a:prstGeom>
          <a:solidFill>
            <a:srgbClr val="5B21B6"/>
          </a:solidFill>
          <a:ln/>
        </p:spPr>
      </p:sp>
      <p:sp>
        <p:nvSpPr>
          <p:cNvPr id="19" name="Text 16"/>
          <p:cNvSpPr/>
          <p:nvPr/>
        </p:nvSpPr>
        <p:spPr>
          <a:xfrm>
            <a:off x="804672" y="3419856"/>
            <a:ext cx="1600200" cy="347472"/>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subagent</a:t>
            </a:r>
            <a:endParaRPr lang="en-US" sz="1050" dirty="0"/>
          </a:p>
        </p:txBody>
      </p:sp>
      <p:sp>
        <p:nvSpPr>
          <p:cNvPr id="20" name="Text 17"/>
          <p:cNvSpPr/>
          <p:nvPr/>
        </p:nvSpPr>
        <p:spPr>
          <a:xfrm>
            <a:off x="804672" y="3913632"/>
            <a:ext cx="4910328" cy="548640"/>
          </a:xfrm>
          <a:prstGeom prst="rect">
            <a:avLst/>
          </a:prstGeom>
          <a:noFill/>
          <a:ln/>
        </p:spPr>
        <p:txBody>
          <a:bodyPr wrap="square" lIns="0" tIns="0" rIns="0" bIns="0" rtlCol="0" anchor="t"/>
          <a:lstStyle/>
          <a:p>
            <a:pPr algn="l" indent="0" marL="0">
              <a:lnSpc>
                <a:spcPct val="105000"/>
              </a:lnSpc>
              <a:buNone/>
            </a:pPr>
            <a:r>
              <a:rPr lang="en-US" sz="1050" b="1" dirty="0">
                <a:solidFill>
                  <a:srgbClr val="1F2A3D"/>
                </a:solidFill>
                <a:latin typeface="Calibri" pitchFamily="34" charset="0"/>
                <a:ea typeface="Calibri" pitchFamily="34" charset="-122"/>
                <a:cs typeface="Calibri" pitchFamily="34" charset="-120"/>
              </a:rPr>
              <a:t>tell:  </a:t>
            </a:r>
            <a:pPr algn="l" indent="0" marL="0">
              <a:lnSpc>
                <a:spcPct val="105000"/>
              </a:lnSpc>
              <a:buNone/>
            </a:pPr>
            <a:r>
              <a:rPr lang="en-US" sz="1050" dirty="0">
                <a:solidFill>
                  <a:srgbClr val="5D6B7E"/>
                </a:solidFill>
                <a:latin typeface="Courier New" pitchFamily="34" charset="0"/>
                <a:ea typeface="Courier New" pitchFamily="34" charset="-122"/>
                <a:cs typeface="Courier New" pitchFamily="34" charset="-120"/>
              </a:rPr>
              <a:t>fresh system prompt mid-session, or harness subagent markers</a:t>
            </a:r>
            <a:endParaRPr lang="en-US" sz="1050" dirty="0"/>
          </a:p>
        </p:txBody>
      </p:sp>
      <p:sp>
        <p:nvSpPr>
          <p:cNvPr id="21" name="Text 18"/>
          <p:cNvSpPr/>
          <p:nvPr/>
        </p:nvSpPr>
        <p:spPr>
          <a:xfrm>
            <a:off x="804672" y="4462272"/>
            <a:ext cx="4910328" cy="274320"/>
          </a:xfrm>
          <a:prstGeom prst="rect">
            <a:avLst/>
          </a:prstGeom>
          <a:noFill/>
          <a:ln/>
        </p:spPr>
        <p:txBody>
          <a:bodyPr wrap="square" lIns="0" tIns="0" rIns="0" bIns="0" rtlCol="0" anchor="t"/>
          <a:lstStyle/>
          <a:p>
            <a:pPr algn="l" indent="0" marL="0">
              <a:buNone/>
            </a:pPr>
            <a:r>
              <a:rPr lang="en-US" sz="1050" b="1" dirty="0">
                <a:solidFill>
                  <a:srgbClr val="1F2A3D"/>
                </a:solidFill>
                <a:latin typeface="Calibri" pitchFamily="34" charset="0"/>
                <a:ea typeface="Calibri" pitchFamily="34" charset="-122"/>
                <a:cs typeface="Calibri" pitchFamily="34" charset="-120"/>
              </a:rPr>
              <a:t>action:  </a:t>
            </a:r>
            <a:pPr algn="l" indent="0" marL="0">
              <a:buNone/>
            </a:pPr>
            <a:r>
              <a:rPr lang="en-US" sz="1050" b="1" dirty="0">
                <a:solidFill>
                  <a:srgbClr val="5B21B6"/>
                </a:solidFill>
                <a:latin typeface="Calibri" pitchFamily="34" charset="0"/>
                <a:ea typeface="Calibri" pitchFamily="34" charset="-122"/>
                <a:cs typeface="Calibri" pitchFamily="34" charset="-120"/>
              </a:rPr>
              <a:t>route independently, linked session key</a:t>
            </a:r>
            <a:endParaRPr lang="en-US" sz="1050" dirty="0"/>
          </a:p>
        </p:txBody>
      </p:sp>
      <p:sp>
        <p:nvSpPr>
          <p:cNvPr id="22" name="Shape 19"/>
          <p:cNvSpPr/>
          <p:nvPr/>
        </p:nvSpPr>
        <p:spPr>
          <a:xfrm>
            <a:off x="6217920" y="3200400"/>
            <a:ext cx="5422392" cy="1600200"/>
          </a:xfrm>
          <a:prstGeom prst="roundRect">
            <a:avLst>
              <a:gd name="adj" fmla="val 4000"/>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23" name="Shape 20"/>
          <p:cNvSpPr/>
          <p:nvPr/>
        </p:nvSpPr>
        <p:spPr>
          <a:xfrm>
            <a:off x="6473952" y="3419856"/>
            <a:ext cx="1600200" cy="347472"/>
          </a:xfrm>
          <a:prstGeom prst="roundRect">
            <a:avLst>
              <a:gd name="adj" fmla="val 23684"/>
            </a:avLst>
          </a:prstGeom>
          <a:solidFill>
            <a:srgbClr val="1D6FA5"/>
          </a:solidFill>
          <a:ln/>
        </p:spPr>
      </p:sp>
      <p:sp>
        <p:nvSpPr>
          <p:cNvPr id="24" name="Text 21"/>
          <p:cNvSpPr/>
          <p:nvPr/>
        </p:nvSpPr>
        <p:spPr>
          <a:xfrm>
            <a:off x="6473952" y="3419856"/>
            <a:ext cx="1600200" cy="347472"/>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user_turn</a:t>
            </a:r>
            <a:endParaRPr lang="en-US" sz="1050" dirty="0"/>
          </a:p>
        </p:txBody>
      </p:sp>
      <p:sp>
        <p:nvSpPr>
          <p:cNvPr id="25" name="Text 22"/>
          <p:cNvSpPr/>
          <p:nvPr/>
        </p:nvSpPr>
        <p:spPr>
          <a:xfrm>
            <a:off x="6473952" y="3913632"/>
            <a:ext cx="4910328" cy="548640"/>
          </a:xfrm>
          <a:prstGeom prst="rect">
            <a:avLst/>
          </a:prstGeom>
          <a:noFill/>
          <a:ln/>
        </p:spPr>
        <p:txBody>
          <a:bodyPr wrap="square" lIns="0" tIns="0" rIns="0" bIns="0" rtlCol="0" anchor="t"/>
          <a:lstStyle/>
          <a:p>
            <a:pPr algn="l" indent="0" marL="0">
              <a:lnSpc>
                <a:spcPct val="105000"/>
              </a:lnSpc>
              <a:buNone/>
            </a:pPr>
            <a:r>
              <a:rPr lang="en-US" sz="1050" b="1" dirty="0">
                <a:solidFill>
                  <a:srgbClr val="1F2A3D"/>
                </a:solidFill>
                <a:latin typeface="Calibri" pitchFamily="34" charset="0"/>
                <a:ea typeface="Calibri" pitchFamily="34" charset="-122"/>
                <a:cs typeface="Calibri" pitchFamily="34" charset="-120"/>
              </a:rPr>
              <a:t>tell:  </a:t>
            </a:r>
            <a:pPr algn="l" indent="0" marL="0">
              <a:lnSpc>
                <a:spcPct val="105000"/>
              </a:lnSpc>
              <a:buNone/>
            </a:pPr>
            <a:r>
              <a:rPr lang="en-US" sz="1050" dirty="0">
                <a:solidFill>
                  <a:srgbClr val="5D6B7E"/>
                </a:solidFill>
                <a:latin typeface="Courier New" pitchFamily="34" charset="0"/>
                <a:ea typeface="Courier New" pitchFamily="34" charset="-122"/>
                <a:cs typeface="Courier New" pitchFamily="34" charset="-120"/>
              </a:rPr>
              <a:t>everything else where the newest message is genuine human text</a:t>
            </a:r>
            <a:endParaRPr lang="en-US" sz="1050" dirty="0"/>
          </a:p>
        </p:txBody>
      </p:sp>
      <p:sp>
        <p:nvSpPr>
          <p:cNvPr id="26" name="Text 23"/>
          <p:cNvSpPr/>
          <p:nvPr/>
        </p:nvSpPr>
        <p:spPr>
          <a:xfrm>
            <a:off x="6473952" y="4462272"/>
            <a:ext cx="4910328" cy="274320"/>
          </a:xfrm>
          <a:prstGeom prst="rect">
            <a:avLst/>
          </a:prstGeom>
          <a:noFill/>
          <a:ln/>
        </p:spPr>
        <p:txBody>
          <a:bodyPr wrap="square" lIns="0" tIns="0" rIns="0" bIns="0" rtlCol="0" anchor="t"/>
          <a:lstStyle/>
          <a:p>
            <a:pPr algn="l" indent="0" marL="0">
              <a:buNone/>
            </a:pPr>
            <a:r>
              <a:rPr lang="en-US" sz="1050" b="1" dirty="0">
                <a:solidFill>
                  <a:srgbClr val="1F2A3D"/>
                </a:solidFill>
                <a:latin typeface="Calibri" pitchFamily="34" charset="0"/>
                <a:ea typeface="Calibri" pitchFamily="34" charset="-122"/>
                <a:cs typeface="Calibri" pitchFamily="34" charset="-120"/>
              </a:rPr>
              <a:t>action:  </a:t>
            </a:r>
            <a:pPr algn="l" indent="0" marL="0">
              <a:buNone/>
            </a:pPr>
            <a:r>
              <a:rPr lang="en-US" sz="1050" b="1" dirty="0">
                <a:solidFill>
                  <a:srgbClr val="1D6FA5"/>
                </a:solidFill>
                <a:latin typeface="Calibri" pitchFamily="34" charset="0"/>
                <a:ea typeface="Calibri" pitchFamily="34" charset="-122"/>
                <a:cs typeface="Calibri" pitchFamily="34" charset="-120"/>
              </a:rPr>
              <a:t>full policy decision</a:t>
            </a:r>
            <a:endParaRPr lang="en-US" sz="1050" dirty="0"/>
          </a:p>
        </p:txBody>
      </p:sp>
      <p:sp>
        <p:nvSpPr>
          <p:cNvPr id="27" name="Shape 24"/>
          <p:cNvSpPr/>
          <p:nvPr/>
        </p:nvSpPr>
        <p:spPr>
          <a:xfrm>
            <a:off x="548640" y="5074920"/>
            <a:ext cx="11091672" cy="1051560"/>
          </a:xfrm>
          <a:prstGeom prst="roundRect">
            <a:avLst>
              <a:gd name="adj" fmla="val 6087"/>
            </a:avLst>
          </a:prstGeom>
          <a:solidFill>
            <a:srgbClr val="E4EEF6"/>
          </a:solidFill>
          <a:ln/>
          <a:effectLst>
            <a:outerShdw sx="100000" sy="100000" kx="0" ky="0" algn="bl" rotWithShape="0" blurRad="88900" dist="25400" dir="2700000">
              <a:srgbClr val="1F2A3D">
                <a:alpha val="14000"/>
              </a:srgbClr>
            </a:outerShdw>
          </a:effectLst>
        </p:spPr>
      </p:sp>
      <p:sp>
        <p:nvSpPr>
          <p:cNvPr id="28" name="Shape 25"/>
          <p:cNvSpPr/>
          <p:nvPr/>
        </p:nvSpPr>
        <p:spPr>
          <a:xfrm>
            <a:off x="822960" y="5330952"/>
            <a:ext cx="502920" cy="502920"/>
          </a:xfrm>
          <a:prstGeom prst="ellipse">
            <a:avLst/>
          </a:prstGeom>
          <a:solidFill>
            <a:srgbClr val="1D6FA5"/>
          </a:solidFill>
          <a:ln/>
        </p:spPr>
      </p:sp>
      <p:pic>
        <p:nvPicPr>
          <p:cNvPr id="29" name="Image 0" descr="preencoded.png">    </p:cNvPr>
          <p:cNvPicPr>
            <a:picLocks noChangeAspect="1"/>
          </p:cNvPicPr>
          <p:nvPr/>
        </p:nvPicPr>
        <p:blipFill>
          <a:blip r:embed="rId1"/>
          <a:stretch>
            <a:fillRect/>
          </a:stretch>
        </p:blipFill>
        <p:spPr>
          <a:xfrm>
            <a:off x="953719" y="5461711"/>
            <a:ext cx="241402" cy="241402"/>
          </a:xfrm>
          <a:prstGeom prst="rect">
            <a:avLst/>
          </a:prstGeom>
        </p:spPr>
      </p:pic>
      <p:sp>
        <p:nvSpPr>
          <p:cNvPr id="30" name="Text 26"/>
          <p:cNvSpPr/>
          <p:nvPr/>
        </p:nvSpPr>
        <p:spPr>
          <a:xfrm>
            <a:off x="1554480" y="5285232"/>
            <a:ext cx="9784080" cy="777240"/>
          </a:xfrm>
          <a:prstGeom prst="rect">
            <a:avLst/>
          </a:prstGeom>
          <a:noFill/>
          <a:ln/>
        </p:spPr>
        <p:txBody>
          <a:bodyPr wrap="square" lIns="0" tIns="0" rIns="0" bIns="0" rtlCol="0" anchor="t"/>
          <a:lstStyle/>
          <a:p>
            <a:pPr algn="l" indent="0" marL="0">
              <a:lnSpc>
                <a:spcPct val="112000"/>
              </a:lnSpc>
              <a:buNone/>
            </a:pPr>
            <a:r>
              <a:rPr lang="en-US" sz="1300" b="1" dirty="0">
                <a:solidFill>
                  <a:srgbClr val="1F2A3D"/>
                </a:solidFill>
                <a:latin typeface="Calibri" pitchFamily="34" charset="0"/>
                <a:ea typeface="Calibri" pitchFamily="34" charset="-122"/>
                <a:cs typeface="Calibri" pitchFamily="34" charset="-120"/>
              </a:rPr>
              <a:t>Design rule: when unsure, label user_turn.</a:t>
            </a:r>
            <a:endParaRPr lang="en-US" sz="1300" dirty="0"/>
          </a:p>
          <a:p>
            <a:pPr algn="l" indent="0" marL="0">
              <a:lnSpc>
                <a:spcPct val="112000"/>
              </a:lnSpc>
              <a:buNone/>
            </a:pPr>
            <a:r>
              <a:rPr lang="en-US" sz="1150" dirty="0">
                <a:solidFill>
                  <a:srgbClr val="5D6B7E"/>
                </a:solidFill>
                <a:latin typeface="Calibri" pitchFamily="34" charset="0"/>
                <a:ea typeface="Calibri" pitchFamily="34" charset="-122"/>
                <a:cs typeface="Calibri" pitchFamily="34" charset="-120"/>
              </a:rPr>
              <a:t>Worst case you make one extra routing decision. The reverse mistake — treating a real turn as a continuation — silently keeps a bad route alive.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PART 2 · THE DECISION PATH · EXAMPLE</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Cold open: one keystroke, three requests (S1)</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scenario S1 · design doc §10 Phase 1</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13</a:t>
            </a:r>
            <a:endParaRPr lang="en-US" sz="900" dirty="0"/>
          </a:p>
        </p:txBody>
      </p:sp>
      <p:sp>
        <p:nvSpPr>
          <p:cNvPr id="7" name="Shape 4"/>
          <p:cNvSpPr/>
          <p:nvPr/>
        </p:nvSpPr>
        <p:spPr>
          <a:xfrm>
            <a:off x="548640" y="1417320"/>
            <a:ext cx="6858000" cy="4206240"/>
          </a:xfrm>
          <a:prstGeom prst="roundRect">
            <a:avLst>
              <a:gd name="adj" fmla="val 1522"/>
            </a:avLst>
          </a:prstGeom>
          <a:solidFill>
            <a:srgbClr val="101D31"/>
          </a:solidFill>
          <a:ln/>
          <a:effectLst>
            <a:outerShdw sx="100000" sy="100000" kx="0" ky="0" algn="bl" rotWithShape="0" blurRad="88900" dist="25400" dir="2700000">
              <a:srgbClr val="1F2A3D">
                <a:alpha val="14000"/>
              </a:srgbClr>
            </a:outerShdw>
          </a:effectLst>
        </p:spPr>
      </p:sp>
      <p:sp>
        <p:nvSpPr>
          <p:cNvPr id="8" name="Text 5"/>
          <p:cNvSpPr/>
          <p:nvPr/>
        </p:nvSpPr>
        <p:spPr>
          <a:xfrm>
            <a:off x="749808" y="1563624"/>
            <a:ext cx="6455664" cy="3913632"/>
          </a:xfrm>
          <a:prstGeom prst="rect">
            <a:avLst/>
          </a:prstGeom>
          <a:noFill/>
          <a:ln/>
        </p:spPr>
        <p:txBody>
          <a:bodyPr wrap="square" lIns="0" tIns="0" rIns="0" bIns="0" rtlCol="0" anchor="ctr"/>
          <a:lstStyle/>
          <a:p>
            <a:pPr indent="0" marL="0">
              <a:lnSpc>
                <a:spcPct val="112000"/>
              </a:lnSpc>
              <a:buNone/>
            </a:pPr>
            <a:r>
              <a:rPr lang="en-US" sz="1000" b="1" dirty="0">
                <a:solidFill>
                  <a:srgbClr val="EFCB84"/>
                </a:solidFill>
                <a:latin typeface="Courier New" pitchFamily="34" charset="0"/>
                <a:ea typeface="Courier New" pitchFamily="34" charset="-122"/>
                <a:cs typeface="Courier New" pitchFamily="34" charset="-120"/>
              </a:rPr>
              <a:t>REQ 1+2 — background housekeeping (user never sees these)</a:t>
            </a:r>
            <a:endParaRPr lang="en-US" sz="1000" dirty="0"/>
          </a:p>
          <a:p>
            <a:pPr indent="0" marL="0">
              <a:lnSpc>
                <a:spcPct val="112000"/>
              </a:lnSpc>
              <a:buNone/>
            </a:pPr>
            <a:r>
              <a:rPr lang="en-US" sz="1000" dirty="0">
                <a:solidFill>
                  <a:srgbClr val="D9E4F3"/>
                </a:solidFill>
                <a:latin typeface="Courier New" pitchFamily="34" charset="0"/>
                <a:ea typeface="Courier New" pitchFamily="34" charset="-122"/>
                <a:cs typeface="Courier New" pitchFamily="34" charset="-120"/>
              </a:rPr>
              <a:t>POST /v1/messages  {"model":"claude-haiku-4-5", "max_tokens":512,</a:t>
            </a:r>
            <a:endParaRPr lang="en-US" sz="1000" dirty="0"/>
          </a:p>
          <a:p>
            <a:pPr indent="0" marL="0">
              <a:lnSpc>
                <a:spcPct val="112000"/>
              </a:lnSpc>
              <a:buNone/>
            </a:pPr>
            <a:r>
              <a:rPr lang="en-US" sz="1000" dirty="0">
                <a:solidFill>
                  <a:srgbClr val="D9E4F3"/>
                </a:solidFill>
                <a:latin typeface="Courier New" pitchFamily="34" charset="0"/>
                <a:ea typeface="Courier New" pitchFamily="34" charset="-122"/>
                <a:cs typeface="Courier New" pitchFamily="34" charset="-120"/>
              </a:rPr>
              <a:t>  "system":[…"Analyze if this message indicates a new topic…"…]}</a:t>
            </a:r>
            <a:endParaRPr lang="en-US" sz="1000" dirty="0"/>
          </a:p>
          <a:p>
            <a:pPr indent="0" marL="0">
              <a:lnSpc>
                <a:spcPct val="112000"/>
              </a:lnSpc>
              <a:buNone/>
            </a:pPr>
            <a:r>
              <a:rPr lang="en-US" sz="1000" b="1" dirty="0">
                <a:solidFill>
                  <a:srgbClr val="8ED6AC"/>
                </a:solidFill>
                <a:latin typeface="Courier New" pitchFamily="34" charset="0"/>
                <a:ea typeface="Courier New" pitchFamily="34" charset="-122"/>
                <a:cs typeface="Courier New" pitchFamily="34" charset="-120"/>
              </a:rPr>
              <a:t>   → fingerprint match: utility  →  model = local-small   (~0.2 ms)</a:t>
            </a:r>
            <a:endParaRPr lang="en-US" sz="1000" dirty="0"/>
          </a:p>
          <a:p>
            <a:pPr indent="0" marL="0">
              <a:lnSpc>
                <a:spcPct val="112000"/>
              </a:lnSpc>
              <a:buNone/>
            </a:pPr>
            <a:r>
              <a:rPr lang="en-US" sz="1000" dirty="0">
                <a:solidFill>
                  <a:srgbClr val="D9E4F3"/>
                </a:solidFill>
                <a:latin typeface="Courier New" pitchFamily="34" charset="0"/>
                <a:ea typeface="Courier New" pitchFamily="34" charset="-122"/>
                <a:cs typeface="Courier New" pitchFamily="34" charset="-120"/>
              </a:rPr>
              <a:t> </a:t>
            </a:r>
            <a:endParaRPr lang="en-US" sz="1000" dirty="0"/>
          </a:p>
          <a:p>
            <a:pPr indent="0" marL="0">
              <a:lnSpc>
                <a:spcPct val="112000"/>
              </a:lnSpc>
              <a:buNone/>
            </a:pPr>
            <a:r>
              <a:rPr lang="en-US" sz="1000" b="1" dirty="0">
                <a:solidFill>
                  <a:srgbClr val="EFCB84"/>
                </a:solidFill>
                <a:latin typeface="Courier New" pitchFamily="34" charset="0"/>
                <a:ea typeface="Courier New" pitchFamily="34" charset="-122"/>
                <a:cs typeface="Courier New" pitchFamily="34" charset="-120"/>
              </a:rPr>
              <a:t>REQ 3 — the real turn</a:t>
            </a:r>
            <a:endParaRPr lang="en-US" sz="1000" dirty="0"/>
          </a:p>
          <a:p>
            <a:pPr indent="0" marL="0">
              <a:lnSpc>
                <a:spcPct val="112000"/>
              </a:lnSpc>
              <a:buNone/>
            </a:pPr>
            <a:r>
              <a:rPr lang="en-US" sz="1000" dirty="0">
                <a:solidFill>
                  <a:srgbClr val="D9E4F3"/>
                </a:solidFill>
                <a:latin typeface="Courier New" pitchFamily="34" charset="0"/>
                <a:ea typeface="Courier New" pitchFamily="34" charset="-122"/>
                <a:cs typeface="Courier New" pitchFamily="34" charset="-120"/>
              </a:rPr>
              <a:t>POST /v1/messages  {"model":"adaptive-code",   // our alias</a:t>
            </a:r>
            <a:endParaRPr lang="en-US" sz="1000" dirty="0"/>
          </a:p>
          <a:p>
            <a:pPr indent="0" marL="0">
              <a:lnSpc>
                <a:spcPct val="112000"/>
              </a:lnSpc>
              <a:buNone/>
            </a:pPr>
            <a:r>
              <a:rPr lang="en-US" sz="1000" dirty="0">
                <a:solidFill>
                  <a:srgbClr val="D9E4F3"/>
                </a:solidFill>
                <a:latin typeface="Courier New" pitchFamily="34" charset="0"/>
                <a:ea typeface="Courier New" pitchFamily="34" charset="-122"/>
                <a:cs typeface="Courier New" pitchFamily="34" charset="-120"/>
              </a:rPr>
              <a:t>  "system":[CC prompt + &lt;env&gt; …, cache_control: ephemeral],</a:t>
            </a:r>
            <a:endParaRPr lang="en-US" sz="1000" dirty="0"/>
          </a:p>
          <a:p>
            <a:pPr indent="0" marL="0">
              <a:lnSpc>
                <a:spcPct val="112000"/>
              </a:lnSpc>
              <a:buNone/>
            </a:pPr>
            <a:r>
              <a:rPr lang="en-US" sz="1000" dirty="0">
                <a:solidFill>
                  <a:srgbClr val="D9E4F3"/>
                </a:solidFill>
                <a:latin typeface="Courier New" pitchFamily="34" charset="0"/>
                <a:ea typeface="Courier New" pitchFamily="34" charset="-122"/>
                <a:cs typeface="Courier New" pitchFamily="34" charset="-120"/>
              </a:rPr>
              <a:t>  "tools":[Bash, Read, Edit, Grep, … ~15 defs ≈ 10k tok],</a:t>
            </a:r>
            <a:endParaRPr lang="en-US" sz="1000" dirty="0"/>
          </a:p>
          <a:p>
            <a:pPr indent="0" marL="0">
              <a:lnSpc>
                <a:spcPct val="112000"/>
              </a:lnSpc>
              <a:buNone/>
            </a:pPr>
            <a:r>
              <a:rPr lang="en-US" sz="1000" dirty="0">
                <a:solidFill>
                  <a:srgbClr val="D9E4F3"/>
                </a:solidFill>
                <a:latin typeface="Courier New" pitchFamily="34" charset="0"/>
                <a:ea typeface="Courier New" pitchFamily="34" charset="-122"/>
                <a:cs typeface="Courier New" pitchFamily="34" charset="-120"/>
              </a:rPr>
              <a:t>  "metadata":{"user_id":"a1f3…"},   // ← session keying</a:t>
            </a:r>
            <a:endParaRPr lang="en-US" sz="1000" dirty="0"/>
          </a:p>
          <a:p>
            <a:pPr indent="0" marL="0">
              <a:lnSpc>
                <a:spcPct val="112000"/>
              </a:lnSpc>
              <a:buNone/>
            </a:pPr>
            <a:r>
              <a:rPr lang="en-US" sz="1000" dirty="0">
                <a:solidFill>
                  <a:srgbClr val="D9E4F3"/>
                </a:solidFill>
                <a:latin typeface="Courier New" pitchFamily="34" charset="0"/>
                <a:ea typeface="Courier New" pitchFamily="34" charset="-122"/>
                <a:cs typeface="Courier New" pitchFamily="34" charset="-120"/>
              </a:rPr>
              <a:t>  "messages":[{"role":"user","content":"what does this repo do?"}]}</a:t>
            </a:r>
            <a:endParaRPr lang="en-US" sz="1000" dirty="0"/>
          </a:p>
          <a:p>
            <a:pPr indent="0" marL="0">
              <a:lnSpc>
                <a:spcPct val="112000"/>
              </a:lnSpc>
              <a:buNone/>
            </a:pPr>
            <a:r>
              <a:rPr lang="en-US" sz="1000" dirty="0">
                <a:solidFill>
                  <a:srgbClr val="8ED6AC"/>
                </a:solidFill>
                <a:latin typeface="Courier New" pitchFamily="34" charset="0"/>
                <a:ea typeface="Courier New" pitchFamily="34" charset="-122"/>
                <a:cs typeface="Courier New" pitchFamily="34" charset="-120"/>
              </a:rPr>
              <a:t>   → user_turn → gates pass → heuristic 0.22 &lt; T_EASY</a:t>
            </a:r>
            <a:endParaRPr lang="en-US" sz="1000" dirty="0"/>
          </a:p>
          <a:p>
            <a:pPr indent="0" marL="0">
              <a:lnSpc>
                <a:spcPct val="112000"/>
              </a:lnSpc>
              <a:buNone/>
            </a:pPr>
            <a:r>
              <a:rPr lang="en-US" sz="1000" b="1" dirty="0">
                <a:solidFill>
                  <a:srgbClr val="8ED6AC"/>
                </a:solidFill>
                <a:latin typeface="Courier New" pitchFamily="34" charset="0"/>
                <a:ea typeface="Courier New" pitchFamily="34" charset="-122"/>
                <a:cs typeface="Courier New" pitchFamily="34" charset="-120"/>
              </a:rPr>
              <a:t>   → local-code, cascade armed</a:t>
            </a:r>
            <a:endParaRPr lang="en-US" sz="1000" dirty="0"/>
          </a:p>
        </p:txBody>
      </p:sp>
      <p:sp>
        <p:nvSpPr>
          <p:cNvPr id="9" name="Shape 6"/>
          <p:cNvSpPr/>
          <p:nvPr/>
        </p:nvSpPr>
        <p:spPr>
          <a:xfrm>
            <a:off x="7772400" y="1417320"/>
            <a:ext cx="3886200" cy="2011680"/>
          </a:xfrm>
          <a:prstGeom prst="roundRect">
            <a:avLst>
              <a:gd name="adj" fmla="val 3182"/>
            </a:avLst>
          </a:prstGeom>
          <a:solidFill>
            <a:srgbClr val="FBEFDC"/>
          </a:solidFill>
          <a:ln/>
          <a:effectLst>
            <a:outerShdw sx="100000" sy="100000" kx="0" ky="0" algn="bl" rotWithShape="0" blurRad="88900" dist="25400" dir="2700000">
              <a:srgbClr val="1F2A3D">
                <a:alpha val="14000"/>
              </a:srgbClr>
            </a:outerShdw>
          </a:effectLst>
        </p:spPr>
      </p:sp>
      <p:sp>
        <p:nvSpPr>
          <p:cNvPr id="10" name="Text 7"/>
          <p:cNvSpPr/>
          <p:nvPr/>
        </p:nvSpPr>
        <p:spPr>
          <a:xfrm>
            <a:off x="8010144" y="1600200"/>
            <a:ext cx="3410712" cy="320040"/>
          </a:xfrm>
          <a:prstGeom prst="rect">
            <a:avLst/>
          </a:prstGeom>
          <a:noFill/>
          <a:ln/>
        </p:spPr>
        <p:txBody>
          <a:bodyPr wrap="square" lIns="0" tIns="0" rIns="0" bIns="0" rtlCol="0" anchor="t"/>
          <a:lstStyle/>
          <a:p>
            <a:pPr algn="l" indent="0" marL="0">
              <a:buNone/>
            </a:pPr>
            <a:r>
              <a:rPr lang="en-US" sz="1250" b="1" dirty="0">
                <a:solidFill>
                  <a:srgbClr val="1F2A3D"/>
                </a:solidFill>
                <a:latin typeface="Calibri" pitchFamily="34" charset="0"/>
                <a:ea typeface="Calibri" pitchFamily="34" charset="-122"/>
                <a:cs typeface="Calibri" pitchFamily="34" charset="-120"/>
              </a:rPr>
              <a:t>Why utility pinning is Phase 1</a:t>
            </a:r>
            <a:endParaRPr lang="en-US" sz="1250" dirty="0"/>
          </a:p>
        </p:txBody>
      </p:sp>
      <p:sp>
        <p:nvSpPr>
          <p:cNvPr id="11" name="Text 8"/>
          <p:cNvSpPr/>
          <p:nvPr/>
        </p:nvSpPr>
        <p:spPr>
          <a:xfrm>
            <a:off x="8010144" y="1965960"/>
            <a:ext cx="3410712" cy="1371600"/>
          </a:xfrm>
          <a:prstGeom prst="rect">
            <a:avLst/>
          </a:prstGeom>
          <a:noFill/>
          <a:ln/>
        </p:spPr>
        <p:txBody>
          <a:bodyPr wrap="square" lIns="0" tIns="0" rIns="0" bIns="0" rtlCol="0" anchor="t"/>
          <a:lstStyle/>
          <a:p>
            <a:pPr algn="l" indent="0" marL="0">
              <a:lnSpc>
                <a:spcPct val="112000"/>
              </a:lnSpc>
              <a:buNone/>
            </a:pPr>
            <a:r>
              <a:rPr lang="en-US" sz="1050" dirty="0">
                <a:solidFill>
                  <a:srgbClr val="5D6B7E"/>
                </a:solidFill>
                <a:latin typeface="Calibri" pitchFamily="34" charset="0"/>
                <a:ea typeface="Calibri" pitchFamily="34" charset="-122"/>
                <a:cs typeface="Calibri" pitchFamily="34" charset="-120"/>
              </a:rPr>
              <a:t>Zero risk (worst case: uglier session titles), instant savings — these calls fire on every keystroke-turn. But you must (a) map the Haiku-class ID in LiteLLM so they don't 400, and (b) fingerprint them.</a:t>
            </a:r>
            <a:endParaRPr lang="en-US" sz="1050" dirty="0"/>
          </a:p>
        </p:txBody>
      </p:sp>
      <p:sp>
        <p:nvSpPr>
          <p:cNvPr id="12" name="Shape 9"/>
          <p:cNvSpPr/>
          <p:nvPr/>
        </p:nvSpPr>
        <p:spPr>
          <a:xfrm>
            <a:off x="7772400" y="3611880"/>
            <a:ext cx="3886200" cy="2011680"/>
          </a:xfrm>
          <a:prstGeom prst="roundRect">
            <a:avLst>
              <a:gd name="adj" fmla="val 3182"/>
            </a:avLst>
          </a:prstGeom>
          <a:solidFill>
            <a:srgbClr val="F3F6F9"/>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3" name="Text 10"/>
          <p:cNvSpPr/>
          <p:nvPr/>
        </p:nvSpPr>
        <p:spPr>
          <a:xfrm>
            <a:off x="8010144" y="3794760"/>
            <a:ext cx="3410712" cy="320040"/>
          </a:xfrm>
          <a:prstGeom prst="rect">
            <a:avLst/>
          </a:prstGeom>
          <a:noFill/>
          <a:ln/>
        </p:spPr>
        <p:txBody>
          <a:bodyPr wrap="square" lIns="0" tIns="0" rIns="0" bIns="0" rtlCol="0" anchor="t"/>
          <a:lstStyle/>
          <a:p>
            <a:pPr algn="l" indent="0" marL="0">
              <a:buNone/>
            </a:pPr>
            <a:r>
              <a:rPr lang="en-US" sz="1250" b="1" dirty="0">
                <a:solidFill>
                  <a:srgbClr val="B3261E"/>
                </a:solidFill>
                <a:latin typeface="Calibri" pitchFamily="34" charset="0"/>
                <a:ea typeface="Calibri" pitchFamily="34" charset="-122"/>
                <a:cs typeface="Calibri" pitchFamily="34" charset="-120"/>
              </a:rPr>
              <a:t>If you skip it</a:t>
            </a:r>
            <a:endParaRPr lang="en-US" sz="1250" dirty="0"/>
          </a:p>
        </p:txBody>
      </p:sp>
      <p:sp>
        <p:nvSpPr>
          <p:cNvPr id="14" name="Text 11"/>
          <p:cNvSpPr/>
          <p:nvPr/>
        </p:nvSpPr>
        <p:spPr>
          <a:xfrm>
            <a:off x="8010144" y="4160520"/>
            <a:ext cx="3410712" cy="1280160"/>
          </a:xfrm>
          <a:prstGeom prst="rect">
            <a:avLst/>
          </a:prstGeom>
          <a:noFill/>
          <a:ln/>
        </p:spPr>
        <p:txBody>
          <a:bodyPr wrap="square" lIns="0" tIns="0" rIns="0" bIns="0" rtlCol="0" anchor="t"/>
          <a:lstStyle/>
          <a:p>
            <a:pPr algn="l" indent="0" marL="0">
              <a:lnSpc>
                <a:spcPct val="112000"/>
              </a:lnSpc>
              <a:buNone/>
            </a:pPr>
            <a:r>
              <a:rPr lang="en-US" sz="1050" dirty="0">
                <a:solidFill>
                  <a:srgbClr val="5D6B7E"/>
                </a:solidFill>
                <a:latin typeface="Calibri" pitchFamily="34" charset="0"/>
                <a:ea typeface="Calibri" pitchFamily="34" charset="-122"/>
                <a:cs typeface="Calibri" pitchFamily="34" charset="-120"/>
              </a:rPr>
              <a:t>Your router earnestly runs difficulty heuristics on terminal-title generation — and background calls hitting an unmapped model ID make Claude Code itself flaky.</a:t>
            </a:r>
            <a:endParaRPr lang="en-US" sz="1050" dirty="0"/>
          </a:p>
        </p:txBody>
      </p:sp>
      <p:sp>
        <p:nvSpPr>
          <p:cNvPr id="15" name="Text 12"/>
          <p:cNvSpPr/>
          <p:nvPr/>
        </p:nvSpPr>
        <p:spPr>
          <a:xfrm>
            <a:off x="548640" y="5852160"/>
            <a:ext cx="10881360" cy="274320"/>
          </a:xfrm>
          <a:prstGeom prst="rect">
            <a:avLst/>
          </a:prstGeom>
          <a:noFill/>
          <a:ln/>
        </p:spPr>
        <p:txBody>
          <a:bodyPr wrap="square" lIns="0" tIns="0" rIns="0" bIns="0" rtlCol="0" anchor="t"/>
          <a:lstStyle/>
          <a:p>
            <a:pPr algn="l" indent="0" marL="0">
              <a:buNone/>
            </a:pPr>
            <a:r>
              <a:rPr lang="en-US" sz="1200" i="1" dirty="0">
                <a:solidFill>
                  <a:srgbClr val="5D6B7E"/>
                </a:solidFill>
                <a:latin typeface="Calibri" pitchFamily="34" charset="0"/>
                <a:ea typeface="Calibri" pitchFamily="34" charset="-122"/>
                <a:cs typeface="Calibri" pitchFamily="34" charset="-120"/>
              </a:rPr>
              <a:t>Outcome: 3 sticky continuations later — fully local, $0.00, ~28 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PART 2 · THE DECISION PATH</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Feature extractor: a small vector of facts in &lt;10 ms</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design doc §5.2</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14</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2286000"/>
                <a:gridCol w="5148072"/>
                <a:gridCol w="3657600"/>
              </a:tblGrid>
              <a:tr h="65836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Family</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20334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Example features</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20334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Why it matters</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20334F"/>
                    </a:solidFill>
                  </a:tcPr>
                </a:tc>
              </a:tr>
              <a:tr h="658368">
                <a:tc>
                  <a:txBody>
                    <a:bodyPr/>
                    <a:lstStyle/>
                    <a:p>
                      <a:pPr indent="0" marL="0">
                        <a:buNone/>
                      </a:pPr>
                      <a:r>
                        <a:rPr lang="en-US" sz="1000" b="1" dirty="0">
                          <a:solidFill>
                            <a:srgbClr val="1F2A3D"/>
                          </a:solidFill>
                          <a:latin typeface="Calibri" pitchFamily="34" charset="0"/>
                          <a:ea typeface="Calibri" pitchFamily="34" charset="-122"/>
                          <a:cs typeface="Calibri" pitchFamily="34" charset="-120"/>
                        </a:rPr>
                        <a:t>Intent — from the isolated human sentence only</a:t>
                      </a:r>
                      <a:endParaRPr lang="en-US" sz="10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00" dirty="0">
                          <a:solidFill>
                            <a:srgbClr val="1F2A3D"/>
                          </a:solidFill>
                          <a:latin typeface="Calibri" pitchFamily="34" charset="0"/>
                          <a:ea typeface="Calibri" pitchFamily="34" charset="-122"/>
                          <a:cs typeface="Calibri" pitchFamily="34" charset="-120"/>
                        </a:rPr>
                        <a:t>verb class (rename/explain vs refactor/debug) · scope words (“this function” vs “across the codebase”) · file mentions · question vs command</a:t>
                      </a:r>
                      <a:endParaRPr lang="en-US" sz="10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00" dirty="0">
                          <a:solidFill>
                            <a:srgbClr val="1F2A3D"/>
                          </a:solidFill>
                          <a:latin typeface="Calibri" pitchFamily="34" charset="0"/>
                          <a:ea typeface="Calibri" pitchFamily="34" charset="-122"/>
                          <a:cs typeface="Calibri" pitchFamily="34" charset="-120"/>
                        </a:rPr>
                        <a:t>The closest thing to “task difficulty” available upfront</a:t>
                      </a:r>
                      <a:endParaRPr lang="en-US" sz="10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r h="658368">
                <a:tc>
                  <a:txBody>
                    <a:bodyPr/>
                    <a:lstStyle/>
                    <a:p>
                      <a:pPr indent="0" marL="0">
                        <a:buNone/>
                      </a:pPr>
                      <a:r>
                        <a:rPr lang="en-US" sz="1000" b="1" dirty="0">
                          <a:solidFill>
                            <a:srgbClr val="1F2A3D"/>
                          </a:solidFill>
                          <a:latin typeface="Calibri" pitchFamily="34" charset="0"/>
                          <a:ea typeface="Calibri" pitchFamily="34" charset="-122"/>
                          <a:cs typeface="Calibri" pitchFamily="34" charset="-120"/>
                        </a:rPr>
                        <a:t>Context</a:t>
                      </a:r>
                      <a:endParaRPr lang="en-US" sz="10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00" dirty="0">
                          <a:solidFill>
                            <a:srgbClr val="1F2A3D"/>
                          </a:solidFill>
                          <a:latin typeface="Calibri" pitchFamily="34" charset="0"/>
                          <a:ea typeface="Calibri" pitchFamily="34" charset="-122"/>
                          <a:cs typeface="Calibri" pitchFamily="34" charset="-120"/>
                        </a:rPr>
                        <a:t>total prompt tokens · # files in context · cumulative diff size this episode</a:t>
                      </a:r>
                      <a:endParaRPr lang="en-US" sz="10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00" dirty="0">
                          <a:solidFill>
                            <a:srgbClr val="1F2A3D"/>
                          </a:solidFill>
                          <a:latin typeface="Calibri" pitchFamily="34" charset="0"/>
                          <a:ea typeface="Calibri" pitchFamily="34" charset="-122"/>
                          <a:cs typeface="Calibri" pitchFamily="34" charset="-120"/>
                        </a:rPr>
                        <a:t>Feasibility: can the local rung even fit this?</a:t>
                      </a:r>
                      <a:endParaRPr lang="en-US" sz="10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r h="658368">
                <a:tc>
                  <a:txBody>
                    <a:bodyPr/>
                    <a:lstStyle/>
                    <a:p>
                      <a:pPr indent="0" marL="0">
                        <a:buNone/>
                      </a:pPr>
                      <a:r>
                        <a:rPr lang="en-US" sz="1000" b="1" dirty="0">
                          <a:solidFill>
                            <a:srgbClr val="1D6FA5"/>
                          </a:solidFill>
                          <a:latin typeface="Calibri" pitchFamily="34" charset="0"/>
                          <a:ea typeface="Calibri" pitchFamily="34" charset="-122"/>
                          <a:cs typeface="Calibri" pitchFamily="34" charset="-120"/>
                        </a:rPr>
                        <a:t>Trajectory</a:t>
                      </a:r>
                      <a:endParaRPr lang="en-US" sz="10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00" dirty="0">
                          <a:solidFill>
                            <a:srgbClr val="1F2A3D"/>
                          </a:solidFill>
                          <a:latin typeface="Calibri" pitchFamily="34" charset="0"/>
                          <a:ea typeface="Calibri" pitchFamily="34" charset="-122"/>
                          <a:cs typeface="Calibri" pitchFamily="34" charset="-120"/>
                        </a:rPr>
                        <a:t>turn index · tool-error rate last N calls · edit-apply failures · loop signals · previous turn escalated?</a:t>
                      </a:r>
                      <a:endParaRPr lang="en-US" sz="10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00" b="1" dirty="0">
                          <a:solidFill>
                            <a:srgbClr val="1D6FA5"/>
                          </a:solidFill>
                          <a:latin typeface="Calibri" pitchFamily="34" charset="0"/>
                          <a:ea typeface="Calibri" pitchFamily="34" charset="-122"/>
                          <a:cs typeface="Calibri" pitchFamily="34" charset="-120"/>
                        </a:rPr>
                        <a:t>The signal chat-routers don't have. A session going badly should not go back to the junior doctor.</a:t>
                      </a:r>
                      <a:endParaRPr lang="en-US" sz="10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r h="658368">
                <a:tc>
                  <a:txBody>
                    <a:bodyPr/>
                    <a:lstStyle/>
                    <a:p>
                      <a:pPr indent="0" marL="0">
                        <a:buNone/>
                      </a:pPr>
                      <a:r>
                        <a:rPr lang="en-US" sz="1000" b="1" dirty="0">
                          <a:solidFill>
                            <a:srgbClr val="1F2A3D"/>
                          </a:solidFill>
                          <a:latin typeface="Calibri" pitchFamily="34" charset="0"/>
                          <a:ea typeface="Calibri" pitchFamily="34" charset="-122"/>
                          <a:cs typeface="Calibri" pitchFamily="34" charset="-120"/>
                        </a:rPr>
                        <a:t>Repo</a:t>
                      </a:r>
                      <a:endParaRPr lang="en-US" sz="10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00" dirty="0">
                          <a:solidFill>
                            <a:srgbClr val="1F2A3D"/>
                          </a:solidFill>
                          <a:latin typeface="Calibri" pitchFamily="34" charset="0"/>
                          <a:ea typeface="Calibri" pitchFamily="34" charset="-122"/>
                          <a:cs typeface="Calibri" pitchFamily="34" charset="-120"/>
                        </a:rPr>
                        <a:t>language · tests present · repo size (cached per workspace)</a:t>
                      </a:r>
                      <a:endParaRPr lang="en-US" sz="10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00" dirty="0">
                          <a:solidFill>
                            <a:srgbClr val="1F2A3D"/>
                          </a:solidFill>
                          <a:latin typeface="Calibri" pitchFamily="34" charset="0"/>
                          <a:ea typeface="Calibri" pitchFamily="34" charset="-122"/>
                          <a:cs typeface="Calibri" pitchFamily="34" charset="-120"/>
                        </a:rPr>
                        <a:t>Some stacks are reliably easy/hard for the local model</a:t>
                      </a:r>
                      <a:endParaRPr lang="en-US" sz="10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r h="658368">
                <a:tc>
                  <a:txBody>
                    <a:bodyPr/>
                    <a:lstStyle/>
                    <a:p>
                      <a:pPr indent="0" marL="0">
                        <a:buNone/>
                      </a:pPr>
                      <a:r>
                        <a:rPr lang="en-US" sz="1000" b="1" dirty="0">
                          <a:solidFill>
                            <a:srgbClr val="B3261E"/>
                          </a:solidFill>
                          <a:latin typeface="Calibri" pitchFamily="34" charset="0"/>
                          <a:ea typeface="Calibri" pitchFamily="34" charset="-122"/>
                          <a:cs typeface="Calibri" pitchFamily="34" charset="-120"/>
                        </a:rPr>
                        <a:t>Policy flags</a:t>
                      </a:r>
                      <a:endParaRPr lang="en-US" sz="10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00" dirty="0">
                          <a:solidFill>
                            <a:srgbClr val="1F2A3D"/>
                          </a:solidFill>
                          <a:latin typeface="Calibri" pitchFamily="34" charset="0"/>
                          <a:ea typeface="Calibri" pitchFamily="34" charset="-122"/>
                          <a:cs typeface="Calibri" pitchFamily="34" charset="-120"/>
                        </a:rPr>
                        <a:t>privacy tag (secrets seen this session) · user override pin</a:t>
                      </a:r>
                      <a:endParaRPr lang="en-US" sz="10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00" b="1" dirty="0">
                          <a:solidFill>
                            <a:srgbClr val="B3261E"/>
                          </a:solidFill>
                          <a:latin typeface="Calibri" pitchFamily="34" charset="0"/>
                          <a:ea typeface="Calibri" pitchFamily="34" charset="-122"/>
                          <a:cs typeface="Calibri" pitchFamily="34" charset="-120"/>
                        </a:rPr>
                        <a:t>Hard constraints, not preferences</a:t>
                      </a:r>
                      <a:endParaRPr lang="en-US" sz="10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5596128"/>
            <a:ext cx="11091672" cy="731520"/>
          </a:xfrm>
          <a:prstGeom prst="roundRect">
            <a:avLst>
              <a:gd name="adj" fmla="val 8750"/>
            </a:avLst>
          </a:prstGeom>
          <a:solidFill>
            <a:srgbClr val="F3F6F9"/>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9" name="Text 5"/>
          <p:cNvSpPr/>
          <p:nvPr/>
        </p:nvSpPr>
        <p:spPr>
          <a:xfrm>
            <a:off x="822960" y="5724144"/>
            <a:ext cx="10515600" cy="502920"/>
          </a:xfrm>
          <a:prstGeom prst="rect">
            <a:avLst/>
          </a:prstGeom>
          <a:noFill/>
          <a:ln/>
        </p:spPr>
        <p:txBody>
          <a:bodyPr wrap="square" lIns="0" tIns="0" rIns="0" bIns="0" rtlCol="0" anchor="t"/>
          <a:lstStyle/>
          <a:p>
            <a:pPr algn="l" indent="0" marL="0">
              <a:lnSpc>
                <a:spcPct val="108000"/>
              </a:lnSpc>
              <a:buNone/>
            </a:pPr>
            <a:r>
              <a:rPr lang="en-US" sz="1100" b="1" dirty="0">
                <a:solidFill>
                  <a:srgbClr val="1F2A3D"/>
                </a:solidFill>
                <a:latin typeface="Calibri" pitchFamily="34" charset="0"/>
                <a:ea typeface="Calibri" pitchFamily="34" charset="-122"/>
                <a:cs typeface="Calibri" pitchFamily="34" charset="-120"/>
              </a:rPr>
              <a:t>How intent is isolated:  </a:t>
            </a:r>
            <a:pPr algn="l" indent="0" marL="0">
              <a:lnSpc>
                <a:spcPct val="108000"/>
              </a:lnSpc>
              <a:buNone/>
            </a:pPr>
            <a:r>
              <a:rPr lang="en-US" sz="1100" dirty="0">
                <a:solidFill>
                  <a:srgbClr val="5D6B7E"/>
                </a:solidFill>
                <a:latin typeface="Calibri" pitchFamily="34" charset="0"/>
                <a:ea typeface="Calibri" pitchFamily="34" charset="-122"/>
                <a:cs typeface="Calibri" pitchFamily="34" charset="-120"/>
              </a:rPr>
              <a:t>take the last non-tool user message, strip harness boilerplate with known-prefix rules. Heuristic on purpose — embedding the isolated sentence (not the payload) is the Phase-3 upgrade. No LLM calls, ever, on this path.</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PART 2 · THE DECISION PATH</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Policy engine: three layers, cheapest first</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design doc §5.3</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15</a:t>
            </a:r>
            <a:endParaRPr lang="en-US" sz="900" dirty="0"/>
          </a:p>
        </p:txBody>
      </p:sp>
      <p:sp>
        <p:nvSpPr>
          <p:cNvPr id="7" name="Shape 4"/>
          <p:cNvSpPr/>
          <p:nvPr/>
        </p:nvSpPr>
        <p:spPr>
          <a:xfrm>
            <a:off x="548640" y="1463040"/>
            <a:ext cx="6126480" cy="1234440"/>
          </a:xfrm>
          <a:prstGeom prst="roundRect">
            <a:avLst>
              <a:gd name="adj" fmla="val 5185"/>
            </a:avLst>
          </a:prstGeom>
          <a:solidFill>
            <a:srgbClr val="F9E7E4"/>
          </a:solidFill>
          <a:ln/>
          <a:effectLst>
            <a:outerShdw sx="100000" sy="100000" kx="0" ky="0" algn="bl" rotWithShape="0" blurRad="88900" dist="25400" dir="2700000">
              <a:srgbClr val="1F2A3D">
                <a:alpha val="14000"/>
              </a:srgbClr>
            </a:outerShdw>
          </a:effectLst>
        </p:spPr>
      </p:sp>
      <p:sp>
        <p:nvSpPr>
          <p:cNvPr id="8" name="Text 5"/>
          <p:cNvSpPr/>
          <p:nvPr/>
        </p:nvSpPr>
        <p:spPr>
          <a:xfrm>
            <a:off x="804672" y="1591056"/>
            <a:ext cx="5614416" cy="274320"/>
          </a:xfrm>
          <a:prstGeom prst="rect">
            <a:avLst/>
          </a:prstGeom>
          <a:noFill/>
          <a:ln/>
        </p:spPr>
        <p:txBody>
          <a:bodyPr wrap="square" lIns="0" tIns="0" rIns="0" bIns="0" rtlCol="0" anchor="t"/>
          <a:lstStyle/>
          <a:p>
            <a:pPr algn="l" indent="0" marL="0">
              <a:buNone/>
            </a:pPr>
            <a:r>
              <a:rPr lang="en-US" sz="1250" b="1" spc="100" kern="0" dirty="0">
                <a:solidFill>
                  <a:srgbClr val="B3261E"/>
                </a:solidFill>
                <a:latin typeface="Calibri" pitchFamily="34" charset="0"/>
                <a:ea typeface="Calibri" pitchFamily="34" charset="-122"/>
                <a:cs typeface="Calibri" pitchFamily="34" charset="-120"/>
              </a:rPr>
              <a:t>LAYER 0 · HARD GATES</a:t>
            </a:r>
            <a:endParaRPr lang="en-US" sz="1250" dirty="0"/>
          </a:p>
        </p:txBody>
      </p:sp>
      <p:sp>
        <p:nvSpPr>
          <p:cNvPr id="9" name="Text 6"/>
          <p:cNvSpPr/>
          <p:nvPr/>
        </p:nvSpPr>
        <p:spPr>
          <a:xfrm>
            <a:off x="804672" y="1901952"/>
            <a:ext cx="5614416" cy="320040"/>
          </a:xfrm>
          <a:prstGeom prst="rect">
            <a:avLst/>
          </a:prstGeom>
          <a:noFill/>
          <a:ln/>
        </p:spPr>
        <p:txBody>
          <a:bodyPr wrap="square" lIns="0" tIns="0" rIns="0" bIns="0" rtlCol="0" anchor="t"/>
          <a:lstStyle/>
          <a:p>
            <a:pPr algn="l" indent="0" marL="0">
              <a:buNone/>
            </a:pPr>
            <a:r>
              <a:rPr lang="en-US" sz="1100" dirty="0">
                <a:solidFill>
                  <a:srgbClr val="1F2A3D"/>
                </a:solidFill>
                <a:latin typeface="Calibri" pitchFamily="34" charset="0"/>
                <a:ea typeface="Calibri" pitchFamily="34" charset="-122"/>
                <a:cs typeface="Calibri" pitchFamily="34" charset="-120"/>
              </a:rPr>
              <a:t>privacy pin · context feasibility · rung health · hysteresis</a:t>
            </a:r>
            <a:endParaRPr lang="en-US" sz="1100" dirty="0"/>
          </a:p>
        </p:txBody>
      </p:sp>
      <p:sp>
        <p:nvSpPr>
          <p:cNvPr id="10" name="Text 7"/>
          <p:cNvSpPr/>
          <p:nvPr/>
        </p:nvSpPr>
        <p:spPr>
          <a:xfrm>
            <a:off x="804672" y="2304288"/>
            <a:ext cx="5614416" cy="274320"/>
          </a:xfrm>
          <a:prstGeom prst="rect">
            <a:avLst/>
          </a:prstGeom>
          <a:noFill/>
          <a:ln/>
        </p:spPr>
        <p:txBody>
          <a:bodyPr wrap="square" lIns="0" tIns="0" rIns="0" bIns="0" rtlCol="0" anchor="t"/>
          <a:lstStyle/>
          <a:p>
            <a:pPr algn="l" indent="0" marL="0">
              <a:buNone/>
            </a:pPr>
            <a:r>
              <a:rPr lang="en-US" sz="1000" i="1" dirty="0">
                <a:solidFill>
                  <a:srgbClr val="5D6B7E"/>
                </a:solidFill>
                <a:latin typeface="Calibri" pitchFamily="34" charset="0"/>
                <a:ea typeface="Calibri" pitchFamily="34" charset="-122"/>
                <a:cs typeface="Calibri" pitchFamily="34" charset="-120"/>
              </a:rPr>
              <a:t>safety &amp; feasibility — never overridden</a:t>
            </a:r>
            <a:endParaRPr lang="en-US" sz="1000" dirty="0"/>
          </a:p>
        </p:txBody>
      </p:sp>
      <p:sp>
        <p:nvSpPr>
          <p:cNvPr id="11" name="Shape 8"/>
          <p:cNvSpPr/>
          <p:nvPr/>
        </p:nvSpPr>
        <p:spPr>
          <a:xfrm>
            <a:off x="548640" y="2898648"/>
            <a:ext cx="5120640" cy="1234440"/>
          </a:xfrm>
          <a:prstGeom prst="roundRect">
            <a:avLst>
              <a:gd name="adj" fmla="val 5185"/>
            </a:avLst>
          </a:prstGeom>
          <a:solidFill>
            <a:srgbClr val="E4EEF6"/>
          </a:solidFill>
          <a:ln/>
          <a:effectLst>
            <a:outerShdw sx="100000" sy="100000" kx="0" ky="0" algn="bl" rotWithShape="0" blurRad="88900" dist="25400" dir="2700000">
              <a:srgbClr val="1F2A3D">
                <a:alpha val="14000"/>
              </a:srgbClr>
            </a:outerShdw>
          </a:effectLst>
        </p:spPr>
      </p:sp>
      <p:sp>
        <p:nvSpPr>
          <p:cNvPr id="12" name="Text 9"/>
          <p:cNvSpPr/>
          <p:nvPr/>
        </p:nvSpPr>
        <p:spPr>
          <a:xfrm>
            <a:off x="804672" y="3026664"/>
            <a:ext cx="4608576" cy="274320"/>
          </a:xfrm>
          <a:prstGeom prst="rect">
            <a:avLst/>
          </a:prstGeom>
          <a:noFill/>
          <a:ln/>
        </p:spPr>
        <p:txBody>
          <a:bodyPr wrap="square" lIns="0" tIns="0" rIns="0" bIns="0" rtlCol="0" anchor="t"/>
          <a:lstStyle/>
          <a:p>
            <a:pPr algn="l" indent="0" marL="0">
              <a:buNone/>
            </a:pPr>
            <a:r>
              <a:rPr lang="en-US" sz="1250" b="1" spc="100" kern="0" dirty="0">
                <a:solidFill>
                  <a:srgbClr val="1D6FA5"/>
                </a:solidFill>
                <a:latin typeface="Calibri" pitchFamily="34" charset="0"/>
                <a:ea typeface="Calibri" pitchFamily="34" charset="-122"/>
                <a:cs typeface="Calibri" pitchFamily="34" charset="-120"/>
              </a:rPr>
              <a:t>LAYER 1 · HEURISTICS</a:t>
            </a:r>
            <a:endParaRPr lang="en-US" sz="1250" dirty="0"/>
          </a:p>
        </p:txBody>
      </p:sp>
      <p:sp>
        <p:nvSpPr>
          <p:cNvPr id="13" name="Text 10"/>
          <p:cNvSpPr/>
          <p:nvPr/>
        </p:nvSpPr>
        <p:spPr>
          <a:xfrm>
            <a:off x="804672" y="3337560"/>
            <a:ext cx="4608576" cy="320040"/>
          </a:xfrm>
          <a:prstGeom prst="rect">
            <a:avLst/>
          </a:prstGeom>
          <a:noFill/>
          <a:ln/>
        </p:spPr>
        <p:txBody>
          <a:bodyPr wrap="square" lIns="0" tIns="0" rIns="0" bIns="0" rtlCol="0" anchor="t"/>
          <a:lstStyle/>
          <a:p>
            <a:pPr algn="l" indent="0" marL="0">
              <a:buNone/>
            </a:pPr>
            <a:r>
              <a:rPr lang="en-US" sz="1100" dirty="0">
                <a:solidFill>
                  <a:srgbClr val="1F2A3D"/>
                </a:solidFill>
                <a:latin typeface="Calibri" pitchFamily="34" charset="0"/>
                <a:ea typeface="Calibri" pitchFamily="34" charset="-122"/>
                <a:cs typeface="Calibri" pitchFamily="34" charset="-120"/>
              </a:rPr>
              <a:t>weighted score: verb class, scope, error density, ctx size</a:t>
            </a:r>
            <a:endParaRPr lang="en-US" sz="1100" dirty="0"/>
          </a:p>
        </p:txBody>
      </p:sp>
      <p:sp>
        <p:nvSpPr>
          <p:cNvPr id="14" name="Text 11"/>
          <p:cNvSpPr/>
          <p:nvPr/>
        </p:nvSpPr>
        <p:spPr>
          <a:xfrm>
            <a:off x="804672" y="3739896"/>
            <a:ext cx="4608576" cy="274320"/>
          </a:xfrm>
          <a:prstGeom prst="rect">
            <a:avLst/>
          </a:prstGeom>
          <a:noFill/>
          <a:ln/>
        </p:spPr>
        <p:txBody>
          <a:bodyPr wrap="square" lIns="0" tIns="0" rIns="0" bIns="0" rtlCol="0" anchor="t"/>
          <a:lstStyle/>
          <a:p>
            <a:pPr algn="l" indent="0" marL="0">
              <a:buNone/>
            </a:pPr>
            <a:r>
              <a:rPr lang="en-US" sz="1000" i="1" dirty="0">
                <a:solidFill>
                  <a:srgbClr val="5D6B7E"/>
                </a:solidFill>
                <a:latin typeface="Calibri" pitchFamily="34" charset="0"/>
                <a:ea typeface="Calibri" pitchFamily="34" charset="-122"/>
                <a:cs typeface="Calibri" pitchFamily="34" charset="-120"/>
              </a:rPr>
              <a:t>fast, explainable — decides ~70% of turns</a:t>
            </a:r>
            <a:endParaRPr lang="en-US" sz="1000" dirty="0"/>
          </a:p>
        </p:txBody>
      </p:sp>
      <p:sp>
        <p:nvSpPr>
          <p:cNvPr id="15" name="Shape 12"/>
          <p:cNvSpPr/>
          <p:nvPr/>
        </p:nvSpPr>
        <p:spPr>
          <a:xfrm>
            <a:off x="548640" y="4334256"/>
            <a:ext cx="4114800" cy="1234440"/>
          </a:xfrm>
          <a:prstGeom prst="roundRect">
            <a:avLst>
              <a:gd name="adj" fmla="val 5185"/>
            </a:avLst>
          </a:prstGeom>
          <a:solidFill>
            <a:srgbClr val="ECE5F8"/>
          </a:solidFill>
          <a:ln/>
          <a:effectLst>
            <a:outerShdw sx="100000" sy="100000" kx="0" ky="0" algn="bl" rotWithShape="0" blurRad="88900" dist="25400" dir="2700000">
              <a:srgbClr val="1F2A3D">
                <a:alpha val="14000"/>
              </a:srgbClr>
            </a:outerShdw>
          </a:effectLst>
        </p:spPr>
      </p:sp>
      <p:sp>
        <p:nvSpPr>
          <p:cNvPr id="16" name="Text 13"/>
          <p:cNvSpPr/>
          <p:nvPr/>
        </p:nvSpPr>
        <p:spPr>
          <a:xfrm>
            <a:off x="804672" y="4462272"/>
            <a:ext cx="3602736" cy="274320"/>
          </a:xfrm>
          <a:prstGeom prst="rect">
            <a:avLst/>
          </a:prstGeom>
          <a:noFill/>
          <a:ln/>
        </p:spPr>
        <p:txBody>
          <a:bodyPr wrap="square" lIns="0" tIns="0" rIns="0" bIns="0" rtlCol="0" anchor="t"/>
          <a:lstStyle/>
          <a:p>
            <a:pPr algn="l" indent="0" marL="0">
              <a:buNone/>
            </a:pPr>
            <a:r>
              <a:rPr lang="en-US" sz="1250" b="1" spc="100" kern="0" dirty="0">
                <a:solidFill>
                  <a:srgbClr val="5B21B6"/>
                </a:solidFill>
                <a:latin typeface="Calibri" pitchFamily="34" charset="0"/>
                <a:ea typeface="Calibri" pitchFamily="34" charset="-122"/>
                <a:cs typeface="Calibri" pitchFamily="34" charset="-120"/>
              </a:rPr>
              <a:t>LAYER 2 · LEARNED ROUTER</a:t>
            </a:r>
            <a:endParaRPr lang="en-US" sz="1250" dirty="0"/>
          </a:p>
        </p:txBody>
      </p:sp>
      <p:sp>
        <p:nvSpPr>
          <p:cNvPr id="17" name="Text 14"/>
          <p:cNvSpPr/>
          <p:nvPr/>
        </p:nvSpPr>
        <p:spPr>
          <a:xfrm>
            <a:off x="804672" y="4773168"/>
            <a:ext cx="3602736" cy="320040"/>
          </a:xfrm>
          <a:prstGeom prst="rect">
            <a:avLst/>
          </a:prstGeom>
          <a:noFill/>
          <a:ln/>
        </p:spPr>
        <p:txBody>
          <a:bodyPr wrap="square" lIns="0" tIns="0" rIns="0" bIns="0" rtlCol="0" anchor="t"/>
          <a:lstStyle/>
          <a:p>
            <a:pPr algn="l" indent="0" marL="0">
              <a:buNone/>
            </a:pPr>
            <a:r>
              <a:rPr lang="en-US" sz="1100" dirty="0">
                <a:solidFill>
                  <a:srgbClr val="1F2A3D"/>
                </a:solidFill>
                <a:latin typeface="Calibri" pitchFamily="34" charset="0"/>
                <a:ea typeface="Calibri" pitchFamily="34" charset="-122"/>
                <a:cs typeface="Calibri" pitchFamily="34" charset="-120"/>
              </a:rPr>
              <a:t>p(local succeeds) from YOUR outcome logs</a:t>
            </a:r>
            <a:endParaRPr lang="en-US" sz="1100" dirty="0"/>
          </a:p>
        </p:txBody>
      </p:sp>
      <p:sp>
        <p:nvSpPr>
          <p:cNvPr id="18" name="Text 15"/>
          <p:cNvSpPr/>
          <p:nvPr/>
        </p:nvSpPr>
        <p:spPr>
          <a:xfrm>
            <a:off x="804672" y="5175504"/>
            <a:ext cx="3602736" cy="274320"/>
          </a:xfrm>
          <a:prstGeom prst="rect">
            <a:avLst/>
          </a:prstGeom>
          <a:noFill/>
          <a:ln/>
        </p:spPr>
        <p:txBody>
          <a:bodyPr wrap="square" lIns="0" tIns="0" rIns="0" bIns="0" rtlCol="0" anchor="t"/>
          <a:lstStyle/>
          <a:p>
            <a:pPr algn="l" indent="0" marL="0">
              <a:buNone/>
            </a:pPr>
            <a:r>
              <a:rPr lang="en-US" sz="1000" i="1" dirty="0">
                <a:solidFill>
                  <a:srgbClr val="5D6B7E"/>
                </a:solidFill>
                <a:latin typeface="Calibri" pitchFamily="34" charset="0"/>
                <a:ea typeface="Calibri" pitchFamily="34" charset="-122"/>
                <a:cs typeface="Calibri" pitchFamily="34" charset="-120"/>
              </a:rPr>
              <a:t>the ambiguous middle only — Phase 3</a:t>
            </a:r>
            <a:endParaRPr lang="en-US" sz="1000" dirty="0"/>
          </a:p>
        </p:txBody>
      </p:sp>
      <p:sp>
        <p:nvSpPr>
          <p:cNvPr id="19" name="Text 16"/>
          <p:cNvSpPr/>
          <p:nvPr/>
        </p:nvSpPr>
        <p:spPr>
          <a:xfrm>
            <a:off x="548640" y="5806440"/>
            <a:ext cx="6126480" cy="274320"/>
          </a:xfrm>
          <a:prstGeom prst="rect">
            <a:avLst/>
          </a:prstGeom>
          <a:noFill/>
          <a:ln/>
        </p:spPr>
        <p:txBody>
          <a:bodyPr wrap="square" lIns="0" tIns="0" rIns="0" bIns="0" rtlCol="0" anchor="t"/>
          <a:lstStyle/>
          <a:p>
            <a:pPr algn="l" indent="0" marL="0">
              <a:buNone/>
            </a:pPr>
            <a:r>
              <a:rPr lang="en-US" sz="1050" i="1" dirty="0">
                <a:solidFill>
                  <a:srgbClr val="5D6B7E"/>
                </a:solidFill>
                <a:latin typeface="Calibri" pitchFamily="34" charset="0"/>
                <a:ea typeface="Calibri" pitchFamily="34" charset="-122"/>
                <a:cs typeface="Calibri" pitchFamily="34" charset="-120"/>
              </a:rPr>
              <a:t>each layer only passes down what it can't decide — most turns never reach Layer 2</a:t>
            </a:r>
            <a:endParaRPr lang="en-US" sz="1050" dirty="0"/>
          </a:p>
        </p:txBody>
      </p:sp>
      <p:sp>
        <p:nvSpPr>
          <p:cNvPr id="20" name="Shape 17"/>
          <p:cNvSpPr/>
          <p:nvPr/>
        </p:nvSpPr>
        <p:spPr>
          <a:xfrm>
            <a:off x="7040880" y="1463040"/>
            <a:ext cx="4617720" cy="2103120"/>
          </a:xfrm>
          <a:prstGeom prst="roundRect">
            <a:avLst>
              <a:gd name="adj" fmla="val 3043"/>
            </a:avLst>
          </a:prstGeom>
          <a:solidFill>
            <a:srgbClr val="F3F6F9"/>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21" name="Text 18"/>
          <p:cNvSpPr/>
          <p:nvPr/>
        </p:nvSpPr>
        <p:spPr>
          <a:xfrm>
            <a:off x="7296912" y="1664208"/>
            <a:ext cx="4105656" cy="320040"/>
          </a:xfrm>
          <a:prstGeom prst="rect">
            <a:avLst/>
          </a:prstGeom>
          <a:noFill/>
          <a:ln/>
        </p:spPr>
        <p:txBody>
          <a:bodyPr wrap="square" lIns="0" tIns="0" rIns="0" bIns="0" rtlCol="0" anchor="t"/>
          <a:lstStyle/>
          <a:p>
            <a:pPr algn="l" indent="0" marL="0">
              <a:buNone/>
            </a:pPr>
            <a:r>
              <a:rPr lang="en-US" sz="1400" b="1" dirty="0">
                <a:solidFill>
                  <a:srgbClr val="1F2A3D"/>
                </a:solidFill>
                <a:latin typeface="Cambria" pitchFamily="34" charset="0"/>
                <a:ea typeface="Cambria" pitchFamily="34" charset="-122"/>
                <a:cs typeface="Cambria" pitchFamily="34" charset="-120"/>
              </a:rPr>
              <a:t>“Dumb rules on purpose”</a:t>
            </a:r>
            <a:endParaRPr lang="en-US" sz="1400" dirty="0"/>
          </a:p>
        </p:txBody>
      </p:sp>
      <p:sp>
        <p:nvSpPr>
          <p:cNvPr id="22" name="Text 19"/>
          <p:cNvSpPr/>
          <p:nvPr/>
        </p:nvSpPr>
        <p:spPr>
          <a:xfrm>
            <a:off x="7296912" y="2084832"/>
            <a:ext cx="4105656" cy="914400"/>
          </a:xfrm>
          <a:prstGeom prst="rect">
            <a:avLst/>
          </a:prstGeom>
          <a:noFill/>
          <a:ln/>
        </p:spPr>
        <p:txBody>
          <a:bodyPr wrap="square" lIns="0" tIns="0" rIns="0" bIns="0" rtlCol="0" anchor="t"/>
          <a:lstStyle/>
          <a:p>
            <a:pPr algn="l" indent="0" marL="0">
              <a:lnSpc>
                <a:spcPct val="112000"/>
              </a:lnSpc>
              <a:buNone/>
            </a:pPr>
            <a:r>
              <a:rPr lang="en-US" sz="1150" dirty="0">
                <a:solidFill>
                  <a:srgbClr val="5D6B7E"/>
                </a:solidFill>
                <a:latin typeface="Calibri" pitchFamily="34" charset="0"/>
                <a:ea typeface="Calibri" pitchFamily="34" charset="-122"/>
                <a:cs typeface="Calibri" pitchFamily="34" charset="-120"/>
              </a:rPr>
              <a:t>Fast, debuggable, can't drift. The ML model only gets the genuinely ambiguous middle — and only after the flywheel has real outcomes to train on.</a:t>
            </a:r>
            <a:endParaRPr lang="en-US" sz="1150" dirty="0"/>
          </a:p>
        </p:txBody>
      </p:sp>
      <p:sp>
        <p:nvSpPr>
          <p:cNvPr id="23" name="Text 20"/>
          <p:cNvSpPr/>
          <p:nvPr/>
        </p:nvSpPr>
        <p:spPr>
          <a:xfrm>
            <a:off x="7296912" y="2971800"/>
            <a:ext cx="4105656" cy="548640"/>
          </a:xfrm>
          <a:prstGeom prst="rect">
            <a:avLst/>
          </a:prstGeom>
          <a:noFill/>
          <a:ln/>
        </p:spPr>
        <p:txBody>
          <a:bodyPr wrap="square" lIns="0" tIns="0" rIns="0" bIns="0" rtlCol="0" anchor="t"/>
          <a:lstStyle/>
          <a:p>
            <a:pPr algn="l" indent="0" marL="0">
              <a:lnSpc>
                <a:spcPct val="110000"/>
              </a:lnSpc>
              <a:buNone/>
            </a:pPr>
            <a:r>
              <a:rPr lang="en-US" sz="1100" b="1" dirty="0">
                <a:solidFill>
                  <a:srgbClr val="1F2A3D"/>
                </a:solidFill>
                <a:latin typeface="Calibri" pitchFamily="34" charset="0"/>
                <a:ea typeface="Calibri" pitchFamily="34" charset="-122"/>
                <a:cs typeface="Calibri" pitchFamily="34" charset="-120"/>
              </a:rPr>
              <a:t>Gates run first by construction — there is no code path where “it looked easy” leaks a secret to the cloud.</a:t>
            </a:r>
            <a:endParaRPr lang="en-US" sz="1100" dirty="0"/>
          </a:p>
        </p:txBody>
      </p:sp>
      <p:sp>
        <p:nvSpPr>
          <p:cNvPr id="24" name="Shape 21"/>
          <p:cNvSpPr/>
          <p:nvPr/>
        </p:nvSpPr>
        <p:spPr>
          <a:xfrm>
            <a:off x="7040880" y="3794760"/>
            <a:ext cx="4617720" cy="2286000"/>
          </a:xfrm>
          <a:prstGeom prst="roundRect">
            <a:avLst>
              <a:gd name="adj" fmla="val 2800"/>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25" name="Text 22"/>
          <p:cNvSpPr/>
          <p:nvPr/>
        </p:nvSpPr>
        <p:spPr>
          <a:xfrm>
            <a:off x="7296912" y="3977640"/>
            <a:ext cx="4105656" cy="292608"/>
          </a:xfrm>
          <a:prstGeom prst="rect">
            <a:avLst/>
          </a:prstGeom>
          <a:noFill/>
          <a:ln/>
        </p:spPr>
        <p:txBody>
          <a:bodyPr wrap="square" lIns="0" tIns="0" rIns="0" bIns="0" rtlCol="0" anchor="t"/>
          <a:lstStyle/>
          <a:p>
            <a:pPr algn="l" indent="0" marL="0">
              <a:buNone/>
            </a:pPr>
            <a:r>
              <a:rPr lang="en-US" sz="1250" b="1" dirty="0">
                <a:solidFill>
                  <a:srgbClr val="1F2A3D"/>
                </a:solidFill>
                <a:latin typeface="Calibri" pitchFamily="34" charset="0"/>
                <a:ea typeface="Calibri" pitchFamily="34" charset="-122"/>
                <a:cs typeface="Calibri" pitchFamily="34" charset="-120"/>
              </a:rPr>
              <a:t>What the route object says</a:t>
            </a:r>
            <a:endParaRPr lang="en-US" sz="1250" dirty="0"/>
          </a:p>
        </p:txBody>
      </p:sp>
      <p:sp>
        <p:nvSpPr>
          <p:cNvPr id="26" name="Text 23"/>
          <p:cNvSpPr/>
          <p:nvPr/>
        </p:nvSpPr>
        <p:spPr>
          <a:xfrm>
            <a:off x="7296912" y="4343400"/>
            <a:ext cx="4105656" cy="1645920"/>
          </a:xfrm>
          <a:prstGeom prst="rect">
            <a:avLst/>
          </a:prstGeom>
          <a:noFill/>
          <a:ln/>
        </p:spPr>
        <p:txBody>
          <a:bodyPr wrap="square" lIns="0" tIns="0" rIns="0" bIns="0" rtlCol="0" anchor="t"/>
          <a:lstStyle/>
          <a:p>
            <a:pPr algn="l" indent="0" marL="0">
              <a:lnSpc>
                <a:spcPct val="110000"/>
              </a:lnSpc>
              <a:buNone/>
            </a:pPr>
            <a:r>
              <a:rPr lang="en-US" sz="1100" b="1" dirty="0">
                <a:solidFill>
                  <a:srgbClr val="1F7A55"/>
                </a:solidFill>
                <a:latin typeface="Courier New" pitchFamily="34" charset="0"/>
                <a:ea typeface="Courier New" pitchFamily="34" charset="-122"/>
                <a:cs typeface="Courier New" pitchFamily="34" charset="-120"/>
              </a:rPr>
              <a:t>cascade = True</a:t>
            </a:r>
            <a:pPr algn="l" indent="0" marL="0">
              <a:lnSpc>
                <a:spcPct val="110000"/>
              </a:lnSpc>
              <a:buNone/>
            </a:pPr>
            <a:r>
              <a:rPr lang="en-US" sz="1050" dirty="0">
                <a:solidFill>
                  <a:srgbClr val="5D6B7E"/>
                </a:solidFill>
                <a:latin typeface="Calibri" pitchFamily="34" charset="0"/>
                <a:ea typeface="Calibri" pitchFamily="34" charset="-122"/>
                <a:cs typeface="Calibri" pitchFamily="34" charset="-120"/>
              </a:rPr>
              <a:t>   “try this rung — escalation controller armed.” Cheap insurance on easy/medium turns.</a:t>
            </a:r>
            <a:endParaRPr lang="en-US" sz="1100" dirty="0"/>
          </a:p>
          <a:p>
            <a:pPr algn="l" indent="0" marL="0">
              <a:lnSpc>
                <a:spcPct val="110000"/>
              </a:lnSpc>
              <a:buNone/>
            </a:pPr>
            <a:r>
              <a:rPr lang="en-US" sz="500" dirty="0">
                <a:solidFill>
                  <a:srgbClr val="1F2A3D"/>
                </a:solidFill>
                <a:latin typeface="Calibri" pitchFamily="34" charset="0"/>
                <a:ea typeface="Calibri" pitchFamily="34" charset="-122"/>
                <a:cs typeface="Calibri" pitchFamily="34" charset="-120"/>
              </a:rPr>
              <a:t> </a:t>
            </a:r>
            <a:endParaRPr lang="en-US" sz="1100" dirty="0"/>
          </a:p>
          <a:p>
            <a:pPr algn="l" indent="0" marL="0">
              <a:lnSpc>
                <a:spcPct val="110000"/>
              </a:lnSpc>
              <a:buNone/>
            </a:pPr>
            <a:r>
              <a:rPr lang="en-US" sz="1100" b="1" dirty="0">
                <a:solidFill>
                  <a:srgbClr val="5B21B6"/>
                </a:solidFill>
                <a:latin typeface="Courier New" pitchFamily="34" charset="0"/>
                <a:ea typeface="Courier New" pitchFamily="34" charset="-122"/>
                <a:cs typeface="Courier New" pitchFamily="34" charset="-120"/>
              </a:rPr>
              <a:t>cascade = False</a:t>
            </a:r>
            <a:pPr algn="l" indent="0" marL="0">
              <a:lnSpc>
                <a:spcPct val="110000"/>
              </a:lnSpc>
              <a:buNone/>
            </a:pPr>
            <a:r>
              <a:rPr lang="en-US" sz="1050" dirty="0">
                <a:solidFill>
                  <a:srgbClr val="5D6B7E"/>
                </a:solidFill>
                <a:latin typeface="Calibri" pitchFamily="34" charset="0"/>
                <a:ea typeface="Calibri" pitchFamily="34" charset="-122"/>
                <a:cs typeface="Calibri" pitchFamily="34" charset="-120"/>
              </a:rPr>
              <a:t>   “top rung, just do it” — no watcher needed on frontier.</a:t>
            </a:r>
            <a:endParaRPr lang="en-US" sz="1100" dirty="0"/>
          </a:p>
          <a:p>
            <a:pPr algn="l" indent="0" marL="0">
              <a:lnSpc>
                <a:spcPct val="110000"/>
              </a:lnSpc>
              <a:buNone/>
            </a:pPr>
            <a:r>
              <a:rPr lang="en-US" sz="500" dirty="0">
                <a:solidFill>
                  <a:srgbClr val="1F2A3D"/>
                </a:solidFill>
                <a:latin typeface="Calibri" pitchFamily="34" charset="0"/>
                <a:ea typeface="Calibri" pitchFamily="34" charset="-122"/>
                <a:cs typeface="Calibri" pitchFamily="34" charset="-120"/>
              </a:rPr>
              <a:t> </a:t>
            </a:r>
            <a:endParaRPr lang="en-US" sz="1100" dirty="0"/>
          </a:p>
          <a:p>
            <a:pPr algn="l" indent="0" marL="0">
              <a:lnSpc>
                <a:spcPct val="110000"/>
              </a:lnSpc>
              <a:buNone/>
            </a:pPr>
            <a:r>
              <a:rPr lang="en-US" sz="1100" b="1" dirty="0">
                <a:solidFill>
                  <a:srgbClr val="B3261E"/>
                </a:solidFill>
                <a:latin typeface="Courier New" pitchFamily="34" charset="0"/>
                <a:ea typeface="Courier New" pitchFamily="34" charset="-122"/>
                <a:cs typeface="Courier New" pitchFamily="34" charset="-120"/>
              </a:rPr>
              <a:t>pinned = True</a:t>
            </a:r>
            <a:pPr algn="l" indent="0" marL="0">
              <a:lnSpc>
                <a:spcPct val="110000"/>
              </a:lnSpc>
              <a:buNone/>
            </a:pPr>
            <a:r>
              <a:rPr lang="en-US" sz="1050" dirty="0">
                <a:solidFill>
                  <a:srgbClr val="5D6B7E"/>
                </a:solidFill>
                <a:latin typeface="Calibri" pitchFamily="34" charset="0"/>
                <a:ea typeface="Calibri" pitchFamily="34" charset="-122"/>
                <a:cs typeface="Calibri" pitchFamily="34" charset="-120"/>
              </a:rPr>
              <a:t>   trip-wires stay armed, but the escalation target is the USER, never a higher rung (S9).</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PART 2 · THE DECISION PATH</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Layer 0 — the four hard gates</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design doc §5.3 · vetting finding 2</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16</a:t>
            </a:r>
            <a:endParaRPr lang="en-US" sz="900" dirty="0"/>
          </a:p>
        </p:txBody>
      </p:sp>
      <p:sp>
        <p:nvSpPr>
          <p:cNvPr id="7" name="Shape 4"/>
          <p:cNvSpPr/>
          <p:nvPr/>
        </p:nvSpPr>
        <p:spPr>
          <a:xfrm>
            <a:off x="548640" y="1417320"/>
            <a:ext cx="5422392" cy="2194560"/>
          </a:xfrm>
          <a:prstGeom prst="roundRect">
            <a:avLst>
              <a:gd name="adj" fmla="val 2917"/>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8" name="Shape 5"/>
          <p:cNvSpPr/>
          <p:nvPr/>
        </p:nvSpPr>
        <p:spPr>
          <a:xfrm>
            <a:off x="786384" y="1636776"/>
            <a:ext cx="457200" cy="457200"/>
          </a:xfrm>
          <a:prstGeom prst="ellipse">
            <a:avLst/>
          </a:prstGeom>
          <a:solidFill>
            <a:srgbClr val="B3261E"/>
          </a:solidFill>
          <a:ln/>
        </p:spPr>
      </p:sp>
      <p:pic>
        <p:nvPicPr>
          <p:cNvPr id="9" name="Image 0" descr="preencoded.png">    </p:cNvPr>
          <p:cNvPicPr>
            <a:picLocks noChangeAspect="1"/>
          </p:cNvPicPr>
          <p:nvPr/>
        </p:nvPicPr>
        <p:blipFill>
          <a:blip r:embed="rId1"/>
          <a:stretch>
            <a:fillRect/>
          </a:stretch>
        </p:blipFill>
        <p:spPr>
          <a:xfrm>
            <a:off x="905256" y="1755648"/>
            <a:ext cx="219456" cy="219456"/>
          </a:xfrm>
          <a:prstGeom prst="rect">
            <a:avLst/>
          </a:prstGeom>
        </p:spPr>
      </p:pic>
      <p:sp>
        <p:nvSpPr>
          <p:cNvPr id="10" name="Text 6"/>
          <p:cNvSpPr/>
          <p:nvPr/>
        </p:nvSpPr>
        <p:spPr>
          <a:xfrm>
            <a:off x="1389888" y="1691640"/>
            <a:ext cx="4416552" cy="320040"/>
          </a:xfrm>
          <a:prstGeom prst="rect">
            <a:avLst/>
          </a:prstGeom>
          <a:noFill/>
          <a:ln/>
        </p:spPr>
        <p:txBody>
          <a:bodyPr wrap="square" lIns="0" tIns="0" rIns="0" bIns="0" rtlCol="0" anchor="t"/>
          <a:lstStyle/>
          <a:p>
            <a:pPr algn="l" indent="0" marL="0">
              <a:buNone/>
            </a:pPr>
            <a:r>
              <a:rPr lang="en-US" sz="1350" b="1" dirty="0">
                <a:solidFill>
                  <a:srgbClr val="1F2A3D"/>
                </a:solidFill>
                <a:latin typeface="Calibri" pitchFamily="34" charset="0"/>
                <a:ea typeface="Calibri" pitchFamily="34" charset="-122"/>
                <a:cs typeface="Calibri" pitchFamily="34" charset="-120"/>
              </a:rPr>
              <a:t>1 · Privacy pin</a:t>
            </a:r>
            <a:endParaRPr lang="en-US" sz="1350" dirty="0"/>
          </a:p>
        </p:txBody>
      </p:sp>
      <p:sp>
        <p:nvSpPr>
          <p:cNvPr id="11" name="Text 7"/>
          <p:cNvSpPr/>
          <p:nvPr/>
        </p:nvSpPr>
        <p:spPr>
          <a:xfrm>
            <a:off x="786384" y="2194560"/>
            <a:ext cx="4946904" cy="960120"/>
          </a:xfrm>
          <a:prstGeom prst="rect">
            <a:avLst/>
          </a:prstGeom>
          <a:noFill/>
          <a:ln/>
        </p:spPr>
        <p:txBody>
          <a:bodyPr wrap="square" lIns="0" tIns="0" rIns="0" bIns="0" rtlCol="0" anchor="t"/>
          <a:lstStyle/>
          <a:p>
            <a:pPr algn="l" indent="0" marL="0">
              <a:lnSpc>
                <a:spcPct val="110000"/>
              </a:lnSpc>
              <a:buNone/>
            </a:pPr>
            <a:r>
              <a:rPr lang="en-US" sz="1050" dirty="0">
                <a:solidFill>
                  <a:srgbClr val="5D6B7E"/>
                </a:solidFill>
                <a:latin typeface="Calibri" pitchFamily="34" charset="0"/>
                <a:ea typeface="Calibri" pitchFamily="34" charset="-122"/>
                <a:cs typeface="Calibri" pitchFamily="34" charset="-120"/>
              </a:rPr>
              <a:t>Session touched secrets → local, pinned, one-way. Difficulty logic never runs. If context outgrows local: surface to the user — the pin never weakens.</a:t>
            </a:r>
            <a:endParaRPr lang="en-US" sz="1050" dirty="0"/>
          </a:p>
        </p:txBody>
      </p:sp>
      <p:sp>
        <p:nvSpPr>
          <p:cNvPr id="12" name="Text 8"/>
          <p:cNvSpPr/>
          <p:nvPr/>
        </p:nvSpPr>
        <p:spPr>
          <a:xfrm>
            <a:off x="786384" y="3227832"/>
            <a:ext cx="4946904" cy="320040"/>
          </a:xfrm>
          <a:prstGeom prst="rect">
            <a:avLst/>
          </a:prstGeom>
          <a:noFill/>
          <a:ln/>
        </p:spPr>
        <p:txBody>
          <a:bodyPr wrap="square" lIns="0" tIns="0" rIns="0" bIns="0" rtlCol="0" anchor="t"/>
          <a:lstStyle/>
          <a:p>
            <a:pPr algn="l" indent="0" marL="0">
              <a:buNone/>
            </a:pPr>
            <a:r>
              <a:rPr lang="en-US" sz="950" b="1" i="1" dirty="0">
                <a:solidFill>
                  <a:srgbClr val="B3261E"/>
                </a:solidFill>
                <a:latin typeface="Calibri" pitchFamily="34" charset="0"/>
                <a:ea typeface="Calibri" pitchFamily="34" charset="-122"/>
                <a:cs typeface="Calibri" pitchFamily="34" charset="-120"/>
              </a:rPr>
              <a:t>S9: .env read at turn 3 pins the whole session</a:t>
            </a:r>
            <a:endParaRPr lang="en-US" sz="950" dirty="0"/>
          </a:p>
        </p:txBody>
      </p:sp>
      <p:sp>
        <p:nvSpPr>
          <p:cNvPr id="13" name="Shape 9"/>
          <p:cNvSpPr/>
          <p:nvPr/>
        </p:nvSpPr>
        <p:spPr>
          <a:xfrm>
            <a:off x="6217920" y="1417320"/>
            <a:ext cx="5422392" cy="2194560"/>
          </a:xfrm>
          <a:prstGeom prst="roundRect">
            <a:avLst>
              <a:gd name="adj" fmla="val 2917"/>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4" name="Shape 10"/>
          <p:cNvSpPr/>
          <p:nvPr/>
        </p:nvSpPr>
        <p:spPr>
          <a:xfrm>
            <a:off x="6455664" y="1636776"/>
            <a:ext cx="457200" cy="457200"/>
          </a:xfrm>
          <a:prstGeom prst="ellipse">
            <a:avLst/>
          </a:prstGeom>
          <a:solidFill>
            <a:srgbClr val="B45309"/>
          </a:solidFill>
          <a:ln/>
        </p:spPr>
      </p:sp>
      <p:pic>
        <p:nvPicPr>
          <p:cNvPr id="15" name="Image 1" descr="preencoded.png">    </p:cNvPr>
          <p:cNvPicPr>
            <a:picLocks noChangeAspect="1"/>
          </p:cNvPicPr>
          <p:nvPr/>
        </p:nvPicPr>
        <p:blipFill>
          <a:blip r:embed="rId2"/>
          <a:stretch>
            <a:fillRect/>
          </a:stretch>
        </p:blipFill>
        <p:spPr>
          <a:xfrm>
            <a:off x="6574536" y="1755648"/>
            <a:ext cx="219456" cy="219456"/>
          </a:xfrm>
          <a:prstGeom prst="rect">
            <a:avLst/>
          </a:prstGeom>
        </p:spPr>
      </p:pic>
      <p:sp>
        <p:nvSpPr>
          <p:cNvPr id="16" name="Text 11"/>
          <p:cNvSpPr/>
          <p:nvPr/>
        </p:nvSpPr>
        <p:spPr>
          <a:xfrm>
            <a:off x="7059168" y="1691640"/>
            <a:ext cx="4416552" cy="320040"/>
          </a:xfrm>
          <a:prstGeom prst="rect">
            <a:avLst/>
          </a:prstGeom>
          <a:noFill/>
          <a:ln/>
        </p:spPr>
        <p:txBody>
          <a:bodyPr wrap="square" lIns="0" tIns="0" rIns="0" bIns="0" rtlCol="0" anchor="t"/>
          <a:lstStyle/>
          <a:p>
            <a:pPr algn="l" indent="0" marL="0">
              <a:buNone/>
            </a:pPr>
            <a:r>
              <a:rPr lang="en-US" sz="1350" b="1" dirty="0">
                <a:solidFill>
                  <a:srgbClr val="1F2A3D"/>
                </a:solidFill>
                <a:latin typeface="Calibri" pitchFamily="34" charset="0"/>
                <a:ea typeface="Calibri" pitchFamily="34" charset="-122"/>
                <a:cs typeface="Calibri" pitchFamily="34" charset="-120"/>
              </a:rPr>
              <a:t>2 · Context feasibility</a:t>
            </a:r>
            <a:endParaRPr lang="en-US" sz="1350" dirty="0"/>
          </a:p>
        </p:txBody>
      </p:sp>
      <p:sp>
        <p:nvSpPr>
          <p:cNvPr id="17" name="Text 12"/>
          <p:cNvSpPr/>
          <p:nvPr/>
        </p:nvSpPr>
        <p:spPr>
          <a:xfrm>
            <a:off x="6455664" y="2194560"/>
            <a:ext cx="4946904" cy="960120"/>
          </a:xfrm>
          <a:prstGeom prst="rect">
            <a:avLst/>
          </a:prstGeom>
          <a:noFill/>
          <a:ln/>
        </p:spPr>
        <p:txBody>
          <a:bodyPr wrap="square" lIns="0" tIns="0" rIns="0" bIns="0" rtlCol="0" anchor="t"/>
          <a:lstStyle/>
          <a:p>
            <a:pPr algn="l" indent="0" marL="0">
              <a:lnSpc>
                <a:spcPct val="110000"/>
              </a:lnSpc>
              <a:buNone/>
            </a:pPr>
            <a:r>
              <a:rPr lang="en-US" sz="1050" dirty="0">
                <a:solidFill>
                  <a:srgbClr val="5D6B7E"/>
                </a:solidFill>
                <a:latin typeface="Calibri" pitchFamily="34" charset="0"/>
                <a:ea typeface="Calibri" pitchFamily="34" charset="-122"/>
                <a:cs typeface="Calibri" pitchFamily="34" charset="-120"/>
              </a:rPr>
              <a:t>ctx &gt; 80% of local's practical window → local is structurally out. Fall through to the cheapest rung that fits — NOT hardcoded frontier.</a:t>
            </a:r>
            <a:endParaRPr lang="en-US" sz="1050" dirty="0"/>
          </a:p>
        </p:txBody>
      </p:sp>
      <p:sp>
        <p:nvSpPr>
          <p:cNvPr id="18" name="Text 13"/>
          <p:cNvSpPr/>
          <p:nvPr/>
        </p:nvSpPr>
        <p:spPr>
          <a:xfrm>
            <a:off x="6455664" y="3227832"/>
            <a:ext cx="4946904" cy="320040"/>
          </a:xfrm>
          <a:prstGeom prst="rect">
            <a:avLst/>
          </a:prstGeom>
          <a:noFill/>
          <a:ln/>
        </p:spPr>
        <p:txBody>
          <a:bodyPr wrap="square" lIns="0" tIns="0" rIns="0" bIns="0" rtlCol="0" anchor="t"/>
          <a:lstStyle/>
          <a:p>
            <a:pPr algn="l" indent="0" marL="0">
              <a:buNone/>
            </a:pPr>
            <a:r>
              <a:rPr lang="en-US" sz="950" b="1" i="1" dirty="0">
                <a:solidFill>
                  <a:srgbClr val="B45309"/>
                </a:solidFill>
                <a:latin typeface="Calibri" pitchFamily="34" charset="0"/>
                <a:ea typeface="Calibri" pitchFamily="34" charset="-122"/>
                <a:cs typeface="Calibri" pitchFamily="34" charset="-120"/>
              </a:rPr>
              <a:t>S8: 112k-token “write a commit message” → cheap-cloud</a:t>
            </a:r>
            <a:endParaRPr lang="en-US" sz="950" dirty="0"/>
          </a:p>
        </p:txBody>
      </p:sp>
      <p:sp>
        <p:nvSpPr>
          <p:cNvPr id="19" name="Shape 14"/>
          <p:cNvSpPr/>
          <p:nvPr/>
        </p:nvSpPr>
        <p:spPr>
          <a:xfrm>
            <a:off x="548640" y="3794760"/>
            <a:ext cx="5422392" cy="2194560"/>
          </a:xfrm>
          <a:prstGeom prst="roundRect">
            <a:avLst>
              <a:gd name="adj" fmla="val 2917"/>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20" name="Shape 15"/>
          <p:cNvSpPr/>
          <p:nvPr/>
        </p:nvSpPr>
        <p:spPr>
          <a:xfrm>
            <a:off x="786384" y="4014216"/>
            <a:ext cx="457200" cy="457200"/>
          </a:xfrm>
          <a:prstGeom prst="ellipse">
            <a:avLst/>
          </a:prstGeom>
          <a:solidFill>
            <a:srgbClr val="1F7A55"/>
          </a:solidFill>
          <a:ln/>
        </p:spPr>
      </p:sp>
      <p:pic>
        <p:nvPicPr>
          <p:cNvPr id="21" name="Image 2" descr="preencoded.png">    </p:cNvPr>
          <p:cNvPicPr>
            <a:picLocks noChangeAspect="1"/>
          </p:cNvPicPr>
          <p:nvPr/>
        </p:nvPicPr>
        <p:blipFill>
          <a:blip r:embed="rId3"/>
          <a:stretch>
            <a:fillRect/>
          </a:stretch>
        </p:blipFill>
        <p:spPr>
          <a:xfrm>
            <a:off x="905256" y="4133088"/>
            <a:ext cx="219456" cy="219456"/>
          </a:xfrm>
          <a:prstGeom prst="rect">
            <a:avLst/>
          </a:prstGeom>
        </p:spPr>
      </p:pic>
      <p:sp>
        <p:nvSpPr>
          <p:cNvPr id="22" name="Text 16"/>
          <p:cNvSpPr/>
          <p:nvPr/>
        </p:nvSpPr>
        <p:spPr>
          <a:xfrm>
            <a:off x="1389888" y="4069080"/>
            <a:ext cx="4416552" cy="320040"/>
          </a:xfrm>
          <a:prstGeom prst="rect">
            <a:avLst/>
          </a:prstGeom>
          <a:noFill/>
          <a:ln/>
        </p:spPr>
        <p:txBody>
          <a:bodyPr wrap="square" lIns="0" tIns="0" rIns="0" bIns="0" rtlCol="0" anchor="t"/>
          <a:lstStyle/>
          <a:p>
            <a:pPr algn="l" indent="0" marL="0">
              <a:buNone/>
            </a:pPr>
            <a:r>
              <a:rPr lang="en-US" sz="1350" b="1" dirty="0">
                <a:solidFill>
                  <a:srgbClr val="1F2A3D"/>
                </a:solidFill>
                <a:latin typeface="Calibri" pitchFamily="34" charset="0"/>
                <a:ea typeface="Calibri" pitchFamily="34" charset="-122"/>
                <a:cs typeface="Calibri" pitchFamily="34" charset="-120"/>
              </a:rPr>
              <a:t>3 · Rung health</a:t>
            </a:r>
            <a:endParaRPr lang="en-US" sz="1350" dirty="0"/>
          </a:p>
        </p:txBody>
      </p:sp>
      <p:sp>
        <p:nvSpPr>
          <p:cNvPr id="23" name="Text 17"/>
          <p:cNvSpPr/>
          <p:nvPr/>
        </p:nvSpPr>
        <p:spPr>
          <a:xfrm>
            <a:off x="786384" y="4572000"/>
            <a:ext cx="4946904" cy="960120"/>
          </a:xfrm>
          <a:prstGeom prst="rect">
            <a:avLst/>
          </a:prstGeom>
          <a:noFill/>
          <a:ln/>
        </p:spPr>
        <p:txBody>
          <a:bodyPr wrap="square" lIns="0" tIns="0" rIns="0" bIns="0" rtlCol="0" anchor="t"/>
          <a:lstStyle/>
          <a:p>
            <a:pPr algn="l" indent="0" marL="0">
              <a:lnSpc>
                <a:spcPct val="110000"/>
              </a:lnSpc>
              <a:buNone/>
            </a:pPr>
            <a:r>
              <a:rPr lang="en-US" sz="1050" dirty="0">
                <a:solidFill>
                  <a:srgbClr val="5D6B7E"/>
                </a:solidFill>
                <a:latin typeface="Calibri" pitchFamily="34" charset="0"/>
                <a:ea typeface="Calibri" pitchFamily="34" charset="-122"/>
                <a:cs typeface="Calibri" pitchFamily="34" charset="-120"/>
              </a:rPr>
              <a:t>Rungs LiteLLM marks unhealthy are invisible to new-turn decisions until they recover. Health facts come from LiteLLM's background checks — we never ping endpoints ourselves.</a:t>
            </a:r>
            <a:endParaRPr lang="en-US" sz="1050" dirty="0"/>
          </a:p>
        </p:txBody>
      </p:sp>
      <p:sp>
        <p:nvSpPr>
          <p:cNvPr id="24" name="Text 18"/>
          <p:cNvSpPr/>
          <p:nvPr/>
        </p:nvSpPr>
        <p:spPr>
          <a:xfrm>
            <a:off x="786384" y="5605272"/>
            <a:ext cx="4946904" cy="320040"/>
          </a:xfrm>
          <a:prstGeom prst="rect">
            <a:avLst/>
          </a:prstGeom>
          <a:noFill/>
          <a:ln/>
        </p:spPr>
        <p:txBody>
          <a:bodyPr wrap="square" lIns="0" tIns="0" rIns="0" bIns="0" rtlCol="0" anchor="t"/>
          <a:lstStyle/>
          <a:p>
            <a:pPr algn="l" indent="0" marL="0">
              <a:buNone/>
            </a:pPr>
            <a:r>
              <a:rPr lang="en-US" sz="950" b="1" i="1" dirty="0">
                <a:solidFill>
                  <a:srgbClr val="1F7A55"/>
                </a:solidFill>
                <a:latin typeface="Calibri" pitchFamily="34" charset="0"/>
                <a:ea typeface="Calibri" pitchFamily="34" charset="-122"/>
                <a:cs typeface="Calibri" pitchFamily="34" charset="-120"/>
              </a:rPr>
              <a:t>Copilot Auto: availability engine co-equal with the task router</a:t>
            </a:r>
            <a:endParaRPr lang="en-US" sz="950" dirty="0"/>
          </a:p>
        </p:txBody>
      </p:sp>
      <p:sp>
        <p:nvSpPr>
          <p:cNvPr id="25" name="Shape 19"/>
          <p:cNvSpPr/>
          <p:nvPr/>
        </p:nvSpPr>
        <p:spPr>
          <a:xfrm>
            <a:off x="6217920" y="3794760"/>
            <a:ext cx="5422392" cy="2194560"/>
          </a:xfrm>
          <a:prstGeom prst="roundRect">
            <a:avLst>
              <a:gd name="adj" fmla="val 2917"/>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26" name="Shape 20"/>
          <p:cNvSpPr/>
          <p:nvPr/>
        </p:nvSpPr>
        <p:spPr>
          <a:xfrm>
            <a:off x="6455664" y="4014216"/>
            <a:ext cx="457200" cy="457200"/>
          </a:xfrm>
          <a:prstGeom prst="ellipse">
            <a:avLst/>
          </a:prstGeom>
          <a:solidFill>
            <a:srgbClr val="5B21B6"/>
          </a:solidFill>
          <a:ln/>
        </p:spPr>
      </p:sp>
      <p:pic>
        <p:nvPicPr>
          <p:cNvPr id="27" name="Image 3" descr="preencoded.png">    </p:cNvPr>
          <p:cNvPicPr>
            <a:picLocks noChangeAspect="1"/>
          </p:cNvPicPr>
          <p:nvPr/>
        </p:nvPicPr>
        <p:blipFill>
          <a:blip r:embed="rId4"/>
          <a:stretch>
            <a:fillRect/>
          </a:stretch>
        </p:blipFill>
        <p:spPr>
          <a:xfrm>
            <a:off x="6574536" y="4133088"/>
            <a:ext cx="219456" cy="219456"/>
          </a:xfrm>
          <a:prstGeom prst="rect">
            <a:avLst/>
          </a:prstGeom>
        </p:spPr>
      </p:pic>
      <p:sp>
        <p:nvSpPr>
          <p:cNvPr id="28" name="Text 21"/>
          <p:cNvSpPr/>
          <p:nvPr/>
        </p:nvSpPr>
        <p:spPr>
          <a:xfrm>
            <a:off x="7059168" y="4069080"/>
            <a:ext cx="4416552" cy="320040"/>
          </a:xfrm>
          <a:prstGeom prst="rect">
            <a:avLst/>
          </a:prstGeom>
          <a:noFill/>
          <a:ln/>
        </p:spPr>
        <p:txBody>
          <a:bodyPr wrap="square" lIns="0" tIns="0" rIns="0" bIns="0" rtlCol="0" anchor="t"/>
          <a:lstStyle/>
          <a:p>
            <a:pPr algn="l" indent="0" marL="0">
              <a:buNone/>
            </a:pPr>
            <a:r>
              <a:rPr lang="en-US" sz="1350" b="1" dirty="0">
                <a:solidFill>
                  <a:srgbClr val="1F2A3D"/>
                </a:solidFill>
                <a:latin typeface="Calibri" pitchFamily="34" charset="0"/>
                <a:ea typeface="Calibri" pitchFamily="34" charset="-122"/>
                <a:cs typeface="Calibri" pitchFamily="34" charset="-120"/>
              </a:rPr>
              <a:t>4 · Hysteresis</a:t>
            </a:r>
            <a:endParaRPr lang="en-US" sz="1350" dirty="0"/>
          </a:p>
        </p:txBody>
      </p:sp>
      <p:sp>
        <p:nvSpPr>
          <p:cNvPr id="29" name="Text 22"/>
          <p:cNvSpPr/>
          <p:nvPr/>
        </p:nvSpPr>
        <p:spPr>
          <a:xfrm>
            <a:off x="6455664" y="4572000"/>
            <a:ext cx="4946904" cy="960120"/>
          </a:xfrm>
          <a:prstGeom prst="rect">
            <a:avLst/>
          </a:prstGeom>
          <a:noFill/>
          <a:ln/>
        </p:spPr>
        <p:txBody>
          <a:bodyPr wrap="square" lIns="0" tIns="0" rIns="0" bIns="0" rtlCol="0" anchor="t"/>
          <a:lstStyle/>
          <a:p>
            <a:pPr algn="l" indent="0" marL="0">
              <a:lnSpc>
                <a:spcPct val="110000"/>
              </a:lnSpc>
              <a:buNone/>
            </a:pPr>
            <a:r>
              <a:rPr lang="en-US" sz="1050" dirty="0">
                <a:solidFill>
                  <a:srgbClr val="5D6B7E"/>
                </a:solidFill>
                <a:latin typeface="Calibri" pitchFamily="34" charset="0"/>
                <a:ea typeface="Calibri" pitchFamily="34" charset="-122"/>
                <a:cs typeface="Calibri" pitchFamily="34" charset="-120"/>
              </a:rPr>
              <a:t>escalated_this_episode → stay on the current rung. De-escalation only happens at an episode boundary (slide 35).</a:t>
            </a:r>
            <a:endParaRPr lang="en-US" sz="1050" dirty="0"/>
          </a:p>
        </p:txBody>
      </p:sp>
      <p:sp>
        <p:nvSpPr>
          <p:cNvPr id="30" name="Text 23"/>
          <p:cNvSpPr/>
          <p:nvPr/>
        </p:nvSpPr>
        <p:spPr>
          <a:xfrm>
            <a:off x="6455664" y="5605272"/>
            <a:ext cx="4946904" cy="320040"/>
          </a:xfrm>
          <a:prstGeom prst="rect">
            <a:avLst/>
          </a:prstGeom>
          <a:noFill/>
          <a:ln/>
        </p:spPr>
        <p:txBody>
          <a:bodyPr wrap="square" lIns="0" tIns="0" rIns="0" bIns="0" rtlCol="0" anchor="t"/>
          <a:lstStyle/>
          <a:p>
            <a:pPr algn="l" indent="0" marL="0">
              <a:buNone/>
            </a:pPr>
            <a:r>
              <a:rPr lang="en-US" sz="950" b="1" i="1" dirty="0">
                <a:solidFill>
                  <a:srgbClr val="5B21B6"/>
                </a:solidFill>
                <a:latin typeface="Calibri" pitchFamily="34" charset="0"/>
                <a:ea typeface="Calibri" pitchFamily="34" charset="-122"/>
                <a:cs typeface="Calibri" pitchFamily="34" charset="-120"/>
              </a:rPr>
              <a:t>S15: refactor follow-ups stay frontier until “now write a README”</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PART 2 · THE DECISION PATH</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Layer 1 — one score, two thresholds</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design doc §5.3 · scenarios S1, S3, S8, S10</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17</a:t>
            </a:r>
            <a:endParaRPr lang="en-US" sz="900" dirty="0"/>
          </a:p>
        </p:txBody>
      </p:sp>
      <p:sp>
        <p:nvSpPr>
          <p:cNvPr id="7" name="Shape 4"/>
          <p:cNvSpPr/>
          <p:nvPr/>
        </p:nvSpPr>
        <p:spPr>
          <a:xfrm>
            <a:off x="548640" y="2286000"/>
            <a:ext cx="3993002" cy="777240"/>
          </a:xfrm>
          <a:prstGeom prst="roundRect">
            <a:avLst>
              <a:gd name="adj" fmla="val 8235"/>
            </a:avLst>
          </a:prstGeom>
          <a:solidFill>
            <a:srgbClr val="E3F1EA"/>
          </a:solidFill>
          <a:ln/>
        </p:spPr>
      </p:sp>
      <p:sp>
        <p:nvSpPr>
          <p:cNvPr id="8" name="Shape 5"/>
          <p:cNvSpPr/>
          <p:nvPr/>
        </p:nvSpPr>
        <p:spPr>
          <a:xfrm>
            <a:off x="4541642" y="2286000"/>
            <a:ext cx="3438418" cy="777240"/>
          </a:xfrm>
          <a:prstGeom prst="roundRect">
            <a:avLst>
              <a:gd name="adj" fmla="val 8235"/>
            </a:avLst>
          </a:prstGeom>
          <a:solidFill>
            <a:srgbClr val="EAF0F5"/>
          </a:solidFill>
          <a:ln/>
        </p:spPr>
      </p:sp>
      <p:sp>
        <p:nvSpPr>
          <p:cNvPr id="9" name="Shape 6"/>
          <p:cNvSpPr/>
          <p:nvPr/>
        </p:nvSpPr>
        <p:spPr>
          <a:xfrm>
            <a:off x="7980060" y="2286000"/>
            <a:ext cx="3660252" cy="777240"/>
          </a:xfrm>
          <a:prstGeom prst="roundRect">
            <a:avLst>
              <a:gd name="adj" fmla="val 8235"/>
            </a:avLst>
          </a:prstGeom>
          <a:solidFill>
            <a:srgbClr val="ECE5F8"/>
          </a:solidFill>
          <a:ln/>
        </p:spPr>
      </p:sp>
      <p:sp>
        <p:nvSpPr>
          <p:cNvPr id="10" name="Text 7"/>
          <p:cNvSpPr/>
          <p:nvPr/>
        </p:nvSpPr>
        <p:spPr>
          <a:xfrm>
            <a:off x="731520" y="2505456"/>
            <a:ext cx="3627242" cy="365760"/>
          </a:xfrm>
          <a:prstGeom prst="rect">
            <a:avLst/>
          </a:prstGeom>
          <a:noFill/>
          <a:ln/>
        </p:spPr>
        <p:txBody>
          <a:bodyPr wrap="square" lIns="0" tIns="0" rIns="0" bIns="0" rtlCol="0" anchor="t"/>
          <a:lstStyle/>
          <a:p>
            <a:pPr algn="l" indent="0" marL="0">
              <a:buNone/>
            </a:pPr>
            <a:r>
              <a:rPr lang="en-US" sz="1200" b="1" dirty="0">
                <a:solidFill>
                  <a:srgbClr val="1F7A55"/>
                </a:solidFill>
                <a:latin typeface="Calibri" pitchFamily="34" charset="0"/>
                <a:ea typeface="Calibri" pitchFamily="34" charset="-122"/>
                <a:cs typeface="Calibri" pitchFamily="34" charset="-120"/>
              </a:rPr>
              <a:t>LOCAL — cascade armed</a:t>
            </a:r>
            <a:endParaRPr lang="en-US" sz="1200" dirty="0"/>
          </a:p>
        </p:txBody>
      </p:sp>
      <p:sp>
        <p:nvSpPr>
          <p:cNvPr id="11" name="Text 8"/>
          <p:cNvSpPr/>
          <p:nvPr/>
        </p:nvSpPr>
        <p:spPr>
          <a:xfrm>
            <a:off x="4724522" y="2505456"/>
            <a:ext cx="3072658" cy="365760"/>
          </a:xfrm>
          <a:prstGeom prst="rect">
            <a:avLst/>
          </a:prstGeom>
          <a:noFill/>
          <a:ln/>
        </p:spPr>
        <p:txBody>
          <a:bodyPr wrap="square" lIns="0" tIns="0" rIns="0" bIns="0" rtlCol="0" anchor="t"/>
          <a:lstStyle/>
          <a:p>
            <a:pPr algn="l" indent="0" marL="0">
              <a:buNone/>
            </a:pPr>
            <a:r>
              <a:rPr lang="en-US" sz="1200" b="1" dirty="0">
                <a:solidFill>
                  <a:srgbClr val="5D6B7E"/>
                </a:solidFill>
                <a:latin typeface="Calibri" pitchFamily="34" charset="0"/>
                <a:ea typeface="Calibri" pitchFamily="34" charset="-122"/>
                <a:cs typeface="Calibri" pitchFamily="34" charset="-120"/>
              </a:rPr>
              <a:t>AMBIGUOUS MIDDLE → Layer 2</a:t>
            </a:r>
            <a:endParaRPr lang="en-US" sz="1200" dirty="0"/>
          </a:p>
        </p:txBody>
      </p:sp>
      <p:sp>
        <p:nvSpPr>
          <p:cNvPr id="12" name="Text 9"/>
          <p:cNvSpPr/>
          <p:nvPr/>
        </p:nvSpPr>
        <p:spPr>
          <a:xfrm>
            <a:off x="8162940" y="2505456"/>
            <a:ext cx="3294492" cy="365760"/>
          </a:xfrm>
          <a:prstGeom prst="rect">
            <a:avLst/>
          </a:prstGeom>
          <a:noFill/>
          <a:ln/>
        </p:spPr>
        <p:txBody>
          <a:bodyPr wrap="square" lIns="0" tIns="0" rIns="0" bIns="0" rtlCol="0" anchor="t"/>
          <a:lstStyle/>
          <a:p>
            <a:pPr algn="r" indent="0" marL="0">
              <a:buNone/>
            </a:pPr>
            <a:r>
              <a:rPr lang="en-US" sz="1200" b="1" dirty="0">
                <a:solidFill>
                  <a:srgbClr val="5B21B6"/>
                </a:solidFill>
                <a:latin typeface="Calibri" pitchFamily="34" charset="0"/>
                <a:ea typeface="Calibri" pitchFamily="34" charset="-122"/>
                <a:cs typeface="Calibri" pitchFamily="34" charset="-120"/>
              </a:rPr>
              <a:t>FRONTIER — direct, no cascade</a:t>
            </a:r>
            <a:endParaRPr lang="en-US" sz="1200" dirty="0"/>
          </a:p>
        </p:txBody>
      </p:sp>
      <p:sp>
        <p:nvSpPr>
          <p:cNvPr id="13" name="Shape 10"/>
          <p:cNvSpPr/>
          <p:nvPr/>
        </p:nvSpPr>
        <p:spPr>
          <a:xfrm>
            <a:off x="4541642" y="2057400"/>
            <a:ext cx="0" cy="1234440"/>
          </a:xfrm>
          <a:prstGeom prst="line">
            <a:avLst/>
          </a:prstGeom>
          <a:noFill/>
          <a:ln w="19050">
            <a:solidFill>
              <a:srgbClr val="1F2A3D"/>
            </a:solidFill>
            <a:prstDash val="dash"/>
            <a:headEnd type="none"/>
            <a:tailEnd type="none"/>
          </a:ln>
        </p:spPr>
      </p:sp>
      <p:sp>
        <p:nvSpPr>
          <p:cNvPr id="14" name="Text 11"/>
          <p:cNvSpPr/>
          <p:nvPr/>
        </p:nvSpPr>
        <p:spPr>
          <a:xfrm>
            <a:off x="4084442" y="1737360"/>
            <a:ext cx="914400" cy="274320"/>
          </a:xfrm>
          <a:prstGeom prst="rect">
            <a:avLst/>
          </a:prstGeom>
          <a:noFill/>
          <a:ln/>
        </p:spPr>
        <p:txBody>
          <a:bodyPr wrap="square" lIns="0" tIns="0" rIns="0" bIns="0" rtlCol="0" anchor="t"/>
          <a:lstStyle/>
          <a:p>
            <a:pPr algn="ctr" indent="0" marL="0">
              <a:buNone/>
            </a:pPr>
            <a:r>
              <a:rPr lang="en-US" sz="1100" b="1" dirty="0">
                <a:solidFill>
                  <a:srgbClr val="1F2A3D"/>
                </a:solidFill>
                <a:latin typeface="Courier New" pitchFamily="34" charset="0"/>
                <a:ea typeface="Courier New" pitchFamily="34" charset="-122"/>
                <a:cs typeface="Courier New" pitchFamily="34" charset="-120"/>
              </a:rPr>
              <a:t>T_EASY</a:t>
            </a:r>
            <a:endParaRPr lang="en-US" sz="1100" dirty="0"/>
          </a:p>
        </p:txBody>
      </p:sp>
      <p:sp>
        <p:nvSpPr>
          <p:cNvPr id="15" name="Shape 12"/>
          <p:cNvSpPr/>
          <p:nvPr/>
        </p:nvSpPr>
        <p:spPr>
          <a:xfrm>
            <a:off x="7980060" y="2057400"/>
            <a:ext cx="0" cy="1234440"/>
          </a:xfrm>
          <a:prstGeom prst="line">
            <a:avLst/>
          </a:prstGeom>
          <a:noFill/>
          <a:ln w="19050">
            <a:solidFill>
              <a:srgbClr val="1F2A3D"/>
            </a:solidFill>
            <a:prstDash val="dash"/>
            <a:headEnd type="none"/>
            <a:tailEnd type="none"/>
          </a:ln>
        </p:spPr>
      </p:sp>
      <p:sp>
        <p:nvSpPr>
          <p:cNvPr id="16" name="Text 13"/>
          <p:cNvSpPr/>
          <p:nvPr/>
        </p:nvSpPr>
        <p:spPr>
          <a:xfrm>
            <a:off x="7522860" y="1737360"/>
            <a:ext cx="914400" cy="274320"/>
          </a:xfrm>
          <a:prstGeom prst="rect">
            <a:avLst/>
          </a:prstGeom>
          <a:noFill/>
          <a:ln/>
        </p:spPr>
        <p:txBody>
          <a:bodyPr wrap="square" lIns="0" tIns="0" rIns="0" bIns="0" rtlCol="0" anchor="t"/>
          <a:lstStyle/>
          <a:p>
            <a:pPr algn="ctr" indent="0" marL="0">
              <a:buNone/>
            </a:pPr>
            <a:r>
              <a:rPr lang="en-US" sz="1100" b="1" dirty="0">
                <a:solidFill>
                  <a:srgbClr val="1F2A3D"/>
                </a:solidFill>
                <a:latin typeface="Courier New" pitchFamily="34" charset="0"/>
                <a:ea typeface="Courier New" pitchFamily="34" charset="-122"/>
                <a:cs typeface="Courier New" pitchFamily="34" charset="-120"/>
              </a:rPr>
              <a:t>T_HARD</a:t>
            </a:r>
            <a:endParaRPr lang="en-US" sz="1100" dirty="0"/>
          </a:p>
        </p:txBody>
      </p:sp>
      <p:sp>
        <p:nvSpPr>
          <p:cNvPr id="17" name="Text 14"/>
          <p:cNvSpPr/>
          <p:nvPr/>
        </p:nvSpPr>
        <p:spPr>
          <a:xfrm>
            <a:off x="548640" y="3172968"/>
            <a:ext cx="548640" cy="228600"/>
          </a:xfrm>
          <a:prstGeom prst="rect">
            <a:avLst/>
          </a:prstGeom>
          <a:noFill/>
          <a:ln/>
        </p:spPr>
        <p:txBody>
          <a:bodyPr wrap="square" lIns="0" tIns="0" rIns="0" bIns="0" rtlCol="0" anchor="t"/>
          <a:lstStyle/>
          <a:p>
            <a:pPr algn="l" indent="0" marL="0">
              <a:buNone/>
            </a:pPr>
            <a:r>
              <a:rPr lang="en-US" sz="950" dirty="0">
                <a:solidFill>
                  <a:srgbClr val="93A1B1"/>
                </a:solidFill>
                <a:latin typeface="Calibri" pitchFamily="34" charset="0"/>
                <a:ea typeface="Calibri" pitchFamily="34" charset="-122"/>
                <a:cs typeface="Calibri" pitchFamily="34" charset="-120"/>
              </a:rPr>
              <a:t>0.0</a:t>
            </a:r>
            <a:endParaRPr lang="en-US" sz="950" dirty="0"/>
          </a:p>
        </p:txBody>
      </p:sp>
      <p:sp>
        <p:nvSpPr>
          <p:cNvPr id="18" name="Text 15"/>
          <p:cNvSpPr/>
          <p:nvPr/>
        </p:nvSpPr>
        <p:spPr>
          <a:xfrm>
            <a:off x="5180076" y="3172968"/>
            <a:ext cx="1828800" cy="228600"/>
          </a:xfrm>
          <a:prstGeom prst="rect">
            <a:avLst/>
          </a:prstGeom>
          <a:noFill/>
          <a:ln/>
        </p:spPr>
        <p:txBody>
          <a:bodyPr wrap="square" lIns="0" tIns="0" rIns="0" bIns="0" rtlCol="0" anchor="t"/>
          <a:lstStyle/>
          <a:p>
            <a:pPr algn="ctr" indent="0" marL="0">
              <a:buNone/>
            </a:pPr>
            <a:r>
              <a:rPr lang="en-US" sz="950" dirty="0">
                <a:solidFill>
                  <a:srgbClr val="93A1B1"/>
                </a:solidFill>
                <a:latin typeface="Calibri" pitchFamily="34" charset="0"/>
                <a:ea typeface="Calibri" pitchFamily="34" charset="-122"/>
                <a:cs typeface="Calibri" pitchFamily="34" charset="-120"/>
              </a:rPr>
              <a:t>difficulty score →</a:t>
            </a:r>
            <a:endParaRPr lang="en-US" sz="950" dirty="0"/>
          </a:p>
        </p:txBody>
      </p:sp>
      <p:sp>
        <p:nvSpPr>
          <p:cNvPr id="19" name="Text 16"/>
          <p:cNvSpPr/>
          <p:nvPr/>
        </p:nvSpPr>
        <p:spPr>
          <a:xfrm>
            <a:off x="11091672" y="3172968"/>
            <a:ext cx="548640" cy="228600"/>
          </a:xfrm>
          <a:prstGeom prst="rect">
            <a:avLst/>
          </a:prstGeom>
          <a:noFill/>
          <a:ln/>
        </p:spPr>
        <p:txBody>
          <a:bodyPr wrap="square" lIns="0" tIns="0" rIns="0" bIns="0" rtlCol="0" anchor="t"/>
          <a:lstStyle/>
          <a:p>
            <a:pPr algn="r" indent="0" marL="0">
              <a:buNone/>
            </a:pPr>
            <a:r>
              <a:rPr lang="en-US" sz="950" dirty="0">
                <a:solidFill>
                  <a:srgbClr val="93A1B1"/>
                </a:solidFill>
                <a:latin typeface="Calibri" pitchFamily="34" charset="0"/>
                <a:ea typeface="Calibri" pitchFamily="34" charset="-122"/>
                <a:cs typeface="Calibri" pitchFamily="34" charset="-120"/>
              </a:rPr>
              <a:t>1.0</a:t>
            </a:r>
            <a:endParaRPr lang="en-US" sz="950" dirty="0"/>
          </a:p>
        </p:txBody>
      </p:sp>
      <p:sp>
        <p:nvSpPr>
          <p:cNvPr id="20" name="Shape 17"/>
          <p:cNvSpPr/>
          <p:nvPr/>
        </p:nvSpPr>
        <p:spPr>
          <a:xfrm>
            <a:off x="1103224" y="3063240"/>
            <a:ext cx="0" cy="1737360"/>
          </a:xfrm>
          <a:prstGeom prst="line">
            <a:avLst/>
          </a:prstGeom>
          <a:noFill/>
          <a:ln w="12700">
            <a:solidFill>
              <a:srgbClr val="1F7A55"/>
            </a:solidFill>
            <a:prstDash val="solid"/>
            <a:headEnd type="none"/>
            <a:tailEnd type="none"/>
          </a:ln>
        </p:spPr>
      </p:sp>
      <p:sp>
        <p:nvSpPr>
          <p:cNvPr id="21" name="Shape 18"/>
          <p:cNvSpPr/>
          <p:nvPr/>
        </p:nvSpPr>
        <p:spPr>
          <a:xfrm>
            <a:off x="966064" y="4846320"/>
            <a:ext cx="2514600" cy="868680"/>
          </a:xfrm>
          <a:prstGeom prst="roundRect">
            <a:avLst>
              <a:gd name="adj" fmla="val 7368"/>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22" name="Text 19"/>
          <p:cNvSpPr/>
          <p:nvPr/>
        </p:nvSpPr>
        <p:spPr>
          <a:xfrm>
            <a:off x="1148944" y="4956048"/>
            <a:ext cx="2194560" cy="274320"/>
          </a:xfrm>
          <a:prstGeom prst="rect">
            <a:avLst/>
          </a:prstGeom>
          <a:noFill/>
          <a:ln/>
        </p:spPr>
        <p:txBody>
          <a:bodyPr wrap="square" lIns="0" tIns="0" rIns="0" bIns="0" rtlCol="0" anchor="t"/>
          <a:lstStyle/>
          <a:p>
            <a:pPr algn="l" indent="0" marL="0">
              <a:buNone/>
            </a:pPr>
            <a:r>
              <a:rPr lang="en-US" sz="1100" b="1" dirty="0">
                <a:solidFill>
                  <a:srgbClr val="1F7A55"/>
                </a:solidFill>
                <a:latin typeface="Courier New" pitchFamily="34" charset="0"/>
                <a:ea typeface="Courier New" pitchFamily="34" charset="-122"/>
                <a:cs typeface="Courier New" pitchFamily="34" charset="-120"/>
              </a:rPr>
              <a:t>0.08  ·  S8</a:t>
            </a:r>
            <a:endParaRPr lang="en-US" sz="1100" dirty="0"/>
          </a:p>
        </p:txBody>
      </p:sp>
      <p:sp>
        <p:nvSpPr>
          <p:cNvPr id="23" name="Text 20"/>
          <p:cNvSpPr/>
          <p:nvPr/>
        </p:nvSpPr>
        <p:spPr>
          <a:xfrm>
            <a:off x="1148944" y="5257800"/>
            <a:ext cx="2286000" cy="384048"/>
          </a:xfrm>
          <a:prstGeom prst="rect">
            <a:avLst/>
          </a:prstGeom>
          <a:noFill/>
          <a:ln/>
        </p:spPr>
        <p:txBody>
          <a:bodyPr wrap="square" lIns="0" tIns="0" rIns="0" bIns="0" rtlCol="0" anchor="t"/>
          <a:lstStyle/>
          <a:p>
            <a:pPr algn="l" indent="0" marL="0">
              <a:buNone/>
            </a:pPr>
            <a:r>
              <a:rPr lang="en-US" sz="1000" i="1" dirty="0">
                <a:solidFill>
                  <a:srgbClr val="5D6B7E"/>
                </a:solidFill>
                <a:latin typeface="Calibri" pitchFamily="34" charset="0"/>
                <a:ea typeface="Calibri" pitchFamily="34" charset="-122"/>
                <a:cs typeface="Calibri" pitchFamily="34" charset="-120"/>
              </a:rPr>
              <a:t>“write a commit message”</a:t>
            </a:r>
            <a:endParaRPr lang="en-US" sz="1000" dirty="0"/>
          </a:p>
        </p:txBody>
      </p:sp>
      <p:sp>
        <p:nvSpPr>
          <p:cNvPr id="24" name="Shape 21"/>
          <p:cNvSpPr/>
          <p:nvPr/>
        </p:nvSpPr>
        <p:spPr>
          <a:xfrm>
            <a:off x="2434224" y="3063240"/>
            <a:ext cx="0" cy="685800"/>
          </a:xfrm>
          <a:prstGeom prst="line">
            <a:avLst/>
          </a:prstGeom>
          <a:noFill/>
          <a:ln w="12700">
            <a:solidFill>
              <a:srgbClr val="1F7A55"/>
            </a:solidFill>
            <a:prstDash val="solid"/>
            <a:headEnd type="none"/>
            <a:tailEnd type="none"/>
          </a:ln>
        </p:spPr>
      </p:sp>
      <p:sp>
        <p:nvSpPr>
          <p:cNvPr id="25" name="Shape 22"/>
          <p:cNvSpPr/>
          <p:nvPr/>
        </p:nvSpPr>
        <p:spPr>
          <a:xfrm>
            <a:off x="2297064" y="3794760"/>
            <a:ext cx="2514600" cy="868680"/>
          </a:xfrm>
          <a:prstGeom prst="roundRect">
            <a:avLst>
              <a:gd name="adj" fmla="val 7368"/>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26" name="Text 23"/>
          <p:cNvSpPr/>
          <p:nvPr/>
        </p:nvSpPr>
        <p:spPr>
          <a:xfrm>
            <a:off x="2479944" y="3904488"/>
            <a:ext cx="2194560" cy="274320"/>
          </a:xfrm>
          <a:prstGeom prst="rect">
            <a:avLst/>
          </a:prstGeom>
          <a:noFill/>
          <a:ln/>
        </p:spPr>
        <p:txBody>
          <a:bodyPr wrap="square" lIns="0" tIns="0" rIns="0" bIns="0" rtlCol="0" anchor="t"/>
          <a:lstStyle/>
          <a:p>
            <a:pPr algn="l" indent="0" marL="0">
              <a:buNone/>
            </a:pPr>
            <a:r>
              <a:rPr lang="en-US" sz="1100" b="1" dirty="0">
                <a:solidFill>
                  <a:srgbClr val="1F7A55"/>
                </a:solidFill>
                <a:latin typeface="Courier New" pitchFamily="34" charset="0"/>
                <a:ea typeface="Courier New" pitchFamily="34" charset="-122"/>
                <a:cs typeface="Courier New" pitchFamily="34" charset="-120"/>
              </a:rPr>
              <a:t>0.22  ·  S1</a:t>
            </a:r>
            <a:endParaRPr lang="en-US" sz="1100" dirty="0"/>
          </a:p>
        </p:txBody>
      </p:sp>
      <p:sp>
        <p:nvSpPr>
          <p:cNvPr id="27" name="Text 24"/>
          <p:cNvSpPr/>
          <p:nvPr/>
        </p:nvSpPr>
        <p:spPr>
          <a:xfrm>
            <a:off x="2479944" y="4206240"/>
            <a:ext cx="2286000" cy="384048"/>
          </a:xfrm>
          <a:prstGeom prst="rect">
            <a:avLst/>
          </a:prstGeom>
          <a:noFill/>
          <a:ln/>
        </p:spPr>
        <p:txBody>
          <a:bodyPr wrap="square" lIns="0" tIns="0" rIns="0" bIns="0" rtlCol="0" anchor="t"/>
          <a:lstStyle/>
          <a:p>
            <a:pPr algn="l" indent="0" marL="0">
              <a:buNone/>
            </a:pPr>
            <a:r>
              <a:rPr lang="en-US" sz="1000" i="1" dirty="0">
                <a:solidFill>
                  <a:srgbClr val="5D6B7E"/>
                </a:solidFill>
                <a:latin typeface="Calibri" pitchFamily="34" charset="0"/>
                <a:ea typeface="Calibri" pitchFamily="34" charset="-122"/>
                <a:cs typeface="Calibri" pitchFamily="34" charset="-120"/>
              </a:rPr>
              <a:t>“what does this repo do?”</a:t>
            </a:r>
            <a:endParaRPr lang="en-US" sz="1000" dirty="0"/>
          </a:p>
        </p:txBody>
      </p:sp>
      <p:sp>
        <p:nvSpPr>
          <p:cNvPr id="28" name="Shape 25"/>
          <p:cNvSpPr/>
          <p:nvPr/>
        </p:nvSpPr>
        <p:spPr>
          <a:xfrm>
            <a:off x="5539892" y="3063240"/>
            <a:ext cx="0" cy="1737360"/>
          </a:xfrm>
          <a:prstGeom prst="line">
            <a:avLst/>
          </a:prstGeom>
          <a:noFill/>
          <a:ln w="12700">
            <a:solidFill>
              <a:srgbClr val="5D6B7E"/>
            </a:solidFill>
            <a:prstDash val="solid"/>
            <a:headEnd type="none"/>
            <a:tailEnd type="none"/>
          </a:ln>
        </p:spPr>
      </p:sp>
      <p:sp>
        <p:nvSpPr>
          <p:cNvPr id="29" name="Shape 26"/>
          <p:cNvSpPr/>
          <p:nvPr/>
        </p:nvSpPr>
        <p:spPr>
          <a:xfrm>
            <a:off x="5402732" y="4846320"/>
            <a:ext cx="2514600" cy="868680"/>
          </a:xfrm>
          <a:prstGeom prst="roundRect">
            <a:avLst>
              <a:gd name="adj" fmla="val 7368"/>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30" name="Text 27"/>
          <p:cNvSpPr/>
          <p:nvPr/>
        </p:nvSpPr>
        <p:spPr>
          <a:xfrm>
            <a:off x="5585612" y="4956048"/>
            <a:ext cx="2194560" cy="274320"/>
          </a:xfrm>
          <a:prstGeom prst="rect">
            <a:avLst/>
          </a:prstGeom>
          <a:noFill/>
          <a:ln/>
        </p:spPr>
        <p:txBody>
          <a:bodyPr wrap="square" lIns="0" tIns="0" rIns="0" bIns="0" rtlCol="0" anchor="t"/>
          <a:lstStyle/>
          <a:p>
            <a:pPr algn="l" indent="0" marL="0">
              <a:buNone/>
            </a:pPr>
            <a:r>
              <a:rPr lang="en-US" sz="1100" b="1" dirty="0">
                <a:solidFill>
                  <a:srgbClr val="5D6B7E"/>
                </a:solidFill>
                <a:latin typeface="Courier New" pitchFamily="34" charset="0"/>
                <a:ea typeface="Courier New" pitchFamily="34" charset="-122"/>
                <a:cs typeface="Courier New" pitchFamily="34" charset="-120"/>
              </a:rPr>
              <a:t>0.48  ·  S3</a:t>
            </a:r>
            <a:endParaRPr lang="en-US" sz="1100" dirty="0"/>
          </a:p>
        </p:txBody>
      </p:sp>
      <p:sp>
        <p:nvSpPr>
          <p:cNvPr id="31" name="Text 28"/>
          <p:cNvSpPr/>
          <p:nvPr/>
        </p:nvSpPr>
        <p:spPr>
          <a:xfrm>
            <a:off x="5585612" y="5257800"/>
            <a:ext cx="2286000" cy="384048"/>
          </a:xfrm>
          <a:prstGeom prst="rect">
            <a:avLst/>
          </a:prstGeom>
          <a:noFill/>
          <a:ln/>
        </p:spPr>
        <p:txBody>
          <a:bodyPr wrap="square" lIns="0" tIns="0" rIns="0" bIns="0" rtlCol="0" anchor="t"/>
          <a:lstStyle/>
          <a:p>
            <a:pPr algn="l" indent="0" marL="0">
              <a:buNone/>
            </a:pPr>
            <a:r>
              <a:rPr lang="en-US" sz="1000" i="1" dirty="0">
                <a:solidFill>
                  <a:srgbClr val="5D6B7E"/>
                </a:solidFill>
                <a:latin typeface="Calibri" pitchFamily="34" charset="0"/>
                <a:ea typeface="Calibri" pitchFamily="34" charset="-122"/>
                <a:cs typeface="Calibri" pitchFamily="34" charset="-120"/>
              </a:rPr>
              <a:t>“fix the failing test”</a:t>
            </a:r>
            <a:endParaRPr lang="en-US" sz="1000" dirty="0"/>
          </a:p>
        </p:txBody>
      </p:sp>
      <p:sp>
        <p:nvSpPr>
          <p:cNvPr id="32" name="Shape 29"/>
          <p:cNvSpPr/>
          <p:nvPr/>
        </p:nvSpPr>
        <p:spPr>
          <a:xfrm>
            <a:off x="9200144" y="3063240"/>
            <a:ext cx="0" cy="685800"/>
          </a:xfrm>
          <a:prstGeom prst="line">
            <a:avLst/>
          </a:prstGeom>
          <a:noFill/>
          <a:ln w="12700">
            <a:solidFill>
              <a:srgbClr val="5B21B6"/>
            </a:solidFill>
            <a:prstDash val="solid"/>
            <a:headEnd type="none"/>
            <a:tailEnd type="none"/>
          </a:ln>
        </p:spPr>
      </p:sp>
      <p:sp>
        <p:nvSpPr>
          <p:cNvPr id="33" name="Shape 30"/>
          <p:cNvSpPr/>
          <p:nvPr/>
        </p:nvSpPr>
        <p:spPr>
          <a:xfrm>
            <a:off x="9062984" y="3794760"/>
            <a:ext cx="2514600" cy="868680"/>
          </a:xfrm>
          <a:prstGeom prst="roundRect">
            <a:avLst>
              <a:gd name="adj" fmla="val 7368"/>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34" name="Text 31"/>
          <p:cNvSpPr/>
          <p:nvPr/>
        </p:nvSpPr>
        <p:spPr>
          <a:xfrm>
            <a:off x="9245864" y="3904488"/>
            <a:ext cx="2194560" cy="274320"/>
          </a:xfrm>
          <a:prstGeom prst="rect">
            <a:avLst/>
          </a:prstGeom>
          <a:noFill/>
          <a:ln/>
        </p:spPr>
        <p:txBody>
          <a:bodyPr wrap="square" lIns="0" tIns="0" rIns="0" bIns="0" rtlCol="0" anchor="t"/>
          <a:lstStyle/>
          <a:p>
            <a:pPr algn="l" indent="0" marL="0">
              <a:buNone/>
            </a:pPr>
            <a:r>
              <a:rPr lang="en-US" sz="1100" b="1" dirty="0">
                <a:solidFill>
                  <a:srgbClr val="5B21B6"/>
                </a:solidFill>
                <a:latin typeface="Courier New" pitchFamily="34" charset="0"/>
                <a:ea typeface="Courier New" pitchFamily="34" charset="-122"/>
                <a:cs typeface="Courier New" pitchFamily="34" charset="-120"/>
              </a:rPr>
              <a:t>0.86  ·  S10</a:t>
            </a:r>
            <a:endParaRPr lang="en-US" sz="1100" dirty="0"/>
          </a:p>
        </p:txBody>
      </p:sp>
      <p:sp>
        <p:nvSpPr>
          <p:cNvPr id="35" name="Text 32"/>
          <p:cNvSpPr/>
          <p:nvPr/>
        </p:nvSpPr>
        <p:spPr>
          <a:xfrm>
            <a:off x="9245864" y="4206240"/>
            <a:ext cx="2286000" cy="384048"/>
          </a:xfrm>
          <a:prstGeom prst="rect">
            <a:avLst/>
          </a:prstGeom>
          <a:noFill/>
          <a:ln/>
        </p:spPr>
        <p:txBody>
          <a:bodyPr wrap="square" lIns="0" tIns="0" rIns="0" bIns="0" rtlCol="0" anchor="t"/>
          <a:lstStyle/>
          <a:p>
            <a:pPr algn="l" indent="0" marL="0">
              <a:buNone/>
            </a:pPr>
            <a:r>
              <a:rPr lang="en-US" sz="1000" i="1" dirty="0">
                <a:solidFill>
                  <a:srgbClr val="5D6B7E"/>
                </a:solidFill>
                <a:latin typeface="Calibri" pitchFamily="34" charset="0"/>
                <a:ea typeface="Calibri" pitchFamily="34" charset="-122"/>
                <a:cs typeface="Calibri" pitchFamily="34" charset="-120"/>
              </a:rPr>
              <a:t>“refactor auth across 3 services”</a:t>
            </a:r>
            <a:endParaRPr lang="en-US" sz="1000" dirty="0"/>
          </a:p>
        </p:txBody>
      </p:sp>
      <p:sp>
        <p:nvSpPr>
          <p:cNvPr id="36" name="Shape 33"/>
          <p:cNvSpPr/>
          <p:nvPr/>
        </p:nvSpPr>
        <p:spPr>
          <a:xfrm>
            <a:off x="548640" y="5897880"/>
            <a:ext cx="11091672" cy="457200"/>
          </a:xfrm>
          <a:prstGeom prst="roundRect">
            <a:avLst>
              <a:gd name="adj" fmla="val 14000"/>
            </a:avLst>
          </a:prstGeom>
          <a:solidFill>
            <a:srgbClr val="F3F6F9"/>
          </a:solidFill>
          <a:ln/>
        </p:spPr>
      </p:sp>
      <p:sp>
        <p:nvSpPr>
          <p:cNvPr id="37" name="Text 34"/>
          <p:cNvSpPr/>
          <p:nvPr/>
        </p:nvSpPr>
        <p:spPr>
          <a:xfrm>
            <a:off x="777240" y="5971032"/>
            <a:ext cx="10698480" cy="320040"/>
          </a:xfrm>
          <a:prstGeom prst="rect">
            <a:avLst/>
          </a:prstGeom>
          <a:noFill/>
          <a:ln/>
        </p:spPr>
        <p:txBody>
          <a:bodyPr wrap="square" lIns="0" tIns="0" rIns="0" bIns="0" rtlCol="0" anchor="t"/>
          <a:lstStyle/>
          <a:p>
            <a:pPr algn="l" indent="0" marL="0">
              <a:buNone/>
            </a:pPr>
            <a:r>
              <a:rPr lang="en-US" sz="1100" i="1" dirty="0">
                <a:solidFill>
                  <a:srgbClr val="5D6B7E"/>
                </a:solidFill>
                <a:latin typeface="Calibri" pitchFamily="34" charset="0"/>
                <a:ea typeface="Calibri" pitchFamily="34" charset="-122"/>
                <a:cs typeface="Calibri" pitchFamily="34" charset="-120"/>
              </a:rPr>
              <a:t>Thresholds start hand-set, get tuned from flywheel data — and are per-harness values, not global constants (the same turn scores easier under Codex, slide 37).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PART 2 · THE DECISION PATH</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Layer 2 — the learned router earns its way in (Phase 3)</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design doc §5.3, §5.7, §10 · vetting findings 7–8</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18</a:t>
            </a:r>
            <a:endParaRPr lang="en-US" sz="900" dirty="0"/>
          </a:p>
        </p:txBody>
      </p:sp>
      <p:sp>
        <p:nvSpPr>
          <p:cNvPr id="7" name="Shape 4"/>
          <p:cNvSpPr/>
          <p:nvPr/>
        </p:nvSpPr>
        <p:spPr>
          <a:xfrm>
            <a:off x="548640" y="1417320"/>
            <a:ext cx="6720840" cy="1783080"/>
          </a:xfrm>
          <a:prstGeom prst="roundRect">
            <a:avLst>
              <a:gd name="adj" fmla="val 3590"/>
            </a:avLst>
          </a:prstGeom>
          <a:solidFill>
            <a:srgbClr val="101D31"/>
          </a:solidFill>
          <a:ln/>
          <a:effectLst>
            <a:outerShdw sx="100000" sy="100000" kx="0" ky="0" algn="bl" rotWithShape="0" blurRad="88900" dist="25400" dir="2700000">
              <a:srgbClr val="1F2A3D">
                <a:alpha val="14000"/>
              </a:srgbClr>
            </a:outerShdw>
          </a:effectLst>
        </p:spPr>
      </p:sp>
      <p:sp>
        <p:nvSpPr>
          <p:cNvPr id="8" name="Text 5"/>
          <p:cNvSpPr/>
          <p:nvPr/>
        </p:nvSpPr>
        <p:spPr>
          <a:xfrm>
            <a:off x="749808" y="1563624"/>
            <a:ext cx="6318504" cy="1490472"/>
          </a:xfrm>
          <a:prstGeom prst="rect">
            <a:avLst/>
          </a:prstGeom>
          <a:noFill/>
          <a:ln/>
        </p:spPr>
        <p:txBody>
          <a:bodyPr wrap="square" lIns="0" tIns="0" rIns="0" bIns="0" rtlCol="0" anchor="ctr"/>
          <a:lstStyle/>
          <a:p>
            <a:pPr indent="0" marL="0">
              <a:lnSpc>
                <a:spcPct val="112000"/>
              </a:lnSpc>
              <a:buNone/>
            </a:pPr>
            <a:r>
              <a:rPr lang="en-US" sz="1100" dirty="0">
                <a:solidFill>
                  <a:srgbClr val="9CC3EC"/>
                </a:solidFill>
                <a:latin typeface="Courier New" pitchFamily="34" charset="0"/>
                <a:ea typeface="Courier New" pitchFamily="34" charset="-122"/>
                <a:cs typeface="Courier New" pitchFamily="34" charset="-120"/>
              </a:rPr>
              <a:t>p = learned_router.p_local_success(turn.features)   # trained on YOUR outcomes</a:t>
            </a:r>
            <a:endParaRPr lang="en-US" sz="1100" dirty="0"/>
          </a:p>
          <a:p>
            <a:pPr indent="0" marL="0">
              <a:lnSpc>
                <a:spcPct val="112000"/>
              </a:lnSpc>
              <a:buNone/>
            </a:pPr>
            <a:r>
              <a:rPr lang="en-US" sz="1100" dirty="0">
                <a:solidFill>
                  <a:srgbClr val="D9E4F3"/>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b="1" dirty="0">
                <a:solidFill>
                  <a:srgbClr val="D9E4F3"/>
                </a:solidFill>
                <a:latin typeface="Courier New" pitchFamily="34" charset="0"/>
                <a:ea typeface="Courier New" pitchFamily="34" charset="-122"/>
                <a:cs typeface="Courier New" pitchFamily="34" charset="-120"/>
              </a:rPr>
              <a:t>cost_local_first = C_local + (1 − p) · (C_frontier + WASTED_LATENCY_PENALTY)</a:t>
            </a:r>
            <a:endParaRPr lang="en-US" sz="1100" dirty="0"/>
          </a:p>
          <a:p>
            <a:pPr indent="0" marL="0">
              <a:lnSpc>
                <a:spcPct val="112000"/>
              </a:lnSpc>
              <a:buNone/>
            </a:pPr>
            <a:r>
              <a:rPr lang="en-US" sz="1100" dirty="0">
                <a:solidFill>
                  <a:srgbClr val="D9E4F3"/>
                </a:solidFill>
                <a:latin typeface="Courier New" pitchFamily="34" charset="0"/>
                <a:ea typeface="Courier New" pitchFamily="34" charset="-122"/>
                <a:cs typeface="Courier New" pitchFamily="34" charset="-120"/>
              </a:rPr>
              <a:t> </a:t>
            </a:r>
            <a:endParaRPr lang="en-US" sz="1100" dirty="0"/>
          </a:p>
          <a:p>
            <a:pPr indent="0" marL="0">
              <a:lnSpc>
                <a:spcPct val="112000"/>
              </a:lnSpc>
              <a:buNone/>
            </a:pPr>
            <a:r>
              <a:rPr lang="en-US" sz="1100" b="1" dirty="0">
                <a:solidFill>
                  <a:srgbClr val="8ED6AC"/>
                </a:solidFill>
                <a:latin typeface="Courier New" pitchFamily="34" charset="0"/>
                <a:ea typeface="Courier New" pitchFamily="34" charset="-122"/>
                <a:cs typeface="Courier New" pitchFamily="34" charset="-120"/>
              </a:rPr>
              <a:t>route local-with-cascade  iff  cost_local_first &lt; C_frontier</a:t>
            </a:r>
            <a:endParaRPr lang="en-US" sz="1100" dirty="0"/>
          </a:p>
        </p:txBody>
      </p:sp>
      <p:sp>
        <p:nvSpPr>
          <p:cNvPr id="9" name="Shape 6"/>
          <p:cNvSpPr/>
          <p:nvPr/>
        </p:nvSpPr>
        <p:spPr>
          <a:xfrm>
            <a:off x="548640" y="3429000"/>
            <a:ext cx="6720840" cy="1280160"/>
          </a:xfrm>
          <a:prstGeom prst="roundRect">
            <a:avLst>
              <a:gd name="adj" fmla="val 5000"/>
            </a:avLst>
          </a:prstGeom>
          <a:solidFill>
            <a:srgbClr val="F3F6F9"/>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0" name="Text 7"/>
          <p:cNvSpPr/>
          <p:nvPr/>
        </p:nvSpPr>
        <p:spPr>
          <a:xfrm>
            <a:off x="804672" y="3611880"/>
            <a:ext cx="6217920" cy="914400"/>
          </a:xfrm>
          <a:prstGeom prst="rect">
            <a:avLst/>
          </a:prstGeom>
          <a:noFill/>
          <a:ln/>
        </p:spPr>
        <p:txBody>
          <a:bodyPr wrap="square" lIns="0" tIns="0" rIns="0" bIns="0" rtlCol="0" anchor="t"/>
          <a:lstStyle/>
          <a:p>
            <a:pPr algn="l" indent="0" marL="0">
              <a:lnSpc>
                <a:spcPct val="112000"/>
              </a:lnSpc>
              <a:buNone/>
            </a:pPr>
            <a:r>
              <a:rPr lang="en-US" sz="1150" b="1" dirty="0">
                <a:solidFill>
                  <a:srgbClr val="1F2A3D"/>
                </a:solidFill>
                <a:latin typeface="Calibri" pitchFamily="34" charset="0"/>
                <a:ea typeface="Calibri" pitchFamily="34" charset="-122"/>
                <a:cs typeface="Calibri" pitchFamily="34" charset="-120"/>
              </a:rPr>
              <a:t>Training target:  </a:t>
            </a:r>
            <a:pPr algn="l" indent="0" marL="0">
              <a:lnSpc>
                <a:spcPct val="112000"/>
              </a:lnSpc>
              <a:buNone/>
            </a:pPr>
            <a:r>
              <a:rPr lang="en-US" sz="1150" dirty="0">
                <a:solidFill>
                  <a:srgbClr val="5D6B7E"/>
                </a:solidFill>
                <a:latin typeface="Calibri" pitchFamily="34" charset="0"/>
                <a:ea typeface="Calibri" pitchFamily="34" charset="-122"/>
                <a:cs typeface="Calibri" pitchFamily="34" charset="-120"/>
              </a:rPr>
              <a:t>cost-aware objective (quality − λ·normalized cost — the xRouter formulation), never imitation of the heuristic decisions — that would just reproduce their blind spots.</a:t>
            </a:r>
            <a:endParaRPr lang="en-US" sz="1150" dirty="0"/>
          </a:p>
        </p:txBody>
      </p:sp>
      <p:sp>
        <p:nvSpPr>
          <p:cNvPr id="11" name="Shape 8"/>
          <p:cNvSpPr/>
          <p:nvPr/>
        </p:nvSpPr>
        <p:spPr>
          <a:xfrm>
            <a:off x="548640" y="4937760"/>
            <a:ext cx="6720840" cy="1280160"/>
          </a:xfrm>
          <a:prstGeom prst="roundRect">
            <a:avLst>
              <a:gd name="adj" fmla="val 5000"/>
            </a:avLst>
          </a:prstGeom>
          <a:solidFill>
            <a:srgbClr val="ECE5F8"/>
          </a:solidFill>
          <a:ln/>
          <a:effectLst>
            <a:outerShdw sx="100000" sy="100000" kx="0" ky="0" algn="bl" rotWithShape="0" blurRad="88900" dist="25400" dir="2700000">
              <a:srgbClr val="1F2A3D">
                <a:alpha val="14000"/>
              </a:srgbClr>
            </a:outerShdw>
          </a:effectLst>
        </p:spPr>
      </p:sp>
      <p:sp>
        <p:nvSpPr>
          <p:cNvPr id="12" name="Text 9"/>
          <p:cNvSpPr/>
          <p:nvPr/>
        </p:nvSpPr>
        <p:spPr>
          <a:xfrm>
            <a:off x="804672" y="5120640"/>
            <a:ext cx="6217920" cy="914400"/>
          </a:xfrm>
          <a:prstGeom prst="rect">
            <a:avLst/>
          </a:prstGeom>
          <a:noFill/>
          <a:ln/>
        </p:spPr>
        <p:txBody>
          <a:bodyPr wrap="square" lIns="0" tIns="0" rIns="0" bIns="0" rtlCol="0" anchor="t"/>
          <a:lstStyle/>
          <a:p>
            <a:pPr algn="l" indent="0" marL="0">
              <a:lnSpc>
                <a:spcPct val="112000"/>
              </a:lnSpc>
              <a:buNone/>
            </a:pPr>
            <a:r>
              <a:rPr lang="en-US" sz="1150" b="1" dirty="0">
                <a:solidFill>
                  <a:srgbClr val="1F2A3D"/>
                </a:solidFill>
                <a:latin typeface="Calibri" pitchFamily="34" charset="0"/>
                <a:ea typeface="Calibri" pitchFamily="34" charset="-122"/>
                <a:cs typeface="Calibri" pitchFamily="34" charset="-120"/>
              </a:rPr>
              <a:t>The bar to clear (hard Phase-3 exit gate):  </a:t>
            </a:r>
            <a:pPr algn="l" indent="0" marL="0">
              <a:lnSpc>
                <a:spcPct val="112000"/>
              </a:lnSpc>
              <a:buNone/>
            </a:pPr>
            <a:r>
              <a:rPr lang="en-US" sz="1150" dirty="0">
                <a:solidFill>
                  <a:srgbClr val="5D6B7E"/>
                </a:solidFill>
                <a:latin typeface="Calibri" pitchFamily="34" charset="0"/>
                <a:ea typeface="Calibri" pitchFamily="34" charset="-122"/>
                <a:cs typeface="Calibri" pitchFamily="34" charset="-120"/>
              </a:rPr>
              <a:t>beat the best-single-model baseline AND heuristics-only on replayed traffic — before touching one live decision.</a:t>
            </a:r>
            <a:endParaRPr lang="en-US" sz="1150" dirty="0"/>
          </a:p>
        </p:txBody>
      </p:sp>
      <p:sp>
        <p:nvSpPr>
          <p:cNvPr id="13" name="Shape 10"/>
          <p:cNvSpPr/>
          <p:nvPr/>
        </p:nvSpPr>
        <p:spPr>
          <a:xfrm>
            <a:off x="7635240" y="1417320"/>
            <a:ext cx="4023360" cy="4800600"/>
          </a:xfrm>
          <a:prstGeom prst="roundRect">
            <a:avLst>
              <a:gd name="adj" fmla="val 1591"/>
            </a:avLst>
          </a:prstGeom>
          <a:solidFill>
            <a:srgbClr val="15223A"/>
          </a:solidFill>
          <a:ln/>
          <a:effectLst>
            <a:outerShdw sx="100000" sy="100000" kx="0" ky="0" algn="bl" rotWithShape="0" blurRad="88900" dist="25400" dir="2700000">
              <a:srgbClr val="1F2A3D">
                <a:alpha val="14000"/>
              </a:srgbClr>
            </a:outerShdw>
          </a:effectLst>
        </p:spPr>
      </p:sp>
      <p:sp>
        <p:nvSpPr>
          <p:cNvPr id="14" name="Text 11"/>
          <p:cNvSpPr/>
          <p:nvPr/>
        </p:nvSpPr>
        <p:spPr>
          <a:xfrm>
            <a:off x="7891272" y="1645920"/>
            <a:ext cx="3511296" cy="320040"/>
          </a:xfrm>
          <a:prstGeom prst="rect">
            <a:avLst/>
          </a:prstGeom>
          <a:noFill/>
          <a:ln/>
        </p:spPr>
        <p:txBody>
          <a:bodyPr wrap="square" lIns="0" tIns="0" rIns="0" bIns="0" rtlCol="0" anchor="t"/>
          <a:lstStyle/>
          <a:p>
            <a:pPr algn="l" indent="0" marL="0">
              <a:buNone/>
            </a:pPr>
            <a:r>
              <a:rPr lang="en-US" sz="1400" b="1" dirty="0">
                <a:solidFill>
                  <a:srgbClr val="EAF0F8"/>
                </a:solidFill>
                <a:latin typeface="Cambria" pitchFamily="34" charset="0"/>
                <a:ea typeface="Cambria" pitchFamily="34" charset="-122"/>
                <a:cs typeface="Cambria" pitchFamily="34" charset="-120"/>
              </a:rPr>
              <a:t>Why so humble?</a:t>
            </a:r>
            <a:endParaRPr lang="en-US" sz="1400" dirty="0"/>
          </a:p>
        </p:txBody>
      </p:sp>
      <p:sp>
        <p:nvSpPr>
          <p:cNvPr id="15" name="Text 12"/>
          <p:cNvSpPr/>
          <p:nvPr/>
        </p:nvSpPr>
        <p:spPr>
          <a:xfrm>
            <a:off x="7891272" y="2103120"/>
            <a:ext cx="3511296" cy="685800"/>
          </a:xfrm>
          <a:prstGeom prst="rect">
            <a:avLst/>
          </a:prstGeom>
          <a:noFill/>
          <a:ln/>
        </p:spPr>
        <p:txBody>
          <a:bodyPr wrap="square" lIns="0" tIns="0" rIns="0" bIns="0" rtlCol="0" anchor="t"/>
          <a:lstStyle/>
          <a:p>
            <a:pPr algn="l" indent="0" marL="0">
              <a:buNone/>
            </a:pPr>
            <a:r>
              <a:rPr lang="en-US" sz="3400" b="1" dirty="0">
                <a:solidFill>
                  <a:srgbClr val="F2A69E"/>
                </a:solidFill>
                <a:latin typeface="Cambria" pitchFamily="34" charset="0"/>
                <a:ea typeface="Cambria" pitchFamily="34" charset="-122"/>
                <a:cs typeface="Cambria" pitchFamily="34" charset="-120"/>
              </a:rPr>
              <a:t>−24.7%</a:t>
            </a:r>
            <a:endParaRPr lang="en-US" sz="3400" dirty="0"/>
          </a:p>
        </p:txBody>
      </p:sp>
      <p:sp>
        <p:nvSpPr>
          <p:cNvPr id="16" name="Text 13"/>
          <p:cNvSpPr/>
          <p:nvPr/>
        </p:nvSpPr>
        <p:spPr>
          <a:xfrm>
            <a:off x="7891272" y="2834640"/>
            <a:ext cx="3511296" cy="1234440"/>
          </a:xfrm>
          <a:prstGeom prst="rect">
            <a:avLst/>
          </a:prstGeom>
          <a:noFill/>
          <a:ln/>
        </p:spPr>
        <p:txBody>
          <a:bodyPr wrap="square" lIns="0" tIns="0" rIns="0" bIns="0" rtlCol="0" anchor="t"/>
          <a:lstStyle/>
          <a:p>
            <a:pPr algn="l" indent="0" marL="0">
              <a:lnSpc>
                <a:spcPct val="115000"/>
              </a:lnSpc>
              <a:buNone/>
            </a:pPr>
            <a:r>
              <a:rPr lang="en-US" sz="1050" dirty="0">
                <a:solidFill>
                  <a:srgbClr val="9FB0C7"/>
                </a:solidFill>
                <a:latin typeface="Calibri" pitchFamily="34" charset="0"/>
                <a:ea typeface="Calibri" pitchFamily="34" charset="-122"/>
                <a:cs typeface="Calibri" pitchFamily="34" charset="-120"/>
              </a:rPr>
              <a:t>OpenRouter's commercial auto-router vs the trivial “always use the best single model” baseline, under LLMRouterBench's unified evaluation. Several learned routers lose the same way.</a:t>
            </a:r>
            <a:endParaRPr lang="en-US" sz="1050" dirty="0"/>
          </a:p>
        </p:txBody>
      </p:sp>
      <p:sp>
        <p:nvSpPr>
          <p:cNvPr id="17" name="Text 14"/>
          <p:cNvSpPr/>
          <p:nvPr/>
        </p:nvSpPr>
        <p:spPr>
          <a:xfrm>
            <a:off x="7891272" y="4206240"/>
            <a:ext cx="3511296" cy="1005840"/>
          </a:xfrm>
          <a:prstGeom prst="rect">
            <a:avLst/>
          </a:prstGeom>
          <a:noFill/>
          <a:ln/>
        </p:spPr>
        <p:txBody>
          <a:bodyPr wrap="square" lIns="0" tIns="0" rIns="0" bIns="0" rtlCol="0" anchor="t"/>
          <a:lstStyle/>
          <a:p>
            <a:pPr algn="l" indent="0" marL="0">
              <a:lnSpc>
                <a:spcPct val="115000"/>
              </a:lnSpc>
              <a:buNone/>
            </a:pPr>
            <a:r>
              <a:rPr lang="en-US" sz="1050" b="1" dirty="0">
                <a:solidFill>
                  <a:srgbClr val="EAF0F8"/>
                </a:solidFill>
                <a:latin typeface="Calibri" pitchFamily="34" charset="0"/>
                <a:ea typeface="Calibri" pitchFamily="34" charset="-122"/>
                <a:cs typeface="Calibri" pitchFamily="34" charset="-120"/>
              </a:rPr>
              <a:t>And: no published learned router has demonstrated gains on multi-turn agentic tool-use traffic. Our flywheel is ahead of the literature — hence the gate.</a:t>
            </a:r>
            <a:endParaRPr lang="en-US" sz="1050" dirty="0"/>
          </a:p>
        </p:txBody>
      </p:sp>
      <p:sp>
        <p:nvSpPr>
          <p:cNvPr id="18" name="Text 15"/>
          <p:cNvSpPr/>
          <p:nvPr/>
        </p:nvSpPr>
        <p:spPr>
          <a:xfrm>
            <a:off x="7891272" y="5715000"/>
            <a:ext cx="3511296" cy="274320"/>
          </a:xfrm>
          <a:prstGeom prst="rect">
            <a:avLst/>
          </a:prstGeom>
          <a:noFill/>
          <a:ln/>
        </p:spPr>
        <p:txBody>
          <a:bodyPr wrap="square" lIns="0" tIns="0" rIns="0" bIns="0" rtlCol="0" anchor="t"/>
          <a:lstStyle/>
          <a:p>
            <a:pPr algn="l" indent="0" marL="0">
              <a:buNone/>
            </a:pPr>
            <a:r>
              <a:rPr lang="en-US" sz="900" i="1" dirty="0">
                <a:solidFill>
                  <a:srgbClr val="9FB0C7"/>
                </a:solidFill>
                <a:latin typeface="Calibri" pitchFamily="34" charset="0"/>
                <a:ea typeface="Calibri" pitchFamily="34" charset="-122"/>
                <a:cs typeface="Calibri" pitchFamily="34" charset="-120"/>
              </a:rPr>
              <a:t>LLMRouterBench · Routing Plateau · xRouter</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PART 2 · THE DECISION PATH</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Capability registry: honest, measured, per (model, harness)</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design doc §5.4 · vetting finding 3</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19</a:t>
            </a:r>
            <a:endParaRPr lang="en-US" sz="900" dirty="0"/>
          </a:p>
        </p:txBody>
      </p:sp>
      <p:sp>
        <p:nvSpPr>
          <p:cNvPr id="7" name="Shape 4"/>
          <p:cNvSpPr/>
          <p:nvPr/>
        </p:nvSpPr>
        <p:spPr>
          <a:xfrm>
            <a:off x="548640" y="1417320"/>
            <a:ext cx="6858000" cy="4160520"/>
          </a:xfrm>
          <a:prstGeom prst="roundRect">
            <a:avLst>
              <a:gd name="adj" fmla="val 1538"/>
            </a:avLst>
          </a:prstGeom>
          <a:solidFill>
            <a:srgbClr val="101D31"/>
          </a:solidFill>
          <a:ln/>
          <a:effectLst>
            <a:outerShdw sx="100000" sy="100000" kx="0" ky="0" algn="bl" rotWithShape="0" blurRad="88900" dist="25400" dir="2700000">
              <a:srgbClr val="1F2A3D">
                <a:alpha val="14000"/>
              </a:srgbClr>
            </a:outerShdw>
          </a:effectLst>
        </p:spPr>
      </p:sp>
      <p:sp>
        <p:nvSpPr>
          <p:cNvPr id="8" name="Text 5"/>
          <p:cNvSpPr/>
          <p:nvPr/>
        </p:nvSpPr>
        <p:spPr>
          <a:xfrm>
            <a:off x="749808" y="1563624"/>
            <a:ext cx="6455664" cy="3867912"/>
          </a:xfrm>
          <a:prstGeom prst="rect">
            <a:avLst/>
          </a:prstGeom>
          <a:noFill/>
          <a:ln/>
        </p:spPr>
        <p:txBody>
          <a:bodyPr wrap="square" lIns="0" tIns="0" rIns="0" bIns="0" rtlCol="0" anchor="ctr"/>
          <a:lstStyle/>
          <a:p>
            <a:pPr indent="0" marL="0">
              <a:lnSpc>
                <a:spcPct val="112000"/>
              </a:lnSpc>
              <a:buNone/>
            </a:pPr>
            <a:r>
              <a:rPr lang="en-US" sz="950" dirty="0">
                <a:solidFill>
                  <a:srgbClr val="D9E4F3"/>
                </a:solidFill>
                <a:latin typeface="Courier New" pitchFamily="34" charset="0"/>
                <a:ea typeface="Courier New" pitchFamily="34" charset="-122"/>
                <a:cs typeface="Courier New" pitchFamily="34" charset="-120"/>
              </a:rPr>
              <a:t>rungs:</a:t>
            </a:r>
            <a:endParaRPr lang="en-US" sz="950" dirty="0"/>
          </a:p>
          <a:p>
            <a:pPr indent="0" marL="0">
              <a:lnSpc>
                <a:spcPct val="112000"/>
              </a:lnSpc>
              <a:buNone/>
            </a:pPr>
            <a:r>
              <a:rPr lang="en-US" sz="950" dirty="0">
                <a:solidFill>
                  <a:srgbClr val="D9E4F3"/>
                </a:solidFill>
                <a:latin typeface="Courier New" pitchFamily="34" charset="0"/>
                <a:ea typeface="Courier New" pitchFamily="34" charset="-122"/>
                <a:cs typeface="Courier New" pitchFamily="34" charset="-120"/>
              </a:rPr>
              <a:t>  local:</a:t>
            </a:r>
            <a:endParaRPr lang="en-US" sz="950" dirty="0"/>
          </a:p>
          <a:p>
            <a:pPr indent="0" marL="0">
              <a:lnSpc>
                <a:spcPct val="112000"/>
              </a:lnSpc>
              <a:buNone/>
            </a:pPr>
            <a:r>
              <a:rPr lang="en-US" sz="950" dirty="0">
                <a:solidFill>
                  <a:srgbClr val="8ED6AC"/>
                </a:solidFill>
                <a:latin typeface="Courier New" pitchFamily="34" charset="0"/>
                <a:ea typeface="Courier New" pitchFamily="34" charset="-122"/>
                <a:cs typeface="Courier New" pitchFamily="34" charset="-120"/>
              </a:rPr>
              <a:t>    model_class: qwen3-coder-30b   # the BRAIN — all policy picks</a:t>
            </a:r>
            <a:endParaRPr lang="en-US" sz="950" dirty="0"/>
          </a:p>
          <a:p>
            <a:pPr indent="0" marL="0">
              <a:lnSpc>
                <a:spcPct val="112000"/>
              </a:lnSpc>
              <a:buNone/>
            </a:pPr>
            <a:r>
              <a:rPr lang="en-US" sz="950" dirty="0">
                <a:solidFill>
                  <a:srgbClr val="9CC3EC"/>
                </a:solidFill>
                <a:latin typeface="Courier New" pitchFamily="34" charset="0"/>
                <a:ea typeface="Courier New" pitchFamily="34" charset="-122"/>
                <a:cs typeface="Courier New" pitchFamily="34" charset="-120"/>
              </a:rPr>
              <a:t>    endpoints: [llamacpp-local, mlx-local]   # the SERVING — LiteLLM's</a:t>
            </a:r>
            <a:endParaRPr lang="en-US" sz="950" dirty="0"/>
          </a:p>
          <a:p>
            <a:pPr indent="0" marL="0">
              <a:lnSpc>
                <a:spcPct val="112000"/>
              </a:lnSpc>
              <a:buNone/>
            </a:pPr>
            <a:r>
              <a:rPr lang="en-US" sz="950" b="1" dirty="0">
                <a:solidFill>
                  <a:srgbClr val="D9E4F3"/>
                </a:solidFill>
                <a:latin typeface="Courier New" pitchFamily="34" charset="0"/>
                <a:ea typeface="Courier New" pitchFamily="34" charset="-122"/>
                <a:cs typeface="Courier New" pitchFamily="34" charset="-120"/>
              </a:rPr>
              <a:t>    max_context: 32768        # practical, not theoretical</a:t>
            </a:r>
            <a:endParaRPr lang="en-US" sz="950" dirty="0"/>
          </a:p>
          <a:p>
            <a:pPr indent="0" marL="0">
              <a:lnSpc>
                <a:spcPct val="112000"/>
              </a:lnSpc>
              <a:buNone/>
            </a:pPr>
            <a:r>
              <a:rPr lang="en-US" sz="950" b="1" dirty="0">
                <a:solidFill>
                  <a:srgbClr val="D9E4F3"/>
                </a:solidFill>
                <a:latin typeface="Courier New" pitchFamily="34" charset="0"/>
                <a:ea typeface="Courier New" pitchFamily="34" charset="-122"/>
                <a:cs typeface="Courier New" pitchFamily="34" charset="-120"/>
              </a:rPr>
              <a:t>    prefill_tok_s: 900        # 30k ctx ≈ 33 s before 1st token!</a:t>
            </a:r>
            <a:endParaRPr lang="en-US" sz="950" dirty="0"/>
          </a:p>
          <a:p>
            <a:pPr indent="0" marL="0">
              <a:lnSpc>
                <a:spcPct val="112000"/>
              </a:lnSpc>
              <a:buNone/>
            </a:pPr>
            <a:r>
              <a:rPr lang="en-US" sz="950" dirty="0">
                <a:solidFill>
                  <a:srgbClr val="D9E4F3"/>
                </a:solidFill>
                <a:latin typeface="Courier New" pitchFamily="34" charset="0"/>
                <a:ea typeface="Courier New" pitchFamily="34" charset="-122"/>
                <a:cs typeface="Courier New" pitchFamily="34" charset="-120"/>
              </a:rPr>
              <a:t>    cost_per_mtok: 0.0</a:t>
            </a:r>
            <a:endParaRPr lang="en-US" sz="950" dirty="0"/>
          </a:p>
          <a:p>
            <a:pPr indent="0" marL="0">
              <a:lnSpc>
                <a:spcPct val="112000"/>
              </a:lnSpc>
              <a:buNone/>
            </a:pPr>
            <a:r>
              <a:rPr lang="en-US" sz="950" b="1" dirty="0">
                <a:solidFill>
                  <a:srgbClr val="EFCB84"/>
                </a:solidFill>
                <a:latin typeface="Courier New" pitchFamily="34" charset="0"/>
                <a:ea typeface="Courier New" pitchFamily="34" charset="-122"/>
                <a:cs typeface="Courier New" pitchFamily="34" charset="-120"/>
              </a:rPr>
              <a:t>    tool_call_reliability:    # per HARNESS — dialects differ</a:t>
            </a:r>
            <a:endParaRPr lang="en-US" sz="950" dirty="0"/>
          </a:p>
          <a:p>
            <a:pPr indent="0" marL="0">
              <a:lnSpc>
                <a:spcPct val="112000"/>
              </a:lnSpc>
              <a:buNone/>
            </a:pPr>
            <a:r>
              <a:rPr lang="en-US" sz="950" dirty="0">
                <a:solidFill>
                  <a:srgbClr val="EFCB84"/>
                </a:solidFill>
                <a:latin typeface="Courier New" pitchFamily="34" charset="0"/>
                <a:ea typeface="Courier New" pitchFamily="34" charset="-122"/>
                <a:cs typeface="Courier New" pitchFamily="34" charset="-120"/>
              </a:rPr>
              <a:t>      claude_code: 0.87       # exact-string Edit dialect</a:t>
            </a:r>
            <a:endParaRPr lang="en-US" sz="950" dirty="0"/>
          </a:p>
          <a:p>
            <a:pPr indent="0" marL="0">
              <a:lnSpc>
                <a:spcPct val="112000"/>
              </a:lnSpc>
              <a:buNone/>
            </a:pPr>
            <a:r>
              <a:rPr lang="en-US" sz="950" dirty="0">
                <a:solidFill>
                  <a:srgbClr val="EFCB84"/>
                </a:solidFill>
                <a:latin typeface="Courier New" pitchFamily="34" charset="0"/>
                <a:ea typeface="Courier New" pitchFamily="34" charset="-122"/>
                <a:cs typeface="Courier New" pitchFamily="34" charset="-120"/>
              </a:rPr>
              <a:t>      codex:       0.93       # apply_patch dialect</a:t>
            </a:r>
            <a:endParaRPr lang="en-US" sz="950" dirty="0"/>
          </a:p>
          <a:p>
            <a:pPr indent="0" marL="0">
              <a:lnSpc>
                <a:spcPct val="112000"/>
              </a:lnSpc>
              <a:buNone/>
            </a:pPr>
            <a:r>
              <a:rPr lang="en-US" sz="950" dirty="0">
                <a:solidFill>
                  <a:srgbClr val="D9E4F3"/>
                </a:solidFill>
                <a:latin typeface="Courier New" pitchFamily="34" charset="0"/>
                <a:ea typeface="Courier New" pitchFamily="34" charset="-122"/>
                <a:cs typeface="Courier New" pitchFamily="34" charset="-120"/>
              </a:rPr>
              <a:t>    parallel_tool_calls: false  # until evals prove otherwise</a:t>
            </a:r>
            <a:endParaRPr lang="en-US" sz="950" dirty="0"/>
          </a:p>
          <a:p>
            <a:pPr indent="0" marL="0">
              <a:lnSpc>
                <a:spcPct val="112000"/>
              </a:lnSpc>
              <a:buNone/>
            </a:pPr>
            <a:r>
              <a:rPr lang="en-US" sz="950" dirty="0">
                <a:solidFill>
                  <a:srgbClr val="D9E4F3"/>
                </a:solidFill>
                <a:latin typeface="Courier New" pitchFamily="34" charset="0"/>
                <a:ea typeface="Courier New" pitchFamily="34" charset="-122"/>
                <a:cs typeface="Courier New" pitchFamily="34" charset="-120"/>
              </a:rPr>
              <a:t>  cheap_cloud: {claude-haiku-4-5, ctx 200k, $1.0/Mtok, rel 0.99}</a:t>
            </a:r>
            <a:endParaRPr lang="en-US" sz="950" dirty="0"/>
          </a:p>
          <a:p>
            <a:pPr indent="0" marL="0">
              <a:lnSpc>
                <a:spcPct val="112000"/>
              </a:lnSpc>
              <a:buNone/>
            </a:pPr>
            <a:r>
              <a:rPr lang="en-US" sz="950" dirty="0">
                <a:solidFill>
                  <a:srgbClr val="D9E4F3"/>
                </a:solidFill>
                <a:latin typeface="Courier New" pitchFamily="34" charset="0"/>
                <a:ea typeface="Courier New" pitchFamily="34" charset="-122"/>
                <a:cs typeface="Courier New" pitchFamily="34" charset="-120"/>
              </a:rPr>
              <a:t>  frontier:    {claude-opus-latest, ctx 200k, $15/Mtok, rel 0.995}</a:t>
            </a:r>
            <a:endParaRPr lang="en-US" sz="950" dirty="0"/>
          </a:p>
        </p:txBody>
      </p:sp>
      <p:sp>
        <p:nvSpPr>
          <p:cNvPr id="9" name="Shape 6"/>
          <p:cNvSpPr/>
          <p:nvPr/>
        </p:nvSpPr>
        <p:spPr>
          <a:xfrm>
            <a:off x="7772400" y="1417320"/>
            <a:ext cx="3886200" cy="1417320"/>
          </a:xfrm>
          <a:prstGeom prst="roundRect">
            <a:avLst>
              <a:gd name="adj" fmla="val 4516"/>
            </a:avLst>
          </a:prstGeom>
          <a:solidFill>
            <a:srgbClr val="F3F6F9"/>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0" name="Text 7"/>
          <p:cNvSpPr/>
          <p:nvPr/>
        </p:nvSpPr>
        <p:spPr>
          <a:xfrm>
            <a:off x="8010144" y="1563624"/>
            <a:ext cx="3410712" cy="292608"/>
          </a:xfrm>
          <a:prstGeom prst="rect">
            <a:avLst/>
          </a:prstGeom>
          <a:noFill/>
          <a:ln/>
        </p:spPr>
        <p:txBody>
          <a:bodyPr wrap="square" lIns="0" tIns="0" rIns="0" bIns="0" rtlCol="0" anchor="t"/>
          <a:lstStyle/>
          <a:p>
            <a:pPr algn="l" indent="0" marL="0">
              <a:buNone/>
            </a:pPr>
            <a:r>
              <a:rPr lang="en-US" sz="1250" b="1" dirty="0">
                <a:solidFill>
                  <a:srgbClr val="1F2A3D"/>
                </a:solidFill>
                <a:latin typeface="Calibri" pitchFamily="34" charset="0"/>
                <a:ea typeface="Calibri" pitchFamily="34" charset="-122"/>
                <a:cs typeface="Calibri" pitchFamily="34" charset="-120"/>
              </a:rPr>
              <a:t>Measured, not marketing</a:t>
            </a:r>
            <a:endParaRPr lang="en-US" sz="1250" dirty="0"/>
          </a:p>
        </p:txBody>
      </p:sp>
      <p:sp>
        <p:nvSpPr>
          <p:cNvPr id="11" name="Text 8"/>
          <p:cNvSpPr/>
          <p:nvPr/>
        </p:nvSpPr>
        <p:spPr>
          <a:xfrm>
            <a:off x="8010144" y="1892808"/>
            <a:ext cx="3410712" cy="868680"/>
          </a:xfrm>
          <a:prstGeom prst="rect">
            <a:avLst/>
          </a:prstGeom>
          <a:noFill/>
          <a:ln/>
        </p:spPr>
        <p:txBody>
          <a:bodyPr wrap="square" lIns="0" tIns="0" rIns="0" bIns="0" rtlCol="0" anchor="t"/>
          <a:lstStyle/>
          <a:p>
            <a:pPr algn="l" indent="0" marL="0">
              <a:lnSpc>
                <a:spcPct val="110000"/>
              </a:lnSpc>
              <a:buNone/>
            </a:pPr>
            <a:r>
              <a:rPr lang="en-US" sz="1000" dirty="0">
                <a:solidFill>
                  <a:srgbClr val="5D6B7E"/>
                </a:solidFill>
                <a:latin typeface="Calibri" pitchFamily="34" charset="0"/>
                <a:ea typeface="Calibri" pitchFamily="34" charset="-122"/>
                <a:cs typeface="Calibri" pitchFamily="34" charset="-120"/>
              </a:rPr>
              <a:t>Every number comes from your own eval pack, run per (model, harness) pair before a rung ships.</a:t>
            </a:r>
            <a:endParaRPr lang="en-US" sz="1000" dirty="0"/>
          </a:p>
        </p:txBody>
      </p:sp>
      <p:sp>
        <p:nvSpPr>
          <p:cNvPr id="12" name="Shape 9"/>
          <p:cNvSpPr/>
          <p:nvPr/>
        </p:nvSpPr>
        <p:spPr>
          <a:xfrm>
            <a:off x="7772400" y="3017520"/>
            <a:ext cx="3886200" cy="1417320"/>
          </a:xfrm>
          <a:prstGeom prst="roundRect">
            <a:avLst>
              <a:gd name="adj" fmla="val 4516"/>
            </a:avLst>
          </a:prstGeom>
          <a:solidFill>
            <a:srgbClr val="FBEFDC"/>
          </a:solidFill>
          <a:ln/>
          <a:effectLst>
            <a:outerShdw sx="100000" sy="100000" kx="0" ky="0" algn="bl" rotWithShape="0" blurRad="88900" dist="25400" dir="2700000">
              <a:srgbClr val="1F2A3D">
                <a:alpha val="14000"/>
              </a:srgbClr>
            </a:outerShdw>
          </a:effectLst>
        </p:spPr>
      </p:sp>
      <p:sp>
        <p:nvSpPr>
          <p:cNvPr id="13" name="Text 10"/>
          <p:cNvSpPr/>
          <p:nvPr/>
        </p:nvSpPr>
        <p:spPr>
          <a:xfrm>
            <a:off x="8010144" y="3163824"/>
            <a:ext cx="3410712" cy="292608"/>
          </a:xfrm>
          <a:prstGeom prst="rect">
            <a:avLst/>
          </a:prstGeom>
          <a:noFill/>
          <a:ln/>
        </p:spPr>
        <p:txBody>
          <a:bodyPr wrap="square" lIns="0" tIns="0" rIns="0" bIns="0" rtlCol="0" anchor="t"/>
          <a:lstStyle/>
          <a:p>
            <a:pPr algn="l" indent="0" marL="0">
              <a:buNone/>
            </a:pPr>
            <a:r>
              <a:rPr lang="en-US" sz="1250" b="1" dirty="0">
                <a:solidFill>
                  <a:srgbClr val="1F2A3D"/>
                </a:solidFill>
                <a:latin typeface="Calibri" pitchFamily="34" charset="0"/>
                <a:ea typeface="Calibri" pitchFamily="34" charset="-122"/>
                <a:cs typeface="Calibri" pitchFamily="34" charset="-120"/>
              </a:rPr>
              <a:t>0.87 vs 0.93 — same model</a:t>
            </a:r>
            <a:endParaRPr lang="en-US" sz="1250" dirty="0"/>
          </a:p>
        </p:txBody>
      </p:sp>
      <p:sp>
        <p:nvSpPr>
          <p:cNvPr id="14" name="Text 11"/>
          <p:cNvSpPr/>
          <p:nvPr/>
        </p:nvSpPr>
        <p:spPr>
          <a:xfrm>
            <a:off x="8010144" y="3493008"/>
            <a:ext cx="3410712" cy="868680"/>
          </a:xfrm>
          <a:prstGeom prst="rect">
            <a:avLst/>
          </a:prstGeom>
          <a:noFill/>
          <a:ln/>
        </p:spPr>
        <p:txBody>
          <a:bodyPr wrap="square" lIns="0" tIns="0" rIns="0" bIns="0" rtlCol="0" anchor="t"/>
          <a:lstStyle/>
          <a:p>
            <a:pPr algn="l" indent="0" marL="0">
              <a:lnSpc>
                <a:spcPct val="110000"/>
              </a:lnSpc>
              <a:buNone/>
            </a:pPr>
            <a:r>
              <a:rPr lang="en-US" sz="1000" dirty="0">
                <a:solidFill>
                  <a:srgbClr val="5D6B7E"/>
                </a:solidFill>
                <a:latin typeface="Calibri" pitchFamily="34" charset="0"/>
                <a:ea typeface="Calibri" pitchFamily="34" charset="-122"/>
                <a:cs typeface="Calibri" pitchFamily="34" charset="-120"/>
              </a:rPr>
              <a:t>Harness dialect changes reliability. Harness-Bench: up to 16 points difference across harnesses. One number per model would mislabel dialect failures as difficulty.</a:t>
            </a:r>
            <a:endParaRPr lang="en-US" sz="1000" dirty="0"/>
          </a:p>
        </p:txBody>
      </p:sp>
      <p:sp>
        <p:nvSpPr>
          <p:cNvPr id="15" name="Shape 12"/>
          <p:cNvSpPr/>
          <p:nvPr/>
        </p:nvSpPr>
        <p:spPr>
          <a:xfrm>
            <a:off x="7772400" y="4617720"/>
            <a:ext cx="3886200" cy="1417320"/>
          </a:xfrm>
          <a:prstGeom prst="roundRect">
            <a:avLst>
              <a:gd name="adj" fmla="val 4516"/>
            </a:avLst>
          </a:prstGeom>
          <a:solidFill>
            <a:srgbClr val="F3F6F9"/>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6" name="Text 13"/>
          <p:cNvSpPr/>
          <p:nvPr/>
        </p:nvSpPr>
        <p:spPr>
          <a:xfrm>
            <a:off x="8010144" y="4764024"/>
            <a:ext cx="3410712" cy="292608"/>
          </a:xfrm>
          <a:prstGeom prst="rect">
            <a:avLst/>
          </a:prstGeom>
          <a:noFill/>
          <a:ln/>
        </p:spPr>
        <p:txBody>
          <a:bodyPr wrap="square" lIns="0" tIns="0" rIns="0" bIns="0" rtlCol="0" anchor="t"/>
          <a:lstStyle/>
          <a:p>
            <a:pPr algn="l" indent="0" marL="0">
              <a:buNone/>
            </a:pPr>
            <a:r>
              <a:rPr lang="en-US" sz="1250" b="1" dirty="0">
                <a:solidFill>
                  <a:srgbClr val="1F2A3D"/>
                </a:solidFill>
                <a:latin typeface="Calibri" pitchFamily="34" charset="0"/>
                <a:ea typeface="Calibri" pitchFamily="34" charset="-122"/>
                <a:cs typeface="Calibri" pitchFamily="34" charset="-120"/>
              </a:rPr>
              <a:t>Never 1.00</a:t>
            </a:r>
            <a:endParaRPr lang="en-US" sz="1250" dirty="0"/>
          </a:p>
        </p:txBody>
      </p:sp>
      <p:sp>
        <p:nvSpPr>
          <p:cNvPr id="17" name="Text 14"/>
          <p:cNvSpPr/>
          <p:nvPr/>
        </p:nvSpPr>
        <p:spPr>
          <a:xfrm>
            <a:off x="8010144" y="5093208"/>
            <a:ext cx="3410712" cy="868680"/>
          </a:xfrm>
          <a:prstGeom prst="rect">
            <a:avLst/>
          </a:prstGeom>
          <a:noFill/>
          <a:ln/>
        </p:spPr>
        <p:txBody>
          <a:bodyPr wrap="square" lIns="0" tIns="0" rIns="0" bIns="0" rtlCol="0" anchor="t"/>
          <a:lstStyle/>
          <a:p>
            <a:pPr algn="l" indent="0" marL="0">
              <a:lnSpc>
                <a:spcPct val="110000"/>
              </a:lnSpc>
              <a:buNone/>
            </a:pPr>
            <a:r>
              <a:rPr lang="en-US" sz="1000" dirty="0">
                <a:solidFill>
                  <a:srgbClr val="5D6B7E"/>
                </a:solidFill>
                <a:latin typeface="Calibri" pitchFamily="34" charset="0"/>
                <a:ea typeface="Calibri" pitchFamily="34" charset="-122"/>
                <a:cs typeface="Calibri" pitchFamily="34" charset="-120"/>
              </a:rPr>
              <a:t>Frontier reliability is capped at 0.995 — calibration math divides by failure odds, and nothing is perfect.</a:t>
            </a:r>
            <a:endParaRPr lang="en-US" sz="1000" dirty="0"/>
          </a:p>
        </p:txBody>
      </p:sp>
      <p:sp>
        <p:nvSpPr>
          <p:cNvPr id="18" name="Text 15"/>
          <p:cNvSpPr/>
          <p:nvPr/>
        </p:nvSpPr>
        <p:spPr>
          <a:xfrm>
            <a:off x="548640" y="5806440"/>
            <a:ext cx="10881360" cy="274320"/>
          </a:xfrm>
          <a:prstGeom prst="rect">
            <a:avLst/>
          </a:prstGeom>
          <a:noFill/>
          <a:ln/>
        </p:spPr>
        <p:txBody>
          <a:bodyPr wrap="square" lIns="0" tIns="0" rIns="0" bIns="0" rtlCol="0" anchor="t"/>
          <a:lstStyle/>
          <a:p>
            <a:pPr algn="l" indent="0" marL="0">
              <a:buNone/>
            </a:pPr>
            <a:r>
              <a:rPr lang="en-US" sz="1050" i="1" dirty="0">
                <a:solidFill>
                  <a:srgbClr val="5D6B7E"/>
                </a:solidFill>
                <a:latin typeface="Calibri" pitchFamily="34" charset="0"/>
                <a:ea typeface="Calibri" pitchFamily="34" charset="-122"/>
                <a:cs typeface="Calibri" pitchFamily="34" charset="-120"/>
              </a:rPr>
              <a:t>Eval pack shape: Raschka's local-coding-agent-evals, extended with tasks from your real sessions.</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PART 2 · THE DECISION PATH</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A rung is a brain, not a machine</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design doc §5.4 · scenario S7 · vetting finding 4</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20</a:t>
            </a:r>
            <a:endParaRPr lang="en-US" sz="900" dirty="0"/>
          </a:p>
        </p:txBody>
      </p:sp>
      <p:sp>
        <p:nvSpPr>
          <p:cNvPr id="7" name="Shape 4"/>
          <p:cNvSpPr/>
          <p:nvPr/>
        </p:nvSpPr>
        <p:spPr>
          <a:xfrm>
            <a:off x="548640" y="1463040"/>
            <a:ext cx="5422392" cy="2286000"/>
          </a:xfrm>
          <a:prstGeom prst="roundRect">
            <a:avLst>
              <a:gd name="adj" fmla="val 2800"/>
            </a:avLst>
          </a:prstGeom>
          <a:solidFill>
            <a:srgbClr val="ECE5F8"/>
          </a:solidFill>
          <a:ln/>
          <a:effectLst>
            <a:outerShdw sx="100000" sy="100000" kx="0" ky="0" algn="bl" rotWithShape="0" blurRad="88900" dist="25400" dir="2700000">
              <a:srgbClr val="1F2A3D">
                <a:alpha val="14000"/>
              </a:srgbClr>
            </a:outerShdw>
          </a:effectLst>
        </p:spPr>
      </p:sp>
      <p:sp>
        <p:nvSpPr>
          <p:cNvPr id="8" name="Text 5"/>
          <p:cNvSpPr/>
          <p:nvPr/>
        </p:nvSpPr>
        <p:spPr>
          <a:xfrm>
            <a:off x="804672" y="1664208"/>
            <a:ext cx="4937760" cy="274320"/>
          </a:xfrm>
          <a:prstGeom prst="rect">
            <a:avLst/>
          </a:prstGeom>
          <a:noFill/>
          <a:ln/>
        </p:spPr>
        <p:txBody>
          <a:bodyPr wrap="square" lIns="0" tIns="0" rIns="0" bIns="0" rtlCol="0" anchor="t"/>
          <a:lstStyle/>
          <a:p>
            <a:pPr algn="l" indent="0" marL="0">
              <a:buNone/>
            </a:pPr>
            <a:r>
              <a:rPr lang="en-US" sz="1100" b="1" spc="200" kern="0" dirty="0">
                <a:solidFill>
                  <a:srgbClr val="5B21B6"/>
                </a:solidFill>
                <a:latin typeface="Calibri" pitchFamily="34" charset="0"/>
                <a:ea typeface="Calibri" pitchFamily="34" charset="-122"/>
                <a:cs typeface="Calibri" pitchFamily="34" charset="-120"/>
              </a:rPr>
              <a:t>DECISION 1 — the brain</a:t>
            </a:r>
            <a:endParaRPr lang="en-US" sz="1100" dirty="0"/>
          </a:p>
        </p:txBody>
      </p:sp>
      <p:sp>
        <p:nvSpPr>
          <p:cNvPr id="9" name="Text 6"/>
          <p:cNvSpPr/>
          <p:nvPr/>
        </p:nvSpPr>
        <p:spPr>
          <a:xfrm>
            <a:off x="804672" y="1975104"/>
            <a:ext cx="4937760" cy="365760"/>
          </a:xfrm>
          <a:prstGeom prst="rect">
            <a:avLst/>
          </a:prstGeom>
          <a:noFill/>
          <a:ln/>
        </p:spPr>
        <p:txBody>
          <a:bodyPr wrap="square" lIns="0" tIns="0" rIns="0" bIns="0" rtlCol="0" anchor="t"/>
          <a:lstStyle/>
          <a:p>
            <a:pPr algn="l" indent="0" marL="0">
              <a:buNone/>
            </a:pPr>
            <a:r>
              <a:rPr lang="en-US" sz="1500" b="1" dirty="0">
                <a:solidFill>
                  <a:srgbClr val="1F2A3D"/>
                </a:solidFill>
                <a:latin typeface="Cambria" pitchFamily="34" charset="0"/>
                <a:ea typeface="Cambria" pitchFamily="34" charset="-122"/>
                <a:cs typeface="Cambria" pitchFamily="34" charset="-120"/>
              </a:rPr>
              <a:t>Which model class answers?</a:t>
            </a:r>
            <a:endParaRPr lang="en-US" sz="1500" dirty="0"/>
          </a:p>
        </p:txBody>
      </p:sp>
      <p:sp>
        <p:nvSpPr>
          <p:cNvPr id="10" name="Text 7"/>
          <p:cNvSpPr/>
          <p:nvPr/>
        </p:nvSpPr>
        <p:spPr>
          <a:xfrm>
            <a:off x="804672" y="2395728"/>
            <a:ext cx="4937760" cy="274320"/>
          </a:xfrm>
          <a:prstGeom prst="rect">
            <a:avLst/>
          </a:prstGeom>
          <a:noFill/>
          <a:ln/>
        </p:spPr>
        <p:txBody>
          <a:bodyPr wrap="square" lIns="0" tIns="0" rIns="0" bIns="0" rtlCol="0" anchor="t"/>
          <a:lstStyle/>
          <a:p>
            <a:pPr algn="l" indent="0" marL="0">
              <a:buNone/>
            </a:pPr>
            <a:r>
              <a:rPr lang="en-US" sz="1150" dirty="0">
                <a:solidFill>
                  <a:srgbClr val="1F2A3D"/>
                </a:solidFill>
                <a:latin typeface="Calibri" pitchFamily="34" charset="0"/>
                <a:ea typeface="Calibri" pitchFamily="34" charset="-122"/>
                <a:cs typeface="Calibri" pitchFamily="34" charset="-120"/>
              </a:rPr>
              <a:t>local 30B · cheap cloud · frontier</a:t>
            </a:r>
            <a:endParaRPr lang="en-US" sz="1150" dirty="0"/>
          </a:p>
        </p:txBody>
      </p:sp>
      <p:sp>
        <p:nvSpPr>
          <p:cNvPr id="11" name="Text 8"/>
          <p:cNvSpPr/>
          <p:nvPr/>
        </p:nvSpPr>
        <p:spPr>
          <a:xfrm>
            <a:off x="804672" y="3200400"/>
            <a:ext cx="4937760" cy="274320"/>
          </a:xfrm>
          <a:prstGeom prst="rect">
            <a:avLst/>
          </a:prstGeom>
          <a:noFill/>
          <a:ln/>
        </p:spPr>
        <p:txBody>
          <a:bodyPr wrap="square" lIns="0" tIns="0" rIns="0" bIns="0" rtlCol="0" anchor="t"/>
          <a:lstStyle/>
          <a:p>
            <a:pPr algn="l" indent="0" marL="0">
              <a:buNone/>
            </a:pPr>
            <a:r>
              <a:rPr lang="en-US" sz="1100" b="1" i="1" dirty="0">
                <a:solidFill>
                  <a:srgbClr val="5B21B6"/>
                </a:solidFill>
                <a:latin typeface="Calibri" pitchFamily="34" charset="0"/>
                <a:ea typeface="Calibri" pitchFamily="34" charset="-122"/>
                <a:cs typeface="Calibri" pitchFamily="34" charset="-120"/>
              </a:rPr>
              <a:t>owned by OUR policy engine</a:t>
            </a:r>
            <a:endParaRPr lang="en-US" sz="1100" dirty="0"/>
          </a:p>
        </p:txBody>
      </p:sp>
      <p:sp>
        <p:nvSpPr>
          <p:cNvPr id="12" name="Shape 9"/>
          <p:cNvSpPr/>
          <p:nvPr/>
        </p:nvSpPr>
        <p:spPr>
          <a:xfrm>
            <a:off x="6217920" y="1463040"/>
            <a:ext cx="5422392" cy="2286000"/>
          </a:xfrm>
          <a:prstGeom prst="roundRect">
            <a:avLst>
              <a:gd name="adj" fmla="val 2800"/>
            </a:avLst>
          </a:prstGeom>
          <a:solidFill>
            <a:srgbClr val="E4EEF6"/>
          </a:solidFill>
          <a:ln/>
          <a:effectLst>
            <a:outerShdw sx="100000" sy="100000" kx="0" ky="0" algn="bl" rotWithShape="0" blurRad="88900" dist="25400" dir="2700000">
              <a:srgbClr val="1F2A3D">
                <a:alpha val="14000"/>
              </a:srgbClr>
            </a:outerShdw>
          </a:effectLst>
        </p:spPr>
      </p:sp>
      <p:sp>
        <p:nvSpPr>
          <p:cNvPr id="13" name="Text 10"/>
          <p:cNvSpPr/>
          <p:nvPr/>
        </p:nvSpPr>
        <p:spPr>
          <a:xfrm>
            <a:off x="6473952" y="1664208"/>
            <a:ext cx="4937760" cy="274320"/>
          </a:xfrm>
          <a:prstGeom prst="rect">
            <a:avLst/>
          </a:prstGeom>
          <a:noFill/>
          <a:ln/>
        </p:spPr>
        <p:txBody>
          <a:bodyPr wrap="square" lIns="0" tIns="0" rIns="0" bIns="0" rtlCol="0" anchor="t"/>
          <a:lstStyle/>
          <a:p>
            <a:pPr algn="l" indent="0" marL="0">
              <a:buNone/>
            </a:pPr>
            <a:r>
              <a:rPr lang="en-US" sz="1100" b="1" spc="200" kern="0" dirty="0">
                <a:solidFill>
                  <a:srgbClr val="1D6FA5"/>
                </a:solidFill>
                <a:latin typeface="Calibri" pitchFamily="34" charset="0"/>
                <a:ea typeface="Calibri" pitchFamily="34" charset="-122"/>
                <a:cs typeface="Calibri" pitchFamily="34" charset="-120"/>
              </a:rPr>
              <a:t>DECISION 2 — the serving</a:t>
            </a:r>
            <a:endParaRPr lang="en-US" sz="1100" dirty="0"/>
          </a:p>
        </p:txBody>
      </p:sp>
      <p:sp>
        <p:nvSpPr>
          <p:cNvPr id="14" name="Text 11"/>
          <p:cNvSpPr/>
          <p:nvPr/>
        </p:nvSpPr>
        <p:spPr>
          <a:xfrm>
            <a:off x="6473952" y="1975104"/>
            <a:ext cx="4937760" cy="365760"/>
          </a:xfrm>
          <a:prstGeom prst="rect">
            <a:avLst/>
          </a:prstGeom>
          <a:noFill/>
          <a:ln/>
        </p:spPr>
        <p:txBody>
          <a:bodyPr wrap="square" lIns="0" tIns="0" rIns="0" bIns="0" rtlCol="0" anchor="t"/>
          <a:lstStyle/>
          <a:p>
            <a:pPr algn="l" indent="0" marL="0">
              <a:buNone/>
            </a:pPr>
            <a:r>
              <a:rPr lang="en-US" sz="1500" b="1" dirty="0">
                <a:solidFill>
                  <a:srgbClr val="1F2A3D"/>
                </a:solidFill>
                <a:latin typeface="Cambria" pitchFamily="34" charset="0"/>
                <a:ea typeface="Cambria" pitchFamily="34" charset="-122"/>
                <a:cs typeface="Cambria" pitchFamily="34" charset="-120"/>
              </a:rPr>
              <a:t>Which endpoint serves that model?</a:t>
            </a:r>
            <a:endParaRPr lang="en-US" sz="1500" dirty="0"/>
          </a:p>
        </p:txBody>
      </p:sp>
      <p:sp>
        <p:nvSpPr>
          <p:cNvPr id="15" name="Text 12"/>
          <p:cNvSpPr/>
          <p:nvPr/>
        </p:nvSpPr>
        <p:spPr>
          <a:xfrm>
            <a:off x="6473952" y="2395728"/>
            <a:ext cx="4937760" cy="274320"/>
          </a:xfrm>
          <a:prstGeom prst="rect">
            <a:avLst/>
          </a:prstGeom>
          <a:noFill/>
          <a:ln/>
        </p:spPr>
        <p:txBody>
          <a:bodyPr wrap="square" lIns="0" tIns="0" rIns="0" bIns="0" rtlCol="0" anchor="t"/>
          <a:lstStyle/>
          <a:p>
            <a:pPr algn="l" indent="0" marL="0">
              <a:buNone/>
            </a:pPr>
            <a:r>
              <a:rPr lang="en-US" sz="1150" dirty="0">
                <a:solidFill>
                  <a:srgbClr val="1F2A3D"/>
                </a:solidFill>
                <a:latin typeface="Calibri" pitchFamily="34" charset="0"/>
                <a:ea typeface="Calibri" pitchFamily="34" charset="-122"/>
                <a:cs typeface="Calibri" pitchFamily="34" charset="-120"/>
              </a:rPr>
              <a:t>llamacpp-local ↔ mlx-local · health checks · failover</a:t>
            </a:r>
            <a:endParaRPr lang="en-US" sz="1150" dirty="0"/>
          </a:p>
        </p:txBody>
      </p:sp>
      <p:sp>
        <p:nvSpPr>
          <p:cNvPr id="16" name="Text 13"/>
          <p:cNvSpPr/>
          <p:nvPr/>
        </p:nvSpPr>
        <p:spPr>
          <a:xfrm>
            <a:off x="6473952" y="3200400"/>
            <a:ext cx="4937760" cy="274320"/>
          </a:xfrm>
          <a:prstGeom prst="rect">
            <a:avLst/>
          </a:prstGeom>
          <a:noFill/>
          <a:ln/>
        </p:spPr>
        <p:txBody>
          <a:bodyPr wrap="square" lIns="0" tIns="0" rIns="0" bIns="0" rtlCol="0" anchor="t"/>
          <a:lstStyle/>
          <a:p>
            <a:pPr algn="l" indent="0" marL="0">
              <a:buNone/>
            </a:pPr>
            <a:r>
              <a:rPr lang="en-US" sz="1100" b="1" i="1" dirty="0">
                <a:solidFill>
                  <a:srgbClr val="1D6FA5"/>
                </a:solidFill>
                <a:latin typeface="Calibri" pitchFamily="34" charset="0"/>
                <a:ea typeface="Calibri" pitchFamily="34" charset="-122"/>
                <a:cs typeface="Calibri" pitchFamily="34" charset="-120"/>
              </a:rPr>
              <a:t>owned by LiteLLM — we never ping endpoints</a:t>
            </a:r>
            <a:endParaRPr lang="en-US" sz="1100" dirty="0"/>
          </a:p>
        </p:txBody>
      </p:sp>
      <p:sp>
        <p:nvSpPr>
          <p:cNvPr id="17" name="Shape 14"/>
          <p:cNvSpPr/>
          <p:nvPr/>
        </p:nvSpPr>
        <p:spPr>
          <a:xfrm>
            <a:off x="548640" y="4023360"/>
            <a:ext cx="11091672" cy="1234440"/>
          </a:xfrm>
          <a:prstGeom prst="roundRect">
            <a:avLst>
              <a:gd name="adj" fmla="val 5185"/>
            </a:avLst>
          </a:prstGeom>
          <a:solidFill>
            <a:srgbClr val="F3F6F9"/>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8" name="Text 15"/>
          <p:cNvSpPr/>
          <p:nvPr/>
        </p:nvSpPr>
        <p:spPr>
          <a:xfrm>
            <a:off x="822960" y="4224528"/>
            <a:ext cx="10515600" cy="868680"/>
          </a:xfrm>
          <a:prstGeom prst="rect">
            <a:avLst/>
          </a:prstGeom>
          <a:noFill/>
          <a:ln/>
        </p:spPr>
        <p:txBody>
          <a:bodyPr wrap="square" lIns="0" tIns="0" rIns="0" bIns="0" rtlCol="0" anchor="t"/>
          <a:lstStyle/>
          <a:p>
            <a:pPr algn="l" indent="0" marL="0">
              <a:lnSpc>
                <a:spcPct val="115000"/>
              </a:lnSpc>
              <a:buNone/>
            </a:pPr>
            <a:r>
              <a:rPr lang="en-US" sz="1200" b="1" dirty="0">
                <a:solidFill>
                  <a:srgbClr val="1F2A3D"/>
                </a:solidFill>
                <a:latin typeface="Calibri" pitchFamily="34" charset="0"/>
                <a:ea typeface="Calibri" pitchFamily="34" charset="-122"/>
                <a:cs typeface="Calibri" pitchFamily="34" charset="-120"/>
              </a:rPr>
              <a:t>Example (S7):  </a:t>
            </a:r>
            <a:pPr algn="l" indent="0" marL="0">
              <a:lnSpc>
                <a:spcPct val="115000"/>
              </a:lnSpc>
              <a:buNone/>
            </a:pPr>
            <a:r>
              <a:rPr lang="en-US" sz="1150" dirty="0">
                <a:solidFill>
                  <a:srgbClr val="5D6B7E"/>
                </a:solidFill>
                <a:latin typeface="Calibri" pitchFamily="34" charset="0"/>
                <a:ea typeface="Calibri" pitchFamily="34" charset="-122"/>
                <a:cs typeface="Calibri" pitchFamily="34" charset="-120"/>
              </a:rPr>
              <a:t>llama.cpp OOMs mid-session → first recovery is the same qwen3-coder-30b on the MLX endpoint, same box. Not an escalation — the task didn't get harder, a server died. Crossing to cheap-cloud is the second resort.</a:t>
            </a:r>
            <a:endParaRPr lang="en-US" sz="1200" dirty="0"/>
          </a:p>
        </p:txBody>
      </p:sp>
      <p:sp>
        <p:nvSpPr>
          <p:cNvPr id="19" name="Text 16"/>
          <p:cNvSpPr/>
          <p:nvPr/>
        </p:nvSpPr>
        <p:spPr>
          <a:xfrm>
            <a:off x="548640" y="5486400"/>
            <a:ext cx="11091672" cy="457200"/>
          </a:xfrm>
          <a:prstGeom prst="rect">
            <a:avLst/>
          </a:prstGeom>
          <a:noFill/>
          <a:ln/>
        </p:spPr>
        <p:txBody>
          <a:bodyPr wrap="square" lIns="0" tIns="0" rIns="0" bIns="0" rtlCol="0" anchor="t"/>
          <a:lstStyle/>
          <a:p>
            <a:pPr algn="ctr" indent="0" marL="0">
              <a:buNone/>
            </a:pPr>
            <a:r>
              <a:rPr lang="en-US" sz="1600" i="1" dirty="0">
                <a:solidFill>
                  <a:srgbClr val="1F2A3D"/>
                </a:solidFill>
                <a:latin typeface="Cambria" pitchFamily="34" charset="0"/>
                <a:ea typeface="Cambria" pitchFamily="34" charset="-122"/>
                <a:cs typeface="Cambria" pitchFamily="34" charset="-120"/>
              </a:rPr>
              <a:t>“A dead server is not a reason to change brains.”</a:t>
            </a:r>
            <a:endParaRPr lang="en-US" sz="1600" dirty="0"/>
          </a:p>
        </p:txBody>
      </p:sp>
      <p:sp>
        <p:nvSpPr>
          <p:cNvPr id="20" name="Text 17"/>
          <p:cNvSpPr/>
          <p:nvPr/>
        </p:nvSpPr>
        <p:spPr>
          <a:xfrm>
            <a:off x="548640" y="5989320"/>
            <a:ext cx="11091672" cy="320040"/>
          </a:xfrm>
          <a:prstGeom prst="rect">
            <a:avLst/>
          </a:prstGeom>
          <a:noFill/>
          <a:ln/>
        </p:spPr>
        <p:txBody>
          <a:bodyPr wrap="square" lIns="0" tIns="0" rIns="0" bIns="0" rtlCol="0" anchor="t"/>
          <a:lstStyle/>
          <a:p>
            <a:pPr algn="ctr" indent="0" marL="0">
              <a:buNone/>
            </a:pPr>
            <a:r>
              <a:rPr lang="en-US" sz="1100" dirty="0">
                <a:solidFill>
                  <a:srgbClr val="5D6B7E"/>
                </a:solidFill>
                <a:latin typeface="Calibri" pitchFamily="34" charset="0"/>
                <a:ea typeface="Calibri" pitchFamily="34" charset="-122"/>
                <a:cs typeface="Calibri" pitchFamily="34" charset="-120"/>
              </a:rPr>
              <a:t>Conflating the two makes infra failures look like task difficulty — poisoning escalation stats and the learned router's training data.</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PART 3 · ESCALATION</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Trip-wires, not judgment</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design doc §5.5 · vetting finding 6</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21</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3017520"/>
                <a:gridCol w="1737360"/>
                <a:gridCol w="6336792"/>
              </a:tblGrid>
              <a:tr h="51206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Trip-wire</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20334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Threshold</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20334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Why this signal</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20334F"/>
                    </a:solidFill>
                  </a:tcPr>
                </a:tc>
              </a:tr>
              <a:tr h="512064">
                <a:tc>
                  <a:txBody>
                    <a:bodyPr/>
                    <a:lstStyle/>
                    <a:p>
                      <a:pPr indent="0" marL="0">
                        <a:buNone/>
                      </a:pPr>
                      <a:r>
                        <a:rPr lang="en-US" sz="1000" dirty="0">
                          <a:solidFill>
                            <a:srgbClr val="1F2A3D"/>
                          </a:solidFill>
                          <a:latin typeface="Calibri" pitchFamily="34" charset="0"/>
                          <a:ea typeface="Calibri" pitchFamily="34" charset="-122"/>
                          <a:cs typeface="Calibri" pitchFamily="34" charset="-120"/>
                        </a:rPr>
                        <a:t>Tool call fails to parse / bad schema</a:t>
                      </a:r>
                      <a:endParaRPr lang="en-US" sz="10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00" b="1" dirty="0">
                          <a:solidFill>
                            <a:srgbClr val="1F2A3D"/>
                          </a:solidFill>
                          <a:latin typeface="Calibri" pitchFamily="34" charset="0"/>
                          <a:ea typeface="Calibri" pitchFamily="34" charset="-122"/>
                          <a:cs typeface="Calibri" pitchFamily="34" charset="-120"/>
                        </a:rPr>
                        <a:t>2 strikes / turn</a:t>
                      </a:r>
                      <a:endParaRPr lang="en-US" sz="10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00" dirty="0">
                          <a:solidFill>
                            <a:srgbClr val="1F2A3D"/>
                          </a:solidFill>
                          <a:latin typeface="Calibri" pitchFamily="34" charset="0"/>
                          <a:ea typeface="Calibri" pitchFamily="34" charset="-122"/>
                          <a:cs typeface="Calibri" pitchFamily="34" charset="-120"/>
                        </a:rPr>
                        <a:t>The model literally can't speak the harness's language right now</a:t>
                      </a:r>
                      <a:endParaRPr lang="en-US" sz="10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r h="512064">
                <a:tc>
                  <a:txBody>
                    <a:bodyPr/>
                    <a:lstStyle/>
                    <a:p>
                      <a:pPr indent="0" marL="0">
                        <a:buNone/>
                      </a:pPr>
                      <a:r>
                        <a:rPr lang="en-US" sz="1000" dirty="0">
                          <a:solidFill>
                            <a:srgbClr val="1F2A3D"/>
                          </a:solidFill>
                          <a:latin typeface="Calibri" pitchFamily="34" charset="0"/>
                          <a:ea typeface="Calibri" pitchFamily="34" charset="-122"/>
                          <a:cs typeface="Calibri" pitchFamily="34" charset="-120"/>
                        </a:rPr>
                        <a:t>Edit fails to apply</a:t>
                      </a:r>
                      <a:endParaRPr lang="en-US" sz="10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00" b="1" dirty="0">
                          <a:solidFill>
                            <a:srgbClr val="1F2A3D"/>
                          </a:solidFill>
                          <a:latin typeface="Calibri" pitchFamily="34" charset="0"/>
                          <a:ea typeface="Calibri" pitchFamily="34" charset="-122"/>
                          <a:cs typeface="Calibri" pitchFamily="34" charset="-120"/>
                        </a:rPr>
                        <a:t>2 strikes</a:t>
                      </a:r>
                      <a:endParaRPr lang="en-US" sz="10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00" dirty="0">
                          <a:solidFill>
                            <a:srgbClr val="1F2A3D"/>
                          </a:solidFill>
                          <a:latin typeface="Calibri" pitchFamily="34" charset="0"/>
                          <a:ea typeface="Calibri" pitchFamily="34" charset="-122"/>
                          <a:cs typeface="Calibri" pitchFamily="34" charset="-120"/>
                        </a:rPr>
                        <a:t>Classic local failure under Claude Code's exact-string-match edits</a:t>
                      </a:r>
                      <a:endParaRPr lang="en-US" sz="10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r h="512064">
                <a:tc>
                  <a:txBody>
                    <a:bodyPr/>
                    <a:lstStyle/>
                    <a:p>
                      <a:pPr indent="0" marL="0">
                        <a:buNone/>
                      </a:pPr>
                      <a:r>
                        <a:rPr lang="en-US" sz="1000" dirty="0">
                          <a:solidFill>
                            <a:srgbClr val="1F2A3D"/>
                          </a:solidFill>
                          <a:latin typeface="Calibri" pitchFamily="34" charset="0"/>
                          <a:ea typeface="Calibri" pitchFamily="34" charset="-122"/>
                          <a:cs typeface="Calibri" pitchFamily="34" charset="-120"/>
                        </a:rPr>
                        <a:t>Identical tool call repeated</a:t>
                      </a:r>
                      <a:endParaRPr lang="en-US" sz="10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00" b="1" dirty="0">
                          <a:solidFill>
                            <a:srgbClr val="1F2A3D"/>
                          </a:solidFill>
                          <a:latin typeface="Calibri" pitchFamily="34" charset="0"/>
                          <a:ea typeface="Calibri" pitchFamily="34" charset="-122"/>
                          <a:cs typeface="Calibri" pitchFamily="34" charset="-120"/>
                        </a:rPr>
                        <a:t>3 identical</a:t>
                      </a:r>
                      <a:endParaRPr lang="en-US" sz="10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00" dirty="0">
                          <a:solidFill>
                            <a:srgbClr val="1F2A3D"/>
                          </a:solidFill>
                          <a:latin typeface="Calibri" pitchFamily="34" charset="0"/>
                          <a:ea typeface="Calibri" pitchFamily="34" charset="-122"/>
                          <a:cs typeface="Calibri" pitchFamily="34" charset="-120"/>
                        </a:rPr>
                        <a:t>The signature of a loop (canonicalize args before comparing — S4)</a:t>
                      </a:r>
                      <a:endParaRPr lang="en-US" sz="10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r h="512064">
                <a:tc>
                  <a:txBody>
                    <a:bodyPr/>
                    <a:lstStyle/>
                    <a:p>
                      <a:pPr indent="0" marL="0">
                        <a:buNone/>
                      </a:pPr>
                      <a:r>
                        <a:rPr lang="en-US" sz="1000" dirty="0">
                          <a:solidFill>
                            <a:srgbClr val="1F2A3D"/>
                          </a:solidFill>
                          <a:latin typeface="Calibri" pitchFamily="34" charset="0"/>
                          <a:ea typeface="Calibri" pitchFamily="34" charset="-122"/>
                          <a:cs typeface="Calibri" pitchFamily="34" charset="-120"/>
                        </a:rPr>
                        <a:t>No progress</a:t>
                      </a:r>
                      <a:endParaRPr lang="en-US" sz="10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00" b="1" dirty="0">
                          <a:solidFill>
                            <a:srgbClr val="1F2A3D"/>
                          </a:solidFill>
                          <a:latin typeface="Calibri" pitchFamily="34" charset="0"/>
                          <a:ea typeface="Calibri" pitchFamily="34" charset="-122"/>
                          <a:cs typeface="Calibri" pitchFamily="34" charset="-120"/>
                        </a:rPr>
                        <a:t>6 actions</a:t>
                      </a:r>
                      <a:endParaRPr lang="en-US" sz="10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00" dirty="0">
                          <a:solidFill>
                            <a:srgbClr val="1F2A3D"/>
                          </a:solidFill>
                          <a:latin typeface="Calibri" pitchFamily="34" charset="0"/>
                          <a:ea typeface="Calibri" pitchFamily="34" charset="-122"/>
                          <a:cs typeface="Calibri" pitchFamily="34" charset="-120"/>
                        </a:rPr>
                        <a:t>No new file read, no diff advance, no new command output — valid-looking actions going nowhere</a:t>
                      </a:r>
                      <a:endParaRPr lang="en-US" sz="10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r h="512064">
                <a:tc>
                  <a:txBody>
                    <a:bodyPr/>
                    <a:lstStyle/>
                    <a:p>
                      <a:pPr indent="0" marL="0">
                        <a:buNone/>
                      </a:pPr>
                      <a:r>
                        <a:rPr lang="en-US" sz="1000" dirty="0">
                          <a:solidFill>
                            <a:srgbClr val="1F2A3D"/>
                          </a:solidFill>
                          <a:latin typeface="Calibri" pitchFamily="34" charset="0"/>
                          <a:ea typeface="Calibri" pitchFamily="34" charset="-122"/>
                          <a:cs typeface="Calibri" pitchFamily="34" charset="-120"/>
                        </a:rPr>
                        <a:t>Turn budget exceeded</a:t>
                      </a:r>
                      <a:endParaRPr lang="en-US" sz="10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00" b="1" dirty="0">
                          <a:solidFill>
                            <a:srgbClr val="1F2A3D"/>
                          </a:solidFill>
                          <a:latin typeface="Calibri" pitchFamily="34" charset="0"/>
                          <a:ea typeface="Calibri" pitchFamily="34" charset="-122"/>
                          <a:cs typeface="Calibri" pitchFamily="34" charset="-120"/>
                        </a:rPr>
                        <a:t>2× median tokens or 90 s</a:t>
                      </a:r>
                      <a:endParaRPr lang="en-US" sz="10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00" dirty="0">
                          <a:solidFill>
                            <a:srgbClr val="1F2A3D"/>
                          </a:solidFill>
                          <a:latin typeface="Calibri" pitchFamily="34" charset="0"/>
                          <a:ea typeface="Calibri" pitchFamily="34" charset="-122"/>
                          <a:cs typeface="Calibri" pitchFamily="34" charset="-120"/>
                        </a:rPr>
                        <a:t>Runaway turns are expensive in time, not just tokens</a:t>
                      </a:r>
                      <a:endParaRPr lang="en-US" sz="10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r h="512064">
                <a:tc>
                  <a:txBody>
                    <a:bodyPr/>
                    <a:lstStyle/>
                    <a:p>
                      <a:pPr indent="0" marL="0">
                        <a:buNone/>
                      </a:pPr>
                      <a:r>
                        <a:rPr lang="en-US" sz="1000" dirty="0">
                          <a:solidFill>
                            <a:srgbClr val="1F2A3D"/>
                          </a:solidFill>
                          <a:latin typeface="Calibri" pitchFamily="34" charset="0"/>
                          <a:ea typeface="Calibri" pitchFamily="34" charset="-122"/>
                          <a:cs typeface="Calibri" pitchFamily="34" charset="-120"/>
                        </a:rPr>
                        <a:t>User interrupts / rephrases</a:t>
                      </a:r>
                      <a:endParaRPr lang="en-US" sz="10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00" b="1" dirty="0">
                          <a:solidFill>
                            <a:srgbClr val="B3261E"/>
                          </a:solidFill>
                          <a:latin typeface="Calibri" pitchFamily="34" charset="0"/>
                          <a:ea typeface="Calibri" pitchFamily="34" charset="-122"/>
                          <a:cs typeface="Calibri" pitchFamily="34" charset="-120"/>
                        </a:rPr>
                        <a:t>1 event</a:t>
                      </a:r>
                      <a:endParaRPr lang="en-US" sz="10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00" dirty="0">
                          <a:solidFill>
                            <a:srgbClr val="B3261E"/>
                          </a:solidFill>
                          <a:latin typeface="Calibri" pitchFamily="34" charset="0"/>
                          <a:ea typeface="Calibri" pitchFamily="34" charset="-122"/>
                          <a:cs typeface="Calibri" pitchFamily="34" charset="-120"/>
                        </a:rPr>
                        <a:t>The strongest quality signal you have; escalate the retry (S6)</a:t>
                      </a:r>
                      <a:endParaRPr lang="en-US" sz="10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r h="512064">
                <a:tc>
                  <a:txBody>
                    <a:bodyPr/>
                    <a:lstStyle/>
                    <a:p>
                      <a:pPr indent="0" marL="0">
                        <a:buNone/>
                      </a:pPr>
                      <a:r>
                        <a:rPr lang="en-US" sz="1000" b="1" dirty="0">
                          <a:solidFill>
                            <a:srgbClr val="5B21B6"/>
                          </a:solidFill>
                          <a:latin typeface="Calibri" pitchFamily="34" charset="0"/>
                          <a:ea typeface="Calibri" pitchFamily="34" charset="-122"/>
                          <a:cs typeface="Calibri" pitchFamily="34" charset="-120"/>
                        </a:rPr>
                        <a:t>Low local-model confidence (Phase 3)</a:t>
                      </a:r>
                      <a:endParaRPr lang="en-US" sz="10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00" b="1" dirty="0">
                          <a:solidFill>
                            <a:srgbClr val="5B21B6"/>
                          </a:solidFill>
                          <a:latin typeface="Calibri" pitchFamily="34" charset="0"/>
                          <a:ea typeface="Calibri" pitchFamily="34" charset="-122"/>
                          <a:cs typeface="Calibri" pitchFamily="34" charset="-120"/>
                        </a:rPr>
                        <a:t>calibrated</a:t>
                      </a:r>
                      <a:endParaRPr lang="en-US" sz="10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00" dirty="0">
                          <a:solidFill>
                            <a:srgbClr val="5B21B6"/>
                          </a:solidFill>
                          <a:latin typeface="Calibri" pitchFamily="34" charset="0"/>
                          <a:ea typeface="Calibri" pitchFamily="34" charset="-122"/>
                          <a:cs typeface="Calibri" pitchFamily="34" charset="-120"/>
                        </a:rPr>
                        <a:t>The one LEADING indicator — fires ~5 s in, not ~40 s. Estimator quality decides whether a cascade wins (ETH). Open research for tool-calls.</a:t>
                      </a:r>
                      <a:endParaRPr lang="en-US" sz="10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5623560"/>
            <a:ext cx="11091672" cy="731520"/>
          </a:xfrm>
          <a:prstGeom prst="roundRect">
            <a:avLst>
              <a:gd name="adj" fmla="val 8750"/>
            </a:avLst>
          </a:prstGeom>
          <a:solidFill>
            <a:srgbClr val="F9E7E4"/>
          </a:solidFill>
          <a:ln/>
          <a:effectLst>
            <a:outerShdw sx="100000" sy="100000" kx="0" ky="0" algn="bl" rotWithShape="0" blurRad="88900" dist="25400" dir="2700000">
              <a:srgbClr val="1F2A3D">
                <a:alpha val="14000"/>
              </a:srgbClr>
            </a:outerShdw>
          </a:effectLst>
        </p:spPr>
      </p:sp>
      <p:sp>
        <p:nvSpPr>
          <p:cNvPr id="9" name="Text 5"/>
          <p:cNvSpPr/>
          <p:nvPr/>
        </p:nvSpPr>
        <p:spPr>
          <a:xfrm>
            <a:off x="822960" y="5779008"/>
            <a:ext cx="10515600" cy="457200"/>
          </a:xfrm>
          <a:prstGeom prst="rect">
            <a:avLst/>
          </a:prstGeom>
          <a:noFill/>
          <a:ln/>
        </p:spPr>
        <p:txBody>
          <a:bodyPr wrap="square" lIns="0" tIns="0" rIns="0" bIns="0" rtlCol="0" anchor="t"/>
          <a:lstStyle/>
          <a:p>
            <a:pPr algn="l" indent="0" marL="0">
              <a:lnSpc>
                <a:spcPct val="110000"/>
              </a:lnSpc>
              <a:buNone/>
            </a:pPr>
            <a:r>
              <a:rPr lang="en-US" sz="1200" b="1" dirty="0">
                <a:solidFill>
                  <a:srgbClr val="1F2A3D"/>
                </a:solidFill>
                <a:latin typeface="Calibri" pitchFamily="34" charset="0"/>
                <a:ea typeface="Calibri" pitchFamily="34" charset="-122"/>
                <a:cs typeface="Calibri" pitchFamily="34" charset="-120"/>
              </a:rPr>
              <a:t>No LLM-judge mid-flight:  </a:t>
            </a:r>
            <a:pPr algn="l" indent="0" marL="0">
              <a:lnSpc>
                <a:spcPct val="110000"/>
              </a:lnSpc>
              <a:buNone/>
            </a:pPr>
            <a:r>
              <a:rPr lang="en-US" sz="1150" dirty="0">
                <a:solidFill>
                  <a:srgbClr val="5D6B7E"/>
                </a:solidFill>
                <a:latin typeface="Calibri" pitchFamily="34" charset="0"/>
                <a:ea typeface="Calibri" pitchFamily="34" charset="-122"/>
                <a:cs typeface="Calibri" pitchFamily="34" charset="-120"/>
              </a:rPr>
              <a:t>a judge smart enough to grade the work costs ≈ as much as doing the work. Mechanical wires in-flight; judging happens offline, in the flywheel.</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PART 3 · ESCALATION · FLAGSHIP EXAMPLE</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“Fix the failing test” — the edit trip-wire (S3)</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scenario S3</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22</a:t>
            </a:r>
            <a:endParaRPr lang="en-US" sz="900" dirty="0"/>
          </a:p>
        </p:txBody>
      </p:sp>
      <p:sp>
        <p:nvSpPr>
          <p:cNvPr id="7" name="Shape 4"/>
          <p:cNvSpPr/>
          <p:nvPr/>
        </p:nvSpPr>
        <p:spPr>
          <a:xfrm>
            <a:off x="548640" y="1417320"/>
            <a:ext cx="7040880" cy="3794760"/>
          </a:xfrm>
          <a:prstGeom prst="roundRect">
            <a:avLst>
              <a:gd name="adj" fmla="val 1687"/>
            </a:avLst>
          </a:prstGeom>
          <a:solidFill>
            <a:srgbClr val="101D31"/>
          </a:solidFill>
          <a:ln/>
          <a:effectLst>
            <a:outerShdw sx="100000" sy="100000" kx="0" ky="0" algn="bl" rotWithShape="0" blurRad="88900" dist="25400" dir="2700000">
              <a:srgbClr val="1F2A3D">
                <a:alpha val="14000"/>
              </a:srgbClr>
            </a:outerShdw>
          </a:effectLst>
        </p:spPr>
      </p:sp>
      <p:sp>
        <p:nvSpPr>
          <p:cNvPr id="8" name="Text 5"/>
          <p:cNvSpPr/>
          <p:nvPr/>
        </p:nvSpPr>
        <p:spPr>
          <a:xfrm>
            <a:off x="749808" y="1563624"/>
            <a:ext cx="6638544" cy="3502152"/>
          </a:xfrm>
          <a:prstGeom prst="rect">
            <a:avLst/>
          </a:prstGeom>
          <a:noFill/>
          <a:ln/>
        </p:spPr>
        <p:txBody>
          <a:bodyPr wrap="square" lIns="0" tIns="0" rIns="0" bIns="0" rtlCol="0" anchor="ctr"/>
          <a:lstStyle/>
          <a:p>
            <a:pPr indent="0" marL="0">
              <a:lnSpc>
                <a:spcPct val="112000"/>
              </a:lnSpc>
              <a:buNone/>
            </a:pPr>
            <a:r>
              <a:rPr lang="en-US" sz="1000" b="1" dirty="0">
                <a:solidFill>
                  <a:srgbClr val="9CC3EC"/>
                </a:solidFill>
                <a:latin typeface="Courier New" pitchFamily="34" charset="0"/>
                <a:ea typeface="Courier New" pitchFamily="34" charset="-122"/>
                <a:cs typeface="Courier New" pitchFamily="34" charset="-120"/>
              </a:rPr>
              <a:t>req 1  user: "fix the failing test"</a:t>
            </a:r>
            <a:endParaRPr lang="en-US" sz="1000" dirty="0"/>
          </a:p>
          <a:p>
            <a:pPr indent="0" marL="0">
              <a:lnSpc>
                <a:spcPct val="112000"/>
              </a:lnSpc>
              <a:buNone/>
            </a:pPr>
            <a:r>
              <a:rPr lang="en-US" sz="1000" dirty="0">
                <a:solidFill>
                  <a:srgbClr val="D9E4F3"/>
                </a:solidFill>
                <a:latin typeface="Courier New" pitchFamily="34" charset="0"/>
                <a:ea typeface="Courier New" pitchFamily="34" charset="-122"/>
                <a:cs typeface="Courier New" pitchFamily="34" charset="-120"/>
              </a:rPr>
              <a:t>  ROUTER  user_turn → gates pass (ctx 18k) → heuristic 0.48 (medium)</a:t>
            </a:r>
            <a:endParaRPr lang="en-US" sz="1000" dirty="0"/>
          </a:p>
          <a:p>
            <a:pPr indent="0" marL="0">
              <a:lnSpc>
                <a:spcPct val="112000"/>
              </a:lnSpc>
              <a:buNone/>
            </a:pPr>
            <a:r>
              <a:rPr lang="en-US" sz="1000" dirty="0">
                <a:solidFill>
                  <a:srgbClr val="8ED6AC"/>
                </a:solidFill>
                <a:latin typeface="Courier New" pitchFamily="34" charset="0"/>
                <a:ea typeface="Courier New" pitchFamily="34" charset="-122"/>
                <a:cs typeface="Courier New" pitchFamily="34" charset="-120"/>
              </a:rPr>
              <a:t>          → local-code · cascade ARMED · route_id r_1041</a:t>
            </a:r>
            <a:endParaRPr lang="en-US" sz="1000" dirty="0"/>
          </a:p>
          <a:p>
            <a:pPr indent="0" marL="0">
              <a:lnSpc>
                <a:spcPct val="112000"/>
              </a:lnSpc>
              <a:buNone/>
            </a:pPr>
            <a:r>
              <a:rPr lang="en-US" sz="1000" dirty="0">
                <a:solidFill>
                  <a:srgbClr val="D9E4F3"/>
                </a:solidFill>
                <a:latin typeface="Courier New" pitchFamily="34" charset="0"/>
                <a:ea typeface="Courier New" pitchFamily="34" charset="-122"/>
                <a:cs typeface="Courier New" pitchFamily="34" charset="-120"/>
              </a:rPr>
              <a:t>req 2  ← Bash {"pytest -x -q"}  → "FAILED test_parse_dates…"</a:t>
            </a:r>
            <a:endParaRPr lang="en-US" sz="1000" dirty="0"/>
          </a:p>
          <a:p>
            <a:pPr indent="0" marL="0">
              <a:lnSpc>
                <a:spcPct val="112000"/>
              </a:lnSpc>
              <a:buNone/>
            </a:pPr>
            <a:r>
              <a:rPr lang="en-US" sz="1000" dirty="0">
                <a:solidFill>
                  <a:srgbClr val="D9E4F3"/>
                </a:solidFill>
                <a:latin typeface="Courier New" pitchFamily="34" charset="0"/>
                <a:ea typeface="Courier New" pitchFamily="34" charset="-122"/>
                <a:cs typeface="Courier New" pitchFamily="34" charset="-120"/>
              </a:rPr>
              <a:t>req 3  ← Read {src/parse.py}    → &lt;file body&gt;</a:t>
            </a:r>
            <a:endParaRPr lang="en-US" sz="1000" dirty="0"/>
          </a:p>
          <a:p>
            <a:pPr indent="0" marL="0">
              <a:lnSpc>
                <a:spcPct val="112000"/>
              </a:lnSpc>
              <a:buNone/>
            </a:pPr>
            <a:r>
              <a:rPr lang="en-US" sz="1000" dirty="0">
                <a:solidFill>
                  <a:srgbClr val="D9E4F3"/>
                </a:solidFill>
                <a:latin typeface="Courier New" pitchFamily="34" charset="0"/>
                <a:ea typeface="Courier New" pitchFamily="34" charset="-122"/>
                <a:cs typeface="Courier New" pitchFamily="34" charset="-120"/>
              </a:rPr>
              <a:t>req 4  ← Edit {old_string:"fmt = '%Y-%m-%d'\n    return …"}</a:t>
            </a:r>
            <a:endParaRPr lang="en-US" sz="1000" dirty="0"/>
          </a:p>
          <a:p>
            <a:pPr indent="0" marL="0">
              <a:lnSpc>
                <a:spcPct val="112000"/>
              </a:lnSpc>
              <a:buNone/>
            </a:pPr>
            <a:r>
              <a:rPr lang="en-US" sz="1000" dirty="0">
                <a:solidFill>
                  <a:srgbClr val="F2A69E"/>
                </a:solidFill>
                <a:latin typeface="Courier New" pitchFamily="34" charset="0"/>
                <a:ea typeface="Courier New" pitchFamily="34" charset="-122"/>
                <a:cs typeface="Courier New" pitchFamily="34" charset="-120"/>
              </a:rPr>
              <a:t>       → tool_result (is_error): "String to replace not found in file."</a:t>
            </a:r>
            <a:endParaRPr lang="en-US" sz="1000" dirty="0"/>
          </a:p>
          <a:p>
            <a:pPr indent="0" marL="0">
              <a:lnSpc>
                <a:spcPct val="112000"/>
              </a:lnSpc>
              <a:buNone/>
            </a:pPr>
            <a:r>
              <a:rPr lang="en-US" sz="1000" b="1" dirty="0">
                <a:solidFill>
                  <a:srgbClr val="EFCB84"/>
                </a:solidFill>
                <a:latin typeface="Courier New" pitchFamily="34" charset="0"/>
                <a:ea typeface="Courier New" pitchFamily="34" charset="-122"/>
                <a:cs typeface="Courier New" pitchFamily="34" charset="-120"/>
              </a:rPr>
              <a:t>  ROUTER  strike edit_apply = 1</a:t>
            </a:r>
            <a:endParaRPr lang="en-US" sz="1000" dirty="0"/>
          </a:p>
          <a:p>
            <a:pPr indent="0" marL="0">
              <a:lnSpc>
                <a:spcPct val="112000"/>
              </a:lnSpc>
              <a:buNone/>
            </a:pPr>
            <a:r>
              <a:rPr lang="en-US" sz="1000" dirty="0">
                <a:solidFill>
                  <a:srgbClr val="D9E4F3"/>
                </a:solidFill>
                <a:latin typeface="Courier New" pitchFamily="34" charset="0"/>
                <a:ea typeface="Courier New" pitchFamily="34" charset="-122"/>
                <a:cs typeface="Courier New" pitchFamily="34" charset="-120"/>
              </a:rPr>
              <a:t>req 5  ← Edit {…old_string differs by whitespace again…}</a:t>
            </a:r>
            <a:endParaRPr lang="en-US" sz="1000" dirty="0"/>
          </a:p>
          <a:p>
            <a:pPr indent="0" marL="0">
              <a:lnSpc>
                <a:spcPct val="112000"/>
              </a:lnSpc>
              <a:buNone/>
            </a:pPr>
            <a:r>
              <a:rPr lang="en-US" sz="1000" dirty="0">
                <a:solidFill>
                  <a:srgbClr val="F2A69E"/>
                </a:solidFill>
                <a:latin typeface="Courier New" pitchFamily="34" charset="0"/>
                <a:ea typeface="Courier New" pitchFamily="34" charset="-122"/>
                <a:cs typeface="Courier New" pitchFamily="34" charset="-120"/>
              </a:rPr>
              <a:t>       → tool_result (is_error): "String to replace not found in file."</a:t>
            </a:r>
            <a:endParaRPr lang="en-US" sz="1000" dirty="0"/>
          </a:p>
          <a:p>
            <a:pPr indent="0" marL="0">
              <a:lnSpc>
                <a:spcPct val="112000"/>
              </a:lnSpc>
              <a:buNone/>
            </a:pPr>
            <a:r>
              <a:rPr lang="en-US" sz="1000" b="1" dirty="0">
                <a:solidFill>
                  <a:srgbClr val="F2A69E"/>
                </a:solidFill>
                <a:latin typeface="Courier New" pitchFamily="34" charset="0"/>
                <a:ea typeface="Courier New" pitchFamily="34" charset="-122"/>
                <a:cs typeface="Courier New" pitchFamily="34" charset="-120"/>
              </a:rPr>
              <a:t>  ROUTER  strike edit_apply = 2  →  ⚡ TRIP-WIRE (threshold 2)</a:t>
            </a:r>
            <a:endParaRPr lang="en-US" sz="1000" dirty="0"/>
          </a:p>
        </p:txBody>
      </p:sp>
      <p:sp>
        <p:nvSpPr>
          <p:cNvPr id="9" name="Shape 6"/>
          <p:cNvSpPr/>
          <p:nvPr/>
        </p:nvSpPr>
        <p:spPr>
          <a:xfrm>
            <a:off x="7955280" y="1417320"/>
            <a:ext cx="3703320" cy="2377440"/>
          </a:xfrm>
          <a:prstGeom prst="roundRect">
            <a:avLst>
              <a:gd name="adj" fmla="val 2692"/>
            </a:avLst>
          </a:prstGeom>
          <a:solidFill>
            <a:srgbClr val="F3F6F9"/>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0" name="Text 7"/>
          <p:cNvSpPr/>
          <p:nvPr/>
        </p:nvSpPr>
        <p:spPr>
          <a:xfrm>
            <a:off x="8193024" y="1600200"/>
            <a:ext cx="3227832" cy="502920"/>
          </a:xfrm>
          <a:prstGeom prst="rect">
            <a:avLst/>
          </a:prstGeom>
          <a:noFill/>
          <a:ln/>
        </p:spPr>
        <p:txBody>
          <a:bodyPr wrap="square" lIns="0" tIns="0" rIns="0" bIns="0" rtlCol="0" anchor="t"/>
          <a:lstStyle/>
          <a:p>
            <a:pPr algn="l" indent="0" marL="0">
              <a:buNone/>
            </a:pPr>
            <a:r>
              <a:rPr lang="en-US" sz="1250" b="1" dirty="0">
                <a:solidFill>
                  <a:srgbClr val="1F2A3D"/>
                </a:solidFill>
                <a:latin typeface="Calibri" pitchFamily="34" charset="0"/>
                <a:ea typeface="Calibri" pitchFamily="34" charset="-122"/>
                <a:cs typeface="Calibri" pitchFamily="34" charset="-120"/>
              </a:rPr>
              <a:t>Why locals hit this exact wall</a:t>
            </a:r>
            <a:endParaRPr lang="en-US" sz="1250" dirty="0"/>
          </a:p>
        </p:txBody>
      </p:sp>
      <p:sp>
        <p:nvSpPr>
          <p:cNvPr id="11" name="Text 8"/>
          <p:cNvSpPr/>
          <p:nvPr/>
        </p:nvSpPr>
        <p:spPr>
          <a:xfrm>
            <a:off x="8193024" y="2011680"/>
            <a:ext cx="3227832" cy="1645920"/>
          </a:xfrm>
          <a:prstGeom prst="rect">
            <a:avLst/>
          </a:prstGeom>
          <a:noFill/>
          <a:ln/>
        </p:spPr>
        <p:txBody>
          <a:bodyPr wrap="square" lIns="0" tIns="0" rIns="0" bIns="0" rtlCol="0" anchor="t"/>
          <a:lstStyle/>
          <a:p>
            <a:pPr algn="l" indent="0" marL="0">
              <a:lnSpc>
                <a:spcPct val="112000"/>
              </a:lnSpc>
              <a:buNone/>
            </a:pPr>
            <a:r>
              <a:rPr lang="en-US" sz="1050" b="1" dirty="0">
                <a:solidFill>
                  <a:srgbClr val="1F2A3D"/>
                </a:solidFill>
                <a:latin typeface="Calibri" pitchFamily="34" charset="0"/>
                <a:ea typeface="Calibri" pitchFamily="34" charset="-122"/>
                <a:cs typeface="Calibri" pitchFamily="34" charset="-120"/>
              </a:rPr>
              <a:t>Edit demands a byte-exact old_string match.</a:t>
            </a:r>
            <a:endParaRPr lang="en-US" sz="1050" dirty="0"/>
          </a:p>
          <a:p>
            <a:pPr algn="l" indent="0" marL="0">
              <a:lnSpc>
                <a:spcPct val="112000"/>
              </a:lnSpc>
              <a:buNone/>
            </a:pPr>
            <a:r>
              <a:rPr lang="en-US" sz="1050" dirty="0">
                <a:solidFill>
                  <a:srgbClr val="5D6B7E"/>
                </a:solidFill>
                <a:latin typeface="Calibri" pitchFamily="34" charset="0"/>
                <a:ea typeface="Calibri" pitchFamily="34" charset="-122"/>
                <a:cs typeface="Calibri" pitchFamily="34" charset="-120"/>
              </a:rPr>
              <a:t>The local model regenerated the snippet from memory — tabs vs spaces — instead of copying the Read result. Frontier models are heavily post-trained on this dialect; 30B locals are not.</a:t>
            </a:r>
            <a:endParaRPr lang="en-US" sz="1050" dirty="0"/>
          </a:p>
        </p:txBody>
      </p:sp>
      <p:sp>
        <p:nvSpPr>
          <p:cNvPr id="12" name="Shape 9"/>
          <p:cNvSpPr/>
          <p:nvPr/>
        </p:nvSpPr>
        <p:spPr>
          <a:xfrm>
            <a:off x="7955280" y="3977640"/>
            <a:ext cx="3703320" cy="1234440"/>
          </a:xfrm>
          <a:prstGeom prst="roundRect">
            <a:avLst>
              <a:gd name="adj" fmla="val 5185"/>
            </a:avLst>
          </a:prstGeom>
          <a:solidFill>
            <a:srgbClr val="E3F1EA"/>
          </a:solidFill>
          <a:ln/>
          <a:effectLst>
            <a:outerShdw sx="100000" sy="100000" kx="0" ky="0" algn="bl" rotWithShape="0" blurRad="88900" dist="25400" dir="2700000">
              <a:srgbClr val="1F2A3D">
                <a:alpha val="14000"/>
              </a:srgbClr>
            </a:outerShdw>
          </a:effectLst>
        </p:spPr>
      </p:sp>
      <p:sp>
        <p:nvSpPr>
          <p:cNvPr id="13" name="Text 10"/>
          <p:cNvSpPr/>
          <p:nvPr/>
        </p:nvSpPr>
        <p:spPr>
          <a:xfrm>
            <a:off x="8193024" y="4133088"/>
            <a:ext cx="3227832" cy="960120"/>
          </a:xfrm>
          <a:prstGeom prst="rect">
            <a:avLst/>
          </a:prstGeom>
          <a:noFill/>
          <a:ln/>
        </p:spPr>
        <p:txBody>
          <a:bodyPr wrap="square" lIns="0" tIns="0" rIns="0" bIns="0" rtlCol="0" anchor="t"/>
          <a:lstStyle/>
          <a:p>
            <a:pPr algn="l" indent="0" marL="0">
              <a:lnSpc>
                <a:spcPct val="112000"/>
              </a:lnSpc>
              <a:buNone/>
            </a:pPr>
            <a:r>
              <a:rPr lang="en-US" sz="1100" b="1" dirty="0">
                <a:solidFill>
                  <a:srgbClr val="1F2A3D"/>
                </a:solidFill>
                <a:latin typeface="Calibri" pitchFamily="34" charset="0"/>
                <a:ea typeface="Calibri" pitchFamily="34" charset="-122"/>
                <a:cs typeface="Calibri" pitchFamily="34" charset="-120"/>
              </a:rPr>
              <a:t>Cost of the failed local try:</a:t>
            </a:r>
            <a:endParaRPr lang="en-US" sz="1100" dirty="0"/>
          </a:p>
          <a:p>
            <a:pPr algn="l" indent="0" marL="0">
              <a:lnSpc>
                <a:spcPct val="112000"/>
              </a:lnSpc>
              <a:buNone/>
            </a:pPr>
            <a:r>
              <a:rPr lang="en-US" sz="1050" dirty="0">
                <a:solidFill>
                  <a:srgbClr val="5D6B7E"/>
                </a:solidFill>
                <a:latin typeface="Calibri" pitchFamily="34" charset="0"/>
                <a:ea typeface="Calibri" pitchFamily="34" charset="-122"/>
                <a:cs typeface="Calibri" pitchFamily="34" charset="-120"/>
              </a:rPr>
              <a:t>$0 and 41 seconds. The 41 s is the real price — that's why T_HARD exists (slide 31).</a:t>
            </a:r>
            <a:endParaRPr lang="en-US" sz="1100" dirty="0"/>
          </a:p>
        </p:txBody>
      </p:sp>
      <p:sp>
        <p:nvSpPr>
          <p:cNvPr id="14" name="Text 11"/>
          <p:cNvSpPr/>
          <p:nvPr/>
        </p:nvSpPr>
        <p:spPr>
          <a:xfrm>
            <a:off x="548640" y="5440680"/>
            <a:ext cx="7040880" cy="274320"/>
          </a:xfrm>
          <a:prstGeom prst="rect">
            <a:avLst/>
          </a:prstGeom>
          <a:noFill/>
          <a:ln/>
        </p:spPr>
        <p:txBody>
          <a:bodyPr wrap="square" lIns="0" tIns="0" rIns="0" bIns="0" rtlCol="0" anchor="t"/>
          <a:lstStyle/>
          <a:p>
            <a:pPr algn="l" indent="0" marL="0">
              <a:buNone/>
            </a:pPr>
            <a:r>
              <a:rPr lang="en-US" sz="1150" i="1" dirty="0">
                <a:solidFill>
                  <a:srgbClr val="5D6B7E"/>
                </a:solidFill>
                <a:latin typeface="Calibri" pitchFamily="34" charset="0"/>
                <a:ea typeface="Calibri" pitchFamily="34" charset="-122"/>
                <a:cs typeface="Calibri" pitchFamily="34" charset="-120"/>
              </a:rPr>
              <a:t>What happens next — the handover — is the next slide.</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PART 3 · ESCALATION</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Escalation = a rebuild, never a resend</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design doc §5.5 · scenario S3</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23</a:t>
            </a:r>
            <a:endParaRPr lang="en-US" sz="900" dirty="0"/>
          </a:p>
        </p:txBody>
      </p:sp>
      <p:sp>
        <p:nvSpPr>
          <p:cNvPr id="7" name="Shape 4"/>
          <p:cNvSpPr/>
          <p:nvPr/>
        </p:nvSpPr>
        <p:spPr>
          <a:xfrm>
            <a:off x="548640" y="1463040"/>
            <a:ext cx="2103120" cy="1874520"/>
          </a:xfrm>
          <a:prstGeom prst="roundRect">
            <a:avLst>
              <a:gd name="adj" fmla="val 3415"/>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8" name="Text 5"/>
          <p:cNvSpPr/>
          <p:nvPr/>
        </p:nvSpPr>
        <p:spPr>
          <a:xfrm>
            <a:off x="731520" y="1600200"/>
            <a:ext cx="457200" cy="411480"/>
          </a:xfrm>
          <a:prstGeom prst="rect">
            <a:avLst/>
          </a:prstGeom>
          <a:noFill/>
          <a:ln/>
        </p:spPr>
        <p:txBody>
          <a:bodyPr wrap="square" lIns="0" tIns="0" rIns="0" bIns="0" rtlCol="0" anchor="t"/>
          <a:lstStyle/>
          <a:p>
            <a:pPr algn="l" indent="0" marL="0">
              <a:buNone/>
            </a:pPr>
            <a:r>
              <a:rPr lang="en-US" sz="2200" b="1" dirty="0">
                <a:solidFill>
                  <a:srgbClr val="1D6FA5"/>
                </a:solidFill>
                <a:latin typeface="Cambria" pitchFamily="34" charset="0"/>
                <a:ea typeface="Cambria" pitchFamily="34" charset="-122"/>
                <a:cs typeface="Cambria" pitchFamily="34" charset="-120"/>
              </a:rPr>
              <a:t>1</a:t>
            </a:r>
            <a:endParaRPr lang="en-US" sz="2200" dirty="0"/>
          </a:p>
        </p:txBody>
      </p:sp>
      <p:sp>
        <p:nvSpPr>
          <p:cNvPr id="9" name="Text 6"/>
          <p:cNvSpPr/>
          <p:nvPr/>
        </p:nvSpPr>
        <p:spPr>
          <a:xfrm>
            <a:off x="731520" y="2029968"/>
            <a:ext cx="1737360" cy="274320"/>
          </a:xfrm>
          <a:prstGeom prst="rect">
            <a:avLst/>
          </a:prstGeom>
          <a:noFill/>
          <a:ln/>
        </p:spPr>
        <p:txBody>
          <a:bodyPr wrap="square" lIns="0" tIns="0" rIns="0" bIns="0" rtlCol="0" anchor="t"/>
          <a:lstStyle/>
          <a:p>
            <a:pPr algn="l" indent="0" marL="0">
              <a:buNone/>
            </a:pPr>
            <a:r>
              <a:rPr lang="en-US" sz="1200" b="1" dirty="0">
                <a:solidFill>
                  <a:srgbClr val="1F2A3D"/>
                </a:solidFill>
                <a:latin typeface="Calibri" pitchFamily="34" charset="0"/>
                <a:ea typeface="Calibri" pitchFamily="34" charset="-122"/>
                <a:cs typeface="Calibri" pitchFamily="34" charset="-120"/>
              </a:rPr>
              <a:t>Freeze</a:t>
            </a:r>
            <a:endParaRPr lang="en-US" sz="1200" dirty="0"/>
          </a:p>
        </p:txBody>
      </p:sp>
      <p:sp>
        <p:nvSpPr>
          <p:cNvPr id="10" name="Text 7"/>
          <p:cNvSpPr/>
          <p:nvPr/>
        </p:nvSpPr>
        <p:spPr>
          <a:xfrm>
            <a:off x="731520" y="2331720"/>
            <a:ext cx="1737360" cy="914400"/>
          </a:xfrm>
          <a:prstGeom prst="rect">
            <a:avLst/>
          </a:prstGeom>
          <a:noFill/>
          <a:ln/>
        </p:spPr>
        <p:txBody>
          <a:bodyPr wrap="square" lIns="0" tIns="0" rIns="0" bIns="0" rtlCol="0" anchor="t"/>
          <a:lstStyle/>
          <a:p>
            <a:pPr algn="l" indent="0" marL="0">
              <a:lnSpc>
                <a:spcPct val="108000"/>
              </a:lnSpc>
              <a:buNone/>
            </a:pPr>
            <a:r>
              <a:rPr lang="en-US" sz="900" dirty="0">
                <a:solidFill>
                  <a:srgbClr val="5D6B7E"/>
                </a:solidFill>
                <a:latin typeface="Calibri" pitchFamily="34" charset="0"/>
                <a:ea typeface="Calibri" pitchFamily="34" charset="-122"/>
                <a:cs typeface="Calibri" pitchFamily="34" charset="-120"/>
              </a:rPr>
              <a:t>at an action boundary — never mid-tool-call</a:t>
            </a:r>
            <a:endParaRPr lang="en-US" sz="900" dirty="0"/>
          </a:p>
        </p:txBody>
      </p:sp>
      <p:sp>
        <p:nvSpPr>
          <p:cNvPr id="11" name="Shape 8"/>
          <p:cNvSpPr/>
          <p:nvPr/>
        </p:nvSpPr>
        <p:spPr>
          <a:xfrm>
            <a:off x="2679192" y="2377440"/>
            <a:ext cx="118872" cy="0"/>
          </a:xfrm>
          <a:prstGeom prst="line">
            <a:avLst/>
          </a:prstGeom>
          <a:noFill/>
          <a:ln w="19050">
            <a:solidFill>
              <a:srgbClr val="5D6B7E"/>
            </a:solidFill>
            <a:prstDash val="solid"/>
            <a:headEnd type="none"/>
            <a:tailEnd type="triangle"/>
          </a:ln>
        </p:spPr>
      </p:sp>
      <p:sp>
        <p:nvSpPr>
          <p:cNvPr id="12" name="Shape 9"/>
          <p:cNvSpPr/>
          <p:nvPr/>
        </p:nvSpPr>
        <p:spPr>
          <a:xfrm>
            <a:off x="2816352" y="1463040"/>
            <a:ext cx="2103120" cy="1874520"/>
          </a:xfrm>
          <a:prstGeom prst="roundRect">
            <a:avLst>
              <a:gd name="adj" fmla="val 3415"/>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3" name="Text 10"/>
          <p:cNvSpPr/>
          <p:nvPr/>
        </p:nvSpPr>
        <p:spPr>
          <a:xfrm>
            <a:off x="2999232" y="1600200"/>
            <a:ext cx="457200" cy="411480"/>
          </a:xfrm>
          <a:prstGeom prst="rect">
            <a:avLst/>
          </a:prstGeom>
          <a:noFill/>
          <a:ln/>
        </p:spPr>
        <p:txBody>
          <a:bodyPr wrap="square" lIns="0" tIns="0" rIns="0" bIns="0" rtlCol="0" anchor="t"/>
          <a:lstStyle/>
          <a:p>
            <a:pPr algn="l" indent="0" marL="0">
              <a:buNone/>
            </a:pPr>
            <a:r>
              <a:rPr lang="en-US" sz="2200" b="1" dirty="0">
                <a:solidFill>
                  <a:srgbClr val="1D6FA5"/>
                </a:solidFill>
                <a:latin typeface="Cambria" pitchFamily="34" charset="0"/>
                <a:ea typeface="Cambria" pitchFamily="34" charset="-122"/>
                <a:cs typeface="Cambria" pitchFamily="34" charset="-120"/>
              </a:rPr>
              <a:t>2</a:t>
            </a:r>
            <a:endParaRPr lang="en-US" sz="2200" dirty="0"/>
          </a:p>
        </p:txBody>
      </p:sp>
      <p:sp>
        <p:nvSpPr>
          <p:cNvPr id="14" name="Text 11"/>
          <p:cNvSpPr/>
          <p:nvPr/>
        </p:nvSpPr>
        <p:spPr>
          <a:xfrm>
            <a:off x="2999232" y="2029968"/>
            <a:ext cx="1737360" cy="274320"/>
          </a:xfrm>
          <a:prstGeom prst="rect">
            <a:avLst/>
          </a:prstGeom>
          <a:noFill/>
          <a:ln/>
        </p:spPr>
        <p:txBody>
          <a:bodyPr wrap="square" lIns="0" tIns="0" rIns="0" bIns="0" rtlCol="0" anchor="t"/>
          <a:lstStyle/>
          <a:p>
            <a:pPr algn="l" indent="0" marL="0">
              <a:buNone/>
            </a:pPr>
            <a:r>
              <a:rPr lang="en-US" sz="1200" b="1" dirty="0">
                <a:solidFill>
                  <a:srgbClr val="1F2A3D"/>
                </a:solidFill>
                <a:latin typeface="Calibri" pitchFamily="34" charset="0"/>
                <a:ea typeface="Calibri" pitchFamily="34" charset="-122"/>
                <a:cs typeface="Calibri" pitchFamily="34" charset="-120"/>
              </a:rPr>
              <a:t>Rebuild</a:t>
            </a:r>
            <a:endParaRPr lang="en-US" sz="1200" dirty="0"/>
          </a:p>
        </p:txBody>
      </p:sp>
      <p:sp>
        <p:nvSpPr>
          <p:cNvPr id="15" name="Text 12"/>
          <p:cNvSpPr/>
          <p:nvPr/>
        </p:nvSpPr>
        <p:spPr>
          <a:xfrm>
            <a:off x="2999232" y="2331720"/>
            <a:ext cx="1737360" cy="914400"/>
          </a:xfrm>
          <a:prstGeom prst="rect">
            <a:avLst/>
          </a:prstGeom>
          <a:noFill/>
          <a:ln/>
        </p:spPr>
        <p:txBody>
          <a:bodyPr wrap="square" lIns="0" tIns="0" rIns="0" bIns="0" rtlCol="0" anchor="t"/>
          <a:lstStyle/>
          <a:p>
            <a:pPr algn="l" indent="0" marL="0">
              <a:lnSpc>
                <a:spcPct val="108000"/>
              </a:lnSpc>
              <a:buNone/>
            </a:pPr>
            <a:r>
              <a:rPr lang="en-US" sz="900" dirty="0">
                <a:solidFill>
                  <a:srgbClr val="5D6B7E"/>
                </a:solidFill>
                <a:latin typeface="Calibri" pitchFamily="34" charset="0"/>
                <a:ea typeface="Calibri" pitchFamily="34" charset="-122"/>
                <a:cs typeface="Calibri" pitchFamily="34" charset="-120"/>
              </a:rPr>
              <a:t>strip thinking blocks · re-key tool IDs · keep tool_results verbatim (ground truth) · re-apply cache_control</a:t>
            </a:r>
            <a:endParaRPr lang="en-US" sz="900" dirty="0"/>
          </a:p>
        </p:txBody>
      </p:sp>
      <p:sp>
        <p:nvSpPr>
          <p:cNvPr id="16" name="Shape 13"/>
          <p:cNvSpPr/>
          <p:nvPr/>
        </p:nvSpPr>
        <p:spPr>
          <a:xfrm>
            <a:off x="4946904" y="2377440"/>
            <a:ext cx="118872" cy="0"/>
          </a:xfrm>
          <a:prstGeom prst="line">
            <a:avLst/>
          </a:prstGeom>
          <a:noFill/>
          <a:ln w="19050">
            <a:solidFill>
              <a:srgbClr val="5D6B7E"/>
            </a:solidFill>
            <a:prstDash val="solid"/>
            <a:headEnd type="none"/>
            <a:tailEnd type="triangle"/>
          </a:ln>
        </p:spPr>
      </p:sp>
      <p:sp>
        <p:nvSpPr>
          <p:cNvPr id="17" name="Shape 14"/>
          <p:cNvSpPr/>
          <p:nvPr/>
        </p:nvSpPr>
        <p:spPr>
          <a:xfrm>
            <a:off x="5084064" y="1463040"/>
            <a:ext cx="2103120" cy="1874520"/>
          </a:xfrm>
          <a:prstGeom prst="roundRect">
            <a:avLst>
              <a:gd name="adj" fmla="val 3415"/>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8" name="Text 15"/>
          <p:cNvSpPr/>
          <p:nvPr/>
        </p:nvSpPr>
        <p:spPr>
          <a:xfrm>
            <a:off x="5266944" y="1600200"/>
            <a:ext cx="457200" cy="411480"/>
          </a:xfrm>
          <a:prstGeom prst="rect">
            <a:avLst/>
          </a:prstGeom>
          <a:noFill/>
          <a:ln/>
        </p:spPr>
        <p:txBody>
          <a:bodyPr wrap="square" lIns="0" tIns="0" rIns="0" bIns="0" rtlCol="0" anchor="t"/>
          <a:lstStyle/>
          <a:p>
            <a:pPr algn="l" indent="0" marL="0">
              <a:buNone/>
            </a:pPr>
            <a:r>
              <a:rPr lang="en-US" sz="2200" b="1" dirty="0">
                <a:solidFill>
                  <a:srgbClr val="1D6FA5"/>
                </a:solidFill>
                <a:latin typeface="Cambria" pitchFamily="34" charset="0"/>
                <a:ea typeface="Cambria" pitchFamily="34" charset="-122"/>
                <a:cs typeface="Cambria" pitchFamily="34" charset="-120"/>
              </a:rPr>
              <a:t>3</a:t>
            </a:r>
            <a:endParaRPr lang="en-US" sz="2200" dirty="0"/>
          </a:p>
        </p:txBody>
      </p:sp>
      <p:sp>
        <p:nvSpPr>
          <p:cNvPr id="19" name="Text 16"/>
          <p:cNvSpPr/>
          <p:nvPr/>
        </p:nvSpPr>
        <p:spPr>
          <a:xfrm>
            <a:off x="5266944" y="2029968"/>
            <a:ext cx="1737360" cy="274320"/>
          </a:xfrm>
          <a:prstGeom prst="rect">
            <a:avLst/>
          </a:prstGeom>
          <a:noFill/>
          <a:ln/>
        </p:spPr>
        <p:txBody>
          <a:bodyPr wrap="square" lIns="0" tIns="0" rIns="0" bIns="0" rtlCol="0" anchor="t"/>
          <a:lstStyle/>
          <a:p>
            <a:pPr algn="l" indent="0" marL="0">
              <a:buNone/>
            </a:pPr>
            <a:r>
              <a:rPr lang="en-US" sz="1200" b="1" dirty="0">
                <a:solidFill>
                  <a:srgbClr val="1F2A3D"/>
                </a:solidFill>
                <a:latin typeface="Calibri" pitchFamily="34" charset="0"/>
                <a:ea typeface="Calibri" pitchFamily="34" charset="-122"/>
                <a:cs typeface="Calibri" pitchFamily="34" charset="-120"/>
              </a:rPr>
              <a:t>Annotate</a:t>
            </a:r>
            <a:endParaRPr lang="en-US" sz="1200" dirty="0"/>
          </a:p>
        </p:txBody>
      </p:sp>
      <p:sp>
        <p:nvSpPr>
          <p:cNvPr id="20" name="Text 17"/>
          <p:cNvSpPr/>
          <p:nvPr/>
        </p:nvSpPr>
        <p:spPr>
          <a:xfrm>
            <a:off x="5266944" y="2331720"/>
            <a:ext cx="1737360" cy="914400"/>
          </a:xfrm>
          <a:prstGeom prst="rect">
            <a:avLst/>
          </a:prstGeom>
          <a:noFill/>
          <a:ln/>
        </p:spPr>
        <p:txBody>
          <a:bodyPr wrap="square" lIns="0" tIns="0" rIns="0" bIns="0" rtlCol="0" anchor="t"/>
          <a:lstStyle/>
          <a:p>
            <a:pPr algn="l" indent="0" marL="0">
              <a:lnSpc>
                <a:spcPct val="108000"/>
              </a:lnSpc>
              <a:buNone/>
            </a:pPr>
            <a:r>
              <a:rPr lang="en-US" sz="900" dirty="0">
                <a:solidFill>
                  <a:srgbClr val="5D6B7E"/>
                </a:solidFill>
                <a:latin typeface="Calibri" pitchFamily="34" charset="0"/>
                <a:ea typeface="Calibri" pitchFamily="34" charset="-122"/>
                <a:cs typeface="Calibri" pitchFamily="34" charset="-120"/>
              </a:rPr>
              <a:t>3-line failure note: what was tried, what failed (~100 tokens, saves re-walking the dead end)</a:t>
            </a:r>
            <a:endParaRPr lang="en-US" sz="900" dirty="0"/>
          </a:p>
        </p:txBody>
      </p:sp>
      <p:sp>
        <p:nvSpPr>
          <p:cNvPr id="21" name="Shape 18"/>
          <p:cNvSpPr/>
          <p:nvPr/>
        </p:nvSpPr>
        <p:spPr>
          <a:xfrm>
            <a:off x="7214616" y="2377440"/>
            <a:ext cx="118872" cy="0"/>
          </a:xfrm>
          <a:prstGeom prst="line">
            <a:avLst/>
          </a:prstGeom>
          <a:noFill/>
          <a:ln w="19050">
            <a:solidFill>
              <a:srgbClr val="5D6B7E"/>
            </a:solidFill>
            <a:prstDash val="solid"/>
            <a:headEnd type="none"/>
            <a:tailEnd type="triangle"/>
          </a:ln>
        </p:spPr>
      </p:sp>
      <p:sp>
        <p:nvSpPr>
          <p:cNvPr id="22" name="Shape 19"/>
          <p:cNvSpPr/>
          <p:nvPr/>
        </p:nvSpPr>
        <p:spPr>
          <a:xfrm>
            <a:off x="7351776" y="1463040"/>
            <a:ext cx="2103120" cy="1874520"/>
          </a:xfrm>
          <a:prstGeom prst="roundRect">
            <a:avLst>
              <a:gd name="adj" fmla="val 3415"/>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23" name="Text 20"/>
          <p:cNvSpPr/>
          <p:nvPr/>
        </p:nvSpPr>
        <p:spPr>
          <a:xfrm>
            <a:off x="7534656" y="1600200"/>
            <a:ext cx="457200" cy="411480"/>
          </a:xfrm>
          <a:prstGeom prst="rect">
            <a:avLst/>
          </a:prstGeom>
          <a:noFill/>
          <a:ln/>
        </p:spPr>
        <p:txBody>
          <a:bodyPr wrap="square" lIns="0" tIns="0" rIns="0" bIns="0" rtlCol="0" anchor="t"/>
          <a:lstStyle/>
          <a:p>
            <a:pPr algn="l" indent="0" marL="0">
              <a:buNone/>
            </a:pPr>
            <a:r>
              <a:rPr lang="en-US" sz="2200" b="1" dirty="0">
                <a:solidFill>
                  <a:srgbClr val="1D6FA5"/>
                </a:solidFill>
                <a:latin typeface="Cambria" pitchFamily="34" charset="0"/>
                <a:ea typeface="Cambria" pitchFamily="34" charset="-122"/>
                <a:cs typeface="Cambria" pitchFamily="34" charset="-120"/>
              </a:rPr>
              <a:t>4</a:t>
            </a:r>
            <a:endParaRPr lang="en-US" sz="2200" dirty="0"/>
          </a:p>
        </p:txBody>
      </p:sp>
      <p:sp>
        <p:nvSpPr>
          <p:cNvPr id="24" name="Text 21"/>
          <p:cNvSpPr/>
          <p:nvPr/>
        </p:nvSpPr>
        <p:spPr>
          <a:xfrm>
            <a:off x="7534656" y="2029968"/>
            <a:ext cx="1737360" cy="274320"/>
          </a:xfrm>
          <a:prstGeom prst="rect">
            <a:avLst/>
          </a:prstGeom>
          <a:noFill/>
          <a:ln/>
        </p:spPr>
        <p:txBody>
          <a:bodyPr wrap="square" lIns="0" tIns="0" rIns="0" bIns="0" rtlCol="0" anchor="t"/>
          <a:lstStyle/>
          <a:p>
            <a:pPr algn="l" indent="0" marL="0">
              <a:buNone/>
            </a:pPr>
            <a:r>
              <a:rPr lang="en-US" sz="1200" b="1" dirty="0">
                <a:solidFill>
                  <a:srgbClr val="1F2A3D"/>
                </a:solidFill>
                <a:latin typeface="Calibri" pitchFamily="34" charset="0"/>
                <a:ea typeface="Calibri" pitchFamily="34" charset="-122"/>
                <a:cs typeface="Calibri" pitchFamily="34" charset="-120"/>
              </a:rPr>
              <a:t>Mark</a:t>
            </a:r>
            <a:endParaRPr lang="en-US" sz="1200" dirty="0"/>
          </a:p>
        </p:txBody>
      </p:sp>
      <p:sp>
        <p:nvSpPr>
          <p:cNvPr id="25" name="Text 22"/>
          <p:cNvSpPr/>
          <p:nvPr/>
        </p:nvSpPr>
        <p:spPr>
          <a:xfrm>
            <a:off x="7534656" y="2331720"/>
            <a:ext cx="1737360" cy="914400"/>
          </a:xfrm>
          <a:prstGeom prst="rect">
            <a:avLst/>
          </a:prstGeom>
          <a:noFill/>
          <a:ln/>
        </p:spPr>
        <p:txBody>
          <a:bodyPr wrap="square" lIns="0" tIns="0" rIns="0" bIns="0" rtlCol="0" anchor="t"/>
          <a:lstStyle/>
          <a:p>
            <a:pPr algn="l" indent="0" marL="0">
              <a:lnSpc>
                <a:spcPct val="108000"/>
              </a:lnSpc>
              <a:buNone/>
            </a:pPr>
            <a:r>
              <a:rPr lang="en-US" sz="900" dirty="0">
                <a:solidFill>
                  <a:srgbClr val="5D6B7E"/>
                </a:solidFill>
                <a:latin typeface="Calibri" pitchFamily="34" charset="0"/>
                <a:ea typeface="Calibri" pitchFamily="34" charset="-122"/>
                <a:cs typeface="Calibri" pitchFamily="34" charset="-120"/>
              </a:rPr>
              <a:t>escalated_this_episode = true → hysteresis holds the episode up</a:t>
            </a:r>
            <a:endParaRPr lang="en-US" sz="900" dirty="0"/>
          </a:p>
        </p:txBody>
      </p:sp>
      <p:sp>
        <p:nvSpPr>
          <p:cNvPr id="26" name="Shape 23"/>
          <p:cNvSpPr/>
          <p:nvPr/>
        </p:nvSpPr>
        <p:spPr>
          <a:xfrm>
            <a:off x="9482328" y="2377440"/>
            <a:ext cx="118872" cy="0"/>
          </a:xfrm>
          <a:prstGeom prst="line">
            <a:avLst/>
          </a:prstGeom>
          <a:noFill/>
          <a:ln w="19050">
            <a:solidFill>
              <a:srgbClr val="5D6B7E"/>
            </a:solidFill>
            <a:prstDash val="solid"/>
            <a:headEnd type="none"/>
            <a:tailEnd type="triangle"/>
          </a:ln>
        </p:spPr>
      </p:sp>
      <p:sp>
        <p:nvSpPr>
          <p:cNvPr id="27" name="Shape 24"/>
          <p:cNvSpPr/>
          <p:nvPr/>
        </p:nvSpPr>
        <p:spPr>
          <a:xfrm>
            <a:off x="9619488" y="1463040"/>
            <a:ext cx="2103120" cy="1874520"/>
          </a:xfrm>
          <a:prstGeom prst="roundRect">
            <a:avLst>
              <a:gd name="adj" fmla="val 3415"/>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28" name="Text 25"/>
          <p:cNvSpPr/>
          <p:nvPr/>
        </p:nvSpPr>
        <p:spPr>
          <a:xfrm>
            <a:off x="9802368" y="1600200"/>
            <a:ext cx="457200" cy="411480"/>
          </a:xfrm>
          <a:prstGeom prst="rect">
            <a:avLst/>
          </a:prstGeom>
          <a:noFill/>
          <a:ln/>
        </p:spPr>
        <p:txBody>
          <a:bodyPr wrap="square" lIns="0" tIns="0" rIns="0" bIns="0" rtlCol="0" anchor="t"/>
          <a:lstStyle/>
          <a:p>
            <a:pPr algn="l" indent="0" marL="0">
              <a:buNone/>
            </a:pPr>
            <a:r>
              <a:rPr lang="en-US" sz="2200" b="1" dirty="0">
                <a:solidFill>
                  <a:srgbClr val="1D6FA5"/>
                </a:solidFill>
                <a:latin typeface="Cambria" pitchFamily="34" charset="0"/>
                <a:ea typeface="Cambria" pitchFamily="34" charset="-122"/>
                <a:cs typeface="Cambria" pitchFamily="34" charset="-120"/>
              </a:rPr>
              <a:t>5</a:t>
            </a:r>
            <a:endParaRPr lang="en-US" sz="2200" dirty="0"/>
          </a:p>
        </p:txBody>
      </p:sp>
      <p:sp>
        <p:nvSpPr>
          <p:cNvPr id="29" name="Text 26"/>
          <p:cNvSpPr/>
          <p:nvPr/>
        </p:nvSpPr>
        <p:spPr>
          <a:xfrm>
            <a:off x="9802368" y="2029968"/>
            <a:ext cx="1737360" cy="274320"/>
          </a:xfrm>
          <a:prstGeom prst="rect">
            <a:avLst/>
          </a:prstGeom>
          <a:noFill/>
          <a:ln/>
        </p:spPr>
        <p:txBody>
          <a:bodyPr wrap="square" lIns="0" tIns="0" rIns="0" bIns="0" rtlCol="0" anchor="t"/>
          <a:lstStyle/>
          <a:p>
            <a:pPr algn="l" indent="0" marL="0">
              <a:buNone/>
            </a:pPr>
            <a:r>
              <a:rPr lang="en-US" sz="1200" b="1" dirty="0">
                <a:solidFill>
                  <a:srgbClr val="1F2A3D"/>
                </a:solidFill>
                <a:latin typeface="Calibri" pitchFamily="34" charset="0"/>
                <a:ea typeface="Calibri" pitchFamily="34" charset="-122"/>
                <a:cs typeface="Calibri" pitchFamily="34" charset="-120"/>
              </a:rPr>
              <a:t>Charge honestly</a:t>
            </a:r>
            <a:endParaRPr lang="en-US" sz="1200" dirty="0"/>
          </a:p>
        </p:txBody>
      </p:sp>
      <p:sp>
        <p:nvSpPr>
          <p:cNvPr id="30" name="Text 27"/>
          <p:cNvSpPr/>
          <p:nvPr/>
        </p:nvSpPr>
        <p:spPr>
          <a:xfrm>
            <a:off x="9802368" y="2331720"/>
            <a:ext cx="1737360" cy="914400"/>
          </a:xfrm>
          <a:prstGeom prst="rect">
            <a:avLst/>
          </a:prstGeom>
          <a:noFill/>
          <a:ln/>
        </p:spPr>
        <p:txBody>
          <a:bodyPr wrap="square" lIns="0" tIns="0" rIns="0" bIns="0" rtlCol="0" anchor="t"/>
          <a:lstStyle/>
          <a:p>
            <a:pPr algn="l" indent="0" marL="0">
              <a:lnSpc>
                <a:spcPct val="108000"/>
              </a:lnSpc>
              <a:buNone/>
            </a:pPr>
            <a:r>
              <a:rPr lang="en-US" sz="900" dirty="0">
                <a:solidFill>
                  <a:srgbClr val="5D6B7E"/>
                </a:solidFill>
                <a:latin typeface="Calibri" pitchFamily="34" charset="0"/>
                <a:ea typeface="Calibri" pitchFamily="34" charset="-122"/>
                <a:cs typeface="Calibri" pitchFamily="34" charset="-120"/>
              </a:rPr>
              <a:t>escalation cold-starts the higher rung's cache — an explicit cost term in escalate-vs-persist</a:t>
            </a:r>
            <a:endParaRPr lang="en-US" sz="900" dirty="0"/>
          </a:p>
        </p:txBody>
      </p:sp>
      <p:sp>
        <p:nvSpPr>
          <p:cNvPr id="31" name="Shape 28"/>
          <p:cNvSpPr/>
          <p:nvPr/>
        </p:nvSpPr>
        <p:spPr>
          <a:xfrm>
            <a:off x="548640" y="3611880"/>
            <a:ext cx="6766560" cy="1325880"/>
          </a:xfrm>
          <a:prstGeom prst="roundRect">
            <a:avLst>
              <a:gd name="adj" fmla="val 4828"/>
            </a:avLst>
          </a:prstGeom>
          <a:solidFill>
            <a:srgbClr val="101D31"/>
          </a:solidFill>
          <a:ln/>
          <a:effectLst>
            <a:outerShdw sx="100000" sy="100000" kx="0" ky="0" algn="bl" rotWithShape="0" blurRad="88900" dist="25400" dir="2700000">
              <a:srgbClr val="1F2A3D">
                <a:alpha val="14000"/>
              </a:srgbClr>
            </a:outerShdw>
          </a:effectLst>
        </p:spPr>
      </p:sp>
      <p:sp>
        <p:nvSpPr>
          <p:cNvPr id="32" name="Text 29"/>
          <p:cNvSpPr/>
          <p:nvPr/>
        </p:nvSpPr>
        <p:spPr>
          <a:xfrm>
            <a:off x="749808" y="3758184"/>
            <a:ext cx="6364224" cy="1033272"/>
          </a:xfrm>
          <a:prstGeom prst="rect">
            <a:avLst/>
          </a:prstGeom>
          <a:noFill/>
          <a:ln/>
        </p:spPr>
        <p:txBody>
          <a:bodyPr wrap="square" lIns="0" tIns="0" rIns="0" bIns="0" rtlCol="0" anchor="ctr"/>
          <a:lstStyle/>
          <a:p>
            <a:pPr indent="0" marL="0">
              <a:lnSpc>
                <a:spcPct val="112000"/>
              </a:lnSpc>
              <a:buNone/>
            </a:pPr>
            <a:r>
              <a:rPr lang="en-US" sz="1000" dirty="0">
                <a:solidFill>
                  <a:srgbClr val="EFCB84"/>
                </a:solidFill>
                <a:latin typeface="Courier New" pitchFamily="34" charset="0"/>
                <a:ea typeface="Courier New" pitchFamily="34" charset="-122"/>
                <a:cs typeface="Courier New" pitchFamily="34" charset="-120"/>
              </a:rPr>
              <a:t>[routing note] A previous attempt: identified test_parse_dates failure,</a:t>
            </a:r>
            <a:endParaRPr lang="en-US" sz="1000" dirty="0"/>
          </a:p>
          <a:p>
            <a:pPr indent="0" marL="0">
              <a:lnSpc>
                <a:spcPct val="112000"/>
              </a:lnSpc>
              <a:buNone/>
            </a:pPr>
            <a:r>
              <a:rPr lang="en-US" sz="1000" dirty="0">
                <a:solidFill>
                  <a:srgbClr val="EFCB84"/>
                </a:solidFill>
                <a:latin typeface="Courier New" pitchFamily="34" charset="0"/>
                <a:ea typeface="Courier New" pitchFamily="34" charset="-122"/>
                <a:cs typeface="Courier New" pitchFamily="34" charset="-120"/>
              </a:rPr>
              <a:t>read src/parse.py, then failed twice to apply an Edit (old_string</a:t>
            </a:r>
            <a:endParaRPr lang="en-US" sz="1000" dirty="0"/>
          </a:p>
          <a:p>
            <a:pPr indent="0" marL="0">
              <a:lnSpc>
                <a:spcPct val="112000"/>
              </a:lnSpc>
              <a:buNone/>
            </a:pPr>
            <a:r>
              <a:rPr lang="en-US" sz="1000" dirty="0">
                <a:solidFill>
                  <a:srgbClr val="EFCB84"/>
                </a:solidFill>
                <a:latin typeface="Courier New" pitchFamily="34" charset="0"/>
                <a:ea typeface="Courier New" pitchFamily="34" charset="-122"/>
                <a:cs typeface="Courier New" pitchFamily="34" charset="-120"/>
              </a:rPr>
              <a:t>mismatch — whitespace). The diagnosis (strip input before strptime)</a:t>
            </a:r>
            <a:endParaRPr lang="en-US" sz="1000" dirty="0"/>
          </a:p>
          <a:p>
            <a:pPr indent="0" marL="0">
              <a:lnSpc>
                <a:spcPct val="112000"/>
              </a:lnSpc>
              <a:buNone/>
            </a:pPr>
            <a:r>
              <a:rPr lang="en-US" sz="1000" dirty="0">
                <a:solidFill>
                  <a:srgbClr val="EFCB84"/>
                </a:solidFill>
                <a:latin typeface="Courier New" pitchFamily="34" charset="0"/>
                <a:ea typeface="Courier New" pitchFamily="34" charset="-122"/>
                <a:cs typeface="Courier New" pitchFamily="34" charset="-120"/>
              </a:rPr>
              <a:t>may be correct; the edit was not.</a:t>
            </a:r>
            <a:endParaRPr lang="en-US" sz="1000" dirty="0"/>
          </a:p>
        </p:txBody>
      </p:sp>
      <p:sp>
        <p:nvSpPr>
          <p:cNvPr id="33" name="Text 30"/>
          <p:cNvSpPr/>
          <p:nvPr/>
        </p:nvSpPr>
        <p:spPr>
          <a:xfrm>
            <a:off x="594360" y="4983480"/>
            <a:ext cx="4572000" cy="256032"/>
          </a:xfrm>
          <a:prstGeom prst="rect">
            <a:avLst/>
          </a:prstGeom>
          <a:noFill/>
          <a:ln/>
        </p:spPr>
        <p:txBody>
          <a:bodyPr wrap="square" lIns="0" tIns="0" rIns="0" bIns="0" rtlCol="0" anchor="t"/>
          <a:lstStyle/>
          <a:p>
            <a:pPr algn="l" indent="0" marL="0">
              <a:buNone/>
            </a:pPr>
            <a:r>
              <a:rPr lang="en-US" sz="950" i="1" dirty="0">
                <a:solidFill>
                  <a:srgbClr val="93A1B1"/>
                </a:solidFill>
                <a:latin typeface="Calibri" pitchFamily="34" charset="0"/>
                <a:ea typeface="Calibri" pitchFamily="34" charset="-122"/>
                <a:cs typeface="Calibri" pitchFamily="34" charset="-120"/>
              </a:rPr>
              <a:t>the 3-line failure note, verbatim from S3</a:t>
            </a:r>
            <a:endParaRPr lang="en-US" sz="950" dirty="0"/>
          </a:p>
        </p:txBody>
      </p:sp>
      <p:sp>
        <p:nvSpPr>
          <p:cNvPr id="34" name="Shape 31"/>
          <p:cNvSpPr/>
          <p:nvPr/>
        </p:nvSpPr>
        <p:spPr>
          <a:xfrm>
            <a:off x="7635240" y="3611880"/>
            <a:ext cx="4023360" cy="1325880"/>
          </a:xfrm>
          <a:prstGeom prst="roundRect">
            <a:avLst>
              <a:gd name="adj" fmla="val 4828"/>
            </a:avLst>
          </a:prstGeom>
          <a:solidFill>
            <a:srgbClr val="E3F1EA"/>
          </a:solidFill>
          <a:ln/>
          <a:effectLst>
            <a:outerShdw sx="100000" sy="100000" kx="0" ky="0" algn="bl" rotWithShape="0" blurRad="88900" dist="25400" dir="2700000">
              <a:srgbClr val="1F2A3D">
                <a:alpha val="14000"/>
              </a:srgbClr>
            </a:outerShdw>
          </a:effectLst>
        </p:spPr>
      </p:sp>
      <p:sp>
        <p:nvSpPr>
          <p:cNvPr id="35" name="Text 32"/>
          <p:cNvSpPr/>
          <p:nvPr/>
        </p:nvSpPr>
        <p:spPr>
          <a:xfrm>
            <a:off x="7872984" y="3794760"/>
            <a:ext cx="3566160" cy="1005840"/>
          </a:xfrm>
          <a:prstGeom prst="rect">
            <a:avLst/>
          </a:prstGeom>
          <a:noFill/>
          <a:ln/>
        </p:spPr>
        <p:txBody>
          <a:bodyPr wrap="square" lIns="0" tIns="0" rIns="0" bIns="0" rtlCol="0" anchor="t"/>
          <a:lstStyle/>
          <a:p>
            <a:pPr algn="l" indent="0" marL="0">
              <a:lnSpc>
                <a:spcPct val="112000"/>
              </a:lnSpc>
              <a:buNone/>
            </a:pPr>
            <a:r>
              <a:rPr lang="en-US" sz="1100" b="1" dirty="0">
                <a:solidFill>
                  <a:srgbClr val="1F2A3D"/>
                </a:solidFill>
                <a:latin typeface="Calibri" pitchFamily="34" charset="0"/>
                <a:ea typeface="Calibri" pitchFamily="34" charset="-122"/>
                <a:cs typeface="Calibri" pitchFamily="34" charset="-120"/>
              </a:rPr>
              <a:t>Outcome (S3):  </a:t>
            </a:r>
            <a:pPr algn="l" indent="0" marL="0">
              <a:lnSpc>
                <a:spcPct val="112000"/>
              </a:lnSpc>
              <a:buNone/>
            </a:pPr>
            <a:r>
              <a:rPr lang="en-US" sz="1050" dirty="0">
                <a:solidFill>
                  <a:srgbClr val="5D6B7E"/>
                </a:solidFill>
                <a:latin typeface="Calibri" pitchFamily="34" charset="0"/>
                <a:ea typeface="Calibri" pitchFamily="34" charset="-122"/>
                <a:cs typeface="Calibri" pitchFamily="34" charset="-120"/>
              </a:rPr>
              <a:t>frontier re-reads the file, lands the edit on attempt 1, pytest ✓. Episode now sticky on frontier.</a:t>
            </a:r>
            <a:endParaRPr lang="en-US" sz="1100" dirty="0"/>
          </a:p>
        </p:txBody>
      </p:sp>
      <p:sp>
        <p:nvSpPr>
          <p:cNvPr id="36" name="Shape 33"/>
          <p:cNvSpPr/>
          <p:nvPr/>
        </p:nvSpPr>
        <p:spPr>
          <a:xfrm>
            <a:off x="548640" y="5349240"/>
            <a:ext cx="11091672" cy="960120"/>
          </a:xfrm>
          <a:prstGeom prst="roundRect">
            <a:avLst>
              <a:gd name="adj" fmla="val 6667"/>
            </a:avLst>
          </a:prstGeom>
          <a:solidFill>
            <a:srgbClr val="F9E7E4"/>
          </a:solidFill>
          <a:ln/>
          <a:effectLst>
            <a:outerShdw sx="100000" sy="100000" kx="0" ky="0" algn="bl" rotWithShape="0" blurRad="88900" dist="25400" dir="2700000">
              <a:srgbClr val="1F2A3D">
                <a:alpha val="14000"/>
              </a:srgbClr>
            </a:outerShdw>
          </a:effectLst>
        </p:spPr>
      </p:sp>
      <p:sp>
        <p:nvSpPr>
          <p:cNvPr id="37" name="Text 34"/>
          <p:cNvSpPr/>
          <p:nvPr/>
        </p:nvSpPr>
        <p:spPr>
          <a:xfrm>
            <a:off x="822960" y="5504688"/>
            <a:ext cx="10515600" cy="685800"/>
          </a:xfrm>
          <a:prstGeom prst="rect">
            <a:avLst/>
          </a:prstGeom>
          <a:noFill/>
          <a:ln/>
        </p:spPr>
        <p:txBody>
          <a:bodyPr wrap="square" lIns="0" tIns="0" rIns="0" bIns="0" rtlCol="0" anchor="t"/>
          <a:lstStyle/>
          <a:p>
            <a:pPr algn="l" indent="0" marL="0">
              <a:lnSpc>
                <a:spcPct val="112000"/>
              </a:lnSpc>
              <a:buNone/>
            </a:pPr>
            <a:r>
              <a:rPr lang="en-US" sz="1200" b="1" dirty="0">
                <a:solidFill>
                  <a:srgbClr val="1F2A3D"/>
                </a:solidFill>
                <a:latin typeface="Calibri" pitchFamily="34" charset="0"/>
                <a:ea typeface="Calibri" pitchFamily="34" charset="-122"/>
                <a:cs typeface="Calibri" pitchFamily="34" charset="-120"/>
              </a:rPr>
              <a:t>⚠ The scrub is a standing transform, not a one-shot.  </a:t>
            </a:r>
            <a:pPr algn="l" indent="0" marL="0">
              <a:lnSpc>
                <a:spcPct val="112000"/>
              </a:lnSpc>
              <a:buNone/>
            </a:pPr>
            <a:r>
              <a:rPr lang="en-US" sz="1100" dirty="0">
                <a:solidFill>
                  <a:srgbClr val="5D6B7E"/>
                </a:solidFill>
                <a:latin typeface="Calibri" pitchFamily="34" charset="0"/>
                <a:ea typeface="Calibri" pitchFamily="34" charset="-122"/>
                <a:cs typeface="Calibri" pitchFamily="34" charset="-120"/>
              </a:rPr>
              <a:t>The harness's client-side transcript still holds local-era artifacts and replays them in EVERY subsequent request — so tool_id_map lives in session state and the scrubber re-runs until the episode ends. A one-shot rebuild 400s on the very next continuation.</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PART 3 · ESCALATION · EXAMPLE</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The grep loop: valid actions, zero progress (S4)</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scenario S4 · design doc §5.5</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24</a:t>
            </a:r>
            <a:endParaRPr lang="en-US" sz="900" dirty="0"/>
          </a:p>
        </p:txBody>
      </p:sp>
      <p:sp>
        <p:nvSpPr>
          <p:cNvPr id="7" name="Shape 4"/>
          <p:cNvSpPr/>
          <p:nvPr/>
        </p:nvSpPr>
        <p:spPr>
          <a:xfrm>
            <a:off x="548640" y="1417320"/>
            <a:ext cx="6858000" cy="2743200"/>
          </a:xfrm>
          <a:prstGeom prst="roundRect">
            <a:avLst>
              <a:gd name="adj" fmla="val 2333"/>
            </a:avLst>
          </a:prstGeom>
          <a:solidFill>
            <a:srgbClr val="101D31"/>
          </a:solidFill>
          <a:ln/>
          <a:effectLst>
            <a:outerShdw sx="100000" sy="100000" kx="0" ky="0" algn="bl" rotWithShape="0" blurRad="88900" dist="25400" dir="2700000">
              <a:srgbClr val="1F2A3D">
                <a:alpha val="14000"/>
              </a:srgbClr>
            </a:outerShdw>
          </a:effectLst>
        </p:spPr>
      </p:sp>
      <p:sp>
        <p:nvSpPr>
          <p:cNvPr id="8" name="Text 5"/>
          <p:cNvSpPr/>
          <p:nvPr/>
        </p:nvSpPr>
        <p:spPr>
          <a:xfrm>
            <a:off x="749808" y="1563624"/>
            <a:ext cx="6455664" cy="2450592"/>
          </a:xfrm>
          <a:prstGeom prst="rect">
            <a:avLst/>
          </a:prstGeom>
          <a:noFill/>
          <a:ln/>
        </p:spPr>
        <p:txBody>
          <a:bodyPr wrap="square" lIns="0" tIns="0" rIns="0" bIns="0" rtlCol="0" anchor="ctr"/>
          <a:lstStyle/>
          <a:p>
            <a:pPr indent="0" marL="0">
              <a:lnSpc>
                <a:spcPct val="112000"/>
              </a:lnSpc>
              <a:buNone/>
            </a:pPr>
            <a:r>
              <a:rPr lang="en-US" sz="1050" dirty="0">
                <a:solidFill>
                  <a:srgbClr val="D9E4F3"/>
                </a:solidFill>
                <a:latin typeface="Courier New" pitchFamily="34" charset="0"/>
                <a:ea typeface="Courier New" pitchFamily="34" charset="-122"/>
                <a:cs typeface="Courier New" pitchFamily="34" charset="-120"/>
              </a:rPr>
              <a:t>req 2  ← Grep {pattern:"RateLimiter", path:"src/"}   → 14 matches</a:t>
            </a:r>
            <a:endParaRPr lang="en-US" sz="1050" dirty="0"/>
          </a:p>
          <a:p>
            <a:pPr indent="0" marL="0">
              <a:lnSpc>
                <a:spcPct val="112000"/>
              </a:lnSpc>
              <a:buNone/>
            </a:pPr>
            <a:r>
              <a:rPr lang="en-US" sz="1050" dirty="0">
                <a:solidFill>
                  <a:srgbClr val="EFCB84"/>
                </a:solidFill>
                <a:latin typeface="Courier New" pitchFamily="34" charset="0"/>
                <a:ea typeface="Courier New" pitchFamily="34" charset="-122"/>
                <a:cs typeface="Courier New" pitchFamily="34" charset="-120"/>
              </a:rPr>
              <a:t>req 3  ← Grep {pattern:"RateLimiter", path:"src"}    → same 14</a:t>
            </a:r>
            <a:endParaRPr lang="en-US" sz="1050" dirty="0"/>
          </a:p>
          <a:p>
            <a:pPr indent="0" marL="0">
              <a:lnSpc>
                <a:spcPct val="112000"/>
              </a:lnSpc>
              <a:buNone/>
            </a:pPr>
            <a:r>
              <a:rPr lang="en-US" sz="1050" dirty="0">
                <a:solidFill>
                  <a:srgbClr val="EFCB84"/>
                </a:solidFill>
                <a:latin typeface="Courier New" pitchFamily="34" charset="0"/>
                <a:ea typeface="Courier New" pitchFamily="34" charset="-122"/>
                <a:cs typeface="Courier New" pitchFamily="34" charset="-120"/>
              </a:rPr>
              <a:t>req 4  ← Grep {pattern:"RateLimiter",  path:"src/"}  → same again</a:t>
            </a:r>
            <a:endParaRPr lang="en-US" sz="1050" dirty="0"/>
          </a:p>
          <a:p>
            <a:pPr indent="0" marL="0">
              <a:lnSpc>
                <a:spcPct val="112000"/>
              </a:lnSpc>
              <a:buNone/>
            </a:pPr>
            <a:r>
              <a:rPr lang="en-US" sz="1050" b="1" dirty="0">
                <a:solidFill>
                  <a:srgbClr val="F2A69E"/>
                </a:solidFill>
                <a:latin typeface="Courier New" pitchFamily="34" charset="0"/>
                <a:ea typeface="Courier New" pitchFamily="34" charset="-122"/>
                <a:cs typeface="Courier New" pitchFamily="34" charset="-120"/>
              </a:rPr>
              <a:t>  ROUTER  identical-call strike = 3  →  ⚡ TRIP-WIRE</a:t>
            </a:r>
            <a:endParaRPr lang="en-US" sz="1050" dirty="0"/>
          </a:p>
          <a:p>
            <a:pPr indent="0" marL="0">
              <a:lnSpc>
                <a:spcPct val="112000"/>
              </a:lnSpc>
              <a:buNone/>
            </a:pPr>
            <a:r>
              <a:rPr lang="en-US" sz="1050" dirty="0">
                <a:solidFill>
                  <a:srgbClr val="D9E4F3"/>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dirty="0">
                <a:solidFill>
                  <a:srgbClr val="9CC3EC"/>
                </a:solidFill>
                <a:latin typeface="Courier New" pitchFamily="34" charset="0"/>
                <a:ea typeface="Courier New" pitchFamily="34" charset="-122"/>
                <a:cs typeface="Courier New" pitchFamily="34" charset="-120"/>
              </a:rPr>
              <a:t># not byte-identical — trailing slash, whitespace. Canonicalize:</a:t>
            </a:r>
            <a:endParaRPr lang="en-US" sz="1050" dirty="0"/>
          </a:p>
          <a:p>
            <a:pPr indent="0" marL="0">
              <a:lnSpc>
                <a:spcPct val="112000"/>
              </a:lnSpc>
              <a:buNone/>
            </a:pPr>
            <a:r>
              <a:rPr lang="en-US" sz="1050" dirty="0">
                <a:solidFill>
                  <a:srgbClr val="8ED6AC"/>
                </a:solidFill>
                <a:latin typeface="Courier New" pitchFamily="34" charset="0"/>
                <a:ea typeface="Courier New" pitchFamily="34" charset="-122"/>
                <a:cs typeface="Courier New" pitchFamily="34" charset="-120"/>
              </a:rPr>
              <a:t>hash(tool_name + json.dumps(args, sort_keys=True,</a:t>
            </a:r>
            <a:endParaRPr lang="en-US" sz="1050" dirty="0"/>
          </a:p>
          <a:p>
            <a:pPr indent="0" marL="0">
              <a:lnSpc>
                <a:spcPct val="112000"/>
              </a:lnSpc>
              <a:buNone/>
            </a:pPr>
            <a:r>
              <a:rPr lang="en-US" sz="1050" dirty="0">
                <a:solidFill>
                  <a:srgbClr val="8ED6AC"/>
                </a:solidFill>
                <a:latin typeface="Courier New" pitchFamily="34" charset="0"/>
                <a:ea typeface="Courier New" pitchFamily="34" charset="-122"/>
                <a:cs typeface="Courier New" pitchFamily="34" charset="-120"/>
              </a:rPr>
              <a:t>                            normalized_paths=True))</a:t>
            </a:r>
            <a:endParaRPr lang="en-US" sz="1050" dirty="0"/>
          </a:p>
        </p:txBody>
      </p:sp>
      <p:sp>
        <p:nvSpPr>
          <p:cNvPr id="9" name="Shape 6"/>
          <p:cNvSpPr/>
          <p:nvPr/>
        </p:nvSpPr>
        <p:spPr>
          <a:xfrm>
            <a:off x="7772400" y="1417320"/>
            <a:ext cx="3886200" cy="2743200"/>
          </a:xfrm>
          <a:prstGeom prst="roundRect">
            <a:avLst>
              <a:gd name="adj" fmla="val 2333"/>
            </a:avLst>
          </a:prstGeom>
          <a:solidFill>
            <a:srgbClr val="F3F6F9"/>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0" name="Text 7"/>
          <p:cNvSpPr/>
          <p:nvPr/>
        </p:nvSpPr>
        <p:spPr>
          <a:xfrm>
            <a:off x="8010144" y="1600200"/>
            <a:ext cx="3410712" cy="502920"/>
          </a:xfrm>
          <a:prstGeom prst="rect">
            <a:avLst/>
          </a:prstGeom>
          <a:noFill/>
          <a:ln/>
        </p:spPr>
        <p:txBody>
          <a:bodyPr wrap="square" lIns="0" tIns="0" rIns="0" bIns="0" rtlCol="0" anchor="t"/>
          <a:lstStyle/>
          <a:p>
            <a:pPr algn="l" indent="0" marL="0">
              <a:buNone/>
            </a:pPr>
            <a:r>
              <a:rPr lang="en-US" sz="1250" b="1" dirty="0">
                <a:solidFill>
                  <a:srgbClr val="1F2A3D"/>
                </a:solidFill>
                <a:latin typeface="Calibri" pitchFamily="34" charset="0"/>
                <a:ea typeface="Calibri" pitchFamily="34" charset="-122"/>
                <a:cs typeface="Calibri" pitchFamily="34" charset="-120"/>
              </a:rPr>
              <a:t>The backstop: no-progress counter</a:t>
            </a:r>
            <a:endParaRPr lang="en-US" sz="1250" dirty="0"/>
          </a:p>
        </p:txBody>
      </p:sp>
      <p:sp>
        <p:nvSpPr>
          <p:cNvPr id="11" name="Text 8"/>
          <p:cNvSpPr/>
          <p:nvPr/>
        </p:nvSpPr>
        <p:spPr>
          <a:xfrm>
            <a:off x="8010144" y="2103120"/>
            <a:ext cx="3410712" cy="1463040"/>
          </a:xfrm>
          <a:prstGeom prst="rect">
            <a:avLst/>
          </a:prstGeom>
          <a:noFill/>
          <a:ln/>
        </p:spPr>
        <p:txBody>
          <a:bodyPr wrap="square" lIns="0" tIns="0" rIns="0" bIns="0" rtlCol="0" anchor="t"/>
          <a:lstStyle/>
          <a:p>
            <a:pPr algn="l" indent="0" marL="0">
              <a:lnSpc>
                <a:spcPct val="112000"/>
              </a:lnSpc>
              <a:buNone/>
            </a:pPr>
            <a:r>
              <a:rPr lang="en-US" sz="1050" dirty="0">
                <a:solidFill>
                  <a:srgbClr val="5D6B7E"/>
                </a:solidFill>
                <a:latin typeface="Calibri" pitchFamily="34" charset="0"/>
                <a:ea typeface="Calibri" pitchFamily="34" charset="-122"/>
                <a:cs typeface="Calibri" pitchFamily="34" charset="-120"/>
              </a:rPr>
              <a:t>Across the last 6 actions: no file read that wasn't read before, no diff advanced, no new command-output hash → fire. Catches the subtler spiral: two greps and a read, alternating forever.</a:t>
            </a:r>
            <a:endParaRPr lang="en-US" sz="1050" dirty="0"/>
          </a:p>
        </p:txBody>
      </p:sp>
      <p:sp>
        <p:nvSpPr>
          <p:cNvPr id="12" name="Text 9"/>
          <p:cNvSpPr/>
          <p:nvPr/>
        </p:nvSpPr>
        <p:spPr>
          <a:xfrm>
            <a:off x="8010144" y="3520440"/>
            <a:ext cx="3410712" cy="548640"/>
          </a:xfrm>
          <a:prstGeom prst="rect">
            <a:avLst/>
          </a:prstGeom>
          <a:noFill/>
          <a:ln/>
        </p:spPr>
        <p:txBody>
          <a:bodyPr wrap="square" lIns="0" tIns="0" rIns="0" bIns="0" rtlCol="0" anchor="t"/>
          <a:lstStyle/>
          <a:p>
            <a:pPr algn="l" indent="0" marL="0">
              <a:lnSpc>
                <a:spcPct val="110000"/>
              </a:lnSpc>
              <a:buNone/>
            </a:pPr>
            <a:r>
              <a:rPr lang="en-US" sz="950" i="1" dirty="0">
                <a:solidFill>
                  <a:srgbClr val="93A1B1"/>
                </a:solidFill>
                <a:latin typeface="Calibri" pitchFamily="34" charset="0"/>
                <a:ea typeface="Calibri" pitchFamily="34" charset="-122"/>
                <a:cs typeface="Calibri" pitchFamily="34" charset="-120"/>
              </a:rPr>
              <a:t>Escalation note: “attempted repeated identical searches; no hypothesis formed.”</a:t>
            </a:r>
            <a:endParaRPr lang="en-US" sz="950" dirty="0"/>
          </a:p>
        </p:txBody>
      </p:sp>
      <p:sp>
        <p:nvSpPr>
          <p:cNvPr id="13" name="Shape 10"/>
          <p:cNvSpPr/>
          <p:nvPr/>
        </p:nvSpPr>
        <p:spPr>
          <a:xfrm>
            <a:off x="548640" y="4434840"/>
            <a:ext cx="11091672" cy="1691640"/>
          </a:xfrm>
          <a:prstGeom prst="roundRect">
            <a:avLst>
              <a:gd name="adj" fmla="val 3784"/>
            </a:avLst>
          </a:prstGeom>
          <a:solidFill>
            <a:srgbClr val="E4EEF6"/>
          </a:solidFill>
          <a:ln/>
          <a:effectLst>
            <a:outerShdw sx="100000" sy="100000" kx="0" ky="0" algn="bl" rotWithShape="0" blurRad="88900" dist="25400" dir="2700000">
              <a:srgbClr val="1F2A3D">
                <a:alpha val="14000"/>
              </a:srgbClr>
            </a:outerShdw>
          </a:effectLst>
        </p:spPr>
      </p:sp>
      <p:sp>
        <p:nvSpPr>
          <p:cNvPr id="14" name="Shape 11"/>
          <p:cNvSpPr/>
          <p:nvPr/>
        </p:nvSpPr>
        <p:spPr>
          <a:xfrm>
            <a:off x="822960" y="4709160"/>
            <a:ext cx="502920" cy="502920"/>
          </a:xfrm>
          <a:prstGeom prst="ellipse">
            <a:avLst/>
          </a:prstGeom>
          <a:solidFill>
            <a:srgbClr val="1D6FA5"/>
          </a:solidFill>
          <a:ln/>
        </p:spPr>
      </p:sp>
      <p:pic>
        <p:nvPicPr>
          <p:cNvPr id="15" name="Image 0" descr="preencoded.png">    </p:cNvPr>
          <p:cNvPicPr>
            <a:picLocks noChangeAspect="1"/>
          </p:cNvPicPr>
          <p:nvPr/>
        </p:nvPicPr>
        <p:blipFill>
          <a:blip r:embed="rId1"/>
          <a:stretch>
            <a:fillRect/>
          </a:stretch>
        </p:blipFill>
        <p:spPr>
          <a:xfrm>
            <a:off x="953719" y="4839919"/>
            <a:ext cx="241402" cy="241402"/>
          </a:xfrm>
          <a:prstGeom prst="rect">
            <a:avLst/>
          </a:prstGeom>
        </p:spPr>
      </p:pic>
      <p:sp>
        <p:nvSpPr>
          <p:cNvPr id="16" name="Text 12"/>
          <p:cNvSpPr/>
          <p:nvPr/>
        </p:nvSpPr>
        <p:spPr>
          <a:xfrm>
            <a:off x="1554480" y="4681728"/>
            <a:ext cx="9784080" cy="1280160"/>
          </a:xfrm>
          <a:prstGeom prst="rect">
            <a:avLst/>
          </a:prstGeom>
          <a:noFill/>
          <a:ln/>
        </p:spPr>
        <p:txBody>
          <a:bodyPr wrap="square" lIns="0" tIns="0" rIns="0" bIns="0" rtlCol="0" anchor="t"/>
          <a:lstStyle/>
          <a:p>
            <a:pPr algn="l" indent="0" marL="0">
              <a:lnSpc>
                <a:spcPct val="115000"/>
              </a:lnSpc>
              <a:buNone/>
            </a:pPr>
            <a:r>
              <a:rPr lang="en-US" sz="1300" b="1" dirty="0">
                <a:solidFill>
                  <a:srgbClr val="1F2A3D"/>
                </a:solidFill>
                <a:latin typeface="Calibri" pitchFamily="34" charset="0"/>
                <a:ea typeface="Calibri" pitchFamily="34" charset="-122"/>
                <a:cs typeface="Calibri" pitchFamily="34" charset="-120"/>
              </a:rPr>
              <a:t>Every action was schema-valid — a per-request validator would have said “all good.”</a:t>
            </a:r>
            <a:endParaRPr lang="en-US" sz="1300" dirty="0"/>
          </a:p>
          <a:p>
            <a:pPr algn="l" indent="0" marL="0">
              <a:lnSpc>
                <a:spcPct val="115000"/>
              </a:lnSpc>
              <a:buNone/>
            </a:pPr>
            <a:r>
              <a:rPr lang="en-US" sz="1150" dirty="0">
                <a:solidFill>
                  <a:srgbClr val="5D6B7E"/>
                </a:solidFill>
                <a:latin typeface="Calibri" pitchFamily="34" charset="0"/>
                <a:ea typeface="Calibri" pitchFamily="34" charset="-122"/>
                <a:cs typeface="Calibri" pitchFamily="34" charset="-120"/>
              </a:rPr>
              <a:t>Progress is a trajectory property. You cannot detect a loop if you can't remember the last request — this trip-wire is the single best argument for session state (Part 5).</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PART 3 · ESCALATION · EXAMPLE</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The malformed tool call: dialect failure ≠ task difficulty (S5)</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scenario S5 · design doc §12</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25</a:t>
            </a:r>
            <a:endParaRPr lang="en-US" sz="900" dirty="0"/>
          </a:p>
        </p:txBody>
      </p:sp>
      <p:sp>
        <p:nvSpPr>
          <p:cNvPr id="7" name="Shape 4"/>
          <p:cNvSpPr/>
          <p:nvPr/>
        </p:nvSpPr>
        <p:spPr>
          <a:xfrm>
            <a:off x="548640" y="1417320"/>
            <a:ext cx="6858000" cy="2286000"/>
          </a:xfrm>
          <a:prstGeom prst="roundRect">
            <a:avLst>
              <a:gd name="adj" fmla="val 2800"/>
            </a:avLst>
          </a:prstGeom>
          <a:solidFill>
            <a:srgbClr val="101D31"/>
          </a:solidFill>
          <a:ln/>
          <a:effectLst>
            <a:outerShdw sx="100000" sy="100000" kx="0" ky="0" algn="bl" rotWithShape="0" blurRad="88900" dist="25400" dir="2700000">
              <a:srgbClr val="1F2A3D">
                <a:alpha val="14000"/>
              </a:srgbClr>
            </a:outerShdw>
          </a:effectLst>
        </p:spPr>
      </p:sp>
      <p:sp>
        <p:nvSpPr>
          <p:cNvPr id="8" name="Text 5"/>
          <p:cNvSpPr/>
          <p:nvPr/>
        </p:nvSpPr>
        <p:spPr>
          <a:xfrm>
            <a:off x="749808" y="1563624"/>
            <a:ext cx="6455664" cy="1993392"/>
          </a:xfrm>
          <a:prstGeom prst="rect">
            <a:avLst/>
          </a:prstGeom>
          <a:noFill/>
          <a:ln/>
        </p:spPr>
        <p:txBody>
          <a:bodyPr wrap="square" lIns="0" tIns="0" rIns="0" bIns="0" rtlCol="0" anchor="ctr"/>
          <a:lstStyle/>
          <a:p>
            <a:pPr indent="0" marL="0">
              <a:lnSpc>
                <a:spcPct val="112000"/>
              </a:lnSpc>
              <a:buNone/>
            </a:pPr>
            <a:r>
              <a:rPr lang="en-US" sz="1000" dirty="0">
                <a:solidFill>
                  <a:srgbClr val="9CC3EC"/>
                </a:solidFill>
                <a:latin typeface="Courier New" pitchFamily="34" charset="0"/>
                <a:ea typeface="Courier New" pitchFamily="34" charset="-122"/>
                <a:cs typeface="Courier New" pitchFamily="34" charset="-120"/>
              </a:rPr>
              <a:t>// assistant message content — the tool call came back as TEXT:</a:t>
            </a:r>
            <a:endParaRPr lang="en-US" sz="1000" dirty="0"/>
          </a:p>
          <a:p>
            <a:pPr indent="0" marL="0">
              <a:lnSpc>
                <a:spcPct val="112000"/>
              </a:lnSpc>
              <a:buNone/>
            </a:pPr>
            <a:r>
              <a:rPr lang="en-US" sz="1000" dirty="0">
                <a:solidFill>
                  <a:srgbClr val="D9E4F3"/>
                </a:solidFill>
                <a:latin typeface="Courier New" pitchFamily="34" charset="0"/>
                <a:ea typeface="Courier New" pitchFamily="34" charset="-122"/>
                <a:cs typeface="Courier New" pitchFamily="34" charset="-120"/>
              </a:rPr>
              <a:t>[{"type":"text","text":"I'll read the CLI entrypoint first.\n</a:t>
            </a:r>
            <a:endParaRPr lang="en-US" sz="1000" dirty="0"/>
          </a:p>
          <a:p>
            <a:pPr indent="0" marL="0">
              <a:lnSpc>
                <a:spcPct val="112000"/>
              </a:lnSpc>
              <a:buNone/>
            </a:pPr>
            <a:r>
              <a:rPr lang="en-US" sz="1000" b="1" dirty="0">
                <a:solidFill>
                  <a:srgbClr val="F2A69E"/>
                </a:solidFill>
                <a:latin typeface="Courier New" pitchFamily="34" charset="0"/>
                <a:ea typeface="Courier New" pitchFamily="34" charset="-122"/>
                <a:cs typeface="Courier New" pitchFamily="34" charset="-120"/>
              </a:rPr>
              <a:t>  &lt;tool_call&gt;{\"name\":\"Read\",\"arguments\":{…}}&lt;/tool_call&gt;"}]</a:t>
            </a:r>
            <a:endParaRPr lang="en-US" sz="1000" dirty="0"/>
          </a:p>
          <a:p>
            <a:pPr indent="0" marL="0">
              <a:lnSpc>
                <a:spcPct val="112000"/>
              </a:lnSpc>
              <a:buNone/>
            </a:pPr>
            <a:r>
              <a:rPr lang="en-US" sz="1000" dirty="0">
                <a:solidFill>
                  <a:srgbClr val="D9E4F3"/>
                </a:solidFill>
                <a:latin typeface="Courier New" pitchFamily="34" charset="0"/>
                <a:ea typeface="Courier New" pitchFamily="34" charset="-122"/>
                <a:cs typeface="Courier New" pitchFamily="34" charset="-120"/>
              </a:rPr>
              <a:t> </a:t>
            </a:r>
            <a:endParaRPr lang="en-US" sz="1000" dirty="0"/>
          </a:p>
          <a:p>
            <a:pPr indent="0" marL="0">
              <a:lnSpc>
                <a:spcPct val="112000"/>
              </a:lnSpc>
              <a:buNone/>
            </a:pPr>
            <a:r>
              <a:rPr lang="en-US" sz="1000" dirty="0">
                <a:solidFill>
                  <a:srgbClr val="9CC3EC"/>
                </a:solidFill>
                <a:latin typeface="Courier New" pitchFamily="34" charset="0"/>
                <a:ea typeface="Courier New" pitchFamily="34" charset="-122"/>
                <a:cs typeface="Courier New" pitchFamily="34" charset="-120"/>
              </a:rPr>
              <a:t># template didn't map native tool tokens → OpenAI tool_calls field</a:t>
            </a:r>
            <a:endParaRPr lang="en-US" sz="1000" dirty="0"/>
          </a:p>
          <a:p>
            <a:pPr indent="0" marL="0">
              <a:lnSpc>
                <a:spcPct val="112000"/>
              </a:lnSpc>
              <a:buNone/>
            </a:pPr>
            <a:r>
              <a:rPr lang="en-US" sz="1000" dirty="0">
                <a:solidFill>
                  <a:srgbClr val="EFCB84"/>
                </a:solidFill>
                <a:latin typeface="Courier New" pitchFamily="34" charset="0"/>
                <a:ea typeface="Courier New" pitchFamily="34" charset="-122"/>
                <a:cs typeface="Courier New" pitchFamily="34" charset="-120"/>
              </a:rPr>
              <a:t># harness sees talk-but-no-action → nudges → same again → 2 strikes ⚡</a:t>
            </a:r>
            <a:endParaRPr lang="en-US" sz="1000" dirty="0"/>
          </a:p>
        </p:txBody>
      </p:sp>
      <p:sp>
        <p:nvSpPr>
          <p:cNvPr id="9" name="Shape 6"/>
          <p:cNvSpPr/>
          <p:nvPr/>
        </p:nvSpPr>
        <p:spPr>
          <a:xfrm>
            <a:off x="7772400" y="1417320"/>
            <a:ext cx="3886200" cy="2286000"/>
          </a:xfrm>
          <a:prstGeom prst="roundRect">
            <a:avLst>
              <a:gd name="adj" fmla="val 2800"/>
            </a:avLst>
          </a:prstGeom>
          <a:solidFill>
            <a:srgbClr val="F3F6F9"/>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0" name="Text 7"/>
          <p:cNvSpPr/>
          <p:nvPr/>
        </p:nvSpPr>
        <p:spPr>
          <a:xfrm>
            <a:off x="8010144" y="1581912"/>
            <a:ext cx="3410712" cy="292608"/>
          </a:xfrm>
          <a:prstGeom prst="rect">
            <a:avLst/>
          </a:prstGeom>
          <a:noFill/>
          <a:ln/>
        </p:spPr>
        <p:txBody>
          <a:bodyPr wrap="square" lIns="0" tIns="0" rIns="0" bIns="0" rtlCol="0" anchor="t"/>
          <a:lstStyle/>
          <a:p>
            <a:pPr algn="l" indent="0" marL="0">
              <a:buNone/>
            </a:pPr>
            <a:r>
              <a:rPr lang="en-US" sz="1250" b="1" dirty="0">
                <a:solidFill>
                  <a:srgbClr val="1F2A3D"/>
                </a:solidFill>
                <a:latin typeface="Calibri" pitchFamily="34" charset="0"/>
                <a:ea typeface="Calibri" pitchFamily="34" charset="-122"/>
                <a:cs typeface="Calibri" pitchFamily="34" charset="-120"/>
              </a:rPr>
              <a:t>Where the outcome goes</a:t>
            </a:r>
            <a:endParaRPr lang="en-US" sz="1250" dirty="0"/>
          </a:p>
        </p:txBody>
      </p:sp>
      <p:sp>
        <p:nvSpPr>
          <p:cNvPr id="11" name="Text 8"/>
          <p:cNvSpPr/>
          <p:nvPr/>
        </p:nvSpPr>
        <p:spPr>
          <a:xfrm>
            <a:off x="8010144" y="1920240"/>
            <a:ext cx="3410712" cy="1691640"/>
          </a:xfrm>
          <a:prstGeom prst="rect">
            <a:avLst/>
          </a:prstGeom>
          <a:noFill/>
          <a:ln/>
        </p:spPr>
        <p:txBody>
          <a:bodyPr wrap="square" lIns="0" tIns="0" rIns="0" bIns="0" rtlCol="0" anchor="t"/>
          <a:lstStyle/>
          <a:p>
            <a:pPr algn="l" indent="0" marL="0">
              <a:lnSpc>
                <a:spcPct val="118000"/>
              </a:lnSpc>
              <a:buNone/>
            </a:pPr>
            <a:r>
              <a:rPr lang="en-US" sz="1050" b="1" dirty="0">
                <a:solidFill>
                  <a:srgbClr val="1F2A3D"/>
                </a:solidFill>
                <a:latin typeface="Courier New" pitchFamily="34" charset="0"/>
                <a:ea typeface="Courier New" pitchFamily="34" charset="-122"/>
                <a:cs typeface="Courier New" pitchFamily="34" charset="-120"/>
              </a:rPr>
              <a:t>tripwire = "schema_parse"</a:t>
            </a:r>
            <a:endParaRPr lang="en-US" sz="1050" dirty="0"/>
          </a:p>
          <a:p>
            <a:pPr algn="l" indent="0" marL="0">
              <a:lnSpc>
                <a:spcPct val="118000"/>
              </a:lnSpc>
              <a:buNone/>
            </a:pPr>
            <a:r>
              <a:rPr lang="en-US" sz="1050" b="1" dirty="0">
                <a:solidFill>
                  <a:srgbClr val="B45309"/>
                </a:solidFill>
                <a:latin typeface="Calibri" pitchFamily="34" charset="0"/>
                <a:ea typeface="Calibri" pitchFamily="34" charset="-122"/>
                <a:cs typeface="Calibri" pitchFamily="34" charset="-120"/>
              </a:rPr>
              <a:t>→ REGISTRY: reliability 0.87 → 0.79</a:t>
            </a:r>
            <a:endParaRPr lang="en-US" sz="1050" dirty="0"/>
          </a:p>
          <a:p>
            <a:pPr algn="l" indent="0" marL="0">
              <a:lnSpc>
                <a:spcPct val="118000"/>
              </a:lnSpc>
              <a:buNone/>
            </a:pPr>
            <a:r>
              <a:rPr lang="en-US" sz="1050" b="1" dirty="0">
                <a:solidFill>
                  <a:srgbClr val="B3261E"/>
                </a:solidFill>
                <a:latin typeface="Calibri" pitchFamily="34" charset="0"/>
                <a:ea typeface="Calibri" pitchFamily="34" charset="-122"/>
                <a:cs typeface="Calibri" pitchFamily="34" charset="-120"/>
              </a:rPr>
              <a:t>→ EXCLUDED from difficulty training</a:t>
            </a:r>
            <a:endParaRPr lang="en-US" sz="1050" dirty="0"/>
          </a:p>
          <a:p>
            <a:pPr algn="l" indent="0" marL="0">
              <a:lnSpc>
                <a:spcPct val="118000"/>
              </a:lnSpc>
              <a:buNone/>
            </a:pPr>
            <a:r>
              <a:rPr lang="en-US" sz="1000" dirty="0">
                <a:solidFill>
                  <a:srgbClr val="5D6B7E"/>
                </a:solidFill>
                <a:latin typeface="Calibri" pitchFamily="34" charset="0"/>
                <a:ea typeface="Calibri" pitchFamily="34" charset="-122"/>
                <a:cs typeface="Calibri" pitchFamily="34" charset="-120"/>
              </a:rPr>
              <a:t>Fix is operational: repin chat template, fix --jinja mapping, drop the quant. If reliability recovers in canary evals, the rung resumes.</a:t>
            </a:r>
            <a:endParaRPr lang="en-US" sz="1050" dirty="0"/>
          </a:p>
        </p:txBody>
      </p:sp>
      <p:sp>
        <p:nvSpPr>
          <p:cNvPr id="12" name="Shape 9"/>
          <p:cNvSpPr/>
          <p:nvPr/>
        </p:nvSpPr>
        <p:spPr>
          <a:xfrm>
            <a:off x="548640" y="3977640"/>
            <a:ext cx="11091672" cy="1051560"/>
          </a:xfrm>
          <a:prstGeom prst="roundRect">
            <a:avLst>
              <a:gd name="adj" fmla="val 6087"/>
            </a:avLst>
          </a:prstGeom>
          <a:solidFill>
            <a:srgbClr val="F9E7E4"/>
          </a:solidFill>
          <a:ln/>
          <a:effectLst>
            <a:outerShdw sx="100000" sy="100000" kx="0" ky="0" algn="bl" rotWithShape="0" blurRad="88900" dist="25400" dir="2700000">
              <a:srgbClr val="1F2A3D">
                <a:alpha val="14000"/>
              </a:srgbClr>
            </a:outerShdw>
          </a:effectLst>
        </p:spPr>
      </p:sp>
      <p:sp>
        <p:nvSpPr>
          <p:cNvPr id="13" name="Text 10"/>
          <p:cNvSpPr/>
          <p:nvPr/>
        </p:nvSpPr>
        <p:spPr>
          <a:xfrm>
            <a:off x="822960" y="4160520"/>
            <a:ext cx="10515600" cy="731520"/>
          </a:xfrm>
          <a:prstGeom prst="rect">
            <a:avLst/>
          </a:prstGeom>
          <a:noFill/>
          <a:ln/>
        </p:spPr>
        <p:txBody>
          <a:bodyPr wrap="square" lIns="0" tIns="0" rIns="0" bIns="0" rtlCol="0" anchor="t"/>
          <a:lstStyle/>
          <a:p>
            <a:pPr algn="l" indent="0" marL="0">
              <a:lnSpc>
                <a:spcPct val="112000"/>
              </a:lnSpc>
              <a:buNone/>
            </a:pPr>
            <a:r>
              <a:rPr lang="en-US" sz="1200" b="1" dirty="0">
                <a:solidFill>
                  <a:srgbClr val="1F2A3D"/>
                </a:solidFill>
                <a:latin typeface="Calibri" pitchFamily="34" charset="0"/>
                <a:ea typeface="Calibri" pitchFamily="34" charset="-122"/>
                <a:cs typeface="Calibri" pitchFamily="34" charset="-120"/>
              </a:rPr>
              <a:t>The counterfactual:  </a:t>
            </a:r>
            <a:pPr algn="l" indent="0" marL="0">
              <a:lnSpc>
                <a:spcPct val="112000"/>
              </a:lnSpc>
              <a:buNone/>
            </a:pPr>
            <a:r>
              <a:rPr lang="en-US" sz="1150" dirty="0">
                <a:solidFill>
                  <a:srgbClr val="5D6B7E"/>
                </a:solidFill>
                <a:latin typeface="Calibri" pitchFamily="34" charset="0"/>
                <a:ea typeface="Calibri" pitchFamily="34" charset="-122"/>
                <a:cs typeface="Calibri" pitchFamily="34" charset="-120"/>
              </a:rPr>
              <a:t>label this “task too hard” instead, and the learned router slowly concludes that adding CLI flags requires a frontier model. Dialect failures train the registry; difficulty failures train the router.</a:t>
            </a:r>
            <a:endParaRPr lang="en-US" sz="1200" dirty="0"/>
          </a:p>
        </p:txBody>
      </p:sp>
      <p:sp>
        <p:nvSpPr>
          <p:cNvPr id="14" name="Text 11"/>
          <p:cNvSpPr/>
          <p:nvPr/>
        </p:nvSpPr>
        <p:spPr>
          <a:xfrm>
            <a:off x="548640" y="5349240"/>
            <a:ext cx="11091672" cy="457200"/>
          </a:xfrm>
          <a:prstGeom prst="rect">
            <a:avLst/>
          </a:prstGeom>
          <a:noFill/>
          <a:ln/>
        </p:spPr>
        <p:txBody>
          <a:bodyPr wrap="square" lIns="0" tIns="0" rIns="0" bIns="0" rtlCol="0" anchor="t"/>
          <a:lstStyle/>
          <a:p>
            <a:pPr algn="ctr" indent="0" marL="0">
              <a:buNone/>
            </a:pPr>
            <a:r>
              <a:rPr lang="en-US" sz="1500" i="1" dirty="0">
                <a:solidFill>
                  <a:srgbClr val="1F2A3D"/>
                </a:solidFill>
                <a:latin typeface="Cambria" pitchFamily="34" charset="0"/>
                <a:ea typeface="Cambria" pitchFamily="34" charset="-122"/>
                <a:cs typeface="Cambria" pitchFamily="34" charset="-120"/>
              </a:rPr>
              <a:t>“One tripwire enum field is the difference between a flywheel and a garbage compactor.”</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PART 3 · ESCALATION · EXAMPLE</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Esc — the user rephrases, and that outranks everything (S6)</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scenario S6 · design doc §5.5, §5.7</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26</a:t>
            </a:r>
            <a:endParaRPr lang="en-US" sz="900" dirty="0"/>
          </a:p>
        </p:txBody>
      </p:sp>
      <p:sp>
        <p:nvSpPr>
          <p:cNvPr id="7" name="Shape 4"/>
          <p:cNvSpPr/>
          <p:nvPr/>
        </p:nvSpPr>
        <p:spPr>
          <a:xfrm>
            <a:off x="548640" y="1417320"/>
            <a:ext cx="6858000" cy="3017520"/>
          </a:xfrm>
          <a:prstGeom prst="roundRect">
            <a:avLst>
              <a:gd name="adj" fmla="val 2121"/>
            </a:avLst>
          </a:prstGeom>
          <a:solidFill>
            <a:srgbClr val="101D31"/>
          </a:solidFill>
          <a:ln/>
          <a:effectLst>
            <a:outerShdw sx="100000" sy="100000" kx="0" ky="0" algn="bl" rotWithShape="0" blurRad="88900" dist="25400" dir="2700000">
              <a:srgbClr val="1F2A3D">
                <a:alpha val="14000"/>
              </a:srgbClr>
            </a:outerShdw>
          </a:effectLst>
        </p:spPr>
      </p:sp>
      <p:sp>
        <p:nvSpPr>
          <p:cNvPr id="8" name="Text 5"/>
          <p:cNvSpPr/>
          <p:nvPr/>
        </p:nvSpPr>
        <p:spPr>
          <a:xfrm>
            <a:off x="749808" y="1563624"/>
            <a:ext cx="6455664" cy="2724912"/>
          </a:xfrm>
          <a:prstGeom prst="rect">
            <a:avLst/>
          </a:prstGeom>
          <a:noFill/>
          <a:ln/>
        </p:spPr>
        <p:txBody>
          <a:bodyPr wrap="square" lIns="0" tIns="0" rIns="0" bIns="0" rtlCol="0" anchor="ctr"/>
          <a:lstStyle/>
          <a:p>
            <a:pPr indent="0" marL="0">
              <a:lnSpc>
                <a:spcPct val="112000"/>
              </a:lnSpc>
              <a:buNone/>
            </a:pPr>
            <a:r>
              <a:rPr lang="en-US" sz="1000" dirty="0">
                <a:solidFill>
                  <a:srgbClr val="D9E4F3"/>
                </a:solidFill>
                <a:latin typeface="Courier New" pitchFamily="34" charset="0"/>
                <a:ea typeface="Courier New" pitchFamily="34" charset="-122"/>
                <a:cs typeface="Courier New" pitchFamily="34" charset="-120"/>
              </a:rPr>
              <a:t>req N    (previous turn's transcript now ends with:)</a:t>
            </a:r>
            <a:endParaRPr lang="en-US" sz="1000" dirty="0"/>
          </a:p>
          <a:p>
            <a:pPr indent="0" marL="0">
              <a:lnSpc>
                <a:spcPct val="112000"/>
              </a:lnSpc>
              <a:buNone/>
            </a:pPr>
            <a:r>
              <a:rPr lang="en-US" sz="1000" dirty="0">
                <a:solidFill>
                  <a:srgbClr val="D9E4F3"/>
                </a:solidFill>
                <a:latin typeface="Courier New" pitchFamily="34" charset="0"/>
                <a:ea typeface="Courier New" pitchFamily="34" charset="-122"/>
                <a:cs typeface="Courier New" pitchFamily="34" charset="-120"/>
              </a:rPr>
              <a:t>  {"role":"assistant","content":[…partial…]},</a:t>
            </a:r>
            <a:endParaRPr lang="en-US" sz="1000" dirty="0"/>
          </a:p>
          <a:p>
            <a:pPr indent="0" marL="0">
              <a:lnSpc>
                <a:spcPct val="112000"/>
              </a:lnSpc>
              <a:buNone/>
            </a:pPr>
            <a:r>
              <a:rPr lang="en-US" sz="1000" b="1" dirty="0">
                <a:solidFill>
                  <a:srgbClr val="F2A69E"/>
                </a:solidFill>
                <a:latin typeface="Courier New" pitchFamily="34" charset="0"/>
                <a:ea typeface="Courier New" pitchFamily="34" charset="-122"/>
                <a:cs typeface="Courier New" pitchFamily="34" charset="-120"/>
              </a:rPr>
              <a:t>  {"role":"user","content":"[Request interrupted by user]"}  ← marker</a:t>
            </a:r>
            <a:endParaRPr lang="en-US" sz="1000" dirty="0"/>
          </a:p>
          <a:p>
            <a:pPr indent="0" marL="0">
              <a:lnSpc>
                <a:spcPct val="112000"/>
              </a:lnSpc>
              <a:buNone/>
            </a:pPr>
            <a:r>
              <a:rPr lang="en-US" sz="1000" dirty="0">
                <a:solidFill>
                  <a:srgbClr val="D9E4F3"/>
                </a:solidFill>
                <a:latin typeface="Courier New" pitchFamily="34" charset="0"/>
                <a:ea typeface="Courier New" pitchFamily="34" charset="-122"/>
                <a:cs typeface="Courier New" pitchFamily="34" charset="-120"/>
              </a:rPr>
              <a:t>req N+1  {"role":"user","content":</a:t>
            </a:r>
            <a:endParaRPr lang="en-US" sz="1000" dirty="0"/>
          </a:p>
          <a:p>
            <a:pPr indent="0" marL="0">
              <a:lnSpc>
                <a:spcPct val="112000"/>
              </a:lnSpc>
              <a:buNone/>
            </a:pPr>
            <a:r>
              <a:rPr lang="en-US" sz="1000" dirty="0">
                <a:solidFill>
                  <a:srgbClr val="9CC3EC"/>
                </a:solidFill>
                <a:latin typeface="Courier New" pitchFamily="34" charset="0"/>
                <a:ea typeface="Courier New" pitchFamily="34" charset="-122"/>
                <a:cs typeface="Courier New" pitchFamily="34" charset="-120"/>
              </a:rPr>
              <a:t>  "just add exponential backoff with jitter to fetch_with_retry"}</a:t>
            </a:r>
            <a:endParaRPr lang="en-US" sz="1000" dirty="0"/>
          </a:p>
          <a:p>
            <a:pPr indent="0" marL="0">
              <a:lnSpc>
                <a:spcPct val="112000"/>
              </a:lnSpc>
              <a:buNone/>
            </a:pPr>
            <a:r>
              <a:rPr lang="en-US" sz="1000" dirty="0">
                <a:solidFill>
                  <a:srgbClr val="D9E4F3"/>
                </a:solidFill>
                <a:latin typeface="Courier New" pitchFamily="34" charset="0"/>
                <a:ea typeface="Courier New" pitchFamily="34" charset="-122"/>
                <a:cs typeface="Courier New" pitchFamily="34" charset="-120"/>
              </a:rPr>
              <a:t> </a:t>
            </a:r>
            <a:endParaRPr lang="en-US" sz="1000" dirty="0"/>
          </a:p>
          <a:p>
            <a:pPr indent="0" marL="0">
              <a:lnSpc>
                <a:spcPct val="112000"/>
              </a:lnSpc>
              <a:buNone/>
            </a:pPr>
            <a:r>
              <a:rPr lang="en-US" sz="1000" dirty="0">
                <a:solidFill>
                  <a:srgbClr val="EFCB84"/>
                </a:solidFill>
                <a:latin typeface="Courier New" pitchFamily="34" charset="0"/>
                <a:ea typeface="Courier New" pitchFamily="34" charset="-122"/>
                <a:cs typeface="Courier New" pitchFamily="34" charset="-120"/>
              </a:rPr>
              <a:t>ROUTER   retry_signal=true (overlap + interrupt)</a:t>
            </a:r>
            <a:endParaRPr lang="en-US" sz="1000" dirty="0"/>
          </a:p>
          <a:p>
            <a:pPr indent="0" marL="0">
              <a:lnSpc>
                <a:spcPct val="112000"/>
              </a:lnSpc>
              <a:buNone/>
            </a:pPr>
            <a:r>
              <a:rPr lang="en-US" sz="1000" b="1" dirty="0">
                <a:solidFill>
                  <a:srgbClr val="8ED6AC"/>
                </a:solidFill>
                <a:latin typeface="Courier New" pitchFamily="34" charset="0"/>
                <a:ea typeface="Courier New" pitchFamily="34" charset="-122"/>
                <a:cs typeface="Courier New" pitchFamily="34" charset="-120"/>
              </a:rPr>
              <a:t>         escalate-on-retry: bump one rung — IGNORING the score</a:t>
            </a:r>
            <a:endParaRPr lang="en-US" sz="1000" dirty="0"/>
          </a:p>
          <a:p>
            <a:pPr indent="0" marL="0">
              <a:lnSpc>
                <a:spcPct val="112000"/>
              </a:lnSpc>
              <a:buNone/>
            </a:pPr>
            <a:r>
              <a:rPr lang="en-US" sz="1000" dirty="0">
                <a:solidFill>
                  <a:srgbClr val="8ED6AC"/>
                </a:solidFill>
                <a:latin typeface="Courier New" pitchFamily="34" charset="0"/>
                <a:ea typeface="Courier New" pitchFamily="34" charset="-122"/>
                <a:cs typeface="Courier New" pitchFamily="34" charset="-120"/>
              </a:rPr>
              <a:t>         + log hard NEGATIVE for the interrupted route</a:t>
            </a:r>
            <a:endParaRPr lang="en-US" sz="1000" dirty="0"/>
          </a:p>
        </p:txBody>
      </p:sp>
      <p:sp>
        <p:nvSpPr>
          <p:cNvPr id="9" name="Shape 6"/>
          <p:cNvSpPr/>
          <p:nvPr/>
        </p:nvSpPr>
        <p:spPr>
          <a:xfrm>
            <a:off x="7772400" y="1417320"/>
            <a:ext cx="3886200" cy="3017520"/>
          </a:xfrm>
          <a:prstGeom prst="roundRect">
            <a:avLst>
              <a:gd name="adj" fmla="val 2121"/>
            </a:avLst>
          </a:prstGeom>
          <a:solidFill>
            <a:srgbClr val="F3F6F9"/>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0" name="Text 7"/>
          <p:cNvSpPr/>
          <p:nvPr/>
        </p:nvSpPr>
        <p:spPr>
          <a:xfrm>
            <a:off x="8010144" y="1600200"/>
            <a:ext cx="3383280" cy="274320"/>
          </a:xfrm>
          <a:prstGeom prst="rect">
            <a:avLst/>
          </a:prstGeom>
          <a:noFill/>
          <a:ln/>
        </p:spPr>
        <p:txBody>
          <a:bodyPr wrap="square" lIns="0" tIns="0" rIns="0" bIns="0" rtlCol="0" anchor="t"/>
          <a:lstStyle/>
          <a:p>
            <a:pPr algn="l" indent="0" marL="0">
              <a:buNone/>
            </a:pPr>
            <a:r>
              <a:rPr lang="en-US" sz="1250" b="1" dirty="0">
                <a:solidFill>
                  <a:srgbClr val="1F2A3D"/>
                </a:solidFill>
                <a:latin typeface="Calibri" pitchFamily="34" charset="0"/>
                <a:ea typeface="Calibri" pitchFamily="34" charset="-122"/>
                <a:cs typeface="Calibri" pitchFamily="34" charset="-120"/>
              </a:rPr>
              <a:t>The twist</a:t>
            </a:r>
            <a:endParaRPr lang="en-US" sz="1250" dirty="0"/>
          </a:p>
        </p:txBody>
      </p:sp>
      <p:sp>
        <p:nvSpPr>
          <p:cNvPr id="11" name="Text 8"/>
          <p:cNvSpPr/>
          <p:nvPr/>
        </p:nvSpPr>
        <p:spPr>
          <a:xfrm>
            <a:off x="8010144" y="1920240"/>
            <a:ext cx="3410712" cy="960120"/>
          </a:xfrm>
          <a:prstGeom prst="rect">
            <a:avLst/>
          </a:prstGeom>
          <a:noFill/>
          <a:ln/>
        </p:spPr>
        <p:txBody>
          <a:bodyPr wrap="square" lIns="0" tIns="0" rIns="0" bIns="0" rtlCol="0" anchor="t"/>
          <a:lstStyle/>
          <a:p>
            <a:pPr algn="l" indent="0" marL="0">
              <a:lnSpc>
                <a:spcPct val="112000"/>
              </a:lnSpc>
              <a:buNone/>
            </a:pPr>
            <a:r>
              <a:rPr lang="en-US" sz="1050" dirty="0">
                <a:solidFill>
                  <a:srgbClr val="5D6B7E"/>
                </a:solidFill>
                <a:latin typeface="Calibri" pitchFamily="34" charset="0"/>
                <a:ea typeface="Calibri" pitchFamily="34" charset="-122"/>
                <a:cs typeface="Calibri" pitchFamily="34" charset="-120"/>
              </a:rPr>
              <a:t>The rephrase scores EASIER than the original turn — a naive router would send it right back to the model that just annoyed the user.</a:t>
            </a:r>
            <a:endParaRPr lang="en-US" sz="1050" dirty="0"/>
          </a:p>
        </p:txBody>
      </p:sp>
      <p:sp>
        <p:nvSpPr>
          <p:cNvPr id="12" name="Text 9"/>
          <p:cNvSpPr/>
          <p:nvPr/>
        </p:nvSpPr>
        <p:spPr>
          <a:xfrm>
            <a:off x="8010144" y="2971800"/>
            <a:ext cx="3410712" cy="548640"/>
          </a:xfrm>
          <a:prstGeom prst="rect">
            <a:avLst/>
          </a:prstGeom>
          <a:noFill/>
          <a:ln/>
        </p:spPr>
        <p:txBody>
          <a:bodyPr wrap="square" lIns="0" tIns="0" rIns="0" bIns="0" rtlCol="0" anchor="t"/>
          <a:lstStyle/>
          <a:p>
            <a:pPr algn="l" indent="0" marL="0">
              <a:lnSpc>
                <a:spcPct val="110000"/>
              </a:lnSpc>
              <a:buNone/>
            </a:pPr>
            <a:r>
              <a:rPr lang="en-US" sz="1100" b="1" dirty="0">
                <a:solidFill>
                  <a:srgbClr val="1F2A3D"/>
                </a:solidFill>
                <a:latin typeface="Calibri" pitchFamily="34" charset="0"/>
                <a:ea typeface="Calibri" pitchFamily="34" charset="-122"/>
                <a:cs typeface="Calibri" pitchFamily="34" charset="-120"/>
              </a:rPr>
              <a:t>Escalate the retry anyway. Frontier does it in 3 calls.</a:t>
            </a:r>
            <a:endParaRPr lang="en-US" sz="1100" dirty="0"/>
          </a:p>
        </p:txBody>
      </p:sp>
      <p:sp>
        <p:nvSpPr>
          <p:cNvPr id="13" name="Text 10"/>
          <p:cNvSpPr/>
          <p:nvPr/>
        </p:nvSpPr>
        <p:spPr>
          <a:xfrm>
            <a:off x="8010144" y="3611880"/>
            <a:ext cx="3410712" cy="685800"/>
          </a:xfrm>
          <a:prstGeom prst="rect">
            <a:avLst/>
          </a:prstGeom>
          <a:noFill/>
          <a:ln/>
        </p:spPr>
        <p:txBody>
          <a:bodyPr wrap="square" lIns="0" tIns="0" rIns="0" bIns="0" rtlCol="0" anchor="t"/>
          <a:lstStyle/>
          <a:p>
            <a:pPr algn="l" indent="0" marL="0">
              <a:lnSpc>
                <a:spcPct val="110000"/>
              </a:lnSpc>
              <a:buNone/>
            </a:pPr>
            <a:r>
              <a:rPr lang="en-US" sz="950" i="1" dirty="0">
                <a:solidFill>
                  <a:srgbClr val="93A1B1"/>
                </a:solidFill>
                <a:latin typeface="Calibri" pitchFamily="34" charset="0"/>
                <a:ea typeface="Calibri" pitchFamily="34" charset="-122"/>
                <a:cs typeface="Calibri" pitchFamily="34" charset="-120"/>
              </a:rPr>
              <a:t>Two flywheel rows: interrupted turn = hard negative (high confidence) · retry = positive.</a:t>
            </a:r>
            <a:endParaRPr lang="en-US" sz="950" dirty="0"/>
          </a:p>
        </p:txBody>
      </p:sp>
      <p:sp>
        <p:nvSpPr>
          <p:cNvPr id="14" name="Shape 11"/>
          <p:cNvSpPr/>
          <p:nvPr/>
        </p:nvSpPr>
        <p:spPr>
          <a:xfrm>
            <a:off x="548640" y="4709160"/>
            <a:ext cx="11091672" cy="1417320"/>
          </a:xfrm>
          <a:prstGeom prst="roundRect">
            <a:avLst>
              <a:gd name="adj" fmla="val 4516"/>
            </a:avLst>
          </a:prstGeom>
          <a:solidFill>
            <a:srgbClr val="E4EEF6"/>
          </a:solidFill>
          <a:ln/>
          <a:effectLst>
            <a:outerShdw sx="100000" sy="100000" kx="0" ky="0" algn="bl" rotWithShape="0" blurRad="88900" dist="25400" dir="2700000">
              <a:srgbClr val="1F2A3D">
                <a:alpha val="14000"/>
              </a:srgbClr>
            </a:outerShdw>
          </a:effectLst>
        </p:spPr>
      </p:sp>
      <p:sp>
        <p:nvSpPr>
          <p:cNvPr id="15" name="Shape 12"/>
          <p:cNvSpPr/>
          <p:nvPr/>
        </p:nvSpPr>
        <p:spPr>
          <a:xfrm>
            <a:off x="822960" y="4983480"/>
            <a:ext cx="502920" cy="502920"/>
          </a:xfrm>
          <a:prstGeom prst="ellipse">
            <a:avLst/>
          </a:prstGeom>
          <a:solidFill>
            <a:srgbClr val="1D6FA5"/>
          </a:solidFill>
          <a:ln/>
        </p:spPr>
      </p:sp>
      <p:pic>
        <p:nvPicPr>
          <p:cNvPr id="16" name="Image 0" descr="preencoded.png">    </p:cNvPr>
          <p:cNvPicPr>
            <a:picLocks noChangeAspect="1"/>
          </p:cNvPicPr>
          <p:nvPr/>
        </p:nvPicPr>
        <p:blipFill>
          <a:blip r:embed="rId1"/>
          <a:stretch>
            <a:fillRect/>
          </a:stretch>
        </p:blipFill>
        <p:spPr>
          <a:xfrm>
            <a:off x="953719" y="5114239"/>
            <a:ext cx="241402" cy="241402"/>
          </a:xfrm>
          <a:prstGeom prst="rect">
            <a:avLst/>
          </a:prstGeom>
        </p:spPr>
      </p:pic>
      <p:sp>
        <p:nvSpPr>
          <p:cNvPr id="17" name="Text 13"/>
          <p:cNvSpPr/>
          <p:nvPr/>
        </p:nvSpPr>
        <p:spPr>
          <a:xfrm>
            <a:off x="1554480" y="4937760"/>
            <a:ext cx="9784080" cy="1097280"/>
          </a:xfrm>
          <a:prstGeom prst="rect">
            <a:avLst/>
          </a:prstGeom>
          <a:noFill/>
          <a:ln/>
        </p:spPr>
        <p:txBody>
          <a:bodyPr wrap="square" lIns="0" tIns="0" rIns="0" bIns="0" rtlCol="0" anchor="t"/>
          <a:lstStyle/>
          <a:p>
            <a:pPr algn="l" indent="0" marL="0">
              <a:lnSpc>
                <a:spcPct val="115000"/>
              </a:lnSpc>
              <a:buNone/>
            </a:pPr>
            <a:r>
              <a:rPr lang="en-US" sz="1300" b="1" dirty="0">
                <a:solidFill>
                  <a:srgbClr val="1F2A3D"/>
                </a:solidFill>
                <a:latin typeface="Calibri" pitchFamily="34" charset="0"/>
                <a:ea typeface="Calibri" pitchFamily="34" charset="-122"/>
                <a:cs typeface="Calibri" pitchFamily="34" charset="-120"/>
              </a:rPr>
              <a:t>The only in-band human label in the whole system — it arrives within seconds and outranks every heuristic.</a:t>
            </a:r>
            <a:endParaRPr lang="en-US" sz="1300" dirty="0"/>
          </a:p>
          <a:p>
            <a:pPr algn="l" indent="0" marL="0">
              <a:lnSpc>
                <a:spcPct val="115000"/>
              </a:lnSpc>
              <a:buNone/>
            </a:pPr>
            <a:r>
              <a:rPr lang="en-US" sz="1150" dirty="0">
                <a:solidFill>
                  <a:srgbClr val="5D6B7E"/>
                </a:solidFill>
                <a:latin typeface="Calibri" pitchFamily="34" charset="0"/>
                <a:ea typeface="Calibri" pitchFamily="34" charset="-122"/>
                <a:cs typeface="Calibri" pitchFamily="34" charset="-120"/>
              </a:rPr>
              <a:t>Including “this looks easy.” The user just told you the local model was annoying them; believe them, and bank the label — design §5.7's noisy-label warning calls this the one clean signal you get.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PART 3 · ESCALATION · EXAMPLE</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llama.cpp falls over: infra fallback ≠ semantic escalation (S7)</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scenario S7 · design doc §8.3</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27</a:t>
            </a:r>
            <a:endParaRPr lang="en-US" sz="900" dirty="0"/>
          </a:p>
        </p:txBody>
      </p:sp>
      <p:sp>
        <p:nvSpPr>
          <p:cNvPr id="7" name="Shape 4"/>
          <p:cNvSpPr/>
          <p:nvPr/>
        </p:nvSpPr>
        <p:spPr>
          <a:xfrm>
            <a:off x="548640" y="1417320"/>
            <a:ext cx="5422392" cy="2651760"/>
          </a:xfrm>
          <a:prstGeom prst="roundRect">
            <a:avLst>
              <a:gd name="adj" fmla="val 2414"/>
            </a:avLst>
          </a:prstGeom>
          <a:solidFill>
            <a:srgbClr val="FBEFDC"/>
          </a:solidFill>
          <a:ln/>
          <a:effectLst>
            <a:outerShdw sx="100000" sy="100000" kx="0" ky="0" algn="bl" rotWithShape="0" blurRad="88900" dist="25400" dir="2700000">
              <a:srgbClr val="1F2A3D">
                <a:alpha val="14000"/>
              </a:srgbClr>
            </a:outerShdw>
          </a:effectLst>
        </p:spPr>
      </p:sp>
      <p:sp>
        <p:nvSpPr>
          <p:cNvPr id="8" name="Text 5"/>
          <p:cNvSpPr/>
          <p:nvPr/>
        </p:nvSpPr>
        <p:spPr>
          <a:xfrm>
            <a:off x="804672" y="1600200"/>
            <a:ext cx="4937760" cy="274320"/>
          </a:xfrm>
          <a:prstGeom prst="rect">
            <a:avLst/>
          </a:prstGeom>
          <a:noFill/>
          <a:ln/>
        </p:spPr>
        <p:txBody>
          <a:bodyPr wrap="square" lIns="0" tIns="0" rIns="0" bIns="0" rtlCol="0" anchor="t"/>
          <a:lstStyle/>
          <a:p>
            <a:pPr algn="l" indent="0" marL="0">
              <a:buNone/>
            </a:pPr>
            <a:r>
              <a:rPr lang="en-US" sz="1150" b="1" spc="100" kern="0" dirty="0">
                <a:solidFill>
                  <a:srgbClr val="B45309"/>
                </a:solidFill>
                <a:latin typeface="Calibri" pitchFamily="34" charset="0"/>
                <a:ea typeface="Calibri" pitchFamily="34" charset="-122"/>
                <a:cs typeface="Calibri" pitchFamily="34" charset="-120"/>
              </a:rPr>
              <a:t>LADDER 1 — INFRA (LiteLLM's)</a:t>
            </a:r>
            <a:endParaRPr lang="en-US" sz="1150" dirty="0"/>
          </a:p>
        </p:txBody>
      </p:sp>
      <p:sp>
        <p:nvSpPr>
          <p:cNvPr id="9" name="Text 6"/>
          <p:cNvSpPr/>
          <p:nvPr/>
        </p:nvSpPr>
        <p:spPr>
          <a:xfrm>
            <a:off x="804672" y="1938528"/>
            <a:ext cx="4937760" cy="2011680"/>
          </a:xfrm>
          <a:prstGeom prst="rect">
            <a:avLst/>
          </a:prstGeom>
          <a:noFill/>
          <a:ln/>
        </p:spPr>
        <p:txBody>
          <a:bodyPr wrap="square" lIns="0" tIns="0" rIns="0" bIns="0" rtlCol="0" anchor="t"/>
          <a:lstStyle/>
          <a:p>
            <a:pPr algn="l" indent="0" marL="0">
              <a:lnSpc>
                <a:spcPct val="114000"/>
              </a:lnSpc>
              <a:buNone/>
            </a:pPr>
            <a:r>
              <a:rPr lang="en-US" sz="1100" b="1" dirty="0">
                <a:solidFill>
                  <a:srgbClr val="1F2A3D"/>
                </a:solidFill>
                <a:latin typeface="Calibri" pitchFamily="34" charset="0"/>
                <a:ea typeface="Calibri" pitchFamily="34" charset="-122"/>
                <a:cs typeface="Calibri" pitchFamily="34" charset="-120"/>
              </a:rPr>
              <a:t>Fires on exceptions:</a:t>
            </a:r>
            <a:endParaRPr lang="en-US" sz="1100" dirty="0"/>
          </a:p>
          <a:p>
            <a:pPr algn="l" indent="0" marL="0">
              <a:lnSpc>
                <a:spcPct val="114000"/>
              </a:lnSpc>
              <a:buNone/>
            </a:pPr>
            <a:r>
              <a:rPr lang="en-US" sz="1000" dirty="0">
                <a:solidFill>
                  <a:srgbClr val="5D6B7E"/>
                </a:solidFill>
                <a:latin typeface="Courier New" pitchFamily="34" charset="0"/>
                <a:ea typeface="Courier New" pitchFamily="34" charset="-122"/>
                <a:cs typeface="Courier New" pitchFamily="34" charset="-120"/>
              </a:rPr>
              <a:t>timeouts · 5xx · 429 rate limits · connection refused</a:t>
            </a:r>
            <a:endParaRPr lang="en-US" sz="1100" dirty="0"/>
          </a:p>
          <a:p>
            <a:pPr algn="l" indent="0" marL="0">
              <a:lnSpc>
                <a:spcPct val="114000"/>
              </a:lnSpc>
              <a:buNone/>
            </a:pPr>
            <a:r>
              <a:rPr lang="en-US" sz="500" dirty="0">
                <a:solidFill>
                  <a:srgbClr val="1F2A3D"/>
                </a:solidFill>
                <a:latin typeface="Calibri" pitchFamily="34" charset="0"/>
                <a:ea typeface="Calibri" pitchFamily="34" charset="-122"/>
                <a:cs typeface="Calibri" pitchFamily="34" charset="-120"/>
              </a:rPr>
              <a:t> </a:t>
            </a:r>
            <a:endParaRPr lang="en-US" sz="1100" dirty="0"/>
          </a:p>
          <a:p>
            <a:pPr algn="l" indent="0" marL="0">
              <a:lnSpc>
                <a:spcPct val="114000"/>
              </a:lnSpc>
              <a:buNone/>
            </a:pPr>
            <a:r>
              <a:rPr lang="en-US" sz="1100" b="1" dirty="0">
                <a:solidFill>
                  <a:srgbClr val="1F2A3D"/>
                </a:solidFill>
                <a:latin typeface="Calibri" pitchFamily="34" charset="0"/>
                <a:ea typeface="Calibri" pitchFamily="34" charset="-122"/>
                <a:cs typeface="Calibri" pitchFamily="34" charset="-120"/>
              </a:rPr>
              <a:t>Recovery order:</a:t>
            </a:r>
            <a:endParaRPr lang="en-US" sz="1100" dirty="0"/>
          </a:p>
          <a:p>
            <a:pPr algn="l" indent="0" marL="0">
              <a:lnSpc>
                <a:spcPct val="114000"/>
              </a:lnSpc>
              <a:buNone/>
            </a:pPr>
            <a:r>
              <a:rPr lang="en-US" sz="1050" dirty="0">
                <a:solidFill>
                  <a:srgbClr val="5D6B7E"/>
                </a:solidFill>
                <a:latin typeface="Calibri" pitchFamily="34" charset="0"/>
                <a:ea typeface="Calibri" pitchFamily="34" charset="-122"/>
                <a:cs typeface="Calibri" pitchFamily="34" charset="-120"/>
              </a:rPr>
              <a:t>1. same model, another endpoint (llama.cpp → MLX)</a:t>
            </a:r>
            <a:endParaRPr lang="en-US" sz="1100" dirty="0"/>
          </a:p>
          <a:p>
            <a:pPr algn="l" indent="0" marL="0">
              <a:lnSpc>
                <a:spcPct val="114000"/>
              </a:lnSpc>
              <a:buNone/>
            </a:pPr>
            <a:r>
              <a:rPr lang="en-US" sz="1050" dirty="0">
                <a:solidFill>
                  <a:srgbClr val="5D6B7E"/>
                </a:solidFill>
                <a:latin typeface="Calibri" pitchFamily="34" charset="0"/>
                <a:ea typeface="Calibri" pitchFamily="34" charset="-122"/>
                <a:cs typeface="Calibri" pitchFamily="34" charset="-120"/>
              </a:rPr>
              <a:t>2. cross-rung fallback (local-code → cheap-cloud)</a:t>
            </a:r>
            <a:endParaRPr lang="en-US" sz="1100" dirty="0"/>
          </a:p>
          <a:p>
            <a:pPr algn="l" indent="0" marL="0">
              <a:lnSpc>
                <a:spcPct val="114000"/>
              </a:lnSpc>
              <a:buNone/>
            </a:pPr>
            <a:r>
              <a:rPr lang="en-US" sz="1050" b="1" dirty="0">
                <a:solidFill>
                  <a:srgbClr val="1F2A3D"/>
                </a:solidFill>
                <a:latin typeface="Calibri" pitchFamily="34" charset="0"/>
                <a:ea typeface="Calibri" pitchFamily="34" charset="-122"/>
                <a:cs typeface="Calibri" pitchFamily="34" charset="-120"/>
              </a:rPr>
              <a:t>No strikes. No trip-wire. Nothing was semantically wrong.</a:t>
            </a:r>
            <a:endParaRPr lang="en-US" sz="1100" dirty="0"/>
          </a:p>
        </p:txBody>
      </p:sp>
      <p:sp>
        <p:nvSpPr>
          <p:cNvPr id="10" name="Shape 7"/>
          <p:cNvSpPr/>
          <p:nvPr/>
        </p:nvSpPr>
        <p:spPr>
          <a:xfrm>
            <a:off x="6217920" y="1417320"/>
            <a:ext cx="5422392" cy="2651760"/>
          </a:xfrm>
          <a:prstGeom prst="roundRect">
            <a:avLst>
              <a:gd name="adj" fmla="val 2414"/>
            </a:avLst>
          </a:prstGeom>
          <a:solidFill>
            <a:srgbClr val="F9E7E4"/>
          </a:solidFill>
          <a:ln/>
          <a:effectLst>
            <a:outerShdw sx="100000" sy="100000" kx="0" ky="0" algn="bl" rotWithShape="0" blurRad="88900" dist="25400" dir="2700000">
              <a:srgbClr val="1F2A3D">
                <a:alpha val="14000"/>
              </a:srgbClr>
            </a:outerShdw>
          </a:effectLst>
        </p:spPr>
      </p:sp>
      <p:sp>
        <p:nvSpPr>
          <p:cNvPr id="11" name="Text 8"/>
          <p:cNvSpPr/>
          <p:nvPr/>
        </p:nvSpPr>
        <p:spPr>
          <a:xfrm>
            <a:off x="6473952" y="1600200"/>
            <a:ext cx="4937760" cy="274320"/>
          </a:xfrm>
          <a:prstGeom prst="rect">
            <a:avLst/>
          </a:prstGeom>
          <a:noFill/>
          <a:ln/>
        </p:spPr>
        <p:txBody>
          <a:bodyPr wrap="square" lIns="0" tIns="0" rIns="0" bIns="0" rtlCol="0" anchor="t"/>
          <a:lstStyle/>
          <a:p>
            <a:pPr algn="l" indent="0" marL="0">
              <a:buNone/>
            </a:pPr>
            <a:r>
              <a:rPr lang="en-US" sz="1150" b="1" spc="100" kern="0" dirty="0">
                <a:solidFill>
                  <a:srgbClr val="B3261E"/>
                </a:solidFill>
                <a:latin typeface="Calibri" pitchFamily="34" charset="0"/>
                <a:ea typeface="Calibri" pitchFamily="34" charset="-122"/>
                <a:cs typeface="Calibri" pitchFamily="34" charset="-120"/>
              </a:rPr>
              <a:t>LADDER 2 — SEMANTIC (ours)</a:t>
            </a:r>
            <a:endParaRPr lang="en-US" sz="1150" dirty="0"/>
          </a:p>
        </p:txBody>
      </p:sp>
      <p:sp>
        <p:nvSpPr>
          <p:cNvPr id="12" name="Text 9"/>
          <p:cNvSpPr/>
          <p:nvPr/>
        </p:nvSpPr>
        <p:spPr>
          <a:xfrm>
            <a:off x="6473952" y="1938528"/>
            <a:ext cx="4937760" cy="2011680"/>
          </a:xfrm>
          <a:prstGeom prst="rect">
            <a:avLst/>
          </a:prstGeom>
          <a:noFill/>
          <a:ln/>
        </p:spPr>
        <p:txBody>
          <a:bodyPr wrap="square" lIns="0" tIns="0" rIns="0" bIns="0" rtlCol="0" anchor="t"/>
          <a:lstStyle/>
          <a:p>
            <a:pPr algn="l" indent="0" marL="0">
              <a:lnSpc>
                <a:spcPct val="114000"/>
              </a:lnSpc>
              <a:buNone/>
            </a:pPr>
            <a:r>
              <a:rPr lang="en-US" sz="1100" b="1" dirty="0">
                <a:solidFill>
                  <a:srgbClr val="1F2A3D"/>
                </a:solidFill>
                <a:latin typeface="Calibri" pitchFamily="34" charset="0"/>
                <a:ea typeface="Calibri" pitchFamily="34" charset="-122"/>
                <a:cs typeface="Calibri" pitchFamily="34" charset="-120"/>
              </a:rPr>
              <a:t>Fires on bad-but-valid responses:</a:t>
            </a:r>
            <a:endParaRPr lang="en-US" sz="1100" dirty="0"/>
          </a:p>
          <a:p>
            <a:pPr algn="l" indent="0" marL="0">
              <a:lnSpc>
                <a:spcPct val="114000"/>
              </a:lnSpc>
              <a:buNone/>
            </a:pPr>
            <a:r>
              <a:rPr lang="en-US" sz="1000" dirty="0">
                <a:solidFill>
                  <a:srgbClr val="5D6B7E"/>
                </a:solidFill>
                <a:latin typeface="Courier New" pitchFamily="34" charset="0"/>
                <a:ea typeface="Courier New" pitchFamily="34" charset="-122"/>
                <a:cs typeface="Courier New" pitchFamily="34" charset="-120"/>
              </a:rPr>
              <a:t>schema-valid tool calls going nowhere · failed edits · loops</a:t>
            </a:r>
            <a:endParaRPr lang="en-US" sz="1100" dirty="0"/>
          </a:p>
          <a:p>
            <a:pPr algn="l" indent="0" marL="0">
              <a:lnSpc>
                <a:spcPct val="114000"/>
              </a:lnSpc>
              <a:buNone/>
            </a:pPr>
            <a:r>
              <a:rPr lang="en-US" sz="500" dirty="0">
                <a:solidFill>
                  <a:srgbClr val="1F2A3D"/>
                </a:solidFill>
                <a:latin typeface="Calibri" pitchFamily="34" charset="0"/>
                <a:ea typeface="Calibri" pitchFamily="34" charset="-122"/>
                <a:cs typeface="Calibri" pitchFamily="34" charset="-120"/>
              </a:rPr>
              <a:t> </a:t>
            </a:r>
            <a:endParaRPr lang="en-US" sz="1100" dirty="0"/>
          </a:p>
          <a:p>
            <a:pPr algn="l" indent="0" marL="0">
              <a:lnSpc>
                <a:spcPct val="114000"/>
              </a:lnSpc>
              <a:buNone/>
            </a:pPr>
            <a:r>
              <a:rPr lang="en-US" sz="1100" b="1" dirty="0">
                <a:solidFill>
                  <a:srgbClr val="1F2A3D"/>
                </a:solidFill>
                <a:latin typeface="Calibri" pitchFamily="34" charset="0"/>
                <a:ea typeface="Calibri" pitchFamily="34" charset="-122"/>
                <a:cs typeface="Calibri" pitchFamily="34" charset="-120"/>
              </a:rPr>
              <a:t>Recovery:</a:t>
            </a:r>
            <a:endParaRPr lang="en-US" sz="1100" dirty="0"/>
          </a:p>
          <a:p>
            <a:pPr algn="l" indent="0" marL="0">
              <a:lnSpc>
                <a:spcPct val="114000"/>
              </a:lnSpc>
              <a:buNone/>
            </a:pPr>
            <a:r>
              <a:rPr lang="en-US" sz="1050" dirty="0">
                <a:solidFill>
                  <a:srgbClr val="5D6B7E"/>
                </a:solidFill>
                <a:latin typeface="Calibri" pitchFamily="34" charset="0"/>
                <a:ea typeface="Calibri" pitchFamily="34" charset="-122"/>
                <a:cs typeface="Calibri" pitchFamily="34" charset="-120"/>
              </a:rPr>
              <a:t>trip-wire → freeze → scrub → rebuild on a higher rung</a:t>
            </a:r>
            <a:endParaRPr lang="en-US" sz="1100" dirty="0"/>
          </a:p>
          <a:p>
            <a:pPr algn="l" indent="0" marL="0">
              <a:lnSpc>
                <a:spcPct val="114000"/>
              </a:lnSpc>
              <a:buNone/>
            </a:pPr>
            <a:r>
              <a:rPr lang="en-US" sz="500" dirty="0">
                <a:solidFill>
                  <a:srgbClr val="1F2A3D"/>
                </a:solidFill>
                <a:latin typeface="Calibri" pitchFamily="34" charset="0"/>
                <a:ea typeface="Calibri" pitchFamily="34" charset="-122"/>
                <a:cs typeface="Calibri" pitchFamily="34" charset="-120"/>
              </a:rPr>
              <a:t> </a:t>
            </a:r>
            <a:endParaRPr lang="en-US" sz="1100" dirty="0"/>
          </a:p>
          <a:p>
            <a:pPr algn="l" indent="0" marL="0">
              <a:lnSpc>
                <a:spcPct val="114000"/>
              </a:lnSpc>
              <a:buNone/>
            </a:pPr>
            <a:r>
              <a:rPr lang="en-US" sz="1050" b="1" dirty="0">
                <a:solidFill>
                  <a:srgbClr val="1F2A3D"/>
                </a:solidFill>
                <a:latin typeface="Calibri" pitchFamily="34" charset="0"/>
                <a:ea typeface="Calibri" pitchFamily="34" charset="-122"/>
                <a:cs typeface="Calibri" pitchFamily="34" charset="-120"/>
              </a:rPr>
              <a:t>Both are needed; they are different mechanisms.</a:t>
            </a:r>
            <a:endParaRPr lang="en-US" sz="1100" dirty="0"/>
          </a:p>
        </p:txBody>
      </p:sp>
      <p:sp>
        <p:nvSpPr>
          <p:cNvPr id="13" name="Shape 10"/>
          <p:cNvSpPr/>
          <p:nvPr/>
        </p:nvSpPr>
        <p:spPr>
          <a:xfrm>
            <a:off x="548640" y="4343400"/>
            <a:ext cx="11091672" cy="1051560"/>
          </a:xfrm>
          <a:prstGeom prst="roundRect">
            <a:avLst>
              <a:gd name="adj" fmla="val 6087"/>
            </a:avLst>
          </a:prstGeom>
          <a:solidFill>
            <a:srgbClr val="101D31"/>
          </a:solidFill>
          <a:ln/>
          <a:effectLst>
            <a:outerShdw sx="100000" sy="100000" kx="0" ky="0" algn="bl" rotWithShape="0" blurRad="88900" dist="25400" dir="2700000">
              <a:srgbClr val="1F2A3D">
                <a:alpha val="14000"/>
              </a:srgbClr>
            </a:outerShdw>
          </a:effectLst>
        </p:spPr>
      </p:sp>
      <p:sp>
        <p:nvSpPr>
          <p:cNvPr id="14" name="Text 11"/>
          <p:cNvSpPr/>
          <p:nvPr/>
        </p:nvSpPr>
        <p:spPr>
          <a:xfrm>
            <a:off x="822960" y="4526280"/>
            <a:ext cx="10515600" cy="731520"/>
          </a:xfrm>
          <a:prstGeom prst="rect">
            <a:avLst/>
          </a:prstGeom>
          <a:noFill/>
          <a:ln/>
        </p:spPr>
        <p:txBody>
          <a:bodyPr wrap="square" lIns="0" tIns="0" rIns="0" bIns="0" rtlCol="0" anchor="t"/>
          <a:lstStyle/>
          <a:p>
            <a:pPr algn="l" indent="0" marL="0">
              <a:lnSpc>
                <a:spcPct val="112000"/>
              </a:lnSpc>
              <a:buNone/>
            </a:pPr>
            <a:r>
              <a:rPr lang="en-US" sz="1200" b="1" dirty="0">
                <a:solidFill>
                  <a:srgbClr val="F2A69E"/>
                </a:solidFill>
                <a:latin typeface="Calibri" pitchFamily="34" charset="0"/>
                <a:ea typeface="Calibri" pitchFamily="34" charset="-122"/>
                <a:cs typeface="Calibri" pitchFamily="34" charset="-120"/>
              </a:rPr>
              <a:t>THE CLASSIC BUG:  </a:t>
            </a:r>
            <a:pPr algn="l" indent="0" marL="0">
              <a:lnSpc>
                <a:spcPct val="112000"/>
              </a:lnSpc>
              <a:buNone/>
            </a:pPr>
            <a:r>
              <a:rPr lang="en-US" sz="1100" dirty="0">
                <a:solidFill>
                  <a:srgbClr val="D9E4F3"/>
                </a:solidFill>
                <a:latin typeface="Calibri" pitchFamily="34" charset="0"/>
                <a:ea typeface="Calibri" pitchFamily="34" charset="-122"/>
                <a:cs typeface="Calibri" pitchFamily="34" charset="-120"/>
              </a:rPr>
              <a:t>after a fallback, session.route must point where the response ACTUALLY came from — not where the router intended. Otherwise req 5's sticky lookup hits the dead endpoint again, and every subsequent request eats a timeout before succeeding.</a:t>
            </a:r>
            <a:endParaRPr lang="en-US" sz="1200" dirty="0"/>
          </a:p>
        </p:txBody>
      </p:sp>
      <p:sp>
        <p:nvSpPr>
          <p:cNvPr id="15" name="Text 12"/>
          <p:cNvSpPr/>
          <p:nvPr/>
        </p:nvSpPr>
        <p:spPr>
          <a:xfrm>
            <a:off x="548640" y="5577840"/>
            <a:ext cx="11091672" cy="594360"/>
          </a:xfrm>
          <a:prstGeom prst="rect">
            <a:avLst/>
          </a:prstGeom>
          <a:noFill/>
          <a:ln/>
        </p:spPr>
        <p:txBody>
          <a:bodyPr wrap="square" lIns="0" tIns="0" rIns="0" bIns="0" rtlCol="0" anchor="t"/>
          <a:lstStyle/>
          <a:p>
            <a:pPr algn="l" indent="0" marL="0">
              <a:lnSpc>
                <a:spcPct val="112000"/>
              </a:lnSpc>
              <a:buNone/>
            </a:pPr>
            <a:r>
              <a:rPr lang="en-US" sz="1100" dirty="0">
                <a:solidFill>
                  <a:srgbClr val="5D6B7E"/>
                </a:solidFill>
                <a:latin typeface="Calibri" pitchFamily="34" charset="0"/>
                <a:ea typeface="Calibri" pitchFamily="34" charset="-122"/>
                <a:cs typeface="Calibri" pitchFamily="34" charset="-120"/>
              </a:rPr>
              <a:t>Fallback can't preserve caches: cheap-cloud cold-starts the whole prefix — slow, full-price. Log it as infra cost, not model quality. Health checks grey the rung out of new-turn decisions until it recovers.</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PART 4 · GATES IN ACTION</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112k tokens, trivial ask: feasibility beats difficulty (S8)</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scenario S8 · design doc §5.3</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28</a:t>
            </a:r>
            <a:endParaRPr lang="en-US" sz="900" dirty="0"/>
          </a:p>
        </p:txBody>
      </p:sp>
      <p:sp>
        <p:nvSpPr>
          <p:cNvPr id="7" name="Shape 4"/>
          <p:cNvSpPr/>
          <p:nvPr/>
        </p:nvSpPr>
        <p:spPr>
          <a:xfrm>
            <a:off x="548640" y="1417320"/>
            <a:ext cx="11091672" cy="960120"/>
          </a:xfrm>
          <a:prstGeom prst="roundRect">
            <a:avLst>
              <a:gd name="adj" fmla="val 6667"/>
            </a:avLst>
          </a:prstGeom>
          <a:solidFill>
            <a:srgbClr val="F3F6F9"/>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8" name="Text 5"/>
          <p:cNvSpPr/>
          <p:nvPr/>
        </p:nvSpPr>
        <p:spPr>
          <a:xfrm>
            <a:off x="822960" y="1600200"/>
            <a:ext cx="10515600" cy="640080"/>
          </a:xfrm>
          <a:prstGeom prst="rect">
            <a:avLst/>
          </a:prstGeom>
          <a:noFill/>
          <a:ln/>
        </p:spPr>
        <p:txBody>
          <a:bodyPr wrap="square" lIns="0" tIns="0" rIns="0" bIns="0" rtlCol="0" anchor="t"/>
          <a:lstStyle/>
          <a:p>
            <a:pPr algn="l" indent="0" marL="0">
              <a:lnSpc>
                <a:spcPct val="115000"/>
              </a:lnSpc>
              <a:buNone/>
            </a:pPr>
            <a:r>
              <a:rPr lang="en-US" sz="1200" dirty="0">
                <a:solidFill>
                  <a:srgbClr val="1F2A3D"/>
                </a:solidFill>
                <a:latin typeface="Calibri" pitchFamily="34" charset="0"/>
                <a:ea typeface="Calibri" pitchFamily="34" charset="-122"/>
                <a:cs typeface="Calibri" pitchFamily="34" charset="-120"/>
              </a:rPr>
              <a:t>Turn 23 · context = 112,000 tokens · user: </a:t>
            </a:r>
            <a:pPr algn="l" indent="0" marL="0">
              <a:lnSpc>
                <a:spcPct val="115000"/>
              </a:lnSpc>
              <a:buNone/>
            </a:pPr>
            <a:r>
              <a:rPr lang="en-US" sz="1200" i="1" dirty="0">
                <a:solidFill>
                  <a:srgbClr val="1F2A3D"/>
                </a:solidFill>
                <a:latin typeface="Calibri" pitchFamily="34" charset="0"/>
                <a:ea typeface="Calibri" pitchFamily="34" charset="-122"/>
                <a:cs typeface="Calibri" pitchFamily="34" charset="-120"/>
              </a:rPr>
              <a:t>“write a commit message for what we just did”</a:t>
            </a:r>
            <a:pPr algn="l" indent="0" marL="0">
              <a:lnSpc>
                <a:spcPct val="115000"/>
              </a:lnSpc>
              <a:buNone/>
            </a:pPr>
            <a:r>
              <a:rPr lang="en-US" sz="1200" b="1" dirty="0">
                <a:solidFill>
                  <a:srgbClr val="1F7A55"/>
                </a:solidFill>
                <a:latin typeface="Calibri" pitchFamily="34" charset="0"/>
                <a:ea typeface="Calibri" pitchFamily="34" charset="-122"/>
                <a:cs typeface="Calibri" pitchFamily="34" charset="-120"/>
              </a:rPr>
              <a:t>  → heuristic score 0.08 — the easiest intent all day</a:t>
            </a:r>
            <a:endParaRPr lang="en-US" sz="1200" dirty="0"/>
          </a:p>
        </p:txBody>
      </p:sp>
      <p:sp>
        <p:nvSpPr>
          <p:cNvPr id="9" name="Shape 6"/>
          <p:cNvSpPr/>
          <p:nvPr/>
        </p:nvSpPr>
        <p:spPr>
          <a:xfrm>
            <a:off x="548640" y="2697480"/>
            <a:ext cx="3566160" cy="1371600"/>
          </a:xfrm>
          <a:prstGeom prst="roundRect">
            <a:avLst>
              <a:gd name="adj" fmla="val 4667"/>
            </a:avLst>
          </a:prstGeom>
          <a:solidFill>
            <a:srgbClr val="F9E7E4"/>
          </a:solidFill>
          <a:ln/>
          <a:effectLst>
            <a:outerShdw sx="100000" sy="100000" kx="0" ky="0" algn="bl" rotWithShape="0" blurRad="88900" dist="25400" dir="2700000">
              <a:srgbClr val="1F2A3D">
                <a:alpha val="14000"/>
              </a:srgbClr>
            </a:outerShdw>
          </a:effectLst>
        </p:spPr>
      </p:sp>
      <p:sp>
        <p:nvSpPr>
          <p:cNvPr id="10" name="Text 7"/>
          <p:cNvSpPr/>
          <p:nvPr/>
        </p:nvSpPr>
        <p:spPr>
          <a:xfrm>
            <a:off x="768096" y="2880360"/>
            <a:ext cx="3127248" cy="320040"/>
          </a:xfrm>
          <a:prstGeom prst="rect">
            <a:avLst/>
          </a:prstGeom>
          <a:noFill/>
          <a:ln/>
        </p:spPr>
        <p:txBody>
          <a:bodyPr wrap="square" lIns="0" tIns="0" rIns="0" bIns="0" rtlCol="0" anchor="t"/>
          <a:lstStyle/>
          <a:p>
            <a:pPr algn="l" indent="0" marL="0">
              <a:buNone/>
            </a:pPr>
            <a:r>
              <a:rPr lang="en-US" sz="1250" b="1" dirty="0">
                <a:solidFill>
                  <a:srgbClr val="B3261E"/>
                </a:solidFill>
                <a:latin typeface="Courier New" pitchFamily="34" charset="0"/>
                <a:ea typeface="Courier New" pitchFamily="34" charset="-122"/>
                <a:cs typeface="Courier New" pitchFamily="34" charset="-120"/>
              </a:rPr>
              <a:t>GATE: 112k &gt; 0.8 × 32k</a:t>
            </a:r>
            <a:endParaRPr lang="en-US" sz="1250" dirty="0"/>
          </a:p>
        </p:txBody>
      </p:sp>
      <p:sp>
        <p:nvSpPr>
          <p:cNvPr id="11" name="Text 8"/>
          <p:cNvSpPr/>
          <p:nvPr/>
        </p:nvSpPr>
        <p:spPr>
          <a:xfrm>
            <a:off x="768096" y="3291840"/>
            <a:ext cx="3127248" cy="640080"/>
          </a:xfrm>
          <a:prstGeom prst="rect">
            <a:avLst/>
          </a:prstGeom>
          <a:noFill/>
          <a:ln/>
        </p:spPr>
        <p:txBody>
          <a:bodyPr wrap="square" lIns="0" tIns="0" rIns="0" bIns="0" rtlCol="0" anchor="t"/>
          <a:lstStyle/>
          <a:p>
            <a:pPr algn="l" indent="0" marL="0">
              <a:lnSpc>
                <a:spcPct val="110000"/>
              </a:lnSpc>
              <a:buNone/>
            </a:pPr>
            <a:r>
              <a:rPr lang="en-US" sz="1050" dirty="0">
                <a:solidFill>
                  <a:srgbClr val="5D6B7E"/>
                </a:solidFill>
                <a:latin typeface="Calibri" pitchFamily="34" charset="0"/>
                <a:ea typeface="Calibri" pitchFamily="34" charset="-122"/>
                <a:cs typeface="Calibri" pitchFamily="34" charset="-120"/>
              </a:rPr>
              <a:t>local rung structurally OUT — difficulty never consulted</a:t>
            </a:r>
            <a:endParaRPr lang="en-US" sz="1050" dirty="0"/>
          </a:p>
        </p:txBody>
      </p:sp>
      <p:sp>
        <p:nvSpPr>
          <p:cNvPr id="12" name="Shape 9"/>
          <p:cNvSpPr/>
          <p:nvPr/>
        </p:nvSpPr>
        <p:spPr>
          <a:xfrm>
            <a:off x="4133088" y="3383280"/>
            <a:ext cx="192024" cy="0"/>
          </a:xfrm>
          <a:prstGeom prst="line">
            <a:avLst/>
          </a:prstGeom>
          <a:noFill/>
          <a:ln w="22225">
            <a:solidFill>
              <a:srgbClr val="5D6B7E"/>
            </a:solidFill>
            <a:prstDash val="solid"/>
            <a:headEnd type="none"/>
            <a:tailEnd type="triangle"/>
          </a:ln>
        </p:spPr>
      </p:sp>
      <p:sp>
        <p:nvSpPr>
          <p:cNvPr id="13" name="Shape 10"/>
          <p:cNvSpPr/>
          <p:nvPr/>
        </p:nvSpPr>
        <p:spPr>
          <a:xfrm>
            <a:off x="4343400" y="2697480"/>
            <a:ext cx="3566160" cy="1371600"/>
          </a:xfrm>
          <a:prstGeom prst="roundRect">
            <a:avLst>
              <a:gd name="adj" fmla="val 4667"/>
            </a:avLst>
          </a:prstGeom>
          <a:solidFill>
            <a:srgbClr val="FBEFDC"/>
          </a:solidFill>
          <a:ln/>
          <a:effectLst>
            <a:outerShdw sx="100000" sy="100000" kx="0" ky="0" algn="bl" rotWithShape="0" blurRad="88900" dist="25400" dir="2700000">
              <a:srgbClr val="1F2A3D">
                <a:alpha val="14000"/>
              </a:srgbClr>
            </a:outerShdw>
          </a:effectLst>
        </p:spPr>
      </p:sp>
      <p:sp>
        <p:nvSpPr>
          <p:cNvPr id="14" name="Text 11"/>
          <p:cNvSpPr/>
          <p:nvPr/>
        </p:nvSpPr>
        <p:spPr>
          <a:xfrm>
            <a:off x="4562856" y="2880360"/>
            <a:ext cx="3127248" cy="320040"/>
          </a:xfrm>
          <a:prstGeom prst="rect">
            <a:avLst/>
          </a:prstGeom>
          <a:noFill/>
          <a:ln/>
        </p:spPr>
        <p:txBody>
          <a:bodyPr wrap="square" lIns="0" tIns="0" rIns="0" bIns="0" rtlCol="0" anchor="t"/>
          <a:lstStyle/>
          <a:p>
            <a:pPr algn="l" indent="0" marL="0">
              <a:buNone/>
            </a:pPr>
            <a:r>
              <a:rPr lang="en-US" sz="1250" b="1" dirty="0">
                <a:solidFill>
                  <a:srgbClr val="B45309"/>
                </a:solidFill>
                <a:latin typeface="Courier New" pitchFamily="34" charset="0"/>
                <a:ea typeface="Courier New" pitchFamily="34" charset="-122"/>
                <a:cs typeface="Courier New" pitchFamily="34" charset="-120"/>
              </a:rPr>
              <a:t>FALL THROUGH</a:t>
            </a:r>
            <a:endParaRPr lang="en-US" sz="1250" dirty="0"/>
          </a:p>
        </p:txBody>
      </p:sp>
      <p:sp>
        <p:nvSpPr>
          <p:cNvPr id="15" name="Text 12"/>
          <p:cNvSpPr/>
          <p:nvPr/>
        </p:nvSpPr>
        <p:spPr>
          <a:xfrm>
            <a:off x="4562856" y="3291840"/>
            <a:ext cx="3127248" cy="640080"/>
          </a:xfrm>
          <a:prstGeom prst="rect">
            <a:avLst/>
          </a:prstGeom>
          <a:noFill/>
          <a:ln/>
        </p:spPr>
        <p:txBody>
          <a:bodyPr wrap="square" lIns="0" tIns="0" rIns="0" bIns="0" rtlCol="0" anchor="t"/>
          <a:lstStyle/>
          <a:p>
            <a:pPr algn="l" indent="0" marL="0">
              <a:lnSpc>
                <a:spcPct val="110000"/>
              </a:lnSpc>
              <a:buNone/>
            </a:pPr>
            <a:r>
              <a:rPr lang="en-US" sz="1050" dirty="0">
                <a:solidFill>
                  <a:srgbClr val="5D6B7E"/>
                </a:solidFill>
                <a:latin typeface="Calibri" pitchFamily="34" charset="0"/>
                <a:ea typeface="Calibri" pitchFamily="34" charset="-122"/>
                <a:cs typeface="Calibri" pitchFamily="34" charset="-120"/>
              </a:rPr>
              <a:t>cheapest feasible rung that fits the context</a:t>
            </a:r>
            <a:endParaRPr lang="en-US" sz="1050" dirty="0"/>
          </a:p>
        </p:txBody>
      </p:sp>
      <p:sp>
        <p:nvSpPr>
          <p:cNvPr id="16" name="Shape 13"/>
          <p:cNvSpPr/>
          <p:nvPr/>
        </p:nvSpPr>
        <p:spPr>
          <a:xfrm>
            <a:off x="7927848" y="3383280"/>
            <a:ext cx="192024" cy="0"/>
          </a:xfrm>
          <a:prstGeom prst="line">
            <a:avLst/>
          </a:prstGeom>
          <a:noFill/>
          <a:ln w="22225">
            <a:solidFill>
              <a:srgbClr val="5D6B7E"/>
            </a:solidFill>
            <a:prstDash val="solid"/>
            <a:headEnd type="none"/>
            <a:tailEnd type="triangle"/>
          </a:ln>
        </p:spPr>
      </p:sp>
      <p:sp>
        <p:nvSpPr>
          <p:cNvPr id="17" name="Shape 14"/>
          <p:cNvSpPr/>
          <p:nvPr/>
        </p:nvSpPr>
        <p:spPr>
          <a:xfrm>
            <a:off x="8138160" y="2697480"/>
            <a:ext cx="3566160" cy="1371600"/>
          </a:xfrm>
          <a:prstGeom prst="roundRect">
            <a:avLst>
              <a:gd name="adj" fmla="val 4667"/>
            </a:avLst>
          </a:prstGeom>
          <a:solidFill>
            <a:srgbClr val="FBEFDC"/>
          </a:solidFill>
          <a:ln/>
          <a:effectLst>
            <a:outerShdw sx="100000" sy="100000" kx="0" ky="0" algn="bl" rotWithShape="0" blurRad="88900" dist="25400" dir="2700000">
              <a:srgbClr val="1F2A3D">
                <a:alpha val="14000"/>
              </a:srgbClr>
            </a:outerShdw>
          </a:effectLst>
        </p:spPr>
      </p:sp>
      <p:sp>
        <p:nvSpPr>
          <p:cNvPr id="18" name="Text 15"/>
          <p:cNvSpPr/>
          <p:nvPr/>
        </p:nvSpPr>
        <p:spPr>
          <a:xfrm>
            <a:off x="8357616" y="2880360"/>
            <a:ext cx="3127248" cy="320040"/>
          </a:xfrm>
          <a:prstGeom prst="rect">
            <a:avLst/>
          </a:prstGeom>
          <a:noFill/>
          <a:ln/>
        </p:spPr>
        <p:txBody>
          <a:bodyPr wrap="square" lIns="0" tIns="0" rIns="0" bIns="0" rtlCol="0" anchor="t"/>
          <a:lstStyle/>
          <a:p>
            <a:pPr algn="l" indent="0" marL="0">
              <a:buNone/>
            </a:pPr>
            <a:r>
              <a:rPr lang="en-US" sz="1250" b="1" dirty="0">
                <a:solidFill>
                  <a:srgbClr val="B45309"/>
                </a:solidFill>
                <a:latin typeface="Courier New" pitchFamily="34" charset="0"/>
                <a:ea typeface="Courier New" pitchFamily="34" charset="-122"/>
                <a:cs typeface="Courier New" pitchFamily="34" charset="-120"/>
              </a:rPr>
              <a:t>ROUTE: cheap-cloud, direct</a:t>
            </a:r>
            <a:endParaRPr lang="en-US" sz="1250" dirty="0"/>
          </a:p>
        </p:txBody>
      </p:sp>
      <p:sp>
        <p:nvSpPr>
          <p:cNvPr id="19" name="Text 16"/>
          <p:cNvSpPr/>
          <p:nvPr/>
        </p:nvSpPr>
        <p:spPr>
          <a:xfrm>
            <a:off x="8357616" y="3291840"/>
            <a:ext cx="3127248" cy="640080"/>
          </a:xfrm>
          <a:prstGeom prst="rect">
            <a:avLst/>
          </a:prstGeom>
          <a:noFill/>
          <a:ln/>
        </p:spPr>
        <p:txBody>
          <a:bodyPr wrap="square" lIns="0" tIns="0" rIns="0" bIns="0" rtlCol="0" anchor="t"/>
          <a:lstStyle/>
          <a:p>
            <a:pPr algn="l" indent="0" marL="0">
              <a:lnSpc>
                <a:spcPct val="110000"/>
              </a:lnSpc>
              <a:buNone/>
            </a:pPr>
            <a:r>
              <a:rPr lang="en-US" sz="1050" dirty="0">
                <a:solidFill>
                  <a:srgbClr val="5D6B7E"/>
                </a:solidFill>
                <a:latin typeface="Calibri" pitchFamily="34" charset="0"/>
                <a:ea typeface="Calibri" pitchFamily="34" charset="-122"/>
                <a:cs typeface="Calibri" pitchFamily="34" charset="-120"/>
              </a:rPr>
              <a:t>200k window · no cascade · not hardcoded frontier</a:t>
            </a:r>
            <a:endParaRPr lang="en-US" sz="1050" dirty="0"/>
          </a:p>
        </p:txBody>
      </p:sp>
      <p:sp>
        <p:nvSpPr>
          <p:cNvPr id="20" name="Shape 17"/>
          <p:cNvSpPr/>
          <p:nvPr/>
        </p:nvSpPr>
        <p:spPr>
          <a:xfrm>
            <a:off x="548640" y="4434840"/>
            <a:ext cx="5422392" cy="1783080"/>
          </a:xfrm>
          <a:prstGeom prst="roundRect">
            <a:avLst>
              <a:gd name="adj" fmla="val 3590"/>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21" name="Text 18"/>
          <p:cNvSpPr/>
          <p:nvPr/>
        </p:nvSpPr>
        <p:spPr>
          <a:xfrm>
            <a:off x="804672" y="4617720"/>
            <a:ext cx="4937760" cy="292608"/>
          </a:xfrm>
          <a:prstGeom prst="rect">
            <a:avLst/>
          </a:prstGeom>
          <a:noFill/>
          <a:ln/>
        </p:spPr>
        <p:txBody>
          <a:bodyPr wrap="square" lIns="0" tIns="0" rIns="0" bIns="0" rtlCol="0" anchor="t"/>
          <a:lstStyle/>
          <a:p>
            <a:pPr algn="l" indent="0" marL="0">
              <a:buNone/>
            </a:pPr>
            <a:r>
              <a:rPr lang="en-US" sz="1250" b="1" dirty="0">
                <a:solidFill>
                  <a:srgbClr val="1F2A3D"/>
                </a:solidFill>
                <a:latin typeface="Calibri" pitchFamily="34" charset="0"/>
                <a:ea typeface="Calibri" pitchFamily="34" charset="-122"/>
                <a:cs typeface="Calibri" pitchFamily="34" charset="-120"/>
              </a:rPr>
              <a:t>Why not “just truncate to fit local”?</a:t>
            </a:r>
            <a:endParaRPr lang="en-US" sz="1250" dirty="0"/>
          </a:p>
        </p:txBody>
      </p:sp>
      <p:sp>
        <p:nvSpPr>
          <p:cNvPr id="22" name="Text 19"/>
          <p:cNvSpPr/>
          <p:nvPr/>
        </p:nvSpPr>
        <p:spPr>
          <a:xfrm>
            <a:off x="804672" y="4956048"/>
            <a:ext cx="4937760" cy="1143000"/>
          </a:xfrm>
          <a:prstGeom prst="rect">
            <a:avLst/>
          </a:prstGeom>
          <a:noFill/>
          <a:ln/>
        </p:spPr>
        <p:txBody>
          <a:bodyPr wrap="square" lIns="0" tIns="0" rIns="0" bIns="0" rtlCol="0" anchor="t"/>
          <a:lstStyle/>
          <a:p>
            <a:pPr algn="l" indent="0" marL="0">
              <a:lnSpc>
                <a:spcPct val="112000"/>
              </a:lnSpc>
              <a:buNone/>
            </a:pPr>
            <a:r>
              <a:rPr lang="en-US" sz="1100" dirty="0">
                <a:solidFill>
                  <a:srgbClr val="5D6B7E"/>
                </a:solidFill>
                <a:latin typeface="Calibri" pitchFamily="34" charset="0"/>
                <a:ea typeface="Calibri" pitchFamily="34" charset="-122"/>
                <a:cs typeface="Calibri" pitchFamily="34" charset="-120"/>
              </a:rPr>
              <a:t>Which 26k of the 112k? The diff is spread across the transcript; naive tail-truncation loses the early design decisions the message should mention. Compression changes the task.</a:t>
            </a:r>
            <a:endParaRPr lang="en-US" sz="1100" dirty="0"/>
          </a:p>
        </p:txBody>
      </p:sp>
      <p:sp>
        <p:nvSpPr>
          <p:cNvPr id="23" name="Shape 20"/>
          <p:cNvSpPr/>
          <p:nvPr/>
        </p:nvSpPr>
        <p:spPr>
          <a:xfrm>
            <a:off x="6217920" y="4434840"/>
            <a:ext cx="5422392" cy="1783080"/>
          </a:xfrm>
          <a:prstGeom prst="roundRect">
            <a:avLst>
              <a:gd name="adj" fmla="val 3590"/>
            </a:avLst>
          </a:prstGeom>
          <a:solidFill>
            <a:srgbClr val="ECE5F8"/>
          </a:solidFill>
          <a:ln/>
          <a:effectLst>
            <a:outerShdw sx="100000" sy="100000" kx="0" ky="0" algn="bl" rotWithShape="0" blurRad="88900" dist="25400" dir="2700000">
              <a:srgbClr val="1F2A3D">
                <a:alpha val="14000"/>
              </a:srgbClr>
            </a:outerShdw>
          </a:effectLst>
        </p:spPr>
      </p:sp>
      <p:sp>
        <p:nvSpPr>
          <p:cNvPr id="24" name="Text 21"/>
          <p:cNvSpPr/>
          <p:nvPr/>
        </p:nvSpPr>
        <p:spPr>
          <a:xfrm>
            <a:off x="6473952" y="4617720"/>
            <a:ext cx="4937760" cy="292608"/>
          </a:xfrm>
          <a:prstGeom prst="rect">
            <a:avLst/>
          </a:prstGeom>
          <a:noFill/>
          <a:ln/>
        </p:spPr>
        <p:txBody>
          <a:bodyPr wrap="square" lIns="0" tIns="0" rIns="0" bIns="0" rtlCol="0" anchor="t"/>
          <a:lstStyle/>
          <a:p>
            <a:pPr algn="l" indent="0" marL="0">
              <a:buNone/>
            </a:pPr>
            <a:r>
              <a:rPr lang="en-US" sz="1250" b="1" dirty="0">
                <a:solidFill>
                  <a:srgbClr val="5B21B6"/>
                </a:solidFill>
                <a:latin typeface="Calibri" pitchFamily="34" charset="0"/>
                <a:ea typeface="Calibri" pitchFamily="34" charset="-122"/>
                <a:cs typeface="Calibri" pitchFamily="34" charset="-120"/>
              </a:rPr>
              <a:t>Phase-3 preview: context carving (flagged, not v1)</a:t>
            </a:r>
            <a:endParaRPr lang="en-US" sz="1250" dirty="0"/>
          </a:p>
        </p:txBody>
      </p:sp>
      <p:sp>
        <p:nvSpPr>
          <p:cNvPr id="25" name="Text 22"/>
          <p:cNvSpPr/>
          <p:nvPr/>
        </p:nvSpPr>
        <p:spPr>
          <a:xfrm>
            <a:off x="6473952" y="4956048"/>
            <a:ext cx="4937760" cy="1234440"/>
          </a:xfrm>
          <a:prstGeom prst="rect">
            <a:avLst/>
          </a:prstGeom>
          <a:noFill/>
          <a:ln/>
        </p:spPr>
        <p:txBody>
          <a:bodyPr wrap="square" lIns="0" tIns="0" rIns="0" bIns="0" rtlCol="0" anchor="t"/>
          <a:lstStyle/>
          <a:p>
            <a:pPr algn="l" indent="0" marL="0">
              <a:lnSpc>
                <a:spcPct val="110000"/>
              </a:lnSpc>
              <a:buNone/>
            </a:pPr>
            <a:r>
              <a:rPr lang="en-US" sz="1050" dirty="0">
                <a:solidFill>
                  <a:srgbClr val="5D6B7E"/>
                </a:solidFill>
                <a:latin typeface="Calibri" pitchFamily="34" charset="0"/>
                <a:ea typeface="Calibri" pitchFamily="34" charset="-122"/>
                <a:cs typeface="Calibri" pitchFamily="34" charset="-120"/>
              </a:rPr>
              <a:t>A commit message really needs git diff --staged + the last user goal ≈ 2k tokens. The router could synthesize a fresh minimal request and send THAT to local. Powerful — but the router starts editing prompts, with its own failure modes. The flywheel must first prove the savings.</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PART 4 · GATES IN ACTION</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The .env leak that almost happened: the privacy pin (S9)</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scenario S9 · design doc §5.3, §7, §11</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29</a:t>
            </a:r>
            <a:endParaRPr lang="en-US" sz="900" dirty="0"/>
          </a:p>
        </p:txBody>
      </p:sp>
      <p:sp>
        <p:nvSpPr>
          <p:cNvPr id="7" name="Shape 4"/>
          <p:cNvSpPr/>
          <p:nvPr/>
        </p:nvSpPr>
        <p:spPr>
          <a:xfrm>
            <a:off x="548640" y="1417320"/>
            <a:ext cx="6858000" cy="3383280"/>
          </a:xfrm>
          <a:prstGeom prst="roundRect">
            <a:avLst>
              <a:gd name="adj" fmla="val 1892"/>
            </a:avLst>
          </a:prstGeom>
          <a:solidFill>
            <a:srgbClr val="101D31"/>
          </a:solidFill>
          <a:ln/>
          <a:effectLst>
            <a:outerShdw sx="100000" sy="100000" kx="0" ky="0" algn="bl" rotWithShape="0" blurRad="88900" dist="25400" dir="2700000">
              <a:srgbClr val="1F2A3D">
                <a:alpha val="14000"/>
              </a:srgbClr>
            </a:outerShdw>
          </a:effectLst>
        </p:spPr>
      </p:sp>
      <p:sp>
        <p:nvSpPr>
          <p:cNvPr id="8" name="Text 5"/>
          <p:cNvSpPr/>
          <p:nvPr/>
        </p:nvSpPr>
        <p:spPr>
          <a:xfrm>
            <a:off x="749808" y="1563624"/>
            <a:ext cx="6455664" cy="3090672"/>
          </a:xfrm>
          <a:prstGeom prst="rect">
            <a:avLst/>
          </a:prstGeom>
          <a:noFill/>
          <a:ln/>
        </p:spPr>
        <p:txBody>
          <a:bodyPr wrap="square" lIns="0" tIns="0" rIns="0" bIns="0" rtlCol="0" anchor="ctr"/>
          <a:lstStyle/>
          <a:p>
            <a:pPr indent="0" marL="0">
              <a:lnSpc>
                <a:spcPct val="112000"/>
              </a:lnSpc>
              <a:buNone/>
            </a:pPr>
            <a:r>
              <a:rPr lang="en-US" sz="1000" dirty="0">
                <a:solidFill>
                  <a:srgbClr val="D9E4F3"/>
                </a:solidFill>
                <a:latin typeface="Courier New" pitchFamily="34" charset="0"/>
                <a:ea typeface="Courier New" pitchFamily="34" charset="-122"/>
                <a:cs typeface="Courier New" pitchFamily="34" charset="-120"/>
              </a:rPr>
              <a:t>turn 3   ← Read {file_path:".env"}</a:t>
            </a:r>
            <a:endParaRPr lang="en-US" sz="1000" dirty="0"/>
          </a:p>
          <a:p>
            <a:pPr indent="0" marL="0">
              <a:lnSpc>
                <a:spcPct val="112000"/>
              </a:lnSpc>
              <a:buNone/>
            </a:pPr>
            <a:r>
              <a:rPr lang="en-US" sz="1000" dirty="0">
                <a:solidFill>
                  <a:srgbClr val="F2A69E"/>
                </a:solidFill>
                <a:latin typeface="Courier New" pitchFamily="34" charset="0"/>
                <a:ea typeface="Courier New" pitchFamily="34" charset="-122"/>
                <a:cs typeface="Courier New" pitchFamily="34" charset="-120"/>
              </a:rPr>
              <a:t>  → "DATABASE_URL=postgres://admin:S3cr3tPw@prod-db:5432/app</a:t>
            </a:r>
            <a:endParaRPr lang="en-US" sz="1000" dirty="0"/>
          </a:p>
          <a:p>
            <a:pPr indent="0" marL="0">
              <a:lnSpc>
                <a:spcPct val="112000"/>
              </a:lnSpc>
              <a:buNone/>
            </a:pPr>
            <a:r>
              <a:rPr lang="en-US" sz="1000" dirty="0">
                <a:solidFill>
                  <a:srgbClr val="F2A69E"/>
                </a:solidFill>
                <a:latin typeface="Courier New" pitchFamily="34" charset="0"/>
                <a:ea typeface="Courier New" pitchFamily="34" charset="-122"/>
                <a:cs typeface="Courier New" pitchFamily="34" charset="-120"/>
              </a:rPr>
              <a:t>     AWS_SECRET_ACCESS_KEY=wJalrXUtnFEMI/K7MDENG…"</a:t>
            </a:r>
            <a:endParaRPr lang="en-US" sz="1000" dirty="0"/>
          </a:p>
          <a:p>
            <a:pPr indent="0" marL="0">
              <a:lnSpc>
                <a:spcPct val="112000"/>
              </a:lnSpc>
              <a:buNone/>
            </a:pPr>
            <a:r>
              <a:rPr lang="en-US" sz="1000" b="1" dirty="0">
                <a:solidFill>
                  <a:srgbClr val="EFCB84"/>
                </a:solidFill>
                <a:latin typeface="Courier New" pitchFamily="34" charset="0"/>
                <a:ea typeface="Courier New" pitchFamily="34" charset="-122"/>
                <a:cs typeface="Courier New" pitchFamily="34" charset="-120"/>
              </a:rPr>
              <a:t>  scanner (regex+entropy, ~1ms): MATCH → privacy_pinned = TRUE</a:t>
            </a:r>
            <a:endParaRPr lang="en-US" sz="1000" dirty="0"/>
          </a:p>
          <a:p>
            <a:pPr indent="0" marL="0">
              <a:lnSpc>
                <a:spcPct val="112000"/>
              </a:lnSpc>
              <a:buNone/>
            </a:pPr>
            <a:r>
              <a:rPr lang="en-US" sz="1000" dirty="0">
                <a:solidFill>
                  <a:srgbClr val="EFCB84"/>
                </a:solidFill>
                <a:latin typeface="Courier New" pitchFamily="34" charset="0"/>
                <a:ea typeface="Courier New" pitchFamily="34" charset="-122"/>
                <a:cs typeface="Courier New" pitchFamily="34" charset="-120"/>
              </a:rPr>
              <a:t>           one-way — only a new session clears it</a:t>
            </a:r>
            <a:endParaRPr lang="en-US" sz="1000" dirty="0"/>
          </a:p>
          <a:p>
            <a:pPr indent="0" marL="0">
              <a:lnSpc>
                <a:spcPct val="112000"/>
              </a:lnSpc>
              <a:buNone/>
            </a:pPr>
            <a:r>
              <a:rPr lang="en-US" sz="1000" dirty="0">
                <a:solidFill>
                  <a:srgbClr val="D9E4F3"/>
                </a:solidFill>
                <a:latin typeface="Courier New" pitchFamily="34" charset="0"/>
                <a:ea typeface="Courier New" pitchFamily="34" charset="-122"/>
                <a:cs typeface="Courier New" pitchFamily="34" charset="-120"/>
              </a:rPr>
              <a:t> </a:t>
            </a:r>
            <a:endParaRPr lang="en-US" sz="1000" dirty="0"/>
          </a:p>
          <a:p>
            <a:pPr indent="0" marL="0">
              <a:lnSpc>
                <a:spcPct val="112000"/>
              </a:lnSpc>
              <a:buNone/>
            </a:pPr>
            <a:r>
              <a:rPr lang="en-US" sz="1000" dirty="0">
                <a:solidFill>
                  <a:srgbClr val="9CC3EC"/>
                </a:solidFill>
                <a:latin typeface="Courier New" pitchFamily="34" charset="0"/>
                <a:ea typeface="Courier New" pitchFamily="34" charset="-122"/>
                <a:cs typeface="Courier New" pitchFamily="34" charset="-120"/>
              </a:rPr>
              <a:t>turn 7   "refactor config loading…"  heuristic 0.74 &gt; T_HARD</a:t>
            </a:r>
            <a:endParaRPr lang="en-US" sz="1000" dirty="0"/>
          </a:p>
          <a:p>
            <a:pPr indent="0" marL="0">
              <a:lnSpc>
                <a:spcPct val="112000"/>
              </a:lnSpc>
              <a:buNone/>
            </a:pPr>
            <a:r>
              <a:rPr lang="en-US" sz="1000" b="1" dirty="0">
                <a:solidFill>
                  <a:srgbClr val="8ED6AC"/>
                </a:solidFill>
                <a:latin typeface="Courier New" pitchFamily="34" charset="0"/>
                <a:ea typeface="Courier New" pitchFamily="34" charset="-122"/>
                <a:cs typeface="Courier New" pitchFamily="34" charset="-120"/>
              </a:rPr>
              <a:t>  GATE (layer 0): pinned → local. Difficulty logic NEVER RUNS.</a:t>
            </a:r>
            <a:endParaRPr lang="en-US" sz="1000" dirty="0"/>
          </a:p>
          <a:p>
            <a:pPr indent="0" marL="0">
              <a:lnSpc>
                <a:spcPct val="112000"/>
              </a:lnSpc>
              <a:buNone/>
            </a:pPr>
            <a:r>
              <a:rPr lang="en-US" sz="1000" dirty="0">
                <a:solidFill>
                  <a:srgbClr val="D9E4F3"/>
                </a:solidFill>
                <a:latin typeface="Courier New" pitchFamily="34" charset="0"/>
                <a:ea typeface="Courier New" pitchFamily="34" charset="-122"/>
                <a:cs typeface="Courier New" pitchFamily="34" charset="-120"/>
              </a:rPr>
              <a:t> </a:t>
            </a:r>
            <a:endParaRPr lang="en-US" sz="1000" dirty="0"/>
          </a:p>
          <a:p>
            <a:pPr indent="0" marL="0">
              <a:lnSpc>
                <a:spcPct val="112000"/>
              </a:lnSpc>
              <a:buNone/>
            </a:pPr>
            <a:r>
              <a:rPr lang="en-US" sz="1000" b="1" dirty="0">
                <a:solidFill>
                  <a:srgbClr val="F2A69E"/>
                </a:solidFill>
                <a:latin typeface="Courier New" pitchFamily="34" charset="0"/>
                <a:ea typeface="Courier New" pitchFamily="34" charset="-122"/>
                <a:cs typeface="Courier New" pitchFamily="34" charset="-120"/>
              </a:rPr>
              <a:t>mid-turn  edit strike 2 ⚡ → controller checks pin → REFUSES cloud</a:t>
            </a:r>
            <a:endParaRPr lang="en-US" sz="1000" dirty="0"/>
          </a:p>
        </p:txBody>
      </p:sp>
      <p:sp>
        <p:nvSpPr>
          <p:cNvPr id="9" name="Shape 6"/>
          <p:cNvSpPr/>
          <p:nvPr/>
        </p:nvSpPr>
        <p:spPr>
          <a:xfrm>
            <a:off x="7772400" y="1417320"/>
            <a:ext cx="3886200" cy="3383280"/>
          </a:xfrm>
          <a:prstGeom prst="roundRect">
            <a:avLst>
              <a:gd name="adj" fmla="val 1892"/>
            </a:avLst>
          </a:prstGeom>
          <a:solidFill>
            <a:srgbClr val="F3F6F9"/>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0" name="Text 7"/>
          <p:cNvSpPr/>
          <p:nvPr/>
        </p:nvSpPr>
        <p:spPr>
          <a:xfrm>
            <a:off x="8010144" y="1600200"/>
            <a:ext cx="3410712" cy="274320"/>
          </a:xfrm>
          <a:prstGeom prst="rect">
            <a:avLst/>
          </a:prstGeom>
          <a:noFill/>
          <a:ln/>
        </p:spPr>
        <p:txBody>
          <a:bodyPr wrap="square" lIns="0" tIns="0" rIns="0" bIns="0" rtlCol="0" anchor="t"/>
          <a:lstStyle/>
          <a:p>
            <a:pPr algn="l" indent="0" marL="0">
              <a:buNone/>
            </a:pPr>
            <a:r>
              <a:rPr lang="en-US" sz="1250" b="1" dirty="0">
                <a:solidFill>
                  <a:srgbClr val="1F2A3D"/>
                </a:solidFill>
                <a:latin typeface="Calibri" pitchFamily="34" charset="0"/>
                <a:ea typeface="Calibri" pitchFamily="34" charset="-122"/>
                <a:cs typeface="Calibri" pitchFamily="34" charset="-120"/>
              </a:rPr>
              <a:t>What the user sees instead</a:t>
            </a:r>
            <a:endParaRPr lang="en-US" sz="1250" dirty="0"/>
          </a:p>
        </p:txBody>
      </p:sp>
      <p:sp>
        <p:nvSpPr>
          <p:cNvPr id="11" name="Text 8"/>
          <p:cNvSpPr/>
          <p:nvPr/>
        </p:nvSpPr>
        <p:spPr>
          <a:xfrm>
            <a:off x="8010144" y="1938528"/>
            <a:ext cx="3410712" cy="1737360"/>
          </a:xfrm>
          <a:prstGeom prst="rect">
            <a:avLst/>
          </a:prstGeom>
          <a:noFill/>
          <a:ln/>
        </p:spPr>
        <p:txBody>
          <a:bodyPr wrap="square" lIns="0" tIns="0" rIns="0" bIns="0" rtlCol="0" anchor="t"/>
          <a:lstStyle/>
          <a:p>
            <a:pPr algn="l" indent="0" marL="0">
              <a:lnSpc>
                <a:spcPct val="115000"/>
              </a:lnSpc>
              <a:buNone/>
            </a:pPr>
            <a:r>
              <a:rPr lang="en-US" sz="1050" i="1" dirty="0">
                <a:solidFill>
                  <a:srgbClr val="5D6B7E"/>
                </a:solidFill>
                <a:latin typeface="Calibri" pitchFamily="34" charset="0"/>
                <a:ea typeface="Calibri" pitchFamily="34" charset="-122"/>
                <a:cs typeface="Calibri" pitchFamily="34" charset="-120"/>
              </a:rPr>
              <a:t>“This session touched credentials at turn 3, so it's pinned to the local model. Options: (a) continue locally — I'll break the task into smaller steps; (b) start a fresh session without the secret in context; (c) explicitly override the pin.”</a:t>
            </a:r>
            <a:endParaRPr lang="en-US" sz="1050" dirty="0"/>
          </a:p>
        </p:txBody>
      </p:sp>
      <p:sp>
        <p:nvSpPr>
          <p:cNvPr id="12" name="Text 9"/>
          <p:cNvSpPr/>
          <p:nvPr/>
        </p:nvSpPr>
        <p:spPr>
          <a:xfrm>
            <a:off x="8010144" y="3794760"/>
            <a:ext cx="3410712" cy="868680"/>
          </a:xfrm>
          <a:prstGeom prst="rect">
            <a:avLst/>
          </a:prstGeom>
          <a:noFill/>
          <a:ln/>
        </p:spPr>
        <p:txBody>
          <a:bodyPr wrap="square" lIns="0" tIns="0" rIns="0" bIns="0" rtlCol="0" anchor="t"/>
          <a:lstStyle/>
          <a:p>
            <a:pPr algn="l" indent="0" marL="0">
              <a:lnSpc>
                <a:spcPct val="110000"/>
              </a:lnSpc>
              <a:buNone/>
            </a:pPr>
            <a:r>
              <a:rPr lang="en-US" sz="1000" b="1" dirty="0">
                <a:solidFill>
                  <a:srgbClr val="1F2A3D"/>
                </a:solidFill>
                <a:latin typeface="Calibri" pitchFamily="34" charset="0"/>
                <a:ea typeface="Calibri" pitchFamily="34" charset="-122"/>
                <a:cs typeface="Calibri" pitchFamily="34" charset="-120"/>
              </a:rPr>
              <a:t>Pinned routes keep trip-wires armed — but the escalation target is the USER, never a higher rung.</a:t>
            </a:r>
            <a:endParaRPr lang="en-US" sz="1000" dirty="0"/>
          </a:p>
        </p:txBody>
      </p:sp>
      <p:sp>
        <p:nvSpPr>
          <p:cNvPr id="13" name="Shape 10"/>
          <p:cNvSpPr/>
          <p:nvPr/>
        </p:nvSpPr>
        <p:spPr>
          <a:xfrm>
            <a:off x="548640" y="5029200"/>
            <a:ext cx="11091672" cy="1188720"/>
          </a:xfrm>
          <a:prstGeom prst="roundRect">
            <a:avLst>
              <a:gd name="adj" fmla="val 5385"/>
            </a:avLst>
          </a:prstGeom>
          <a:solidFill>
            <a:srgbClr val="F9E7E4"/>
          </a:solidFill>
          <a:ln/>
          <a:effectLst>
            <a:outerShdw sx="100000" sy="100000" kx="0" ky="0" algn="bl" rotWithShape="0" blurRad="88900" dist="25400" dir="2700000">
              <a:srgbClr val="1F2A3D">
                <a:alpha val="14000"/>
              </a:srgbClr>
            </a:outerShdw>
          </a:effectLst>
        </p:spPr>
      </p:sp>
      <p:sp>
        <p:nvSpPr>
          <p:cNvPr id="14" name="Text 11"/>
          <p:cNvSpPr/>
          <p:nvPr/>
        </p:nvSpPr>
        <p:spPr>
          <a:xfrm>
            <a:off x="822960" y="5193792"/>
            <a:ext cx="10515600" cy="914400"/>
          </a:xfrm>
          <a:prstGeom prst="rect">
            <a:avLst/>
          </a:prstGeom>
          <a:noFill/>
          <a:ln/>
        </p:spPr>
        <p:txBody>
          <a:bodyPr wrap="square" lIns="0" tIns="0" rIns="0" bIns="0" rtlCol="0" anchor="t"/>
          <a:lstStyle/>
          <a:p>
            <a:pPr algn="l" indent="0" marL="0">
              <a:lnSpc>
                <a:spcPct val="112000"/>
              </a:lnSpc>
              <a:buNone/>
            </a:pPr>
            <a:r>
              <a:rPr lang="en-US" sz="1200" b="1" dirty="0">
                <a:solidFill>
                  <a:srgbClr val="1F2A3D"/>
                </a:solidFill>
                <a:latin typeface="Calibri" pitchFamily="34" charset="0"/>
                <a:ea typeface="Calibri" pitchFamily="34" charset="-122"/>
                <a:cs typeface="Calibri" pitchFamily="34" charset="-120"/>
              </a:rPr>
              <a:t>Why not redact-and-escalate? The secret propagates.  </a:t>
            </a:r>
            <a:pPr algn="l" indent="0" marL="0">
              <a:lnSpc>
                <a:spcPct val="112000"/>
              </a:lnSpc>
              <a:buNone/>
            </a:pPr>
            <a:r>
              <a:rPr lang="en-US" sz="1100" dirty="0">
                <a:solidFill>
                  <a:srgbClr val="5D6B7E"/>
                </a:solidFill>
                <a:latin typeface="Calibri" pitchFamily="34" charset="0"/>
                <a:ea typeface="Calibri" pitchFamily="34" charset="-122"/>
                <a:cs typeface="Calibri" pitchFamily="34" charset="-120"/>
              </a:rPr>
              <a:t>It's quoted in the tool_result, echoed in the turn-3 answer (“your DATABASE_URL points at prod…”), and may appear in later command output. Retroactive redaction of a 40k-token transcript is a research problem; a one-way session pin is an if statement. Violations = an alarm with target ZERO, not a metric.</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PART 4 · GATES IN ACTION</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When the two strongest gates collide: pin × feasibility</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design doc §5.8 · scenarios S9, S14</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30</a:t>
            </a:r>
            <a:endParaRPr lang="en-US" sz="900" dirty="0"/>
          </a:p>
        </p:txBody>
      </p:sp>
      <p:sp>
        <p:nvSpPr>
          <p:cNvPr id="7" name="Shape 4"/>
          <p:cNvSpPr/>
          <p:nvPr/>
        </p:nvSpPr>
        <p:spPr>
          <a:xfrm>
            <a:off x="548640" y="1554480"/>
            <a:ext cx="3566160" cy="2880360"/>
          </a:xfrm>
          <a:prstGeom prst="roundRect">
            <a:avLst>
              <a:gd name="adj" fmla="val 2222"/>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8" name="Text 5"/>
          <p:cNvSpPr/>
          <p:nvPr/>
        </p:nvSpPr>
        <p:spPr>
          <a:xfrm>
            <a:off x="786384" y="1783080"/>
            <a:ext cx="3090672" cy="548640"/>
          </a:xfrm>
          <a:prstGeom prst="rect">
            <a:avLst/>
          </a:prstGeom>
          <a:noFill/>
          <a:ln/>
        </p:spPr>
        <p:txBody>
          <a:bodyPr wrap="square" lIns="0" tIns="0" rIns="0" bIns="0" rtlCol="0" anchor="t"/>
          <a:lstStyle/>
          <a:p>
            <a:pPr algn="l" indent="0" marL="0">
              <a:buNone/>
            </a:pPr>
            <a:r>
              <a:rPr lang="en-US" sz="2800" b="1" dirty="0">
                <a:solidFill>
                  <a:srgbClr val="B45309"/>
                </a:solidFill>
                <a:latin typeface="Cambria" pitchFamily="34" charset="0"/>
                <a:ea typeface="Cambria" pitchFamily="34" charset="-122"/>
                <a:cs typeface="Cambria" pitchFamily="34" charset="-120"/>
              </a:rPr>
              <a:t>60%</a:t>
            </a:r>
            <a:endParaRPr lang="en-US" sz="2800" dirty="0"/>
          </a:p>
        </p:txBody>
      </p:sp>
      <p:sp>
        <p:nvSpPr>
          <p:cNvPr id="9" name="Text 6"/>
          <p:cNvSpPr/>
          <p:nvPr/>
        </p:nvSpPr>
        <p:spPr>
          <a:xfrm>
            <a:off x="786384" y="2359152"/>
            <a:ext cx="3090672" cy="237744"/>
          </a:xfrm>
          <a:prstGeom prst="rect">
            <a:avLst/>
          </a:prstGeom>
          <a:noFill/>
          <a:ln/>
        </p:spPr>
        <p:txBody>
          <a:bodyPr wrap="square" lIns="0" tIns="0" rIns="0" bIns="0" rtlCol="0" anchor="t"/>
          <a:lstStyle/>
          <a:p>
            <a:pPr algn="l" indent="0" marL="0">
              <a:buNone/>
            </a:pPr>
            <a:r>
              <a:rPr lang="en-US" sz="950" dirty="0">
                <a:solidFill>
                  <a:srgbClr val="93A1B1"/>
                </a:solidFill>
                <a:latin typeface="Calibri" pitchFamily="34" charset="0"/>
                <a:ea typeface="Calibri" pitchFamily="34" charset="-122"/>
                <a:cs typeface="Calibri" pitchFamily="34" charset="-120"/>
              </a:rPr>
              <a:t>of local context</a:t>
            </a:r>
            <a:endParaRPr lang="en-US" sz="950" dirty="0"/>
          </a:p>
        </p:txBody>
      </p:sp>
      <p:sp>
        <p:nvSpPr>
          <p:cNvPr id="10" name="Text 7"/>
          <p:cNvSpPr/>
          <p:nvPr/>
        </p:nvSpPr>
        <p:spPr>
          <a:xfrm>
            <a:off x="786384" y="2697480"/>
            <a:ext cx="3090672" cy="320040"/>
          </a:xfrm>
          <a:prstGeom prst="rect">
            <a:avLst/>
          </a:prstGeom>
          <a:noFill/>
          <a:ln/>
        </p:spPr>
        <p:txBody>
          <a:bodyPr wrap="square" lIns="0" tIns="0" rIns="0" bIns="0" rtlCol="0" anchor="t"/>
          <a:lstStyle/>
          <a:p>
            <a:pPr algn="l" indent="0" marL="0">
              <a:buNone/>
            </a:pPr>
            <a:r>
              <a:rPr lang="en-US" sz="1350" b="1" dirty="0">
                <a:solidFill>
                  <a:srgbClr val="1F2A3D"/>
                </a:solidFill>
                <a:latin typeface="Calibri" pitchFamily="34" charset="0"/>
                <a:ea typeface="Calibri" pitchFamily="34" charset="-122"/>
                <a:cs typeface="Calibri" pitchFamily="34" charset="-120"/>
              </a:rPr>
              <a:t>Early warning</a:t>
            </a:r>
            <a:endParaRPr lang="en-US" sz="1350" dirty="0"/>
          </a:p>
        </p:txBody>
      </p:sp>
      <p:sp>
        <p:nvSpPr>
          <p:cNvPr id="11" name="Text 8"/>
          <p:cNvSpPr/>
          <p:nvPr/>
        </p:nvSpPr>
        <p:spPr>
          <a:xfrm>
            <a:off x="786384" y="3063240"/>
            <a:ext cx="3090672" cy="1280160"/>
          </a:xfrm>
          <a:prstGeom prst="rect">
            <a:avLst/>
          </a:prstGeom>
          <a:noFill/>
          <a:ln/>
        </p:spPr>
        <p:txBody>
          <a:bodyPr wrap="square" lIns="0" tIns="0" rIns="0" bIns="0" rtlCol="0" anchor="t"/>
          <a:lstStyle/>
          <a:p>
            <a:pPr algn="l" indent="0" marL="0">
              <a:lnSpc>
                <a:spcPct val="112000"/>
              </a:lnSpc>
              <a:buNone/>
            </a:pPr>
            <a:r>
              <a:rPr lang="en-US" sz="1050" dirty="0">
                <a:solidFill>
                  <a:srgbClr val="5D6B7E"/>
                </a:solidFill>
                <a:latin typeface="Calibri" pitchFamily="34" charset="0"/>
                <a:ea typeface="Calibri" pitchFamily="34" charset="-122"/>
                <a:cs typeface="Calibri" pitchFamily="34" charset="-120"/>
              </a:rPr>
              <a:t>“This session is pinned to local and growing — consider wrapping up or starting a fresh session.”</a:t>
            </a:r>
            <a:endParaRPr lang="en-US" sz="1050" dirty="0"/>
          </a:p>
        </p:txBody>
      </p:sp>
      <p:sp>
        <p:nvSpPr>
          <p:cNvPr id="12" name="Shape 9"/>
          <p:cNvSpPr/>
          <p:nvPr/>
        </p:nvSpPr>
        <p:spPr>
          <a:xfrm>
            <a:off x="4133088" y="2971800"/>
            <a:ext cx="192024" cy="0"/>
          </a:xfrm>
          <a:prstGeom prst="line">
            <a:avLst/>
          </a:prstGeom>
          <a:noFill/>
          <a:ln w="22225">
            <a:solidFill>
              <a:srgbClr val="5D6B7E"/>
            </a:solidFill>
            <a:prstDash val="solid"/>
            <a:headEnd type="none"/>
            <a:tailEnd type="triangle"/>
          </a:ln>
        </p:spPr>
      </p:sp>
      <p:sp>
        <p:nvSpPr>
          <p:cNvPr id="13" name="Shape 10"/>
          <p:cNvSpPr/>
          <p:nvPr/>
        </p:nvSpPr>
        <p:spPr>
          <a:xfrm>
            <a:off x="4343400" y="1554480"/>
            <a:ext cx="3566160" cy="2880360"/>
          </a:xfrm>
          <a:prstGeom prst="roundRect">
            <a:avLst>
              <a:gd name="adj" fmla="val 2222"/>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4" name="Text 11"/>
          <p:cNvSpPr/>
          <p:nvPr/>
        </p:nvSpPr>
        <p:spPr>
          <a:xfrm>
            <a:off x="4581144" y="1783080"/>
            <a:ext cx="3090672" cy="548640"/>
          </a:xfrm>
          <a:prstGeom prst="rect">
            <a:avLst/>
          </a:prstGeom>
          <a:noFill/>
          <a:ln/>
        </p:spPr>
        <p:txBody>
          <a:bodyPr wrap="square" lIns="0" tIns="0" rIns="0" bIns="0" rtlCol="0" anchor="t"/>
          <a:lstStyle/>
          <a:p>
            <a:pPr algn="l" indent="0" marL="0">
              <a:buNone/>
            </a:pPr>
            <a:r>
              <a:rPr lang="en-US" sz="2800" b="1" dirty="0">
                <a:solidFill>
                  <a:srgbClr val="B3261E"/>
                </a:solidFill>
                <a:latin typeface="Cambria" pitchFamily="34" charset="0"/>
                <a:ea typeface="Cambria" pitchFamily="34" charset="-122"/>
                <a:cs typeface="Cambria" pitchFamily="34" charset="-120"/>
              </a:rPr>
              <a:t>75%</a:t>
            </a:r>
            <a:endParaRPr lang="en-US" sz="2800" dirty="0"/>
          </a:p>
        </p:txBody>
      </p:sp>
      <p:sp>
        <p:nvSpPr>
          <p:cNvPr id="15" name="Text 12"/>
          <p:cNvSpPr/>
          <p:nvPr/>
        </p:nvSpPr>
        <p:spPr>
          <a:xfrm>
            <a:off x="4581144" y="2359152"/>
            <a:ext cx="3090672" cy="237744"/>
          </a:xfrm>
          <a:prstGeom prst="rect">
            <a:avLst/>
          </a:prstGeom>
          <a:noFill/>
          <a:ln/>
        </p:spPr>
        <p:txBody>
          <a:bodyPr wrap="square" lIns="0" tIns="0" rIns="0" bIns="0" rtlCol="0" anchor="t"/>
          <a:lstStyle/>
          <a:p>
            <a:pPr algn="l" indent="0" marL="0">
              <a:buNone/>
            </a:pPr>
            <a:r>
              <a:rPr lang="en-US" sz="950" dirty="0">
                <a:solidFill>
                  <a:srgbClr val="93A1B1"/>
                </a:solidFill>
                <a:latin typeface="Calibri" pitchFamily="34" charset="0"/>
                <a:ea typeface="Calibri" pitchFamily="34" charset="-122"/>
                <a:cs typeface="Calibri" pitchFamily="34" charset="-120"/>
              </a:rPr>
              <a:t>of local context</a:t>
            </a:r>
            <a:endParaRPr lang="en-US" sz="950" dirty="0"/>
          </a:p>
        </p:txBody>
      </p:sp>
      <p:sp>
        <p:nvSpPr>
          <p:cNvPr id="16" name="Text 13"/>
          <p:cNvSpPr/>
          <p:nvPr/>
        </p:nvSpPr>
        <p:spPr>
          <a:xfrm>
            <a:off x="4581144" y="2697480"/>
            <a:ext cx="3090672" cy="320040"/>
          </a:xfrm>
          <a:prstGeom prst="rect">
            <a:avLst/>
          </a:prstGeom>
          <a:noFill/>
          <a:ln/>
        </p:spPr>
        <p:txBody>
          <a:bodyPr wrap="square" lIns="0" tIns="0" rIns="0" bIns="0" rtlCol="0" anchor="t"/>
          <a:lstStyle/>
          <a:p>
            <a:pPr algn="l" indent="0" marL="0">
              <a:buNone/>
            </a:pPr>
            <a:r>
              <a:rPr lang="en-US" sz="1350" b="1" dirty="0">
                <a:solidFill>
                  <a:srgbClr val="1F2A3D"/>
                </a:solidFill>
                <a:latin typeface="Calibri" pitchFamily="34" charset="0"/>
                <a:ea typeface="Calibri" pitchFamily="34" charset="-122"/>
                <a:cs typeface="Calibri" pitchFamily="34" charset="-120"/>
              </a:rPr>
              <a:t>Forced local compaction</a:t>
            </a:r>
            <a:endParaRPr lang="en-US" sz="1350" dirty="0"/>
          </a:p>
        </p:txBody>
      </p:sp>
      <p:sp>
        <p:nvSpPr>
          <p:cNvPr id="17" name="Text 14"/>
          <p:cNvSpPr/>
          <p:nvPr/>
        </p:nvSpPr>
        <p:spPr>
          <a:xfrm>
            <a:off x="4581144" y="3063240"/>
            <a:ext cx="3090672" cy="1280160"/>
          </a:xfrm>
          <a:prstGeom prst="rect">
            <a:avLst/>
          </a:prstGeom>
          <a:noFill/>
          <a:ln/>
        </p:spPr>
        <p:txBody>
          <a:bodyPr wrap="square" lIns="0" tIns="0" rIns="0" bIns="0" rtlCol="0" anchor="t"/>
          <a:lstStyle/>
          <a:p>
            <a:pPr algn="l" indent="0" marL="0">
              <a:lnSpc>
                <a:spcPct val="112000"/>
              </a:lnSpc>
              <a:buNone/>
            </a:pPr>
            <a:r>
              <a:rPr lang="en-US" sz="1050" dirty="0">
                <a:solidFill>
                  <a:srgbClr val="5D6B7E"/>
                </a:solidFill>
                <a:latin typeface="Calibri" pitchFamily="34" charset="0"/>
                <a:ea typeface="Calibri" pitchFamily="34" charset="-122"/>
                <a:cs typeface="Calibri" pitchFamily="34" charset="-120"/>
              </a:rPr>
              <a:t>Summarize the transcript locally while it still fits (chunked if needed). The summary will be worse than a frontier one — that is the price of the pin, stated out loud.</a:t>
            </a:r>
            <a:endParaRPr lang="en-US" sz="1050" dirty="0"/>
          </a:p>
        </p:txBody>
      </p:sp>
      <p:sp>
        <p:nvSpPr>
          <p:cNvPr id="18" name="Shape 15"/>
          <p:cNvSpPr/>
          <p:nvPr/>
        </p:nvSpPr>
        <p:spPr>
          <a:xfrm>
            <a:off x="7927848" y="2971800"/>
            <a:ext cx="192024" cy="0"/>
          </a:xfrm>
          <a:prstGeom prst="line">
            <a:avLst/>
          </a:prstGeom>
          <a:noFill/>
          <a:ln w="22225">
            <a:solidFill>
              <a:srgbClr val="5D6B7E"/>
            </a:solidFill>
            <a:prstDash val="solid"/>
            <a:headEnd type="none"/>
            <a:tailEnd type="triangle"/>
          </a:ln>
        </p:spPr>
      </p:sp>
      <p:sp>
        <p:nvSpPr>
          <p:cNvPr id="19" name="Shape 16"/>
          <p:cNvSpPr/>
          <p:nvPr/>
        </p:nvSpPr>
        <p:spPr>
          <a:xfrm>
            <a:off x="8138160" y="1554480"/>
            <a:ext cx="3566160" cy="2880360"/>
          </a:xfrm>
          <a:prstGeom prst="roundRect">
            <a:avLst>
              <a:gd name="adj" fmla="val 2222"/>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20" name="Text 17"/>
          <p:cNvSpPr/>
          <p:nvPr/>
        </p:nvSpPr>
        <p:spPr>
          <a:xfrm>
            <a:off x="8375904" y="1783080"/>
            <a:ext cx="3090672" cy="548640"/>
          </a:xfrm>
          <a:prstGeom prst="rect">
            <a:avLst/>
          </a:prstGeom>
          <a:noFill/>
          <a:ln/>
        </p:spPr>
        <p:txBody>
          <a:bodyPr wrap="square" lIns="0" tIns="0" rIns="0" bIns="0" rtlCol="0" anchor="t"/>
          <a:lstStyle/>
          <a:p>
            <a:pPr algn="l" indent="0" marL="0">
              <a:buNone/>
            </a:pPr>
            <a:r>
              <a:rPr lang="en-US" sz="2800" b="1" dirty="0">
                <a:solidFill>
                  <a:srgbClr val="B3261E"/>
                </a:solidFill>
                <a:latin typeface="Cambria" pitchFamily="34" charset="0"/>
                <a:ea typeface="Cambria" pitchFamily="34" charset="-122"/>
                <a:cs typeface="Cambria" pitchFamily="34" charset="-120"/>
              </a:rPr>
              <a:t>100%</a:t>
            </a:r>
            <a:endParaRPr lang="en-US" sz="2800" dirty="0"/>
          </a:p>
        </p:txBody>
      </p:sp>
      <p:sp>
        <p:nvSpPr>
          <p:cNvPr id="21" name="Text 18"/>
          <p:cNvSpPr/>
          <p:nvPr/>
        </p:nvSpPr>
        <p:spPr>
          <a:xfrm>
            <a:off x="8375904" y="2359152"/>
            <a:ext cx="3090672" cy="237744"/>
          </a:xfrm>
          <a:prstGeom prst="rect">
            <a:avLst/>
          </a:prstGeom>
          <a:noFill/>
          <a:ln/>
        </p:spPr>
        <p:txBody>
          <a:bodyPr wrap="square" lIns="0" tIns="0" rIns="0" bIns="0" rtlCol="0" anchor="t"/>
          <a:lstStyle/>
          <a:p>
            <a:pPr algn="l" indent="0" marL="0">
              <a:buNone/>
            </a:pPr>
            <a:r>
              <a:rPr lang="en-US" sz="950" dirty="0">
                <a:solidFill>
                  <a:srgbClr val="93A1B1"/>
                </a:solidFill>
                <a:latin typeface="Calibri" pitchFamily="34" charset="0"/>
                <a:ea typeface="Calibri" pitchFamily="34" charset="-122"/>
                <a:cs typeface="Calibri" pitchFamily="34" charset="-120"/>
              </a:rPr>
              <a:t>of local context</a:t>
            </a:r>
            <a:endParaRPr lang="en-US" sz="950" dirty="0"/>
          </a:p>
        </p:txBody>
      </p:sp>
      <p:sp>
        <p:nvSpPr>
          <p:cNvPr id="22" name="Text 19"/>
          <p:cNvSpPr/>
          <p:nvPr/>
        </p:nvSpPr>
        <p:spPr>
          <a:xfrm>
            <a:off x="8375904" y="2697480"/>
            <a:ext cx="3090672" cy="320040"/>
          </a:xfrm>
          <a:prstGeom prst="rect">
            <a:avLst/>
          </a:prstGeom>
          <a:noFill/>
          <a:ln/>
        </p:spPr>
        <p:txBody>
          <a:bodyPr wrap="square" lIns="0" tIns="0" rIns="0" bIns="0" rtlCol="0" anchor="t"/>
          <a:lstStyle/>
          <a:p>
            <a:pPr algn="l" indent="0" marL="0">
              <a:buNone/>
            </a:pPr>
            <a:r>
              <a:rPr lang="en-US" sz="1350" b="1" dirty="0">
                <a:solidFill>
                  <a:srgbClr val="1F2A3D"/>
                </a:solidFill>
                <a:latin typeface="Calibri" pitchFamily="34" charset="0"/>
                <a:ea typeface="Calibri" pitchFamily="34" charset="-122"/>
                <a:cs typeface="Calibri" pitchFamily="34" charset="-120"/>
              </a:rPr>
              <a:t>Hard stop</a:t>
            </a:r>
            <a:endParaRPr lang="en-US" sz="1350" dirty="0"/>
          </a:p>
        </p:txBody>
      </p:sp>
      <p:sp>
        <p:nvSpPr>
          <p:cNvPr id="23" name="Text 20"/>
          <p:cNvSpPr/>
          <p:nvPr/>
        </p:nvSpPr>
        <p:spPr>
          <a:xfrm>
            <a:off x="8375904" y="3063240"/>
            <a:ext cx="3090672" cy="1280160"/>
          </a:xfrm>
          <a:prstGeom prst="rect">
            <a:avLst/>
          </a:prstGeom>
          <a:noFill/>
          <a:ln/>
        </p:spPr>
        <p:txBody>
          <a:bodyPr wrap="square" lIns="0" tIns="0" rIns="0" bIns="0" rtlCol="0" anchor="t"/>
          <a:lstStyle/>
          <a:p>
            <a:pPr algn="l" indent="0" marL="0">
              <a:lnSpc>
                <a:spcPct val="112000"/>
              </a:lnSpc>
              <a:buNone/>
            </a:pPr>
            <a:r>
              <a:rPr lang="en-US" sz="1050" dirty="0">
                <a:solidFill>
                  <a:srgbClr val="5D6B7E"/>
                </a:solidFill>
                <a:latin typeface="Calibri" pitchFamily="34" charset="0"/>
                <a:ea typeface="Calibri" pitchFamily="34" charset="-122"/>
                <a:cs typeface="Calibri" pitchFamily="34" charset="-120"/>
              </a:rPr>
              <a:t>Refuse cloud escalation. Present S9's three options: continue degraded · fresh session · explicit override. Never silently pick a cloud rung.</a:t>
            </a:r>
            <a:endParaRPr lang="en-US" sz="1050" dirty="0"/>
          </a:p>
        </p:txBody>
      </p:sp>
      <p:sp>
        <p:nvSpPr>
          <p:cNvPr id="24" name="Shape 21"/>
          <p:cNvSpPr/>
          <p:nvPr/>
        </p:nvSpPr>
        <p:spPr>
          <a:xfrm>
            <a:off x="548640" y="4846320"/>
            <a:ext cx="11091672" cy="1280160"/>
          </a:xfrm>
          <a:prstGeom prst="roundRect">
            <a:avLst>
              <a:gd name="adj" fmla="val 5000"/>
            </a:avLst>
          </a:prstGeom>
          <a:solidFill>
            <a:srgbClr val="15223A"/>
          </a:solidFill>
          <a:ln/>
          <a:effectLst>
            <a:outerShdw sx="100000" sy="100000" kx="0" ky="0" algn="bl" rotWithShape="0" blurRad="88900" dist="25400" dir="2700000">
              <a:srgbClr val="1F2A3D">
                <a:alpha val="14000"/>
              </a:srgbClr>
            </a:outerShdw>
          </a:effectLst>
        </p:spPr>
      </p:sp>
      <p:sp>
        <p:nvSpPr>
          <p:cNvPr id="25" name="Text 22"/>
          <p:cNvSpPr/>
          <p:nvPr/>
        </p:nvSpPr>
        <p:spPr>
          <a:xfrm>
            <a:off x="868680" y="5047488"/>
            <a:ext cx="10424160" cy="320040"/>
          </a:xfrm>
          <a:prstGeom prst="rect">
            <a:avLst/>
          </a:prstGeom>
          <a:noFill/>
          <a:ln/>
        </p:spPr>
        <p:txBody>
          <a:bodyPr wrap="square" lIns="0" tIns="0" rIns="0" bIns="0" rtlCol="0" anchor="t"/>
          <a:lstStyle/>
          <a:p>
            <a:pPr algn="ctr" indent="0" marL="0">
              <a:buNone/>
            </a:pPr>
            <a:r>
              <a:rPr lang="en-US" sz="1150" dirty="0">
                <a:solidFill>
                  <a:srgbClr val="9FB0C7"/>
                </a:solidFill>
                <a:latin typeface="Calibri" pitchFamily="34" charset="0"/>
                <a:ea typeface="Calibri" pitchFamily="34" charset="-122"/>
                <a:cs typeface="Calibri" pitchFamily="34" charset="-120"/>
              </a:rPr>
              <a:t>The rule that generates all three steps:</a:t>
            </a:r>
            <a:endParaRPr lang="en-US" sz="1150" dirty="0"/>
          </a:p>
        </p:txBody>
      </p:sp>
      <p:sp>
        <p:nvSpPr>
          <p:cNvPr id="26" name="Text 23"/>
          <p:cNvSpPr/>
          <p:nvPr/>
        </p:nvSpPr>
        <p:spPr>
          <a:xfrm>
            <a:off x="868680" y="5394960"/>
            <a:ext cx="10424160" cy="457200"/>
          </a:xfrm>
          <a:prstGeom prst="rect">
            <a:avLst/>
          </a:prstGeom>
          <a:noFill/>
          <a:ln/>
        </p:spPr>
        <p:txBody>
          <a:bodyPr wrap="square" lIns="0" tIns="0" rIns="0" bIns="0" rtlCol="0" anchor="t"/>
          <a:lstStyle/>
          <a:p>
            <a:pPr algn="ctr" indent="0" marL="0">
              <a:buNone/>
            </a:pPr>
            <a:r>
              <a:rPr lang="en-US" sz="1650" b="1" dirty="0">
                <a:solidFill>
                  <a:srgbClr val="FFFFFF"/>
                </a:solidFill>
                <a:latin typeface="Cambria" pitchFamily="34" charset="0"/>
                <a:ea typeface="Cambria" pitchFamily="34" charset="-122"/>
                <a:cs typeface="Cambria" pitchFamily="34" charset="-120"/>
              </a:rPr>
              <a:t>The pin always wins. Feasibility problems surface to the human — they never weaken the pin.</a:t>
            </a:r>
            <a:endParaRPr lang="en-US" sz="16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PART 4 · GATES IN ACTION</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Why not cascade everything? The arithmetic (S10)</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scenario S10 · design doc §9</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31</a:t>
            </a:r>
            <a:endParaRPr lang="en-US" sz="900" dirty="0"/>
          </a:p>
        </p:txBody>
      </p:sp>
      <p:sp>
        <p:nvSpPr>
          <p:cNvPr id="7" name="Shape 4"/>
          <p:cNvSpPr/>
          <p:nvPr/>
        </p:nvSpPr>
        <p:spPr>
          <a:xfrm>
            <a:off x="548640" y="1417320"/>
            <a:ext cx="11091672" cy="777240"/>
          </a:xfrm>
          <a:prstGeom prst="roundRect">
            <a:avLst>
              <a:gd name="adj" fmla="val 8235"/>
            </a:avLst>
          </a:prstGeom>
          <a:solidFill>
            <a:srgbClr val="F3F6F9"/>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8" name="Text 5"/>
          <p:cNvSpPr/>
          <p:nvPr/>
        </p:nvSpPr>
        <p:spPr>
          <a:xfrm>
            <a:off x="822960" y="1572768"/>
            <a:ext cx="10515600" cy="502920"/>
          </a:xfrm>
          <a:prstGeom prst="rect">
            <a:avLst/>
          </a:prstGeom>
          <a:noFill/>
          <a:ln/>
        </p:spPr>
        <p:txBody>
          <a:bodyPr wrap="square" lIns="0" tIns="0" rIns="0" bIns="0" rtlCol="0" anchor="t"/>
          <a:lstStyle/>
          <a:p>
            <a:pPr algn="l" indent="0" marL="0">
              <a:lnSpc>
                <a:spcPct val="110000"/>
              </a:lnSpc>
              <a:buNone/>
            </a:pPr>
            <a:r>
              <a:rPr lang="en-US" sz="1200" i="1" dirty="0">
                <a:solidFill>
                  <a:srgbClr val="1F2A3D"/>
                </a:solidFill>
                <a:latin typeface="Calibri" pitchFamily="34" charset="0"/>
                <a:ea typeface="Calibri" pitchFamily="34" charset="-122"/>
                <a:cs typeface="Calibri" pitchFamily="34" charset="-120"/>
              </a:rPr>
              <a:t>“refactor auth to the new session service across api/, worker/ and cli/”</a:t>
            </a:r>
            <a:pPr algn="l" indent="0" marL="0">
              <a:lnSpc>
                <a:spcPct val="110000"/>
              </a:lnSpc>
              <a:buNone/>
            </a:pPr>
            <a:r>
              <a:rPr lang="en-US" sz="1150" b="1" dirty="0">
                <a:solidFill>
                  <a:srgbClr val="5B21B6"/>
                </a:solidFill>
                <a:latin typeface="Calibri" pitchFamily="34" charset="0"/>
                <a:ea typeface="Calibri" pitchFamily="34" charset="-122"/>
                <a:cs typeface="Calibri" pitchFamily="34" charset="-120"/>
              </a:rPr>
              <a:t>   → verb=refactor · scope=across + 3 dirs · migration keyword · 6 files in ctx  →  score 0.86 &gt; T_HARD</a:t>
            </a:r>
            <a:endParaRPr lang="en-US" sz="12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2468880"/>
          <a:ext cx="11091672" cy="914400"/>
        </p:xfrm>
        <a:graphic>
          <a:graphicData uri="http://schemas.openxmlformats.org/drawingml/2006/table">
            <a:tbl>
              <a:tblPr/>
              <a:tblGrid>
                <a:gridCol w="3108960"/>
                <a:gridCol w="7982712"/>
              </a:tblGrid>
              <a:tr h="56692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Strategy</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20334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Expected cost (registry: p(local success) ≈ 0.15 · local try ≈ 75 s median)</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20334F"/>
                    </a:solidFill>
                  </a:tcPr>
                </a:tc>
              </a:tr>
              <a:tr h="566928">
                <a:tc>
                  <a:txBody>
                    <a:bodyPr/>
                    <a:lstStyle/>
                    <a:p>
                      <a:pPr indent="0" marL="0">
                        <a:buNone/>
                      </a:pPr>
                      <a:r>
                        <a:rPr lang="en-US" sz="1100" b="1" dirty="0">
                          <a:solidFill>
                            <a:srgbClr val="B3261E"/>
                          </a:solidFill>
                          <a:latin typeface="Calibri" pitchFamily="34" charset="0"/>
                          <a:ea typeface="Calibri" pitchFamily="34" charset="-122"/>
                          <a:cs typeface="Calibri" pitchFamily="34" charset="-120"/>
                        </a:rPr>
                        <a:t>Cascade — local first “just in case”</a:t>
                      </a:r>
                      <a:endParaRPr lang="en-US" sz="11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100" dirty="0">
                          <a:solidFill>
                            <a:srgbClr val="1F2A3D"/>
                          </a:solidFill>
                          <a:latin typeface="Calibri" pitchFamily="34" charset="0"/>
                          <a:ea typeface="Calibri" pitchFamily="34" charset="-122"/>
                          <a:cs typeface="Calibri" pitchFamily="34" charset="-120"/>
                        </a:rPr>
                        <a:t>0.85 × (75 s wasted + full frontier cost) + 0.15 × (local, free)  ≈  64 s user-latency tax + 85% of frontier cost anyway</a:t>
                      </a:r>
                      <a:endParaRPr lang="en-US" sz="11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9E7E4"/>
                    </a:solidFill>
                  </a:tcPr>
                </a:tc>
              </a:tr>
              <a:tr h="566928">
                <a:tc>
                  <a:txBody>
                    <a:bodyPr/>
                    <a:lstStyle/>
                    <a:p>
                      <a:pPr indent="0" marL="0">
                        <a:buNone/>
                      </a:pPr>
                      <a:r>
                        <a:rPr lang="en-US" sz="1100" b="1" dirty="0">
                          <a:solidFill>
                            <a:srgbClr val="1F7A55"/>
                          </a:solidFill>
                          <a:latin typeface="Calibri" pitchFamily="34" charset="0"/>
                          <a:ea typeface="Calibri" pitchFamily="34" charset="-122"/>
                          <a:cs typeface="Calibri" pitchFamily="34" charset="-120"/>
                        </a:rPr>
                        <a:t>Direct to frontier (what T_HARD does)</a:t>
                      </a:r>
                      <a:endParaRPr lang="en-US" sz="11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100" b="1" dirty="0">
                          <a:solidFill>
                            <a:srgbClr val="1F2A3D"/>
                          </a:solidFill>
                          <a:latin typeface="Calibri" pitchFamily="34" charset="0"/>
                          <a:ea typeface="Calibri" pitchFamily="34" charset="-122"/>
                          <a:cs typeface="Calibri" pitchFamily="34" charset="-120"/>
                        </a:rPr>
                        <a:t>frontier cost · zero wasted latency · decided in 9 ms</a:t>
                      </a:r>
                      <a:endParaRPr lang="en-US" sz="11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E3F1EA"/>
                    </a:solidFill>
                  </a:tcPr>
                </a:tc>
              </a:tr>
            </a:tbl>
          </a:graphicData>
        </a:graphic>
      </p:graphicFrame>
      <p:sp>
        <p:nvSpPr>
          <p:cNvPr id="10" name="Shape 6"/>
          <p:cNvSpPr/>
          <p:nvPr/>
        </p:nvSpPr>
        <p:spPr>
          <a:xfrm>
            <a:off x="548640" y="4434840"/>
            <a:ext cx="6720840" cy="1691640"/>
          </a:xfrm>
          <a:prstGeom prst="roundRect">
            <a:avLst>
              <a:gd name="adj" fmla="val 3784"/>
            </a:avLst>
          </a:prstGeom>
          <a:solidFill>
            <a:srgbClr val="ECE5F8"/>
          </a:solidFill>
          <a:ln/>
          <a:effectLst>
            <a:outerShdw sx="100000" sy="100000" kx="0" ky="0" algn="bl" rotWithShape="0" blurRad="88900" dist="25400" dir="2700000">
              <a:srgbClr val="1F2A3D">
                <a:alpha val="14000"/>
              </a:srgbClr>
            </a:outerShdw>
          </a:effectLst>
        </p:spPr>
      </p:sp>
      <p:sp>
        <p:nvSpPr>
          <p:cNvPr id="11" name="Text 7"/>
          <p:cNvSpPr/>
          <p:nvPr/>
        </p:nvSpPr>
        <p:spPr>
          <a:xfrm>
            <a:off x="822960" y="4617720"/>
            <a:ext cx="6172200" cy="1371600"/>
          </a:xfrm>
          <a:prstGeom prst="rect">
            <a:avLst/>
          </a:prstGeom>
          <a:noFill/>
          <a:ln/>
        </p:spPr>
        <p:txBody>
          <a:bodyPr wrap="square" lIns="0" tIns="0" rIns="0" bIns="0" rtlCol="0" anchor="t"/>
          <a:lstStyle/>
          <a:p>
            <a:pPr algn="l" indent="0" marL="0">
              <a:lnSpc>
                <a:spcPct val="114000"/>
              </a:lnSpc>
              <a:buNone/>
            </a:pPr>
            <a:r>
              <a:rPr lang="en-US" sz="1250" b="1" dirty="0">
                <a:solidFill>
                  <a:srgbClr val="1F2A3D"/>
                </a:solidFill>
                <a:latin typeface="Calibri" pitchFamily="34" charset="0"/>
                <a:ea typeface="Calibri" pitchFamily="34" charset="-122"/>
                <a:cs typeface="Calibri" pitchFamily="34" charset="-120"/>
              </a:rPr>
              <a:t>Bonus: hysteresis is self-reinforcing.</a:t>
            </a:r>
            <a:endParaRPr lang="en-US" sz="1250" dirty="0"/>
          </a:p>
          <a:p>
            <a:pPr algn="l" indent="0" marL="0">
              <a:lnSpc>
                <a:spcPct val="114000"/>
              </a:lnSpc>
              <a:buNone/>
            </a:pPr>
            <a:r>
              <a:rPr lang="en-US" sz="1100" dirty="0">
                <a:solidFill>
                  <a:srgbClr val="5D6B7E"/>
                </a:solidFill>
                <a:latin typeface="Calibri" pitchFamily="34" charset="0"/>
                <a:ea typeface="Calibri" pitchFamily="34" charset="-122"/>
                <a:cs typeface="Calibri" pitchFamily="34" charset="-120"/>
              </a:rPr>
              <a:t>Once the episode is on frontier, the provider prompt cache holds the 24k-token system+tools+transcript prefix — turns 2–8 pay ~10% input price. Yo-yoing rungs between turns re-cold-starts both caches every time.</a:t>
            </a:r>
            <a:endParaRPr lang="en-US" sz="1250" dirty="0"/>
          </a:p>
        </p:txBody>
      </p:sp>
      <p:sp>
        <p:nvSpPr>
          <p:cNvPr id="12" name="Shape 8"/>
          <p:cNvSpPr/>
          <p:nvPr/>
        </p:nvSpPr>
        <p:spPr>
          <a:xfrm>
            <a:off x="7635240" y="4434840"/>
            <a:ext cx="4023360" cy="1691640"/>
          </a:xfrm>
          <a:prstGeom prst="roundRect">
            <a:avLst>
              <a:gd name="adj" fmla="val 3784"/>
            </a:avLst>
          </a:prstGeom>
          <a:solidFill>
            <a:srgbClr val="15223A"/>
          </a:solidFill>
          <a:ln/>
          <a:effectLst>
            <a:outerShdw sx="100000" sy="100000" kx="0" ky="0" algn="bl" rotWithShape="0" blurRad="88900" dist="25400" dir="2700000">
              <a:srgbClr val="1F2A3D">
                <a:alpha val="14000"/>
              </a:srgbClr>
            </a:outerShdw>
          </a:effectLst>
        </p:spPr>
      </p:sp>
      <p:sp>
        <p:nvSpPr>
          <p:cNvPr id="13" name="Text 9"/>
          <p:cNvSpPr/>
          <p:nvPr/>
        </p:nvSpPr>
        <p:spPr>
          <a:xfrm>
            <a:off x="7882128" y="4681728"/>
            <a:ext cx="3520440" cy="548640"/>
          </a:xfrm>
          <a:prstGeom prst="rect">
            <a:avLst/>
          </a:prstGeom>
          <a:noFill/>
          <a:ln/>
        </p:spPr>
        <p:txBody>
          <a:bodyPr wrap="square" lIns="0" tIns="0" rIns="0" bIns="0" rtlCol="0" anchor="t"/>
          <a:lstStyle/>
          <a:p>
            <a:pPr algn="l" indent="0" marL="0">
              <a:buNone/>
            </a:pPr>
            <a:r>
              <a:rPr lang="en-US" sz="1450" b="1" dirty="0">
                <a:solidFill>
                  <a:srgbClr val="FFFFFF"/>
                </a:solidFill>
                <a:latin typeface="Cambria" pitchFamily="34" charset="0"/>
                <a:ea typeface="Cambria" pitchFamily="34" charset="-122"/>
                <a:cs typeface="Cambria" pitchFamily="34" charset="-120"/>
              </a:rPr>
              <a:t>“Adaptive” ≠ “always try cheap first.”</a:t>
            </a:r>
            <a:endParaRPr lang="en-US" sz="1450" dirty="0"/>
          </a:p>
        </p:txBody>
      </p:sp>
      <p:sp>
        <p:nvSpPr>
          <p:cNvPr id="14" name="Text 10"/>
          <p:cNvSpPr/>
          <p:nvPr/>
        </p:nvSpPr>
        <p:spPr>
          <a:xfrm>
            <a:off x="7882128" y="5257800"/>
            <a:ext cx="3520440" cy="731520"/>
          </a:xfrm>
          <a:prstGeom prst="rect">
            <a:avLst/>
          </a:prstGeom>
          <a:noFill/>
          <a:ln/>
        </p:spPr>
        <p:txBody>
          <a:bodyPr wrap="square" lIns="0" tIns="0" rIns="0" bIns="0" rtlCol="0" anchor="t"/>
          <a:lstStyle/>
          <a:p>
            <a:pPr algn="l" indent="0" marL="0">
              <a:lnSpc>
                <a:spcPct val="112000"/>
              </a:lnSpc>
              <a:buNone/>
            </a:pPr>
            <a:r>
              <a:rPr lang="en-US" sz="1100" dirty="0">
                <a:solidFill>
                  <a:srgbClr val="9FB0C7"/>
                </a:solidFill>
                <a:latin typeface="Calibri" pitchFamily="34" charset="0"/>
                <a:ea typeface="Calibri" pitchFamily="34" charset="-122"/>
                <a:cs typeface="Calibri" pitchFamily="34" charset="-120"/>
              </a:rPr>
              <a:t>The router's most valuable decisions are the ones where it declines to use the local model.</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PART 5 · STATE &amp; LIFECYCLE</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The session whiteboard: what the router must remember</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design doc §5.6</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32</a:t>
            </a:r>
            <a:endParaRPr lang="en-US" sz="9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914400"/>
        </p:xfrm>
        <a:graphic>
          <a:graphicData uri="http://schemas.openxmlformats.org/drawingml/2006/table">
            <a:tbl>
              <a:tblPr/>
              <a:tblGrid>
                <a:gridCol w="2651760"/>
                <a:gridCol w="3291840"/>
                <a:gridCol w="5148072"/>
              </a:tblGrid>
              <a:tr h="42062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Field</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20334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Example</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20334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Used by</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20334F"/>
                    </a:solidFill>
                  </a:tcPr>
                </a:tc>
              </a:tr>
              <a:tr h="420624">
                <a:tc>
                  <a:txBody>
                    <a:bodyPr/>
                    <a:lstStyle/>
                    <a:p>
                      <a:pPr indent="0" marL="0">
                        <a:buNone/>
                      </a:pPr>
                      <a:r>
                        <a:rPr lang="en-US" sz="950" b="1" dirty="0">
                          <a:solidFill>
                            <a:srgbClr val="1F2A3D"/>
                          </a:solidFill>
                          <a:latin typeface="Courier New" pitchFamily="34" charset="0"/>
                          <a:ea typeface="Courier New" pitchFamily="34" charset="-122"/>
                          <a:cs typeface="Courier New" pitchFamily="34" charset="-120"/>
                        </a:rPr>
                        <a:t>route</a:t>
                      </a:r>
                      <a:endParaRPr lang="en-US" sz="950" dirty="0">
                        <a:latin typeface="Courier New" charset="0"/>
                        <a:ea typeface="Courier New" charset="0"/>
                        <a:cs typeface="Courier New"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950" dirty="0">
                          <a:solidFill>
                            <a:srgbClr val="1F2A3D"/>
                          </a:solidFill>
                          <a:latin typeface="Calibri" pitchFamily="34" charset="0"/>
                          <a:ea typeface="Calibri" pitchFamily="34" charset="-122"/>
                          <a:cs typeface="Calibri" pitchFamily="34" charset="-120"/>
                        </a:rPr>
                        <a:t>"local"</a:t>
                      </a:r>
                      <a:endParaRPr lang="en-US" sz="9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950" b="1" dirty="0">
                          <a:solidFill>
                            <a:srgbClr val="1F7A55"/>
                          </a:solidFill>
                          <a:latin typeface="Calibri" pitchFamily="34" charset="0"/>
                          <a:ea typeface="Calibri" pitchFamily="34" charset="-122"/>
                          <a:cs typeface="Calibri" pitchFamily="34" charset="-120"/>
                        </a:rPr>
                        <a:t>continuations — the sticky lookup, hottest read in the system</a:t>
                      </a:r>
                      <a:endParaRPr lang="en-US" sz="9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r h="420624">
                <a:tc>
                  <a:txBody>
                    <a:bodyPr/>
                    <a:lstStyle/>
                    <a:p>
                      <a:pPr indent="0" marL="0">
                        <a:buNone/>
                      </a:pPr>
                      <a:r>
                        <a:rPr lang="en-US" sz="950" b="1" dirty="0">
                          <a:solidFill>
                            <a:srgbClr val="1F2A3D"/>
                          </a:solidFill>
                          <a:latin typeface="Courier New" pitchFamily="34" charset="0"/>
                          <a:ea typeface="Courier New" pitchFamily="34" charset="-122"/>
                          <a:cs typeface="Courier New" pitchFamily="34" charset="-120"/>
                        </a:rPr>
                        <a:t>active_turn_id</a:t>
                      </a:r>
                      <a:endParaRPr lang="en-US" sz="950" dirty="0">
                        <a:latin typeface="Courier New" charset="0"/>
                        <a:ea typeface="Courier New" charset="0"/>
                        <a:cs typeface="Courier New"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950" dirty="0">
                          <a:solidFill>
                            <a:srgbClr val="1F2A3D"/>
                          </a:solidFill>
                          <a:latin typeface="Calibri" pitchFamily="34" charset="0"/>
                          <a:ea typeface="Calibri" pitchFamily="34" charset="-122"/>
                          <a:cs typeface="Calibri" pitchFamily="34" charset="-120"/>
                        </a:rPr>
                        <a:t>t_0042</a:t>
                      </a:r>
                      <a:endParaRPr lang="en-US" sz="9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950" dirty="0">
                          <a:solidFill>
                            <a:srgbClr val="1F2A3D"/>
                          </a:solidFill>
                          <a:latin typeface="Calibri" pitchFamily="34" charset="0"/>
                          <a:ea typeface="Calibri" pitchFamily="34" charset="-122"/>
                          <a:cs typeface="Calibri" pitchFamily="34" charset="-120"/>
                        </a:rPr>
                        <a:t>discriminator (is there an active turn?)</a:t>
                      </a:r>
                      <a:endParaRPr lang="en-US" sz="9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r h="420624">
                <a:tc>
                  <a:txBody>
                    <a:bodyPr/>
                    <a:lstStyle/>
                    <a:p>
                      <a:pPr indent="0" marL="0">
                        <a:buNone/>
                      </a:pPr>
                      <a:r>
                        <a:rPr lang="en-US" sz="950" b="1" dirty="0">
                          <a:solidFill>
                            <a:srgbClr val="1F2A3D"/>
                          </a:solidFill>
                          <a:latin typeface="Courier New" pitchFamily="34" charset="0"/>
                          <a:ea typeface="Courier New" pitchFamily="34" charset="-122"/>
                          <a:cs typeface="Courier New" pitchFamily="34" charset="-120"/>
                        </a:rPr>
                        <a:t>strikes</a:t>
                      </a:r>
                      <a:endParaRPr lang="en-US" sz="950" dirty="0">
                        <a:latin typeface="Courier New" charset="0"/>
                        <a:ea typeface="Courier New" charset="0"/>
                        <a:cs typeface="Courier New"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950" dirty="0">
                          <a:solidFill>
                            <a:srgbClr val="1F2A3D"/>
                          </a:solidFill>
                          <a:latin typeface="Calibri" pitchFamily="34" charset="0"/>
                          <a:ea typeface="Calibri" pitchFamily="34" charset="-122"/>
                          <a:cs typeface="Calibri" pitchFamily="34" charset="-120"/>
                        </a:rPr>
                        <a:t>{parse:1, edit:0, loop:0, noprog:2}</a:t>
                      </a:r>
                      <a:endParaRPr lang="en-US" sz="9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950" dirty="0">
                          <a:solidFill>
                            <a:srgbClr val="1F2A3D"/>
                          </a:solidFill>
                          <a:latin typeface="Calibri" pitchFamily="34" charset="0"/>
                          <a:ea typeface="Calibri" pitchFamily="34" charset="-122"/>
                          <a:cs typeface="Calibri" pitchFamily="34" charset="-120"/>
                        </a:rPr>
                        <a:t>escalation controller — atomic increments, reset per turn</a:t>
                      </a:r>
                      <a:endParaRPr lang="en-US" sz="9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r h="420624">
                <a:tc>
                  <a:txBody>
                    <a:bodyPr/>
                    <a:lstStyle/>
                    <a:p>
                      <a:pPr indent="0" marL="0">
                        <a:buNone/>
                      </a:pPr>
                      <a:r>
                        <a:rPr lang="en-US" sz="950" b="1" dirty="0">
                          <a:solidFill>
                            <a:srgbClr val="1F2A3D"/>
                          </a:solidFill>
                          <a:latin typeface="Courier New" pitchFamily="34" charset="0"/>
                          <a:ea typeface="Courier New" pitchFamily="34" charset="-122"/>
                          <a:cs typeface="Courier New" pitchFamily="34" charset="-120"/>
                        </a:rPr>
                        <a:t>escalated_this_episode</a:t>
                      </a:r>
                      <a:endParaRPr lang="en-US" sz="950" dirty="0">
                        <a:latin typeface="Courier New" charset="0"/>
                        <a:ea typeface="Courier New" charset="0"/>
                        <a:cs typeface="Courier New"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950" dirty="0">
                          <a:solidFill>
                            <a:srgbClr val="1F2A3D"/>
                          </a:solidFill>
                          <a:latin typeface="Calibri" pitchFamily="34" charset="0"/>
                          <a:ea typeface="Calibri" pitchFamily="34" charset="-122"/>
                          <a:cs typeface="Calibri" pitchFamily="34" charset="-120"/>
                        </a:rPr>
                        <a:t>true</a:t>
                      </a:r>
                      <a:endParaRPr lang="en-US" sz="9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950" dirty="0">
                          <a:solidFill>
                            <a:srgbClr val="1F2A3D"/>
                          </a:solidFill>
                          <a:latin typeface="Calibri" pitchFamily="34" charset="0"/>
                          <a:ea typeface="Calibri" pitchFamily="34" charset="-122"/>
                          <a:cs typeface="Calibri" pitchFamily="34" charset="-120"/>
                        </a:rPr>
                        <a:t>hysteresis gate</a:t>
                      </a:r>
                      <a:endParaRPr lang="en-US" sz="9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r h="420624">
                <a:tc>
                  <a:txBody>
                    <a:bodyPr/>
                    <a:lstStyle/>
                    <a:p>
                      <a:pPr indent="0" marL="0">
                        <a:buNone/>
                      </a:pPr>
                      <a:r>
                        <a:rPr lang="en-US" sz="950" b="1" dirty="0">
                          <a:solidFill>
                            <a:srgbClr val="B3261E"/>
                          </a:solidFill>
                          <a:latin typeface="Courier New" pitchFamily="34" charset="0"/>
                          <a:ea typeface="Courier New" pitchFamily="34" charset="-122"/>
                          <a:cs typeface="Courier New" pitchFamily="34" charset="-120"/>
                        </a:rPr>
                        <a:t>privacy_pinned</a:t>
                      </a:r>
                      <a:endParaRPr lang="en-US" sz="950" dirty="0">
                        <a:latin typeface="Courier New" charset="0"/>
                        <a:ea typeface="Courier New" charset="0"/>
                        <a:cs typeface="Courier New"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950" dirty="0">
                          <a:solidFill>
                            <a:srgbClr val="B3261E"/>
                          </a:solidFill>
                          <a:latin typeface="Calibri" pitchFamily="34" charset="0"/>
                          <a:ea typeface="Calibri" pitchFamily="34" charset="-122"/>
                          <a:cs typeface="Calibri" pitchFamily="34" charset="-120"/>
                        </a:rPr>
                        <a:t>true (a .env was read at turn 3)</a:t>
                      </a:r>
                      <a:endParaRPr lang="en-US" sz="9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950" b="1" dirty="0">
                          <a:solidFill>
                            <a:srgbClr val="B3261E"/>
                          </a:solidFill>
                          <a:latin typeface="Calibri" pitchFamily="34" charset="0"/>
                          <a:ea typeface="Calibri" pitchFamily="34" charset="-122"/>
                          <a:cs typeface="Calibri" pitchFamily="34" charset="-120"/>
                        </a:rPr>
                        <a:t>hard gate — ONE-WAY; only a new session clears it</a:t>
                      </a:r>
                      <a:endParaRPr lang="en-US" sz="9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r h="420624">
                <a:tc>
                  <a:txBody>
                    <a:bodyPr/>
                    <a:lstStyle/>
                    <a:p>
                      <a:pPr indent="0" marL="0">
                        <a:buNone/>
                      </a:pPr>
                      <a:r>
                        <a:rPr lang="en-US" sz="950" b="1" dirty="0">
                          <a:solidFill>
                            <a:srgbClr val="1F2A3D"/>
                          </a:solidFill>
                          <a:latin typeface="Courier New" pitchFamily="34" charset="0"/>
                          <a:ea typeface="Courier New" pitchFamily="34" charset="-122"/>
                          <a:cs typeface="Courier New" pitchFamily="34" charset="-120"/>
                        </a:rPr>
                        <a:t>turn_count · episode_stats</a:t>
                      </a:r>
                      <a:endParaRPr lang="en-US" sz="950" dirty="0">
                        <a:latin typeface="Courier New" charset="0"/>
                        <a:ea typeface="Courier New" charset="0"/>
                        <a:cs typeface="Courier New"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950" dirty="0">
                          <a:solidFill>
                            <a:srgbClr val="1F2A3D"/>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950" dirty="0">
                          <a:solidFill>
                            <a:srgbClr val="1F2A3D"/>
                          </a:solidFill>
                          <a:latin typeface="Calibri" pitchFamily="34" charset="0"/>
                          <a:ea typeface="Calibri" pitchFamily="34" charset="-122"/>
                          <a:cs typeface="Calibri" pitchFamily="34" charset="-120"/>
                        </a:rPr>
                        <a:t>features, budgets</a:t>
                      </a:r>
                      <a:endParaRPr lang="en-US" sz="9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r h="420624">
                <a:tc>
                  <a:txBody>
                    <a:bodyPr/>
                    <a:lstStyle/>
                    <a:p>
                      <a:pPr indent="0" marL="0">
                        <a:buNone/>
                      </a:pPr>
                      <a:r>
                        <a:rPr lang="en-US" sz="950" b="1" dirty="0">
                          <a:solidFill>
                            <a:srgbClr val="1F2A3D"/>
                          </a:solidFill>
                          <a:latin typeface="Courier New" pitchFamily="34" charset="0"/>
                          <a:ea typeface="Courier New" pitchFamily="34" charset="-122"/>
                          <a:cs typeface="Courier New" pitchFamily="34" charset="-120"/>
                        </a:rPr>
                        <a:t>working_summary</a:t>
                      </a:r>
                      <a:endParaRPr lang="en-US" sz="950" dirty="0">
                        <a:latin typeface="Courier New" charset="0"/>
                        <a:ea typeface="Courier New" charset="0"/>
                        <a:cs typeface="Courier New"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950" dirty="0">
                          <a:solidFill>
                            <a:srgbClr val="1F2A3D"/>
                          </a:solidFill>
                          <a:latin typeface="Calibri" pitchFamily="34" charset="0"/>
                          <a:ea typeface="Calibri" pitchFamily="34" charset="-122"/>
                          <a:cs typeface="Calibri" pitchFamily="34" charset="-120"/>
                        </a:rPr>
                        <a:t>2-line rolling intent summary</a:t>
                      </a:r>
                      <a:endParaRPr lang="en-US" sz="9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950" dirty="0">
                          <a:solidFill>
                            <a:srgbClr val="1F2A3D"/>
                          </a:solidFill>
                          <a:latin typeface="Calibri" pitchFamily="34" charset="0"/>
                          <a:ea typeface="Calibri" pitchFamily="34" charset="-122"/>
                          <a:cs typeface="Calibri" pitchFamily="34" charset="-120"/>
                        </a:rPr>
                        <a:t>resolving “do the same for the other module”</a:t>
                      </a:r>
                      <a:endParaRPr lang="en-US" sz="9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r h="420624">
                <a:tc>
                  <a:txBody>
                    <a:bodyPr/>
                    <a:lstStyle/>
                    <a:p>
                      <a:pPr indent="0" marL="0">
                        <a:buNone/>
                      </a:pPr>
                      <a:r>
                        <a:rPr lang="en-US" sz="950" b="1" dirty="0">
                          <a:solidFill>
                            <a:srgbClr val="1F2A3D"/>
                          </a:solidFill>
                          <a:latin typeface="Courier New" pitchFamily="34" charset="0"/>
                          <a:ea typeface="Courier New" pitchFamily="34" charset="-122"/>
                          <a:cs typeface="Courier New" pitchFamily="34" charset="-120"/>
                        </a:rPr>
                        <a:t>tool_id_map</a:t>
                      </a:r>
                      <a:endParaRPr lang="en-US" sz="950" dirty="0">
                        <a:latin typeface="Courier New" charset="0"/>
                        <a:ea typeface="Courier New" charset="0"/>
                        <a:cs typeface="Courier New"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950" dirty="0">
                          <a:solidFill>
                            <a:srgbClr val="1F2A3D"/>
                          </a:solidFill>
                          <a:latin typeface="Calibri" pitchFamily="34" charset="0"/>
                          <a:ea typeface="Calibri" pitchFamily="34" charset="-122"/>
                          <a:cs typeface="Calibri" pitchFamily="34" charset="-120"/>
                        </a:rPr>
                        <a:t>{toolu_L2: toolu_F2, …}</a:t>
                      </a:r>
                      <a:endParaRPr lang="en-US" sz="9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950" dirty="0">
                          <a:solidFill>
                            <a:srgbClr val="1F2A3D"/>
                          </a:solidFill>
                          <a:latin typeface="Calibri" pitchFamily="34" charset="0"/>
                          <a:ea typeface="Calibri" pitchFamily="34" charset="-122"/>
                          <a:cs typeface="Calibri" pitchFamily="34" charset="-120"/>
                        </a:rPr>
                        <a:t>post-escalation scrubber — applied to EVERY later request (§5.5)</a:t>
                      </a:r>
                      <a:endParaRPr lang="en-US" sz="9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5349240"/>
            <a:ext cx="11091672" cy="868680"/>
          </a:xfrm>
          <a:prstGeom prst="roundRect">
            <a:avLst>
              <a:gd name="adj" fmla="val 7368"/>
            </a:avLst>
          </a:prstGeom>
          <a:solidFill>
            <a:srgbClr val="F3F6F9"/>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9" name="Text 5"/>
          <p:cNvSpPr/>
          <p:nvPr/>
        </p:nvSpPr>
        <p:spPr>
          <a:xfrm>
            <a:off x="822960" y="5532120"/>
            <a:ext cx="10515600" cy="566928"/>
          </a:xfrm>
          <a:prstGeom prst="rect">
            <a:avLst/>
          </a:prstGeom>
          <a:noFill/>
          <a:ln/>
        </p:spPr>
        <p:txBody>
          <a:bodyPr wrap="square" lIns="0" tIns="0" rIns="0" bIns="0" rtlCol="0" anchor="t"/>
          <a:lstStyle/>
          <a:p>
            <a:pPr algn="l" indent="0" marL="0">
              <a:lnSpc>
                <a:spcPct val="110000"/>
              </a:lnSpc>
              <a:buNone/>
            </a:pPr>
            <a:r>
              <a:rPr lang="en-US" sz="1150" b="1" dirty="0">
                <a:solidFill>
                  <a:srgbClr val="1F2A3D"/>
                </a:solidFill>
                <a:latin typeface="Calibri" pitchFamily="34" charset="0"/>
                <a:ea typeface="Calibri" pitchFamily="34" charset="-122"/>
                <a:cs typeface="Calibri" pitchFamily="34" charset="-120"/>
              </a:rPr>
              <a:t>Session identity:  </a:t>
            </a:r>
            <a:pPr algn="l" indent="0" marL="0">
              <a:lnSpc>
                <a:spcPct val="110000"/>
              </a:lnSpc>
              <a:buNone/>
            </a:pPr>
            <a:r>
              <a:rPr lang="en-US" sz="1150" dirty="0">
                <a:solidFill>
                  <a:srgbClr val="5D6B7E"/>
                </a:solidFill>
                <a:latin typeface="Calibri" pitchFamily="34" charset="0"/>
                <a:ea typeface="Calibri" pitchFamily="34" charset="-122"/>
                <a:cs typeface="Calibri" pitchFamily="34" charset="-120"/>
              </a:rPr>
              <a:t>use the harness's own session metadata where present (Claude Code sends session/user identifiers); fall back to hash(system_prompt + first_user_message). Expire after ~4 h idle — sessions end silently.</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PART 5 · STATE &amp; LIFECYCLE</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Why Redis — and when you don't need it</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design doc §6</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33</a:t>
            </a:r>
            <a:endParaRPr lang="en-US" sz="900" dirty="0"/>
          </a:p>
        </p:txBody>
      </p:sp>
      <p:sp>
        <p:nvSpPr>
          <p:cNvPr id="7" name="Shape 4"/>
          <p:cNvSpPr/>
          <p:nvPr/>
        </p:nvSpPr>
        <p:spPr>
          <a:xfrm>
            <a:off x="548640" y="1417320"/>
            <a:ext cx="420624" cy="420624"/>
          </a:xfrm>
          <a:prstGeom prst="ellipse">
            <a:avLst/>
          </a:prstGeom>
          <a:solidFill>
            <a:srgbClr val="1D6FA5"/>
          </a:solidFill>
          <a:ln/>
        </p:spPr>
      </p:sp>
      <p:pic>
        <p:nvPicPr>
          <p:cNvPr id="8" name="Image 0" descr="preencoded.png">    </p:cNvPr>
          <p:cNvPicPr>
            <a:picLocks noChangeAspect="1"/>
          </p:cNvPicPr>
          <p:nvPr/>
        </p:nvPicPr>
        <p:blipFill>
          <a:blip r:embed="rId1"/>
          <a:stretch>
            <a:fillRect/>
          </a:stretch>
        </p:blipFill>
        <p:spPr>
          <a:xfrm>
            <a:off x="658002" y="1526682"/>
            <a:ext cx="201900" cy="201900"/>
          </a:xfrm>
          <a:prstGeom prst="rect">
            <a:avLst/>
          </a:prstGeom>
        </p:spPr>
      </p:pic>
      <p:sp>
        <p:nvSpPr>
          <p:cNvPr id="9" name="Text 5"/>
          <p:cNvSpPr/>
          <p:nvPr/>
        </p:nvSpPr>
        <p:spPr>
          <a:xfrm>
            <a:off x="1152144" y="1389888"/>
            <a:ext cx="4206240" cy="274320"/>
          </a:xfrm>
          <a:prstGeom prst="rect">
            <a:avLst/>
          </a:prstGeom>
          <a:noFill/>
          <a:ln/>
        </p:spPr>
        <p:txBody>
          <a:bodyPr wrap="square" lIns="0" tIns="0" rIns="0" bIns="0" rtlCol="0" anchor="t"/>
          <a:lstStyle/>
          <a:p>
            <a:pPr algn="l" indent="0" marL="0">
              <a:buNone/>
            </a:pPr>
            <a:r>
              <a:rPr lang="en-US" sz="1250" b="1" dirty="0">
                <a:solidFill>
                  <a:srgbClr val="1F2A3D"/>
                </a:solidFill>
                <a:latin typeface="Calibri" pitchFamily="34" charset="0"/>
                <a:ea typeface="Calibri" pitchFamily="34" charset="-122"/>
                <a:cs typeface="Calibri" pitchFamily="34" charset="-120"/>
              </a:rPr>
              <a:t>Shared</a:t>
            </a:r>
            <a:endParaRPr lang="en-US" sz="1250" dirty="0"/>
          </a:p>
        </p:txBody>
      </p:sp>
      <p:sp>
        <p:nvSpPr>
          <p:cNvPr id="10" name="Text 6"/>
          <p:cNvSpPr/>
          <p:nvPr/>
        </p:nvSpPr>
        <p:spPr>
          <a:xfrm>
            <a:off x="1152144" y="1673352"/>
            <a:ext cx="4663440" cy="548640"/>
          </a:xfrm>
          <a:prstGeom prst="rect">
            <a:avLst/>
          </a:prstGeom>
          <a:noFill/>
          <a:ln/>
        </p:spPr>
        <p:txBody>
          <a:bodyPr wrap="square" lIns="0" tIns="0" rIns="0" bIns="0" rtlCol="0" anchor="t"/>
          <a:lstStyle/>
          <a:p>
            <a:pPr algn="l" indent="0" marL="0">
              <a:lnSpc>
                <a:spcPct val="105000"/>
              </a:lnSpc>
              <a:buNone/>
            </a:pPr>
            <a:r>
              <a:rPr lang="en-US" sz="1000" dirty="0">
                <a:solidFill>
                  <a:srgbClr val="5D6B7E"/>
                </a:solidFill>
                <a:latin typeface="Calibri" pitchFamily="34" charset="0"/>
                <a:ea typeface="Calibri" pitchFamily="34" charset="-122"/>
                <a:cs typeface="Calibri" pitchFamily="34" charset="-120"/>
              </a:rPr>
              <a:t>workers must see one truth — or worker B ignores a privacy pin</a:t>
            </a:r>
            <a:endParaRPr lang="en-US" sz="1000" dirty="0"/>
          </a:p>
        </p:txBody>
      </p:sp>
      <p:sp>
        <p:nvSpPr>
          <p:cNvPr id="11" name="Shape 7"/>
          <p:cNvSpPr/>
          <p:nvPr/>
        </p:nvSpPr>
        <p:spPr>
          <a:xfrm>
            <a:off x="548640" y="2350008"/>
            <a:ext cx="420624" cy="420624"/>
          </a:xfrm>
          <a:prstGeom prst="ellipse">
            <a:avLst/>
          </a:prstGeom>
          <a:solidFill>
            <a:srgbClr val="1D6FA5"/>
          </a:solidFill>
          <a:ln/>
        </p:spPr>
      </p:sp>
      <p:pic>
        <p:nvPicPr>
          <p:cNvPr id="12" name="Image 1" descr="preencoded.png">    </p:cNvPr>
          <p:cNvPicPr>
            <a:picLocks noChangeAspect="1"/>
          </p:cNvPicPr>
          <p:nvPr/>
        </p:nvPicPr>
        <p:blipFill>
          <a:blip r:embed="rId2"/>
          <a:stretch>
            <a:fillRect/>
          </a:stretch>
        </p:blipFill>
        <p:spPr>
          <a:xfrm>
            <a:off x="658002" y="2459370"/>
            <a:ext cx="201900" cy="201900"/>
          </a:xfrm>
          <a:prstGeom prst="rect">
            <a:avLst/>
          </a:prstGeom>
        </p:spPr>
      </p:pic>
      <p:sp>
        <p:nvSpPr>
          <p:cNvPr id="13" name="Text 8"/>
          <p:cNvSpPr/>
          <p:nvPr/>
        </p:nvSpPr>
        <p:spPr>
          <a:xfrm>
            <a:off x="1152144" y="2322576"/>
            <a:ext cx="4206240" cy="274320"/>
          </a:xfrm>
          <a:prstGeom prst="rect">
            <a:avLst/>
          </a:prstGeom>
          <a:noFill/>
          <a:ln/>
        </p:spPr>
        <p:txBody>
          <a:bodyPr wrap="square" lIns="0" tIns="0" rIns="0" bIns="0" rtlCol="0" anchor="t"/>
          <a:lstStyle/>
          <a:p>
            <a:pPr algn="l" indent="0" marL="0">
              <a:buNone/>
            </a:pPr>
            <a:r>
              <a:rPr lang="en-US" sz="1250" b="1" dirty="0">
                <a:solidFill>
                  <a:srgbClr val="1F2A3D"/>
                </a:solidFill>
                <a:latin typeface="Calibri" pitchFamily="34" charset="0"/>
                <a:ea typeface="Calibri" pitchFamily="34" charset="-122"/>
                <a:cs typeface="Calibri" pitchFamily="34" charset="-120"/>
              </a:rPr>
              <a:t>Fast</a:t>
            </a:r>
            <a:endParaRPr lang="en-US" sz="1250" dirty="0"/>
          </a:p>
        </p:txBody>
      </p:sp>
      <p:sp>
        <p:nvSpPr>
          <p:cNvPr id="14" name="Text 9"/>
          <p:cNvSpPr/>
          <p:nvPr/>
        </p:nvSpPr>
        <p:spPr>
          <a:xfrm>
            <a:off x="1152144" y="2606040"/>
            <a:ext cx="4663440" cy="548640"/>
          </a:xfrm>
          <a:prstGeom prst="rect">
            <a:avLst/>
          </a:prstGeom>
          <a:noFill/>
          <a:ln/>
        </p:spPr>
        <p:txBody>
          <a:bodyPr wrap="square" lIns="0" tIns="0" rIns="0" bIns="0" rtlCol="0" anchor="t"/>
          <a:lstStyle/>
          <a:p>
            <a:pPr algn="l" indent="0" marL="0">
              <a:lnSpc>
                <a:spcPct val="105000"/>
              </a:lnSpc>
              <a:buNone/>
            </a:pPr>
            <a:r>
              <a:rPr lang="en-US" sz="1000" dirty="0">
                <a:solidFill>
                  <a:srgbClr val="5D6B7E"/>
                </a:solidFill>
                <a:latin typeface="Calibri" pitchFamily="34" charset="0"/>
                <a:ea typeface="Calibri" pitchFamily="34" charset="-122"/>
                <a:cs typeface="Calibri" pitchFamily="34" charset="-120"/>
              </a:rPr>
              <a:t>sticky lookup on every request: well under 1 ms</a:t>
            </a:r>
            <a:endParaRPr lang="en-US" sz="1000" dirty="0"/>
          </a:p>
        </p:txBody>
      </p:sp>
      <p:sp>
        <p:nvSpPr>
          <p:cNvPr id="15" name="Shape 10"/>
          <p:cNvSpPr/>
          <p:nvPr/>
        </p:nvSpPr>
        <p:spPr>
          <a:xfrm>
            <a:off x="548640" y="3282696"/>
            <a:ext cx="420624" cy="420624"/>
          </a:xfrm>
          <a:prstGeom prst="ellipse">
            <a:avLst/>
          </a:prstGeom>
          <a:solidFill>
            <a:srgbClr val="1D6FA5"/>
          </a:solidFill>
          <a:ln/>
        </p:spPr>
      </p:sp>
      <p:pic>
        <p:nvPicPr>
          <p:cNvPr id="16" name="Image 2" descr="preencoded.png">    </p:cNvPr>
          <p:cNvPicPr>
            <a:picLocks noChangeAspect="1"/>
          </p:cNvPicPr>
          <p:nvPr/>
        </p:nvPicPr>
        <p:blipFill>
          <a:blip r:embed="rId3"/>
          <a:stretch>
            <a:fillRect/>
          </a:stretch>
        </p:blipFill>
        <p:spPr>
          <a:xfrm>
            <a:off x="658002" y="3392058"/>
            <a:ext cx="201900" cy="201900"/>
          </a:xfrm>
          <a:prstGeom prst="rect">
            <a:avLst/>
          </a:prstGeom>
        </p:spPr>
      </p:pic>
      <p:sp>
        <p:nvSpPr>
          <p:cNvPr id="17" name="Text 11"/>
          <p:cNvSpPr/>
          <p:nvPr/>
        </p:nvSpPr>
        <p:spPr>
          <a:xfrm>
            <a:off x="1152144" y="3255264"/>
            <a:ext cx="4206240" cy="274320"/>
          </a:xfrm>
          <a:prstGeom prst="rect">
            <a:avLst/>
          </a:prstGeom>
          <a:noFill/>
          <a:ln/>
        </p:spPr>
        <p:txBody>
          <a:bodyPr wrap="square" lIns="0" tIns="0" rIns="0" bIns="0" rtlCol="0" anchor="t"/>
          <a:lstStyle/>
          <a:p>
            <a:pPr algn="l" indent="0" marL="0">
              <a:buNone/>
            </a:pPr>
            <a:r>
              <a:rPr lang="en-US" sz="1250" b="1" dirty="0">
                <a:solidFill>
                  <a:srgbClr val="1F2A3D"/>
                </a:solidFill>
                <a:latin typeface="Calibri" pitchFamily="34" charset="0"/>
                <a:ea typeface="Calibri" pitchFamily="34" charset="-122"/>
                <a:cs typeface="Calibri" pitchFamily="34" charset="-120"/>
              </a:rPr>
              <a:t>Atomic counters</a:t>
            </a:r>
            <a:endParaRPr lang="en-US" sz="1250" dirty="0"/>
          </a:p>
        </p:txBody>
      </p:sp>
      <p:sp>
        <p:nvSpPr>
          <p:cNvPr id="18" name="Text 12"/>
          <p:cNvSpPr/>
          <p:nvPr/>
        </p:nvSpPr>
        <p:spPr>
          <a:xfrm>
            <a:off x="1152144" y="3538728"/>
            <a:ext cx="4663440" cy="548640"/>
          </a:xfrm>
          <a:prstGeom prst="rect">
            <a:avLst/>
          </a:prstGeom>
          <a:noFill/>
          <a:ln/>
        </p:spPr>
        <p:txBody>
          <a:bodyPr wrap="square" lIns="0" tIns="0" rIns="0" bIns="0" rtlCol="0" anchor="t"/>
          <a:lstStyle/>
          <a:p>
            <a:pPr algn="l" indent="0" marL="0">
              <a:lnSpc>
                <a:spcPct val="105000"/>
              </a:lnSpc>
              <a:buNone/>
            </a:pPr>
            <a:r>
              <a:rPr lang="en-US" sz="1000" dirty="0">
                <a:solidFill>
                  <a:srgbClr val="5D6B7E"/>
                </a:solidFill>
                <a:latin typeface="Calibri" pitchFamily="34" charset="0"/>
                <a:ea typeface="Calibri" pitchFamily="34" charset="-122"/>
                <a:cs typeface="Calibri" pitchFamily="34" charset="-120"/>
              </a:rPr>
              <a:t>racing tool results must not lose strike increments (INCR / HINCRBY)</a:t>
            </a:r>
            <a:endParaRPr lang="en-US" sz="1000" dirty="0"/>
          </a:p>
        </p:txBody>
      </p:sp>
      <p:sp>
        <p:nvSpPr>
          <p:cNvPr id="19" name="Shape 13"/>
          <p:cNvSpPr/>
          <p:nvPr/>
        </p:nvSpPr>
        <p:spPr>
          <a:xfrm>
            <a:off x="548640" y="4215384"/>
            <a:ext cx="420624" cy="420624"/>
          </a:xfrm>
          <a:prstGeom prst="ellipse">
            <a:avLst/>
          </a:prstGeom>
          <a:solidFill>
            <a:srgbClr val="1D6FA5"/>
          </a:solidFill>
          <a:ln/>
        </p:spPr>
      </p:sp>
      <p:pic>
        <p:nvPicPr>
          <p:cNvPr id="20" name="Image 3" descr="preencoded.png">    </p:cNvPr>
          <p:cNvPicPr>
            <a:picLocks noChangeAspect="1"/>
          </p:cNvPicPr>
          <p:nvPr/>
        </p:nvPicPr>
        <p:blipFill>
          <a:blip r:embed="rId4"/>
          <a:stretch>
            <a:fillRect/>
          </a:stretch>
        </p:blipFill>
        <p:spPr>
          <a:xfrm>
            <a:off x="658002" y="4324746"/>
            <a:ext cx="201900" cy="201900"/>
          </a:xfrm>
          <a:prstGeom prst="rect">
            <a:avLst/>
          </a:prstGeom>
        </p:spPr>
      </p:pic>
      <p:sp>
        <p:nvSpPr>
          <p:cNvPr id="21" name="Text 14"/>
          <p:cNvSpPr/>
          <p:nvPr/>
        </p:nvSpPr>
        <p:spPr>
          <a:xfrm>
            <a:off x="1152144" y="4187952"/>
            <a:ext cx="4206240" cy="274320"/>
          </a:xfrm>
          <a:prstGeom prst="rect">
            <a:avLst/>
          </a:prstGeom>
          <a:noFill/>
          <a:ln/>
        </p:spPr>
        <p:txBody>
          <a:bodyPr wrap="square" lIns="0" tIns="0" rIns="0" bIns="0" rtlCol="0" anchor="t"/>
          <a:lstStyle/>
          <a:p>
            <a:pPr algn="l" indent="0" marL="0">
              <a:buNone/>
            </a:pPr>
            <a:r>
              <a:rPr lang="en-US" sz="1250" b="1" dirty="0">
                <a:solidFill>
                  <a:srgbClr val="1F2A3D"/>
                </a:solidFill>
                <a:latin typeface="Calibri" pitchFamily="34" charset="0"/>
                <a:ea typeface="Calibri" pitchFamily="34" charset="-122"/>
                <a:cs typeface="Calibri" pitchFamily="34" charset="-120"/>
              </a:rPr>
              <a:t>Self-cleaning</a:t>
            </a:r>
            <a:endParaRPr lang="en-US" sz="1250" dirty="0"/>
          </a:p>
        </p:txBody>
      </p:sp>
      <p:sp>
        <p:nvSpPr>
          <p:cNvPr id="22" name="Text 15"/>
          <p:cNvSpPr/>
          <p:nvPr/>
        </p:nvSpPr>
        <p:spPr>
          <a:xfrm>
            <a:off x="1152144" y="4471416"/>
            <a:ext cx="4663440" cy="548640"/>
          </a:xfrm>
          <a:prstGeom prst="rect">
            <a:avLst/>
          </a:prstGeom>
          <a:noFill/>
          <a:ln/>
        </p:spPr>
        <p:txBody>
          <a:bodyPr wrap="square" lIns="0" tIns="0" rIns="0" bIns="0" rtlCol="0" anchor="t"/>
          <a:lstStyle/>
          <a:p>
            <a:pPr algn="l" indent="0" marL="0">
              <a:lnSpc>
                <a:spcPct val="105000"/>
              </a:lnSpc>
              <a:buNone/>
            </a:pPr>
            <a:r>
              <a:rPr lang="en-US" sz="1000" dirty="0">
                <a:solidFill>
                  <a:srgbClr val="5D6B7E"/>
                </a:solidFill>
                <a:latin typeface="Calibri" pitchFamily="34" charset="0"/>
                <a:ea typeface="Calibri" pitchFamily="34" charset="-122"/>
                <a:cs typeface="Calibri" pitchFamily="34" charset="-120"/>
              </a:rPr>
              <a:t>EXPIRE 14400 — state evaporates 4 h after the session goes quiet</a:t>
            </a:r>
            <a:endParaRPr lang="en-US" sz="1000" dirty="0"/>
          </a:p>
        </p:txBody>
      </p:sp>
      <p:sp>
        <p:nvSpPr>
          <p:cNvPr id="23" name="Shape 16"/>
          <p:cNvSpPr/>
          <p:nvPr/>
        </p:nvSpPr>
        <p:spPr>
          <a:xfrm>
            <a:off x="548640" y="5148072"/>
            <a:ext cx="420624" cy="420624"/>
          </a:xfrm>
          <a:prstGeom prst="ellipse">
            <a:avLst/>
          </a:prstGeom>
          <a:solidFill>
            <a:srgbClr val="1D6FA5"/>
          </a:solidFill>
          <a:ln/>
        </p:spPr>
      </p:sp>
      <p:pic>
        <p:nvPicPr>
          <p:cNvPr id="24" name="Image 4" descr="preencoded.png">    </p:cNvPr>
          <p:cNvPicPr>
            <a:picLocks noChangeAspect="1"/>
          </p:cNvPicPr>
          <p:nvPr/>
        </p:nvPicPr>
        <p:blipFill>
          <a:blip r:embed="rId5"/>
          <a:stretch>
            <a:fillRect/>
          </a:stretch>
        </p:blipFill>
        <p:spPr>
          <a:xfrm>
            <a:off x="658002" y="5257434"/>
            <a:ext cx="201900" cy="201900"/>
          </a:xfrm>
          <a:prstGeom prst="rect">
            <a:avLst/>
          </a:prstGeom>
        </p:spPr>
      </p:pic>
      <p:sp>
        <p:nvSpPr>
          <p:cNvPr id="25" name="Text 17"/>
          <p:cNvSpPr/>
          <p:nvPr/>
        </p:nvSpPr>
        <p:spPr>
          <a:xfrm>
            <a:off x="1152144" y="5120640"/>
            <a:ext cx="4206240" cy="274320"/>
          </a:xfrm>
          <a:prstGeom prst="rect">
            <a:avLst/>
          </a:prstGeom>
          <a:noFill/>
          <a:ln/>
        </p:spPr>
        <p:txBody>
          <a:bodyPr wrap="square" lIns="0" tIns="0" rIns="0" bIns="0" rtlCol="0" anchor="t"/>
          <a:lstStyle/>
          <a:p>
            <a:pPr algn="l" indent="0" marL="0">
              <a:buNone/>
            </a:pPr>
            <a:r>
              <a:rPr lang="en-US" sz="1250" b="1" dirty="0">
                <a:solidFill>
                  <a:srgbClr val="1F2A3D"/>
                </a:solidFill>
                <a:latin typeface="Calibri" pitchFamily="34" charset="0"/>
                <a:ea typeface="Calibri" pitchFamily="34" charset="-122"/>
                <a:cs typeface="Calibri" pitchFamily="34" charset="-120"/>
              </a:rPr>
              <a:t>A log pipe</a:t>
            </a:r>
            <a:endParaRPr lang="en-US" sz="1250" dirty="0"/>
          </a:p>
        </p:txBody>
      </p:sp>
      <p:sp>
        <p:nvSpPr>
          <p:cNvPr id="26" name="Text 18"/>
          <p:cNvSpPr/>
          <p:nvPr/>
        </p:nvSpPr>
        <p:spPr>
          <a:xfrm>
            <a:off x="1152144" y="5404104"/>
            <a:ext cx="4663440" cy="548640"/>
          </a:xfrm>
          <a:prstGeom prst="rect">
            <a:avLst/>
          </a:prstGeom>
          <a:noFill/>
          <a:ln/>
        </p:spPr>
        <p:txBody>
          <a:bodyPr wrap="square" lIns="0" tIns="0" rIns="0" bIns="0" rtlCol="0" anchor="t"/>
          <a:lstStyle/>
          <a:p>
            <a:pPr algn="l" indent="0" marL="0">
              <a:lnSpc>
                <a:spcPct val="105000"/>
              </a:lnSpc>
              <a:buNone/>
            </a:pPr>
            <a:r>
              <a:rPr lang="en-US" sz="1000" dirty="0">
                <a:solidFill>
                  <a:srgbClr val="5D6B7E"/>
                </a:solidFill>
                <a:latin typeface="Calibri" pitchFamily="34" charset="0"/>
                <a:ea typeface="Calibri" pitchFamily="34" charset="-122"/>
                <a:cs typeface="Calibri" pitchFamily="34" charset="-120"/>
              </a:rPr>
              <a:t>Redis Streams = append-only outcome feed for the flywheel, free</a:t>
            </a:r>
            <a:endParaRPr lang="en-US" sz="10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6309360" y="1417320"/>
          <a:ext cx="5349240" cy="914400"/>
        </p:xfrm>
        <a:graphic>
          <a:graphicData uri="http://schemas.openxmlformats.org/drawingml/2006/table">
            <a:tbl>
              <a:tblPr/>
              <a:tblGrid>
                <a:gridCol w="2377440"/>
                <a:gridCol w="2971800"/>
              </a:tblGrid>
              <a:tr h="56692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Your situation</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20334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Right store</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20334F"/>
                    </a:solidFill>
                  </a:tcPr>
                </a:tc>
              </a:tr>
              <a:tr h="566928">
                <a:tc>
                  <a:txBody>
                    <a:bodyPr/>
                    <a:lstStyle/>
                    <a:p>
                      <a:pPr indent="0" marL="0">
                        <a:buNone/>
                      </a:pPr>
                      <a:r>
                        <a:rPr lang="en-US" sz="950" b="1" dirty="0">
                          <a:solidFill>
                            <a:srgbClr val="1F2A3D"/>
                          </a:solidFill>
                          <a:latin typeface="Calibri" pitchFamily="34" charset="0"/>
                          <a:ea typeface="Calibri" pitchFamily="34" charset="-122"/>
                          <a:cs typeface="Calibri" pitchFamily="34" charset="-120"/>
                        </a:rPr>
                        <a:t>Single proxy process, one machine (today)</a:t>
                      </a:r>
                      <a:endParaRPr lang="en-US" sz="9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950" b="1" dirty="0">
                          <a:solidFill>
                            <a:srgbClr val="1F2A3D"/>
                          </a:solidFill>
                          <a:latin typeface="Calibri" pitchFamily="34" charset="0"/>
                          <a:ea typeface="Calibri" pitchFamily="34" charset="-122"/>
                          <a:cs typeface="Calibri" pitchFamily="34" charset="-120"/>
                        </a:rPr>
                        <a:t>In-process dict behind a SessionStore interface. Genuinely fine.</a:t>
                      </a:r>
                      <a:endParaRPr lang="en-US" sz="9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E3F1EA"/>
                    </a:solidFill>
                  </a:tcPr>
                </a:tc>
              </a:tr>
              <a:tr h="566928">
                <a:tc>
                  <a:txBody>
                    <a:bodyPr/>
                    <a:lstStyle/>
                    <a:p>
                      <a:pPr indent="0" marL="0">
                        <a:buNone/>
                      </a:pPr>
                      <a:r>
                        <a:rPr lang="en-US" sz="950" dirty="0">
                          <a:solidFill>
                            <a:srgbClr val="1F2A3D"/>
                          </a:solidFill>
                          <a:latin typeface="Calibri" pitchFamily="34" charset="0"/>
                          <a:ea typeface="Calibri" pitchFamily="34" charset="-122"/>
                          <a:cs typeface="Calibri" pitchFamily="34" charset="-120"/>
                        </a:rPr>
                        <a:t>Multiple proxy workers on one box</a:t>
                      </a:r>
                      <a:endParaRPr lang="en-US" sz="9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950" dirty="0">
                          <a:solidFill>
                            <a:srgbClr val="1F2A3D"/>
                          </a:solidFill>
                          <a:latin typeface="Calibri" pitchFamily="34" charset="0"/>
                          <a:ea typeface="Calibri" pitchFamily="34" charset="-122"/>
                          <a:cs typeface="Calibri" pitchFamily="34" charset="-120"/>
                        </a:rPr>
                        <a:t>Redis (or any shared in-memory store)</a:t>
                      </a:r>
                      <a:endParaRPr lang="en-US" sz="9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r h="566928">
                <a:tc>
                  <a:txBody>
                    <a:bodyPr/>
                    <a:lstStyle/>
                    <a:p>
                      <a:pPr indent="0" marL="0">
                        <a:buNone/>
                      </a:pPr>
                      <a:r>
                        <a:rPr lang="en-US" sz="950" dirty="0">
                          <a:solidFill>
                            <a:srgbClr val="1F2A3D"/>
                          </a:solidFill>
                          <a:latin typeface="Calibri" pitchFamily="34" charset="0"/>
                          <a:ea typeface="Calibri" pitchFamily="34" charset="-122"/>
                          <a:cs typeface="Calibri" pitchFamily="34" charset="-120"/>
                        </a:rPr>
                        <a:t>State must survive proxy restarts mid-session</a:t>
                      </a:r>
                      <a:endParaRPr lang="en-US" sz="9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950" dirty="0">
                          <a:solidFill>
                            <a:srgbClr val="1F2A3D"/>
                          </a:solidFill>
                          <a:latin typeface="Calibri" pitchFamily="34" charset="0"/>
                          <a:ea typeface="Calibri" pitchFamily="34" charset="-122"/>
                          <a:cs typeface="Calibri" pitchFamily="34" charset="-120"/>
                        </a:rPr>
                        <a:t>Redis with persistence, or SQLite</a:t>
                      </a:r>
                      <a:endParaRPr lang="en-US" sz="9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r h="566928">
                <a:tc>
                  <a:txBody>
                    <a:bodyPr/>
                    <a:lstStyle/>
                    <a:p>
                      <a:pPr indent="0" marL="0">
                        <a:buNone/>
                      </a:pPr>
                      <a:r>
                        <a:rPr lang="en-US" sz="950" dirty="0">
                          <a:solidFill>
                            <a:srgbClr val="1F2A3D"/>
                          </a:solidFill>
                          <a:latin typeface="Calibri" pitchFamily="34" charset="0"/>
                          <a:ea typeface="Calibri" pitchFamily="34" charset="-122"/>
                          <a:cs typeface="Calibri" pitchFamily="34" charset="-120"/>
                        </a:rPr>
                        <a:t>Multiple machines / shared team gateway</a:t>
                      </a:r>
                      <a:endParaRPr lang="en-US" sz="9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950" dirty="0">
                          <a:solidFill>
                            <a:srgbClr val="1F2A3D"/>
                          </a:solidFill>
                          <a:latin typeface="Calibri" pitchFamily="34" charset="0"/>
                          <a:ea typeface="Calibri" pitchFamily="34" charset="-122"/>
                          <a:cs typeface="Calibri" pitchFamily="34" charset="-120"/>
                        </a:rPr>
                        <a:t>Redis</a:t>
                      </a:r>
                      <a:endParaRPr lang="en-US" sz="9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r h="566928">
                <a:tc>
                  <a:txBody>
                    <a:bodyPr/>
                    <a:lstStyle/>
                    <a:p>
                      <a:pPr indent="0" marL="0">
                        <a:buNone/>
                      </a:pPr>
                      <a:r>
                        <a:rPr lang="en-US" sz="950" b="1" dirty="0">
                          <a:solidFill>
                            <a:srgbClr val="1F2A3D"/>
                          </a:solidFill>
                          <a:latin typeface="Calibri" pitchFamily="34" charset="0"/>
                          <a:ea typeface="Calibri" pitchFamily="34" charset="-122"/>
                          <a:cs typeface="Calibri" pitchFamily="34" charset="-120"/>
                        </a:rPr>
                        <a:t>Durable analytics &amp; training data</a:t>
                      </a:r>
                      <a:endParaRPr lang="en-US" sz="9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950" dirty="0">
                          <a:solidFill>
                            <a:srgbClr val="1F2A3D"/>
                          </a:solidFill>
                          <a:latin typeface="Calibri" pitchFamily="34" charset="0"/>
                          <a:ea typeface="Calibri" pitchFamily="34" charset="-122"/>
                          <a:cs typeface="Calibri" pitchFamily="34" charset="-120"/>
                        </a:rPr>
                        <a:t>NOT Redis — Postgres / SQLite / parquet. Redis holds live state; the flywheel archive belongs in a real database.</a:t>
                      </a:r>
                      <a:endParaRPr lang="en-US" sz="9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9E7E4"/>
                    </a:solidFill>
                  </a:tcPr>
                </a:tc>
              </a:tr>
            </a:tbl>
          </a:graphicData>
        </a:graphic>
      </p:graphicFrame>
      <p:sp>
        <p:nvSpPr>
          <p:cNvPr id="28" name="Shape 19"/>
          <p:cNvSpPr/>
          <p:nvPr/>
        </p:nvSpPr>
        <p:spPr>
          <a:xfrm>
            <a:off x="6309360" y="5120640"/>
            <a:ext cx="5349240" cy="1097280"/>
          </a:xfrm>
          <a:prstGeom prst="roundRect">
            <a:avLst>
              <a:gd name="adj" fmla="val 5833"/>
            </a:avLst>
          </a:prstGeom>
          <a:solidFill>
            <a:srgbClr val="E4EEF6"/>
          </a:solidFill>
          <a:ln/>
          <a:effectLst>
            <a:outerShdw sx="100000" sy="100000" kx="0" ky="0" algn="bl" rotWithShape="0" blurRad="88900" dist="25400" dir="2700000">
              <a:srgbClr val="1F2A3D">
                <a:alpha val="14000"/>
              </a:srgbClr>
            </a:outerShdw>
          </a:effectLst>
        </p:spPr>
      </p:sp>
      <p:sp>
        <p:nvSpPr>
          <p:cNvPr id="29" name="Text 20"/>
          <p:cNvSpPr/>
          <p:nvPr/>
        </p:nvSpPr>
        <p:spPr>
          <a:xfrm>
            <a:off x="6547104" y="5285232"/>
            <a:ext cx="4846320" cy="822960"/>
          </a:xfrm>
          <a:prstGeom prst="rect">
            <a:avLst/>
          </a:prstGeom>
          <a:noFill/>
          <a:ln/>
        </p:spPr>
        <p:txBody>
          <a:bodyPr wrap="square" lIns="0" tIns="0" rIns="0" bIns="0" rtlCol="0" anchor="t"/>
          <a:lstStyle/>
          <a:p>
            <a:pPr algn="l" indent="0" marL="0">
              <a:lnSpc>
                <a:spcPct val="112000"/>
              </a:lnSpc>
              <a:buNone/>
            </a:pPr>
            <a:r>
              <a:rPr lang="en-US" sz="1100" b="1" dirty="0">
                <a:solidFill>
                  <a:srgbClr val="1F2A3D"/>
                </a:solidFill>
                <a:latin typeface="Calibri" pitchFamily="34" charset="0"/>
                <a:ea typeface="Calibri" pitchFamily="34" charset="-122"/>
                <a:cs typeface="Calibri" pitchFamily="34" charset="-120"/>
              </a:rPr>
              <a:t>Define the interface now:  </a:t>
            </a:r>
            <a:pPr algn="l" indent="0" marL="0">
              <a:lnSpc>
                <a:spcPct val="112000"/>
              </a:lnSpc>
              <a:buNone/>
            </a:pPr>
            <a:r>
              <a:rPr lang="en-US" sz="1050" dirty="0">
                <a:solidFill>
                  <a:srgbClr val="5D6B7E"/>
                </a:solidFill>
                <a:latin typeface="Calibri" pitchFamily="34" charset="0"/>
                <a:ea typeface="Calibri" pitchFamily="34" charset="-122"/>
                <a:cs typeface="Calibri" pitchFamily="34" charset="-120"/>
              </a:rPr>
              <a:t>get_session · set_route · incr_strike · pin_privacy · append_outcome. Dict first; swap in Redis the day you run &gt;1 worker. The interface is the design decision.</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PART 5 · STATE &amp; LIFECYCLE</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Life of a session: the state machine</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design doc §7</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34</a:t>
            </a:r>
            <a:endParaRPr lang="en-US" sz="900" dirty="0"/>
          </a:p>
        </p:txBody>
      </p:sp>
      <p:sp>
        <p:nvSpPr>
          <p:cNvPr id="7" name="Shape 4"/>
          <p:cNvSpPr/>
          <p:nvPr/>
        </p:nvSpPr>
        <p:spPr>
          <a:xfrm>
            <a:off x="822960" y="3017520"/>
            <a:ext cx="1737360" cy="914400"/>
          </a:xfrm>
          <a:prstGeom prst="roundRect">
            <a:avLst>
              <a:gd name="adj" fmla="val 7000"/>
            </a:avLst>
          </a:prstGeom>
          <a:solidFill>
            <a:srgbClr val="EAF0F5"/>
          </a:solidFill>
          <a:ln/>
          <a:effectLst>
            <a:outerShdw sx="100000" sy="100000" kx="0" ky="0" algn="bl" rotWithShape="0" blurRad="88900" dist="25400" dir="2700000">
              <a:srgbClr val="1F2A3D">
                <a:alpha val="14000"/>
              </a:srgbClr>
            </a:outerShdw>
          </a:effectLst>
        </p:spPr>
      </p:sp>
      <p:sp>
        <p:nvSpPr>
          <p:cNvPr id="8" name="Text 5"/>
          <p:cNvSpPr/>
          <p:nvPr/>
        </p:nvSpPr>
        <p:spPr>
          <a:xfrm>
            <a:off x="822960" y="3182112"/>
            <a:ext cx="1737360" cy="365760"/>
          </a:xfrm>
          <a:prstGeom prst="rect">
            <a:avLst/>
          </a:prstGeom>
          <a:noFill/>
          <a:ln/>
        </p:spPr>
        <p:txBody>
          <a:bodyPr wrap="square" lIns="0" tIns="0" rIns="0" bIns="0" rtlCol="0" anchor="t"/>
          <a:lstStyle/>
          <a:p>
            <a:pPr algn="ctr" indent="0" marL="0">
              <a:buNone/>
            </a:pPr>
            <a:r>
              <a:rPr lang="en-US" sz="1400" b="1" dirty="0">
                <a:solidFill>
                  <a:srgbClr val="1F2A3D"/>
                </a:solidFill>
                <a:latin typeface="Cambria" pitchFamily="34" charset="0"/>
                <a:ea typeface="Cambria" pitchFamily="34" charset="-122"/>
                <a:cs typeface="Cambria" pitchFamily="34" charset="-120"/>
              </a:rPr>
              <a:t>Fresh</a:t>
            </a:r>
            <a:endParaRPr lang="en-US" sz="1400" dirty="0"/>
          </a:p>
        </p:txBody>
      </p:sp>
      <p:sp>
        <p:nvSpPr>
          <p:cNvPr id="9" name="Text 6"/>
          <p:cNvSpPr/>
          <p:nvPr/>
        </p:nvSpPr>
        <p:spPr>
          <a:xfrm>
            <a:off x="822960" y="3547872"/>
            <a:ext cx="1737360" cy="274320"/>
          </a:xfrm>
          <a:prstGeom prst="rect">
            <a:avLst/>
          </a:prstGeom>
          <a:noFill/>
          <a:ln/>
        </p:spPr>
        <p:txBody>
          <a:bodyPr wrap="square" lIns="0" tIns="0" rIns="0" bIns="0" rtlCol="0" anchor="t"/>
          <a:lstStyle/>
          <a:p>
            <a:pPr algn="ctr" indent="0" marL="0">
              <a:buNone/>
            </a:pPr>
            <a:r>
              <a:rPr lang="en-US" sz="900" dirty="0">
                <a:solidFill>
                  <a:srgbClr val="5D6B7E"/>
                </a:solidFill>
                <a:latin typeface="Calibri" pitchFamily="34" charset="0"/>
                <a:ea typeface="Calibri" pitchFamily="34" charset="-122"/>
                <a:cs typeface="Calibri" pitchFamily="34" charset="-120"/>
              </a:rPr>
              <a:t>first request</a:t>
            </a:r>
            <a:endParaRPr lang="en-US" sz="900" dirty="0"/>
          </a:p>
        </p:txBody>
      </p:sp>
      <p:sp>
        <p:nvSpPr>
          <p:cNvPr id="10" name="Shape 7"/>
          <p:cNvSpPr/>
          <p:nvPr/>
        </p:nvSpPr>
        <p:spPr>
          <a:xfrm>
            <a:off x="3749040" y="1645920"/>
            <a:ext cx="2286000" cy="914400"/>
          </a:xfrm>
          <a:prstGeom prst="roundRect">
            <a:avLst>
              <a:gd name="adj" fmla="val 7000"/>
            </a:avLst>
          </a:prstGeom>
          <a:solidFill>
            <a:srgbClr val="E3F1EA"/>
          </a:solidFill>
          <a:ln/>
          <a:effectLst>
            <a:outerShdw sx="100000" sy="100000" kx="0" ky="0" algn="bl" rotWithShape="0" blurRad="88900" dist="25400" dir="2700000">
              <a:srgbClr val="1F2A3D">
                <a:alpha val="14000"/>
              </a:srgbClr>
            </a:outerShdw>
          </a:effectLst>
        </p:spPr>
      </p:sp>
      <p:sp>
        <p:nvSpPr>
          <p:cNvPr id="11" name="Text 8"/>
          <p:cNvSpPr/>
          <p:nvPr/>
        </p:nvSpPr>
        <p:spPr>
          <a:xfrm>
            <a:off x="3749040" y="1810512"/>
            <a:ext cx="2286000" cy="365760"/>
          </a:xfrm>
          <a:prstGeom prst="rect">
            <a:avLst/>
          </a:prstGeom>
          <a:noFill/>
          <a:ln/>
        </p:spPr>
        <p:txBody>
          <a:bodyPr wrap="square" lIns="0" tIns="0" rIns="0" bIns="0" rtlCol="0" anchor="t"/>
          <a:lstStyle/>
          <a:p>
            <a:pPr algn="ctr" indent="0" marL="0">
              <a:buNone/>
            </a:pPr>
            <a:r>
              <a:rPr lang="en-US" sz="1400" b="1" dirty="0">
                <a:solidFill>
                  <a:srgbClr val="1F7A55"/>
                </a:solidFill>
                <a:latin typeface="Cambria" pitchFamily="34" charset="0"/>
                <a:ea typeface="Cambria" pitchFamily="34" charset="-122"/>
                <a:cs typeface="Cambria" pitchFamily="34" charset="-120"/>
              </a:rPr>
              <a:t>LocalSticky</a:t>
            </a:r>
            <a:endParaRPr lang="en-US" sz="1400" dirty="0"/>
          </a:p>
        </p:txBody>
      </p:sp>
      <p:sp>
        <p:nvSpPr>
          <p:cNvPr id="12" name="Text 9"/>
          <p:cNvSpPr/>
          <p:nvPr/>
        </p:nvSpPr>
        <p:spPr>
          <a:xfrm>
            <a:off x="3749040" y="2176272"/>
            <a:ext cx="2286000" cy="274320"/>
          </a:xfrm>
          <a:prstGeom prst="rect">
            <a:avLst/>
          </a:prstGeom>
          <a:noFill/>
          <a:ln/>
        </p:spPr>
        <p:txBody>
          <a:bodyPr wrap="square" lIns="0" tIns="0" rIns="0" bIns="0" rtlCol="0" anchor="t"/>
          <a:lstStyle/>
          <a:p>
            <a:pPr algn="ctr" indent="0" marL="0">
              <a:buNone/>
            </a:pPr>
            <a:r>
              <a:rPr lang="en-US" sz="900" dirty="0">
                <a:solidFill>
                  <a:srgbClr val="5D6B7E"/>
                </a:solidFill>
                <a:latin typeface="Calibri" pitchFamily="34" charset="0"/>
                <a:ea typeface="Calibri" pitchFamily="34" charset="-122"/>
                <a:cs typeface="Calibri" pitchFamily="34" charset="-120"/>
              </a:rPr>
              <a:t>continuations inherit ⟲</a:t>
            </a:r>
            <a:endParaRPr lang="en-US" sz="900" dirty="0"/>
          </a:p>
        </p:txBody>
      </p:sp>
      <p:sp>
        <p:nvSpPr>
          <p:cNvPr id="13" name="Shape 10"/>
          <p:cNvSpPr/>
          <p:nvPr/>
        </p:nvSpPr>
        <p:spPr>
          <a:xfrm>
            <a:off x="3749040" y="4389120"/>
            <a:ext cx="2286000" cy="914400"/>
          </a:xfrm>
          <a:prstGeom prst="roundRect">
            <a:avLst>
              <a:gd name="adj" fmla="val 7000"/>
            </a:avLst>
          </a:prstGeom>
          <a:solidFill>
            <a:srgbClr val="ECE5F8"/>
          </a:solidFill>
          <a:ln/>
          <a:effectLst>
            <a:outerShdw sx="100000" sy="100000" kx="0" ky="0" algn="bl" rotWithShape="0" blurRad="88900" dist="25400" dir="2700000">
              <a:srgbClr val="1F2A3D">
                <a:alpha val="14000"/>
              </a:srgbClr>
            </a:outerShdw>
          </a:effectLst>
        </p:spPr>
      </p:sp>
      <p:sp>
        <p:nvSpPr>
          <p:cNvPr id="14" name="Text 11"/>
          <p:cNvSpPr/>
          <p:nvPr/>
        </p:nvSpPr>
        <p:spPr>
          <a:xfrm>
            <a:off x="3749040" y="4553712"/>
            <a:ext cx="2286000" cy="365760"/>
          </a:xfrm>
          <a:prstGeom prst="rect">
            <a:avLst/>
          </a:prstGeom>
          <a:noFill/>
          <a:ln/>
        </p:spPr>
        <p:txBody>
          <a:bodyPr wrap="square" lIns="0" tIns="0" rIns="0" bIns="0" rtlCol="0" anchor="t"/>
          <a:lstStyle/>
          <a:p>
            <a:pPr algn="ctr" indent="0" marL="0">
              <a:buNone/>
            </a:pPr>
            <a:r>
              <a:rPr lang="en-US" sz="1400" b="1" dirty="0">
                <a:solidFill>
                  <a:srgbClr val="5B21B6"/>
                </a:solidFill>
                <a:latin typeface="Cambria" pitchFamily="34" charset="0"/>
                <a:ea typeface="Cambria" pitchFamily="34" charset="-122"/>
                <a:cs typeface="Cambria" pitchFamily="34" charset="-120"/>
              </a:rPr>
              <a:t>FrontierSticky</a:t>
            </a:r>
            <a:endParaRPr lang="en-US" sz="1400" dirty="0"/>
          </a:p>
        </p:txBody>
      </p:sp>
      <p:sp>
        <p:nvSpPr>
          <p:cNvPr id="15" name="Text 12"/>
          <p:cNvSpPr/>
          <p:nvPr/>
        </p:nvSpPr>
        <p:spPr>
          <a:xfrm>
            <a:off x="3749040" y="4919472"/>
            <a:ext cx="2286000" cy="274320"/>
          </a:xfrm>
          <a:prstGeom prst="rect">
            <a:avLst/>
          </a:prstGeom>
          <a:noFill/>
          <a:ln/>
        </p:spPr>
        <p:txBody>
          <a:bodyPr wrap="square" lIns="0" tIns="0" rIns="0" bIns="0" rtlCol="0" anchor="t"/>
          <a:lstStyle/>
          <a:p>
            <a:pPr algn="ctr" indent="0" marL="0">
              <a:buNone/>
            </a:pPr>
            <a:r>
              <a:rPr lang="en-US" sz="900" dirty="0">
                <a:solidFill>
                  <a:srgbClr val="5D6B7E"/>
                </a:solidFill>
                <a:latin typeface="Calibri" pitchFamily="34" charset="0"/>
                <a:ea typeface="Calibri" pitchFamily="34" charset="-122"/>
                <a:cs typeface="Calibri" pitchFamily="34" charset="-120"/>
              </a:rPr>
              <a:t>continuations inherit ⟲</a:t>
            </a:r>
            <a:endParaRPr lang="en-US" sz="900" dirty="0"/>
          </a:p>
        </p:txBody>
      </p:sp>
      <p:sp>
        <p:nvSpPr>
          <p:cNvPr id="16" name="Shape 13"/>
          <p:cNvSpPr/>
          <p:nvPr/>
        </p:nvSpPr>
        <p:spPr>
          <a:xfrm>
            <a:off x="7589520" y="3017520"/>
            <a:ext cx="2377440" cy="914400"/>
          </a:xfrm>
          <a:prstGeom prst="roundRect">
            <a:avLst>
              <a:gd name="adj" fmla="val 7000"/>
            </a:avLst>
          </a:prstGeom>
          <a:solidFill>
            <a:srgbClr val="F9E7E4"/>
          </a:solidFill>
          <a:ln/>
          <a:effectLst>
            <a:outerShdw sx="100000" sy="100000" kx="0" ky="0" algn="bl" rotWithShape="0" blurRad="88900" dist="25400" dir="2700000">
              <a:srgbClr val="1F2A3D">
                <a:alpha val="14000"/>
              </a:srgbClr>
            </a:outerShdw>
          </a:effectLst>
        </p:spPr>
      </p:sp>
      <p:sp>
        <p:nvSpPr>
          <p:cNvPr id="17" name="Text 14"/>
          <p:cNvSpPr/>
          <p:nvPr/>
        </p:nvSpPr>
        <p:spPr>
          <a:xfrm>
            <a:off x="7589520" y="3182112"/>
            <a:ext cx="2377440" cy="365760"/>
          </a:xfrm>
          <a:prstGeom prst="rect">
            <a:avLst/>
          </a:prstGeom>
          <a:noFill/>
          <a:ln/>
        </p:spPr>
        <p:txBody>
          <a:bodyPr wrap="square" lIns="0" tIns="0" rIns="0" bIns="0" rtlCol="0" anchor="t"/>
          <a:lstStyle/>
          <a:p>
            <a:pPr algn="ctr" indent="0" marL="0">
              <a:buNone/>
            </a:pPr>
            <a:r>
              <a:rPr lang="en-US" sz="1400" b="1" dirty="0">
                <a:solidFill>
                  <a:srgbClr val="B3261E"/>
                </a:solidFill>
                <a:latin typeface="Cambria" pitchFamily="34" charset="0"/>
                <a:ea typeface="Cambria" pitchFamily="34" charset="-122"/>
                <a:cs typeface="Cambria" pitchFamily="34" charset="-120"/>
              </a:rPr>
              <a:t>PrivacyPinned</a:t>
            </a:r>
            <a:endParaRPr lang="en-US" sz="1400" dirty="0"/>
          </a:p>
        </p:txBody>
      </p:sp>
      <p:sp>
        <p:nvSpPr>
          <p:cNvPr id="18" name="Text 15"/>
          <p:cNvSpPr/>
          <p:nvPr/>
        </p:nvSpPr>
        <p:spPr>
          <a:xfrm>
            <a:off x="7589520" y="3547872"/>
            <a:ext cx="2377440" cy="274320"/>
          </a:xfrm>
          <a:prstGeom prst="rect">
            <a:avLst/>
          </a:prstGeom>
          <a:noFill/>
          <a:ln/>
        </p:spPr>
        <p:txBody>
          <a:bodyPr wrap="square" lIns="0" tIns="0" rIns="0" bIns="0" rtlCol="0" anchor="t"/>
          <a:lstStyle/>
          <a:p>
            <a:pPr algn="ctr" indent="0" marL="0">
              <a:buNone/>
            </a:pPr>
            <a:r>
              <a:rPr lang="en-US" sz="900" dirty="0">
                <a:solidFill>
                  <a:srgbClr val="5D6B7E"/>
                </a:solidFill>
                <a:latin typeface="Calibri" pitchFamily="34" charset="0"/>
                <a:ea typeface="Calibri" pitchFamily="34" charset="-122"/>
                <a:cs typeface="Calibri" pitchFamily="34" charset="-120"/>
              </a:rPr>
              <a:t>one-way · whole session</a:t>
            </a:r>
            <a:endParaRPr lang="en-US" sz="900" dirty="0"/>
          </a:p>
        </p:txBody>
      </p:sp>
      <p:sp>
        <p:nvSpPr>
          <p:cNvPr id="19" name="Shape 16"/>
          <p:cNvSpPr/>
          <p:nvPr/>
        </p:nvSpPr>
        <p:spPr>
          <a:xfrm>
            <a:off x="2560320" y="3291840"/>
            <a:ext cx="1188720" cy="-1097280"/>
          </a:xfrm>
          <a:prstGeom prst="line">
            <a:avLst/>
          </a:prstGeom>
          <a:noFill/>
          <a:ln w="25400">
            <a:solidFill>
              <a:srgbClr val="1F7A55"/>
            </a:solidFill>
            <a:prstDash val="solid"/>
            <a:headEnd type="none"/>
            <a:tailEnd type="triangle"/>
          </a:ln>
        </p:spPr>
      </p:sp>
      <p:sp>
        <p:nvSpPr>
          <p:cNvPr id="20" name="Text 17"/>
          <p:cNvSpPr/>
          <p:nvPr/>
        </p:nvSpPr>
        <p:spPr>
          <a:xfrm>
            <a:off x="2514600" y="2331720"/>
            <a:ext cx="1188720" cy="228600"/>
          </a:xfrm>
          <a:prstGeom prst="rect">
            <a:avLst/>
          </a:prstGeom>
          <a:noFill/>
          <a:ln/>
        </p:spPr>
        <p:txBody>
          <a:bodyPr wrap="square" lIns="0" tIns="0" rIns="0" bIns="0" rtlCol="0" anchor="t"/>
          <a:lstStyle/>
          <a:p>
            <a:pPr algn="l" indent="0" marL="0">
              <a:buNone/>
            </a:pPr>
            <a:r>
              <a:rPr lang="en-US" sz="900" b="1" dirty="0">
                <a:solidFill>
                  <a:srgbClr val="1F7A55"/>
                </a:solidFill>
                <a:latin typeface="Calibri" pitchFamily="34" charset="0"/>
                <a:ea typeface="Calibri" pitchFamily="34" charset="-122"/>
                <a:cs typeface="Calibri" pitchFamily="34" charset="-120"/>
              </a:rPr>
              <a:t>easy turn</a:t>
            </a:r>
            <a:endParaRPr lang="en-US" sz="900" dirty="0"/>
          </a:p>
        </p:txBody>
      </p:sp>
      <p:sp>
        <p:nvSpPr>
          <p:cNvPr id="21" name="Shape 18"/>
          <p:cNvSpPr/>
          <p:nvPr/>
        </p:nvSpPr>
        <p:spPr>
          <a:xfrm>
            <a:off x="2560320" y="3657600"/>
            <a:ext cx="1188720" cy="1097280"/>
          </a:xfrm>
          <a:prstGeom prst="line">
            <a:avLst/>
          </a:prstGeom>
          <a:noFill/>
          <a:ln w="25400">
            <a:solidFill>
              <a:srgbClr val="5B21B6"/>
            </a:solidFill>
            <a:prstDash val="solid"/>
            <a:headEnd type="none"/>
            <a:tailEnd type="triangle"/>
          </a:ln>
        </p:spPr>
      </p:sp>
      <p:sp>
        <p:nvSpPr>
          <p:cNvPr id="22" name="Text 19"/>
          <p:cNvSpPr/>
          <p:nvPr/>
        </p:nvSpPr>
        <p:spPr>
          <a:xfrm>
            <a:off x="2286000" y="4709160"/>
            <a:ext cx="1417320" cy="228600"/>
          </a:xfrm>
          <a:prstGeom prst="rect">
            <a:avLst/>
          </a:prstGeom>
          <a:noFill/>
          <a:ln/>
        </p:spPr>
        <p:txBody>
          <a:bodyPr wrap="square" lIns="0" tIns="0" rIns="0" bIns="0" rtlCol="0" anchor="t"/>
          <a:lstStyle/>
          <a:p>
            <a:pPr algn="l" indent="0" marL="0">
              <a:buNone/>
            </a:pPr>
            <a:r>
              <a:rPr lang="en-US" sz="900" b="1" dirty="0">
                <a:solidFill>
                  <a:srgbClr val="5B21B6"/>
                </a:solidFill>
                <a:latin typeface="Calibri" pitchFamily="34" charset="0"/>
                <a:ea typeface="Calibri" pitchFamily="34" charset="-122"/>
                <a:cs typeface="Calibri" pitchFamily="34" charset="-120"/>
              </a:rPr>
              <a:t>gated / hard turn</a:t>
            </a:r>
            <a:endParaRPr lang="en-US" sz="900" dirty="0"/>
          </a:p>
        </p:txBody>
      </p:sp>
      <p:sp>
        <p:nvSpPr>
          <p:cNvPr id="23" name="Shape 20"/>
          <p:cNvSpPr/>
          <p:nvPr/>
        </p:nvSpPr>
        <p:spPr>
          <a:xfrm>
            <a:off x="4663440" y="2560320"/>
            <a:ext cx="0" cy="1828800"/>
          </a:xfrm>
          <a:prstGeom prst="line">
            <a:avLst/>
          </a:prstGeom>
          <a:noFill/>
          <a:ln w="28575">
            <a:solidFill>
              <a:srgbClr val="B3261E"/>
            </a:solidFill>
            <a:prstDash val="solid"/>
            <a:headEnd type="none"/>
            <a:tailEnd type="triangle"/>
          </a:ln>
        </p:spPr>
      </p:sp>
      <p:sp>
        <p:nvSpPr>
          <p:cNvPr id="24" name="Text 21"/>
          <p:cNvSpPr/>
          <p:nvPr/>
        </p:nvSpPr>
        <p:spPr>
          <a:xfrm>
            <a:off x="3246120" y="3127248"/>
            <a:ext cx="1325880" cy="502920"/>
          </a:xfrm>
          <a:prstGeom prst="rect">
            <a:avLst/>
          </a:prstGeom>
          <a:noFill/>
          <a:ln/>
        </p:spPr>
        <p:txBody>
          <a:bodyPr wrap="square" lIns="0" tIns="0" rIns="0" bIns="0" rtlCol="0" anchor="t"/>
          <a:lstStyle/>
          <a:p>
            <a:pPr algn="r" indent="0" marL="0">
              <a:buNone/>
            </a:pPr>
            <a:r>
              <a:rPr lang="en-US" sz="850" b="1" dirty="0">
                <a:solidFill>
                  <a:srgbClr val="B3261E"/>
                </a:solidFill>
                <a:latin typeface="Calibri" pitchFamily="34" charset="0"/>
                <a:ea typeface="Calibri" pitchFamily="34" charset="-122"/>
                <a:cs typeface="Calibri" pitchFamily="34" charset="-120"/>
              </a:rPr>
              <a:t>⚡ trip-wire →</a:t>
            </a:r>
            <a:endParaRPr lang="en-US" sz="850" dirty="0"/>
          </a:p>
          <a:p>
            <a:pPr algn="r" indent="0" marL="0">
              <a:buNone/>
            </a:pPr>
            <a:r>
              <a:rPr lang="en-US" sz="850" b="1" dirty="0">
                <a:solidFill>
                  <a:srgbClr val="B3261E"/>
                </a:solidFill>
                <a:latin typeface="Calibri" pitchFamily="34" charset="0"/>
                <a:ea typeface="Calibri" pitchFamily="34" charset="-122"/>
                <a:cs typeface="Calibri" pitchFamily="34" charset="-120"/>
              </a:rPr>
              <a:t>escalate + hysteresis</a:t>
            </a:r>
            <a:endParaRPr lang="en-US" sz="850" dirty="0"/>
          </a:p>
        </p:txBody>
      </p:sp>
      <p:sp>
        <p:nvSpPr>
          <p:cNvPr id="25" name="Shape 22"/>
          <p:cNvSpPr/>
          <p:nvPr/>
        </p:nvSpPr>
        <p:spPr>
          <a:xfrm>
            <a:off x="5577840" y="4389120"/>
            <a:ext cx="0" cy="-1828800"/>
          </a:xfrm>
          <a:prstGeom prst="line">
            <a:avLst/>
          </a:prstGeom>
          <a:noFill/>
          <a:ln w="19050">
            <a:solidFill>
              <a:srgbClr val="5D6B7E"/>
            </a:solidFill>
            <a:prstDash val="dash"/>
            <a:headEnd type="none"/>
            <a:tailEnd type="triangle"/>
          </a:ln>
        </p:spPr>
      </p:sp>
      <p:sp>
        <p:nvSpPr>
          <p:cNvPr id="26" name="Text 23"/>
          <p:cNvSpPr/>
          <p:nvPr/>
        </p:nvSpPr>
        <p:spPr>
          <a:xfrm>
            <a:off x="5742432" y="3310128"/>
            <a:ext cx="1737360" cy="502920"/>
          </a:xfrm>
          <a:prstGeom prst="rect">
            <a:avLst/>
          </a:prstGeom>
          <a:noFill/>
          <a:ln/>
        </p:spPr>
        <p:txBody>
          <a:bodyPr wrap="square" lIns="0" tIns="0" rIns="0" bIns="0" rtlCol="0" anchor="t"/>
          <a:lstStyle/>
          <a:p>
            <a:pPr algn="l" indent="0" marL="0">
              <a:buNone/>
            </a:pPr>
            <a:r>
              <a:rPr lang="en-US" sz="850" dirty="0">
                <a:solidFill>
                  <a:srgbClr val="5D6B7E"/>
                </a:solidFill>
                <a:latin typeface="Calibri" pitchFamily="34" charset="0"/>
                <a:ea typeface="Calibri" pitchFamily="34" charset="-122"/>
                <a:cs typeface="Calibri" pitchFamily="34" charset="-120"/>
              </a:rPr>
              <a:t>new episode</a:t>
            </a:r>
            <a:endParaRPr lang="en-US" sz="850" dirty="0"/>
          </a:p>
          <a:p>
            <a:pPr algn="l" indent="0" marL="0">
              <a:buNone/>
            </a:pPr>
            <a:r>
              <a:rPr lang="en-US" sz="850" dirty="0">
                <a:solidFill>
                  <a:srgbClr val="5D6B7E"/>
                </a:solidFill>
                <a:latin typeface="Calibri" pitchFamily="34" charset="0"/>
                <a:ea typeface="Calibri" pitchFamily="34" charset="-122"/>
                <a:cs typeface="Calibri" pitchFamily="34" charset="-120"/>
              </a:rPr>
              <a:t>+ easy turn (only door down)</a:t>
            </a:r>
            <a:endParaRPr lang="en-US" sz="850" dirty="0"/>
          </a:p>
        </p:txBody>
      </p:sp>
      <p:sp>
        <p:nvSpPr>
          <p:cNvPr id="27" name="Shape 24"/>
          <p:cNvSpPr/>
          <p:nvPr/>
        </p:nvSpPr>
        <p:spPr>
          <a:xfrm>
            <a:off x="6035040" y="2377440"/>
            <a:ext cx="1508760" cy="777240"/>
          </a:xfrm>
          <a:prstGeom prst="line">
            <a:avLst/>
          </a:prstGeom>
          <a:noFill/>
          <a:ln w="19050">
            <a:solidFill>
              <a:srgbClr val="B3261E"/>
            </a:solidFill>
            <a:prstDash val="dash"/>
            <a:headEnd type="none"/>
            <a:tailEnd type="triangle"/>
          </a:ln>
        </p:spPr>
      </p:sp>
      <p:sp>
        <p:nvSpPr>
          <p:cNvPr id="28" name="Shape 25"/>
          <p:cNvSpPr/>
          <p:nvPr/>
        </p:nvSpPr>
        <p:spPr>
          <a:xfrm flipV="1">
            <a:off x="6035040" y="3794760"/>
            <a:ext cx="1508760" cy="777240"/>
          </a:xfrm>
          <a:prstGeom prst="line">
            <a:avLst/>
          </a:prstGeom>
          <a:noFill/>
          <a:ln w="19050">
            <a:solidFill>
              <a:srgbClr val="B3261E"/>
            </a:solidFill>
            <a:prstDash val="dash"/>
            <a:headEnd type="none"/>
            <a:tailEnd type="triangle"/>
          </a:ln>
        </p:spPr>
      </p:sp>
      <p:sp>
        <p:nvSpPr>
          <p:cNvPr id="29" name="Text 26"/>
          <p:cNvSpPr/>
          <p:nvPr/>
        </p:nvSpPr>
        <p:spPr>
          <a:xfrm>
            <a:off x="6720840" y="2395728"/>
            <a:ext cx="1463040" cy="228600"/>
          </a:xfrm>
          <a:prstGeom prst="rect">
            <a:avLst/>
          </a:prstGeom>
          <a:noFill/>
          <a:ln/>
        </p:spPr>
        <p:txBody>
          <a:bodyPr wrap="square" lIns="0" tIns="0" rIns="0" bIns="0" rtlCol="0" anchor="t"/>
          <a:lstStyle/>
          <a:p>
            <a:pPr algn="l" indent="0" marL="0">
              <a:buNone/>
            </a:pPr>
            <a:r>
              <a:rPr lang="en-US" sz="850" b="1" dirty="0">
                <a:solidFill>
                  <a:srgbClr val="B3261E"/>
                </a:solidFill>
                <a:latin typeface="Calibri" pitchFamily="34" charset="0"/>
                <a:ea typeface="Calibri" pitchFamily="34" charset="-122"/>
                <a:cs typeface="Calibri" pitchFamily="34" charset="-120"/>
              </a:rPr>
              <a:t>secret detected</a:t>
            </a:r>
            <a:endParaRPr lang="en-US" sz="850" dirty="0"/>
          </a:p>
        </p:txBody>
      </p:sp>
      <p:sp>
        <p:nvSpPr>
          <p:cNvPr id="30" name="Text 27"/>
          <p:cNvSpPr/>
          <p:nvPr/>
        </p:nvSpPr>
        <p:spPr>
          <a:xfrm>
            <a:off x="6537960" y="4617720"/>
            <a:ext cx="1920240" cy="411480"/>
          </a:xfrm>
          <a:prstGeom prst="rect">
            <a:avLst/>
          </a:prstGeom>
          <a:noFill/>
          <a:ln/>
        </p:spPr>
        <p:txBody>
          <a:bodyPr wrap="square" lIns="0" tIns="0" rIns="0" bIns="0" rtlCol="0" anchor="t"/>
          <a:lstStyle/>
          <a:p>
            <a:pPr algn="l" indent="0" marL="0">
              <a:buNone/>
            </a:pPr>
            <a:r>
              <a:rPr lang="en-US" sz="850" b="1" dirty="0">
                <a:solidFill>
                  <a:srgbClr val="B3261E"/>
                </a:solidFill>
                <a:latin typeface="Calibri" pitchFamily="34" charset="0"/>
                <a:ea typeface="Calibri" pitchFamily="34" charset="-122"/>
                <a:cs typeface="Calibri" pitchFamily="34" charset="-120"/>
              </a:rPr>
              <a:t>secret detected → forced local</a:t>
            </a:r>
            <a:endParaRPr lang="en-US" sz="850" dirty="0"/>
          </a:p>
        </p:txBody>
      </p:sp>
      <p:sp>
        <p:nvSpPr>
          <p:cNvPr id="31" name="Text 28"/>
          <p:cNvSpPr/>
          <p:nvPr/>
        </p:nvSpPr>
        <p:spPr>
          <a:xfrm>
            <a:off x="7589520" y="4041648"/>
            <a:ext cx="2377440" cy="274320"/>
          </a:xfrm>
          <a:prstGeom prst="rect">
            <a:avLst/>
          </a:prstGeom>
          <a:noFill/>
          <a:ln/>
        </p:spPr>
        <p:txBody>
          <a:bodyPr wrap="square" lIns="0" tIns="0" rIns="0" bIns="0" rtlCol="0" anchor="t"/>
          <a:lstStyle/>
          <a:p>
            <a:pPr algn="ctr" indent="0" marL="0">
              <a:buNone/>
            </a:pPr>
            <a:r>
              <a:rPr lang="en-US" sz="900" i="1" dirty="0">
                <a:solidFill>
                  <a:srgbClr val="93A1B1"/>
                </a:solidFill>
                <a:latin typeface="Calibri" pitchFamily="34" charset="0"/>
                <a:ea typeface="Calibri" pitchFamily="34" charset="-122"/>
                <a:cs typeface="Calibri" pitchFamily="34" charset="-120"/>
              </a:rPr>
              <a:t>all states → idle 4 h (TTL) → gone</a:t>
            </a:r>
            <a:endParaRPr lang="en-US" sz="900" dirty="0"/>
          </a:p>
        </p:txBody>
      </p:sp>
      <p:sp>
        <p:nvSpPr>
          <p:cNvPr id="32" name="Shape 29"/>
          <p:cNvSpPr/>
          <p:nvPr/>
        </p:nvSpPr>
        <p:spPr>
          <a:xfrm>
            <a:off x="548640" y="5623560"/>
            <a:ext cx="11091672" cy="777240"/>
          </a:xfrm>
          <a:prstGeom prst="roundRect">
            <a:avLst>
              <a:gd name="adj" fmla="val 8235"/>
            </a:avLst>
          </a:prstGeom>
          <a:solidFill>
            <a:srgbClr val="F3F6F9"/>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33" name="Text 30"/>
          <p:cNvSpPr/>
          <p:nvPr/>
        </p:nvSpPr>
        <p:spPr>
          <a:xfrm>
            <a:off x="822960" y="5779008"/>
            <a:ext cx="10515600" cy="502920"/>
          </a:xfrm>
          <a:prstGeom prst="rect">
            <a:avLst/>
          </a:prstGeom>
          <a:noFill/>
          <a:ln/>
        </p:spPr>
        <p:txBody>
          <a:bodyPr wrap="square" lIns="0" tIns="0" rIns="0" bIns="0" rtlCol="0" anchor="t"/>
          <a:lstStyle/>
          <a:p>
            <a:pPr algn="l" indent="0" marL="0">
              <a:lnSpc>
                <a:spcPct val="110000"/>
              </a:lnSpc>
              <a:buNone/>
            </a:pPr>
            <a:r>
              <a:rPr lang="en-US" sz="1200" b="1" dirty="0">
                <a:solidFill>
                  <a:srgbClr val="1F2A3D"/>
                </a:solidFill>
                <a:latin typeface="Calibri" pitchFamily="34" charset="0"/>
                <a:ea typeface="Calibri" pitchFamily="34" charset="-122"/>
                <a:cs typeface="Calibri" pitchFamily="34" charset="-120"/>
              </a:rPr>
              <a:t>Three deliberate asymmetries:  </a:t>
            </a:r>
            <a:pPr algn="l" indent="0" marL="0">
              <a:lnSpc>
                <a:spcPct val="110000"/>
              </a:lnSpc>
              <a:buNone/>
            </a:pPr>
            <a:r>
              <a:rPr lang="en-US" sz="1150" dirty="0">
                <a:solidFill>
                  <a:srgbClr val="5D6B7E"/>
                </a:solidFill>
                <a:latin typeface="Calibri" pitchFamily="34" charset="0"/>
                <a:ea typeface="Calibri" pitchFamily="34" charset="-122"/>
                <a:cs typeface="Calibri" pitchFamily="34" charset="-120"/>
              </a:rPr>
              <a:t>escalation is easy — de-escalation only happens at an episode boundary (no flip-flopping) — and the privacy pin is one-way. State expires silently (TTL), no janitor.</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PART 5 · STATE &amp; LIFECYCLE · EXAMPLE</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Coming back down: the episode-boundary detector (S15)</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scenario S15A · design doc §5.3, §7</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35</a:t>
            </a:r>
            <a:endParaRPr lang="en-US" sz="900" dirty="0"/>
          </a:p>
        </p:txBody>
      </p:sp>
      <p:sp>
        <p:nvSpPr>
          <p:cNvPr id="7" name="Shape 4"/>
          <p:cNvSpPr/>
          <p:nvPr/>
        </p:nvSpPr>
        <p:spPr>
          <a:xfrm>
            <a:off x="548640" y="1417320"/>
            <a:ext cx="11091672" cy="731520"/>
          </a:xfrm>
          <a:prstGeom prst="roundRect">
            <a:avLst>
              <a:gd name="adj" fmla="val 8750"/>
            </a:avLst>
          </a:prstGeom>
          <a:solidFill>
            <a:srgbClr val="F3F6F9"/>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8" name="Text 5"/>
          <p:cNvSpPr/>
          <p:nvPr/>
        </p:nvSpPr>
        <p:spPr>
          <a:xfrm>
            <a:off x="822960" y="1572768"/>
            <a:ext cx="10515600" cy="457200"/>
          </a:xfrm>
          <a:prstGeom prst="rect">
            <a:avLst/>
          </a:prstGeom>
          <a:noFill/>
          <a:ln/>
        </p:spPr>
        <p:txBody>
          <a:bodyPr wrap="square" lIns="0" tIns="0" rIns="0" bIns="0" rtlCol="0" anchor="t"/>
          <a:lstStyle/>
          <a:p>
            <a:pPr algn="l" indent="0" marL="0">
              <a:buNone/>
            </a:pPr>
            <a:r>
              <a:rPr lang="en-US" sz="1200" b="1" dirty="0">
                <a:solidFill>
                  <a:srgbClr val="1F2A3D"/>
                </a:solidFill>
                <a:latin typeface="Courier New" pitchFamily="34" charset="0"/>
                <a:ea typeface="Courier New" pitchFamily="34" charset="-122"/>
                <a:cs typeface="Courier New" pitchFamily="34" charset="-120"/>
              </a:rPr>
              <a:t>turn 10:  </a:t>
            </a:r>
            <a:pPr algn="l" indent="0" marL="0">
              <a:buNone/>
            </a:pPr>
            <a:r>
              <a:rPr lang="en-US" sz="1250" i="1" dirty="0">
                <a:solidFill>
                  <a:srgbClr val="1F2A3D"/>
                </a:solidFill>
                <a:latin typeface="Calibri" pitchFamily="34" charset="0"/>
                <a:ea typeface="Calibri" pitchFamily="34" charset="-122"/>
                <a:cs typeface="Calibri" pitchFamily="34" charset="-120"/>
              </a:rPr>
              <a:t>“great, that's done. now write a README for the new config module”</a:t>
            </a:r>
            <a:endParaRPr lang="en-US" sz="12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2377440"/>
          <a:ext cx="11091672" cy="914400"/>
        </p:xfrm>
        <a:graphic>
          <a:graphicData uri="http://schemas.openxmlformats.org/drawingml/2006/table">
            <a:tbl>
              <a:tblPr/>
              <a:tblGrid>
                <a:gridCol w="5669280"/>
                <a:gridCol w="2194560"/>
                <a:gridCol w="3227832"/>
              </a:tblGrid>
              <a:tr h="45720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Signal (all cheap, all local)</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20334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Value here</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20334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Points to</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20334F"/>
                    </a:solidFill>
                  </a:tcPr>
                </a:tc>
              </a:tr>
              <a:tr h="457200">
                <a:tc>
                  <a:txBody>
                    <a:bodyPr/>
                    <a:lstStyle/>
                    <a:p>
                      <a:pPr indent="0" marL="0">
                        <a:buNone/>
                      </a:pPr>
                      <a:r>
                        <a:rPr lang="en-US" sz="1050" dirty="0">
                          <a:solidFill>
                            <a:srgbClr val="1F2A3D"/>
                          </a:solidFill>
                          <a:latin typeface="Calibri" pitchFamily="34" charset="0"/>
                          <a:ea typeface="Calibri" pitchFamily="34" charset="-122"/>
                          <a:cs typeface="Calibri" pitchFamily="34" charset="-120"/>
                        </a:rPr>
                        <a:t>Previous turn ended clean — no strikes, success summary</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F7A55"/>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50" dirty="0">
                          <a:solidFill>
                            <a:srgbClr val="1F2A3D"/>
                          </a:solidFill>
                          <a:latin typeface="Calibri" pitchFamily="34" charset="0"/>
                          <a:ea typeface="Calibri" pitchFamily="34" charset="-122"/>
                          <a:cs typeface="Calibri" pitchFamily="34" charset="-120"/>
                        </a:rPr>
                        <a:t>task finished</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F2A3D"/>
                          </a:solidFill>
                          <a:latin typeface="Calibri" pitchFamily="34" charset="0"/>
                          <a:ea typeface="Calibri" pitchFamily="34" charset="-122"/>
                          <a:cs typeface="Calibri" pitchFamily="34" charset="-120"/>
                        </a:rPr>
                        <a:t>Explicit completion phrase (“that's done”, “great, now…”)</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F7A55"/>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50" dirty="0">
                          <a:solidFill>
                            <a:srgbClr val="1F2A3D"/>
                          </a:solidFill>
                          <a:latin typeface="Calibri" pitchFamily="34" charset="0"/>
                          <a:ea typeface="Calibri" pitchFamily="34" charset="-122"/>
                          <a:cs typeface="Calibri" pitchFamily="34" charset="-120"/>
                        </a:rPr>
                        <a:t>user closed the loop</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F2A3D"/>
                          </a:solidFill>
                          <a:latin typeface="Calibri" pitchFamily="34" charset="0"/>
                          <a:ea typeface="Calibri" pitchFamily="34" charset="-122"/>
                          <a:cs typeface="Calibri" pitchFamily="34" charset="-120"/>
                        </a:rPr>
                        <a:t>New intent verb class (write-new vs refactor)</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F7A55"/>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50" dirty="0">
                          <a:solidFill>
                            <a:srgbClr val="1F2A3D"/>
                          </a:solidFill>
                          <a:latin typeface="Calibri" pitchFamily="34" charset="0"/>
                          <a:ea typeface="Calibri" pitchFamily="34" charset="-122"/>
                          <a:cs typeface="Calibri" pitchFamily="34" charset="-120"/>
                        </a:rPr>
                        <a:t>different kind of work</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F2A3D"/>
                          </a:solidFill>
                          <a:latin typeface="Calibri" pitchFamily="34" charset="0"/>
                          <a:ea typeface="Calibri" pitchFamily="34" charset="-122"/>
                          <a:cs typeface="Calibri" pitchFamily="34" charset="-120"/>
                        </a:rPr>
                        <a:t>File overlap with the episode's touched-set</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F7A55"/>
                          </a:solidFill>
                          <a:latin typeface="Calibri" pitchFamily="34" charset="0"/>
                          <a:ea typeface="Calibri" pitchFamily="34" charset="-122"/>
                          <a:cs typeface="Calibri" pitchFamily="34" charset="-120"/>
                        </a:rPr>
                        <a:t>low (README vs src/)</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1050" dirty="0">
                          <a:solidFill>
                            <a:srgbClr val="1F2A3D"/>
                          </a:solidFill>
                          <a:latin typeface="Calibri" pitchFamily="34" charset="0"/>
                          <a:ea typeface="Calibri" pitchFamily="34" charset="-122"/>
                          <a:cs typeface="Calibri" pitchFamily="34" charset="-120"/>
                        </a:rPr>
                        <a:t>different territory</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bl>
          </a:graphicData>
        </a:graphic>
      </p:graphicFrame>
      <p:sp>
        <p:nvSpPr>
          <p:cNvPr id="10" name="Shape 6"/>
          <p:cNvSpPr/>
          <p:nvPr/>
        </p:nvSpPr>
        <p:spPr>
          <a:xfrm>
            <a:off x="548640" y="4892040"/>
            <a:ext cx="5422392" cy="1371600"/>
          </a:xfrm>
          <a:prstGeom prst="roundRect">
            <a:avLst>
              <a:gd name="adj" fmla="val 4667"/>
            </a:avLst>
          </a:prstGeom>
          <a:solidFill>
            <a:srgbClr val="E3F1EA"/>
          </a:solidFill>
          <a:ln/>
          <a:effectLst>
            <a:outerShdw sx="100000" sy="100000" kx="0" ky="0" algn="bl" rotWithShape="0" blurRad="88900" dist="25400" dir="2700000">
              <a:srgbClr val="1F2A3D">
                <a:alpha val="14000"/>
              </a:srgbClr>
            </a:outerShdw>
          </a:effectLst>
        </p:spPr>
      </p:sp>
      <p:sp>
        <p:nvSpPr>
          <p:cNvPr id="11" name="Text 7"/>
          <p:cNvSpPr/>
          <p:nvPr/>
        </p:nvSpPr>
        <p:spPr>
          <a:xfrm>
            <a:off x="822960" y="5056632"/>
            <a:ext cx="4937760" cy="1097280"/>
          </a:xfrm>
          <a:prstGeom prst="rect">
            <a:avLst/>
          </a:prstGeom>
          <a:noFill/>
          <a:ln/>
        </p:spPr>
        <p:txBody>
          <a:bodyPr wrap="square" lIns="0" tIns="0" rIns="0" bIns="0" rtlCol="0" anchor="t"/>
          <a:lstStyle/>
          <a:p>
            <a:pPr algn="l" indent="0" marL="0">
              <a:lnSpc>
                <a:spcPct val="112000"/>
              </a:lnSpc>
              <a:buNone/>
            </a:pPr>
            <a:r>
              <a:rPr lang="en-US" sz="1250" b="1" dirty="0">
                <a:solidFill>
                  <a:srgbClr val="1F2A3D"/>
                </a:solidFill>
                <a:latin typeface="Calibri" pitchFamily="34" charset="0"/>
                <a:ea typeface="Calibri" pitchFamily="34" charset="-122"/>
                <a:cs typeface="Calibri" pitchFamily="34" charset="-120"/>
              </a:rPr>
              <a:t>3 of 4 → new episode.</a:t>
            </a:r>
            <a:endParaRPr lang="en-US" sz="1250" dirty="0"/>
          </a:p>
          <a:p>
            <a:pPr algn="l" indent="0" marL="0">
              <a:lnSpc>
                <a:spcPct val="112000"/>
              </a:lnSpc>
              <a:buNone/>
            </a:pPr>
            <a:r>
              <a:rPr lang="en-US" sz="1050" dirty="0">
                <a:solidFill>
                  <a:srgbClr val="5D6B7E"/>
                </a:solidFill>
                <a:latin typeface="Calibri" pitchFamily="34" charset="0"/>
                <a:ea typeface="Calibri" pitchFamily="34" charset="-122"/>
                <a:cs typeface="Calibri" pitchFamily="34" charset="-120"/>
              </a:rPr>
              <a:t>Hysteresis releases · heuristic scores 0.18 · back to local-code. FrontierSticky → LocalSticky through the only door that exists.</a:t>
            </a:r>
            <a:endParaRPr lang="en-US" sz="1250" dirty="0"/>
          </a:p>
        </p:txBody>
      </p:sp>
      <p:sp>
        <p:nvSpPr>
          <p:cNvPr id="12" name="Shape 8"/>
          <p:cNvSpPr/>
          <p:nvPr/>
        </p:nvSpPr>
        <p:spPr>
          <a:xfrm>
            <a:off x="6217920" y="4892040"/>
            <a:ext cx="5422392" cy="1371600"/>
          </a:xfrm>
          <a:prstGeom prst="roundRect">
            <a:avLst>
              <a:gd name="adj" fmla="val 4667"/>
            </a:avLst>
          </a:prstGeom>
          <a:solidFill>
            <a:srgbClr val="FBEFDC"/>
          </a:solidFill>
          <a:ln/>
          <a:effectLst>
            <a:outerShdw sx="100000" sy="100000" kx="0" ky="0" algn="bl" rotWithShape="0" blurRad="88900" dist="25400" dir="2700000">
              <a:srgbClr val="1F2A3D">
                <a:alpha val="14000"/>
              </a:srgbClr>
            </a:outerShdw>
          </a:effectLst>
        </p:spPr>
      </p:sp>
      <p:sp>
        <p:nvSpPr>
          <p:cNvPr id="13" name="Text 9"/>
          <p:cNvSpPr/>
          <p:nvPr/>
        </p:nvSpPr>
        <p:spPr>
          <a:xfrm>
            <a:off x="6473952" y="5056632"/>
            <a:ext cx="4937760" cy="1097280"/>
          </a:xfrm>
          <a:prstGeom prst="rect">
            <a:avLst/>
          </a:prstGeom>
          <a:noFill/>
          <a:ln/>
        </p:spPr>
        <p:txBody>
          <a:bodyPr wrap="square" lIns="0" tIns="0" rIns="0" bIns="0" rtlCol="0" anchor="t"/>
          <a:lstStyle/>
          <a:p>
            <a:pPr algn="l" indent="0" marL="0">
              <a:lnSpc>
                <a:spcPct val="112000"/>
              </a:lnSpc>
              <a:buNone/>
            </a:pPr>
            <a:r>
              <a:rPr lang="en-US" sz="1250" b="1" dirty="0">
                <a:solidFill>
                  <a:srgbClr val="1F2A3D"/>
                </a:solidFill>
                <a:latin typeface="Calibri" pitchFamily="34" charset="0"/>
                <a:ea typeface="Calibri" pitchFamily="34" charset="-122"/>
                <a:cs typeface="Calibri" pitchFamily="34" charset="-120"/>
              </a:rPr>
              <a:t>When unsure → stay up.</a:t>
            </a:r>
            <a:endParaRPr lang="en-US" sz="1250" dirty="0"/>
          </a:p>
          <a:p>
            <a:pPr algn="l" indent="0" marL="0">
              <a:lnSpc>
                <a:spcPct val="112000"/>
              </a:lnSpc>
              <a:buNone/>
            </a:pPr>
            <a:r>
              <a:rPr lang="en-US" sz="1050" dirty="0">
                <a:solidFill>
                  <a:srgbClr val="5D6B7E"/>
                </a:solidFill>
                <a:latin typeface="Calibri" pitchFamily="34" charset="0"/>
                <a:ea typeface="Calibri" pitchFamily="34" charset="-122"/>
                <a:cs typeface="Calibri" pitchFamily="34" charset="-120"/>
              </a:rPr>
              <a:t>A wasted frontier turn costs cents. A premature de-escalation costs an S3 replay: failed local attempt + trip-wire + rebuild + user-visible latency.</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PART 5 · STATE &amp; LIFECYCLE</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The forbidden move: re-deciding mid-turn</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scenario S15B · design doc §2, §8.4</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36</a:t>
            </a:r>
            <a:endParaRPr lang="en-US" sz="900" dirty="0"/>
          </a:p>
        </p:txBody>
      </p:sp>
      <p:sp>
        <p:nvSpPr>
          <p:cNvPr id="7" name="Shape 4"/>
          <p:cNvSpPr/>
          <p:nvPr/>
        </p:nvSpPr>
        <p:spPr>
          <a:xfrm>
            <a:off x="548640" y="1463040"/>
            <a:ext cx="3566160" cy="2514600"/>
          </a:xfrm>
          <a:prstGeom prst="roundRect">
            <a:avLst>
              <a:gd name="adj" fmla="val 2545"/>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8" name="Text 5"/>
          <p:cNvSpPr/>
          <p:nvPr/>
        </p:nvSpPr>
        <p:spPr>
          <a:xfrm>
            <a:off x="786384" y="1627632"/>
            <a:ext cx="548640" cy="502920"/>
          </a:xfrm>
          <a:prstGeom prst="rect">
            <a:avLst/>
          </a:prstGeom>
          <a:noFill/>
          <a:ln/>
        </p:spPr>
        <p:txBody>
          <a:bodyPr wrap="square" lIns="0" tIns="0" rIns="0" bIns="0" rtlCol="0" anchor="t"/>
          <a:lstStyle/>
          <a:p>
            <a:pPr algn="l" indent="0" marL="0">
              <a:buNone/>
            </a:pPr>
            <a:r>
              <a:rPr lang="en-US" sz="2600" b="1" dirty="0">
                <a:solidFill>
                  <a:srgbClr val="B3261E"/>
                </a:solidFill>
                <a:latin typeface="Cambria" pitchFamily="34" charset="0"/>
                <a:ea typeface="Cambria" pitchFamily="34" charset="-122"/>
                <a:cs typeface="Cambria" pitchFamily="34" charset="-120"/>
              </a:rPr>
              <a:t>1</a:t>
            </a:r>
            <a:endParaRPr lang="en-US" sz="2600" dirty="0"/>
          </a:p>
        </p:txBody>
      </p:sp>
      <p:sp>
        <p:nvSpPr>
          <p:cNvPr id="9" name="Text 6"/>
          <p:cNvSpPr/>
          <p:nvPr/>
        </p:nvSpPr>
        <p:spPr>
          <a:xfrm>
            <a:off x="786384" y="2212848"/>
            <a:ext cx="3090672" cy="320040"/>
          </a:xfrm>
          <a:prstGeom prst="rect">
            <a:avLst/>
          </a:prstGeom>
          <a:noFill/>
          <a:ln/>
        </p:spPr>
        <p:txBody>
          <a:bodyPr wrap="square" lIns="0" tIns="0" rIns="0" bIns="0" rtlCol="0" anchor="t"/>
          <a:lstStyle/>
          <a:p>
            <a:pPr algn="l" indent="0" marL="0">
              <a:buNone/>
            </a:pPr>
            <a:r>
              <a:rPr lang="en-US" sz="1250" b="1" dirty="0">
                <a:solidFill>
                  <a:srgbClr val="1F2A3D"/>
                </a:solidFill>
                <a:latin typeface="Calibri" pitchFamily="34" charset="0"/>
                <a:ea typeface="Calibri" pitchFamily="34" charset="-122"/>
                <a:cs typeface="Calibri" pitchFamily="34" charset="-120"/>
              </a:rPr>
              <a:t>Protocol break — hard 400</a:t>
            </a:r>
            <a:endParaRPr lang="en-US" sz="1250" dirty="0"/>
          </a:p>
        </p:txBody>
      </p:sp>
      <p:sp>
        <p:nvSpPr>
          <p:cNvPr id="10" name="Text 7"/>
          <p:cNvSpPr/>
          <p:nvPr/>
        </p:nvSpPr>
        <p:spPr>
          <a:xfrm>
            <a:off x="786384" y="2578608"/>
            <a:ext cx="3090672" cy="1280160"/>
          </a:xfrm>
          <a:prstGeom prst="rect">
            <a:avLst/>
          </a:prstGeom>
          <a:noFill/>
          <a:ln/>
        </p:spPr>
        <p:txBody>
          <a:bodyPr wrap="square" lIns="0" tIns="0" rIns="0" bIns="0" rtlCol="0" anchor="t"/>
          <a:lstStyle/>
          <a:p>
            <a:pPr algn="l" indent="0" marL="0">
              <a:lnSpc>
                <a:spcPct val="112000"/>
              </a:lnSpc>
              <a:buNone/>
            </a:pPr>
            <a:r>
              <a:rPr lang="en-US" sz="1050" dirty="0">
                <a:solidFill>
                  <a:srgbClr val="5D6B7E"/>
                </a:solidFill>
                <a:latin typeface="Calibri" pitchFamily="34" charset="0"/>
                <a:ea typeface="Calibri" pitchFamily="34" charset="-122"/>
                <a:cs typeface="Calibri" pitchFamily="34" charset="-120"/>
              </a:rPr>
              <a:t>Pending tool_result references toolu_F2 — an ID the local endpoint has never seen. Foreign thinking-signatures rejected; encrypted reasoning unreadable. The request simply dies.</a:t>
            </a:r>
            <a:endParaRPr lang="en-US" sz="1050" dirty="0"/>
          </a:p>
        </p:txBody>
      </p:sp>
      <p:sp>
        <p:nvSpPr>
          <p:cNvPr id="11" name="Shape 8"/>
          <p:cNvSpPr/>
          <p:nvPr/>
        </p:nvSpPr>
        <p:spPr>
          <a:xfrm>
            <a:off x="4343400" y="1463040"/>
            <a:ext cx="3566160" cy="2514600"/>
          </a:xfrm>
          <a:prstGeom prst="roundRect">
            <a:avLst>
              <a:gd name="adj" fmla="val 2545"/>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2" name="Text 9"/>
          <p:cNvSpPr/>
          <p:nvPr/>
        </p:nvSpPr>
        <p:spPr>
          <a:xfrm>
            <a:off x="4581144" y="1627632"/>
            <a:ext cx="548640" cy="502920"/>
          </a:xfrm>
          <a:prstGeom prst="rect">
            <a:avLst/>
          </a:prstGeom>
          <a:noFill/>
          <a:ln/>
        </p:spPr>
        <p:txBody>
          <a:bodyPr wrap="square" lIns="0" tIns="0" rIns="0" bIns="0" rtlCol="0" anchor="t"/>
          <a:lstStyle/>
          <a:p>
            <a:pPr algn="l" indent="0" marL="0">
              <a:buNone/>
            </a:pPr>
            <a:r>
              <a:rPr lang="en-US" sz="2600" b="1" dirty="0">
                <a:solidFill>
                  <a:srgbClr val="B45309"/>
                </a:solidFill>
                <a:latin typeface="Cambria" pitchFamily="34" charset="0"/>
                <a:ea typeface="Cambria" pitchFamily="34" charset="-122"/>
                <a:cs typeface="Cambria" pitchFamily="34" charset="-120"/>
              </a:rPr>
              <a:t>2</a:t>
            </a:r>
            <a:endParaRPr lang="en-US" sz="2600" dirty="0"/>
          </a:p>
        </p:txBody>
      </p:sp>
      <p:sp>
        <p:nvSpPr>
          <p:cNvPr id="13" name="Text 10"/>
          <p:cNvSpPr/>
          <p:nvPr/>
        </p:nvSpPr>
        <p:spPr>
          <a:xfrm>
            <a:off x="4581144" y="2212848"/>
            <a:ext cx="3090672" cy="320040"/>
          </a:xfrm>
          <a:prstGeom prst="rect">
            <a:avLst/>
          </a:prstGeom>
          <a:noFill/>
          <a:ln/>
        </p:spPr>
        <p:txBody>
          <a:bodyPr wrap="square" lIns="0" tIns="0" rIns="0" bIns="0" rtlCol="0" anchor="t"/>
          <a:lstStyle/>
          <a:p>
            <a:pPr algn="l" indent="0" marL="0">
              <a:buNone/>
            </a:pPr>
            <a:r>
              <a:rPr lang="en-US" sz="1250" b="1" dirty="0">
                <a:solidFill>
                  <a:srgbClr val="1F2A3D"/>
                </a:solidFill>
                <a:latin typeface="Calibri" pitchFamily="34" charset="0"/>
                <a:ea typeface="Calibri" pitchFamily="34" charset="-122"/>
                <a:cs typeface="Calibri" pitchFamily="34" charset="-120"/>
              </a:rPr>
              <a:t>Cache demolition — pay twice</a:t>
            </a:r>
            <a:endParaRPr lang="en-US" sz="1250" dirty="0"/>
          </a:p>
        </p:txBody>
      </p:sp>
      <p:sp>
        <p:nvSpPr>
          <p:cNvPr id="14" name="Text 11"/>
          <p:cNvSpPr/>
          <p:nvPr/>
        </p:nvSpPr>
        <p:spPr>
          <a:xfrm>
            <a:off x="4581144" y="2578608"/>
            <a:ext cx="3090672" cy="1280160"/>
          </a:xfrm>
          <a:prstGeom prst="rect">
            <a:avLst/>
          </a:prstGeom>
          <a:noFill/>
          <a:ln/>
        </p:spPr>
        <p:txBody>
          <a:bodyPr wrap="square" lIns="0" tIns="0" rIns="0" bIns="0" rtlCol="0" anchor="t"/>
          <a:lstStyle/>
          <a:p>
            <a:pPr algn="l" indent="0" marL="0">
              <a:lnSpc>
                <a:spcPct val="112000"/>
              </a:lnSpc>
              <a:buNone/>
            </a:pPr>
            <a:r>
              <a:rPr lang="en-US" sz="1050" dirty="0">
                <a:solidFill>
                  <a:srgbClr val="5D6B7E"/>
                </a:solidFill>
                <a:latin typeface="Calibri" pitchFamily="34" charset="0"/>
                <a:ea typeface="Calibri" pitchFamily="34" charset="-122"/>
                <a:cs typeface="Calibri" pitchFamily="34" charset="-120"/>
              </a:rPr>
              <a:t>Even perfectly re-keyed: llama.cpp prefills 60k tokens cold (~60–70 s to first token), and the provider cache rebuilds when you hop back.</a:t>
            </a:r>
            <a:endParaRPr lang="en-US" sz="1050" dirty="0"/>
          </a:p>
        </p:txBody>
      </p:sp>
      <p:sp>
        <p:nvSpPr>
          <p:cNvPr id="15" name="Shape 12"/>
          <p:cNvSpPr/>
          <p:nvPr/>
        </p:nvSpPr>
        <p:spPr>
          <a:xfrm>
            <a:off x="8138160" y="1463040"/>
            <a:ext cx="3566160" cy="2514600"/>
          </a:xfrm>
          <a:prstGeom prst="roundRect">
            <a:avLst>
              <a:gd name="adj" fmla="val 2545"/>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6" name="Text 13"/>
          <p:cNvSpPr/>
          <p:nvPr/>
        </p:nvSpPr>
        <p:spPr>
          <a:xfrm>
            <a:off x="8375904" y="1627632"/>
            <a:ext cx="548640" cy="502920"/>
          </a:xfrm>
          <a:prstGeom prst="rect">
            <a:avLst/>
          </a:prstGeom>
          <a:noFill/>
          <a:ln/>
        </p:spPr>
        <p:txBody>
          <a:bodyPr wrap="square" lIns="0" tIns="0" rIns="0" bIns="0" rtlCol="0" anchor="t"/>
          <a:lstStyle/>
          <a:p>
            <a:pPr algn="l" indent="0" marL="0">
              <a:buNone/>
            </a:pPr>
            <a:r>
              <a:rPr lang="en-US" sz="2600" b="1" dirty="0">
                <a:solidFill>
                  <a:srgbClr val="5B21B6"/>
                </a:solidFill>
                <a:latin typeface="Cambria" pitchFamily="34" charset="0"/>
                <a:ea typeface="Cambria" pitchFamily="34" charset="-122"/>
                <a:cs typeface="Cambria" pitchFamily="34" charset="-120"/>
              </a:rPr>
              <a:t>3</a:t>
            </a:r>
            <a:endParaRPr lang="en-US" sz="2600" dirty="0"/>
          </a:p>
        </p:txBody>
      </p:sp>
      <p:sp>
        <p:nvSpPr>
          <p:cNvPr id="17" name="Text 14"/>
          <p:cNvSpPr/>
          <p:nvPr/>
        </p:nvSpPr>
        <p:spPr>
          <a:xfrm>
            <a:off x="8375904" y="2212848"/>
            <a:ext cx="3090672" cy="320040"/>
          </a:xfrm>
          <a:prstGeom prst="rect">
            <a:avLst/>
          </a:prstGeom>
          <a:noFill/>
          <a:ln/>
        </p:spPr>
        <p:txBody>
          <a:bodyPr wrap="square" lIns="0" tIns="0" rIns="0" bIns="0" rtlCol="0" anchor="t"/>
          <a:lstStyle/>
          <a:p>
            <a:pPr algn="l" indent="0" marL="0">
              <a:buNone/>
            </a:pPr>
            <a:r>
              <a:rPr lang="en-US" sz="1250" b="1" dirty="0">
                <a:solidFill>
                  <a:srgbClr val="1F2A3D"/>
                </a:solidFill>
                <a:latin typeface="Calibri" pitchFamily="34" charset="0"/>
                <a:ea typeface="Calibri" pitchFamily="34" charset="-122"/>
                <a:cs typeface="Calibri" pitchFamily="34" charset="-120"/>
              </a:rPr>
              <a:t>Cognitive whiplash</a:t>
            </a:r>
            <a:endParaRPr lang="en-US" sz="1250" dirty="0"/>
          </a:p>
        </p:txBody>
      </p:sp>
      <p:sp>
        <p:nvSpPr>
          <p:cNvPr id="18" name="Text 15"/>
          <p:cNvSpPr/>
          <p:nvPr/>
        </p:nvSpPr>
        <p:spPr>
          <a:xfrm>
            <a:off x="8375904" y="2578608"/>
            <a:ext cx="3090672" cy="1280160"/>
          </a:xfrm>
          <a:prstGeom prst="rect">
            <a:avLst/>
          </a:prstGeom>
          <a:noFill/>
          <a:ln/>
        </p:spPr>
        <p:txBody>
          <a:bodyPr wrap="square" lIns="0" tIns="0" rIns="0" bIns="0" rtlCol="0" anchor="t"/>
          <a:lstStyle/>
          <a:p>
            <a:pPr algn="l" indent="0" marL="0">
              <a:lnSpc>
                <a:spcPct val="112000"/>
              </a:lnSpc>
              <a:buNone/>
            </a:pPr>
            <a:r>
              <a:rPr lang="en-US" sz="1050" dirty="0">
                <a:solidFill>
                  <a:srgbClr val="5D6B7E"/>
                </a:solidFill>
                <a:latin typeface="Calibri" pitchFamily="34" charset="0"/>
                <a:ea typeface="Calibri" pitchFamily="34" charset="-122"/>
                <a:cs typeface="Calibri" pitchFamily="34" charset="-120"/>
              </a:rPr>
              <a:t>The local model inherits a half-executed frontier plan referencing conclusions it can't verify — and flails convincingly, the exact thing trip-wires exist to catch.</a:t>
            </a:r>
            <a:endParaRPr lang="en-US" sz="1050" dirty="0"/>
          </a:p>
        </p:txBody>
      </p:sp>
      <p:sp>
        <p:nvSpPr>
          <p:cNvPr id="19" name="Text 16"/>
          <p:cNvSpPr/>
          <p:nvPr/>
        </p:nvSpPr>
        <p:spPr>
          <a:xfrm>
            <a:off x="548640" y="4206240"/>
            <a:ext cx="11091672" cy="320040"/>
          </a:xfrm>
          <a:prstGeom prst="rect">
            <a:avLst/>
          </a:prstGeom>
          <a:noFill/>
          <a:ln/>
        </p:spPr>
        <p:txBody>
          <a:bodyPr wrap="square" lIns="0" tIns="0" rIns="0" bIns="0" rtlCol="0" anchor="t"/>
          <a:lstStyle/>
          <a:p>
            <a:pPr algn="ctr" indent="0" marL="0">
              <a:buNone/>
            </a:pPr>
            <a:r>
              <a:rPr lang="en-US" sz="1250" b="1" dirty="0">
                <a:solidFill>
                  <a:srgbClr val="1F2A3D"/>
                </a:solidFill>
                <a:latin typeface="Calibri" pitchFamily="34" charset="0"/>
                <a:ea typeface="Calibri" pitchFamily="34" charset="-122"/>
                <a:cs typeface="Calibri" pitchFamily="34" charset="-120"/>
              </a:rPr>
              <a:t>Sticky is protocol correctness first, economics second, model quality third — not a tuning choice Phase-3 ML may override.</a:t>
            </a:r>
            <a:endParaRPr lang="en-US" sz="1250" dirty="0"/>
          </a:p>
        </p:txBody>
      </p:sp>
      <p:sp>
        <p:nvSpPr>
          <p:cNvPr id="20" name="Shape 17"/>
          <p:cNvSpPr/>
          <p:nvPr/>
        </p:nvSpPr>
        <p:spPr>
          <a:xfrm>
            <a:off x="548640" y="4754880"/>
            <a:ext cx="11091672" cy="1371600"/>
          </a:xfrm>
          <a:prstGeom prst="roundRect">
            <a:avLst>
              <a:gd name="adj" fmla="val 4667"/>
            </a:avLst>
          </a:prstGeom>
          <a:solidFill>
            <a:srgbClr val="15223A"/>
          </a:solidFill>
          <a:ln/>
          <a:effectLst>
            <a:outerShdw sx="100000" sy="100000" kx="0" ky="0" algn="bl" rotWithShape="0" blurRad="88900" dist="25400" dir="2700000">
              <a:srgbClr val="1F2A3D">
                <a:alpha val="14000"/>
              </a:srgbClr>
            </a:outerShdw>
          </a:effectLst>
        </p:spPr>
      </p:sp>
      <p:sp>
        <p:nvSpPr>
          <p:cNvPr id="21" name="Text 18"/>
          <p:cNvSpPr/>
          <p:nvPr/>
        </p:nvSpPr>
        <p:spPr>
          <a:xfrm>
            <a:off x="868680" y="4956048"/>
            <a:ext cx="10424160" cy="274320"/>
          </a:xfrm>
          <a:prstGeom prst="rect">
            <a:avLst/>
          </a:prstGeom>
          <a:noFill/>
          <a:ln/>
        </p:spPr>
        <p:txBody>
          <a:bodyPr wrap="square" lIns="0" tIns="0" rIns="0" bIns="0" rtlCol="0" anchor="t"/>
          <a:lstStyle/>
          <a:p>
            <a:pPr algn="ctr" indent="0" marL="0">
              <a:buNone/>
            </a:pPr>
            <a:r>
              <a:rPr lang="en-US" sz="1000" b="1" spc="200" kern="0" dirty="0">
                <a:solidFill>
                  <a:srgbClr val="9FB0C7"/>
                </a:solidFill>
                <a:latin typeface="Calibri" pitchFamily="34" charset="0"/>
                <a:ea typeface="Calibri" pitchFamily="34" charset="-122"/>
                <a:cs typeface="Calibri" pitchFamily="34" charset="-120"/>
              </a:rPr>
              <a:t>IF YOU REMEMBER ONE SENTENCE FROM ALL FIFTEEN SCENARIOS</a:t>
            </a:r>
            <a:endParaRPr lang="en-US" sz="1000" dirty="0"/>
          </a:p>
        </p:txBody>
      </p:sp>
      <p:sp>
        <p:nvSpPr>
          <p:cNvPr id="22" name="Text 19"/>
          <p:cNvSpPr/>
          <p:nvPr/>
        </p:nvSpPr>
        <p:spPr>
          <a:xfrm>
            <a:off x="1188720" y="5285232"/>
            <a:ext cx="9784080" cy="731520"/>
          </a:xfrm>
          <a:prstGeom prst="rect">
            <a:avLst/>
          </a:prstGeom>
          <a:noFill/>
          <a:ln/>
        </p:spPr>
        <p:txBody>
          <a:bodyPr wrap="square" lIns="0" tIns="0" rIns="0" bIns="0" rtlCol="0" anchor="t"/>
          <a:lstStyle/>
          <a:p>
            <a:pPr algn="ctr" indent="0" marL="0">
              <a:lnSpc>
                <a:spcPct val="112000"/>
              </a:lnSpc>
              <a:buNone/>
            </a:pPr>
            <a:r>
              <a:rPr lang="en-US" sz="1450" b="1" dirty="0">
                <a:solidFill>
                  <a:srgbClr val="FFFFFF"/>
                </a:solidFill>
                <a:latin typeface="Cambria" pitchFamily="34" charset="0"/>
                <a:ea typeface="Cambria" pitchFamily="34" charset="-122"/>
                <a:cs typeface="Cambria" pitchFamily="34" charset="-120"/>
              </a:rPr>
              <a:t>The router has exactly two legal movement moments: a new turn (policy) and a trip-wire at an action boundary (controlled rebuild). Everything else in the request stream is untouchable.</a:t>
            </a:r>
            <a:endParaRPr lang="en-US" sz="14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PART 6 · HARNESS DIALECTS</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Same task, different harness: Codex changes everything (S11)</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scenario S11 · design doc §5.4, §8.4</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37</a:t>
            </a:r>
            <a:endParaRPr lang="en-US" sz="900" dirty="0"/>
          </a:p>
        </p:txBody>
      </p:sp>
      <p:sp>
        <p:nvSpPr>
          <p:cNvPr id="7" name="Shape 4"/>
          <p:cNvSpPr/>
          <p:nvPr/>
        </p:nvSpPr>
        <p:spPr>
          <a:xfrm>
            <a:off x="548640" y="1417320"/>
            <a:ext cx="6858000" cy="3017520"/>
          </a:xfrm>
          <a:prstGeom prst="roundRect">
            <a:avLst>
              <a:gd name="adj" fmla="val 2121"/>
            </a:avLst>
          </a:prstGeom>
          <a:solidFill>
            <a:srgbClr val="101D31"/>
          </a:solidFill>
          <a:ln/>
          <a:effectLst>
            <a:outerShdw sx="100000" sy="100000" kx="0" ky="0" algn="bl" rotWithShape="0" blurRad="88900" dist="25400" dir="2700000">
              <a:srgbClr val="1F2A3D">
                <a:alpha val="14000"/>
              </a:srgbClr>
            </a:outerShdw>
          </a:effectLst>
        </p:spPr>
      </p:sp>
      <p:sp>
        <p:nvSpPr>
          <p:cNvPr id="8" name="Text 5"/>
          <p:cNvSpPr/>
          <p:nvPr/>
        </p:nvSpPr>
        <p:spPr>
          <a:xfrm>
            <a:off x="749808" y="1563624"/>
            <a:ext cx="6455664" cy="2724912"/>
          </a:xfrm>
          <a:prstGeom prst="rect">
            <a:avLst/>
          </a:prstGeom>
          <a:noFill/>
          <a:ln/>
        </p:spPr>
        <p:txBody>
          <a:bodyPr wrap="square" lIns="0" tIns="0" rIns="0" bIns="0" rtlCol="0" anchor="ctr"/>
          <a:lstStyle/>
          <a:p>
            <a:pPr indent="0" marL="0">
              <a:lnSpc>
                <a:spcPct val="112000"/>
              </a:lnSpc>
              <a:buNone/>
            </a:pPr>
            <a:r>
              <a:rPr lang="en-US" sz="950" b="1" dirty="0">
                <a:solidFill>
                  <a:srgbClr val="EFCB84"/>
                </a:solidFill>
                <a:latin typeface="Courier New" pitchFamily="34" charset="0"/>
                <a:ea typeface="Courier New" pitchFamily="34" charset="-122"/>
                <a:cs typeface="Courier New" pitchFamily="34" charset="-120"/>
              </a:rPr>
              <a:t>POST /v1/responses      // NOT /v1/messages — and not optional</a:t>
            </a:r>
            <a:endParaRPr lang="en-US" sz="950" dirty="0"/>
          </a:p>
          <a:p>
            <a:pPr indent="0" marL="0">
              <a:lnSpc>
                <a:spcPct val="112000"/>
              </a:lnSpc>
              <a:buNone/>
            </a:pPr>
            <a:r>
              <a:rPr lang="en-US" sz="950" dirty="0">
                <a:solidFill>
                  <a:srgbClr val="D9E4F3"/>
                </a:solidFill>
                <a:latin typeface="Courier New" pitchFamily="34" charset="0"/>
                <a:ea typeface="Courier New" pitchFamily="34" charset="-122"/>
                <a:cs typeface="Courier New" pitchFamily="34" charset="-120"/>
              </a:rPr>
              <a:t>{ "model":"adaptive-code",</a:t>
            </a:r>
            <a:endParaRPr lang="en-US" sz="950" dirty="0"/>
          </a:p>
          <a:p>
            <a:pPr indent="0" marL="0">
              <a:lnSpc>
                <a:spcPct val="112000"/>
              </a:lnSpc>
              <a:buNone/>
            </a:pPr>
            <a:r>
              <a:rPr lang="en-US" sz="950" dirty="0">
                <a:solidFill>
                  <a:srgbClr val="D9E4F3"/>
                </a:solidFill>
                <a:latin typeface="Courier New" pitchFamily="34" charset="0"/>
                <a:ea typeface="Courier New" pitchFamily="34" charset="-122"/>
                <a:cs typeface="Courier New" pitchFamily="34" charset="-120"/>
              </a:rPr>
              <a:t>  "instructions":"You are Codex…",    // system prompt lives here</a:t>
            </a:r>
            <a:endParaRPr lang="en-US" sz="950" dirty="0"/>
          </a:p>
          <a:p>
            <a:pPr indent="0" marL="0">
              <a:lnSpc>
                <a:spcPct val="112000"/>
              </a:lnSpc>
              <a:buNone/>
            </a:pPr>
            <a:r>
              <a:rPr lang="en-US" sz="950" dirty="0">
                <a:solidFill>
                  <a:srgbClr val="D9E4F3"/>
                </a:solidFill>
                <a:latin typeface="Courier New" pitchFamily="34" charset="0"/>
                <a:ea typeface="Courier New" pitchFamily="34" charset="-122"/>
                <a:cs typeface="Courier New" pitchFamily="34" charset="-120"/>
              </a:rPr>
              <a:t>  "input":[ {"type":"message",…"fix the failing test"},</a:t>
            </a:r>
            <a:endParaRPr lang="en-US" sz="950" dirty="0"/>
          </a:p>
          <a:p>
            <a:pPr indent="0" marL="0">
              <a:lnSpc>
                <a:spcPct val="112000"/>
              </a:lnSpc>
              <a:buNone/>
            </a:pPr>
            <a:r>
              <a:rPr lang="en-US" sz="950" b="1" dirty="0">
                <a:solidFill>
                  <a:srgbClr val="F2A69E"/>
                </a:solidFill>
                <a:latin typeface="Courier New" pitchFamily="34" charset="0"/>
                <a:ea typeface="Courier New" pitchFamily="34" charset="-122"/>
                <a:cs typeface="Courier New" pitchFamily="34" charset="-120"/>
              </a:rPr>
              <a:t>    {"type":"reasoning","encrypted_content":"gAAAAABo…"},  ← OPAQUE</a:t>
            </a:r>
            <a:endParaRPr lang="en-US" sz="950" dirty="0"/>
          </a:p>
          <a:p>
            <a:pPr indent="0" marL="0">
              <a:lnSpc>
                <a:spcPct val="112000"/>
              </a:lnSpc>
              <a:buNone/>
            </a:pPr>
            <a:r>
              <a:rPr lang="en-US" sz="950" dirty="0">
                <a:solidFill>
                  <a:srgbClr val="D9E4F3"/>
                </a:solidFill>
                <a:latin typeface="Courier New" pitchFamily="34" charset="0"/>
                <a:ea typeface="Courier New" pitchFamily="34" charset="-122"/>
                <a:cs typeface="Courier New" pitchFamily="34" charset="-120"/>
              </a:rPr>
              <a:t>    {"type":"function_call","name":"shell","call_id":"call_9",…},</a:t>
            </a:r>
            <a:endParaRPr lang="en-US" sz="950" dirty="0"/>
          </a:p>
          <a:p>
            <a:pPr indent="0" marL="0">
              <a:lnSpc>
                <a:spcPct val="112000"/>
              </a:lnSpc>
              <a:buNone/>
            </a:pPr>
            <a:r>
              <a:rPr lang="en-US" sz="950" dirty="0">
                <a:solidFill>
                  <a:srgbClr val="D9E4F3"/>
                </a:solidFill>
                <a:latin typeface="Courier New" pitchFamily="34" charset="0"/>
                <a:ea typeface="Courier New" pitchFamily="34" charset="-122"/>
                <a:cs typeface="Courier New" pitchFamily="34" charset="-120"/>
              </a:rPr>
              <a:t>    {"type":"function_call_output","call_id":"call_9",…} ],</a:t>
            </a:r>
            <a:endParaRPr lang="en-US" sz="950" dirty="0"/>
          </a:p>
          <a:p>
            <a:pPr indent="0" marL="0">
              <a:lnSpc>
                <a:spcPct val="112000"/>
              </a:lnSpc>
              <a:buNone/>
            </a:pPr>
            <a:r>
              <a:rPr lang="en-US" sz="950" dirty="0">
                <a:solidFill>
                  <a:srgbClr val="D9E4F3"/>
                </a:solidFill>
                <a:latin typeface="Courier New" pitchFamily="34" charset="0"/>
                <a:ea typeface="Courier New" pitchFamily="34" charset="-122"/>
                <a:cs typeface="Courier New" pitchFamily="34" charset="-120"/>
              </a:rPr>
              <a:t>  "tools":[{"type":"function","name":"shell"},{…"apply_patch"}],</a:t>
            </a:r>
            <a:endParaRPr lang="en-US" sz="950" dirty="0"/>
          </a:p>
          <a:p>
            <a:pPr indent="0" marL="0">
              <a:lnSpc>
                <a:spcPct val="112000"/>
              </a:lnSpc>
              <a:buNone/>
            </a:pPr>
            <a:r>
              <a:rPr lang="en-US" sz="950" dirty="0">
                <a:solidFill>
                  <a:srgbClr val="D9E4F3"/>
                </a:solidFill>
                <a:latin typeface="Courier New" pitchFamily="34" charset="0"/>
                <a:ea typeface="Courier New" pitchFamily="34" charset="-122"/>
                <a:cs typeface="Courier New" pitchFamily="34" charset="-120"/>
              </a:rPr>
              <a:t>  "store":false, "include":["reasoning.encrypted_content"] }</a:t>
            </a:r>
            <a:endParaRPr lang="en-US" sz="950" dirty="0"/>
          </a:p>
        </p:txBody>
      </p:sp>
      <p:sp>
        <p:nvSpPr>
          <p:cNvPr id="9" name="Shape 6"/>
          <p:cNvSpPr/>
          <p:nvPr/>
        </p:nvSpPr>
        <p:spPr>
          <a:xfrm>
            <a:off x="7772400" y="1417320"/>
            <a:ext cx="3886200" cy="3017520"/>
          </a:xfrm>
          <a:prstGeom prst="roundRect">
            <a:avLst>
              <a:gd name="adj" fmla="val 2121"/>
            </a:avLst>
          </a:prstGeom>
          <a:solidFill>
            <a:srgbClr val="F3F6F9"/>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0" name="Text 7"/>
          <p:cNvSpPr/>
          <p:nvPr/>
        </p:nvSpPr>
        <p:spPr>
          <a:xfrm>
            <a:off x="8010144" y="1600200"/>
            <a:ext cx="3410712" cy="292608"/>
          </a:xfrm>
          <a:prstGeom prst="rect">
            <a:avLst/>
          </a:prstGeom>
          <a:noFill/>
          <a:ln/>
        </p:spPr>
        <p:txBody>
          <a:bodyPr wrap="square" lIns="0" tIns="0" rIns="0" bIns="0" rtlCol="0" anchor="t"/>
          <a:lstStyle/>
          <a:p>
            <a:pPr algn="l" indent="0" marL="0">
              <a:buNone/>
            </a:pPr>
            <a:r>
              <a:rPr lang="en-US" sz="1250" b="1" dirty="0">
                <a:solidFill>
                  <a:srgbClr val="B3261E"/>
                </a:solidFill>
                <a:latin typeface="Calibri" pitchFamily="34" charset="0"/>
                <a:ea typeface="Calibri" pitchFamily="34" charset="-122"/>
                <a:cs typeface="Calibri" pitchFamily="34" charset="-120"/>
              </a:rPr>
              <a:t>Feb 2026: chat wire removed</a:t>
            </a:r>
            <a:endParaRPr lang="en-US" sz="1250" dirty="0"/>
          </a:p>
        </p:txBody>
      </p:sp>
      <p:sp>
        <p:nvSpPr>
          <p:cNvPr id="11" name="Text 8"/>
          <p:cNvSpPr/>
          <p:nvPr/>
        </p:nvSpPr>
        <p:spPr>
          <a:xfrm>
            <a:off x="8010144" y="1938528"/>
            <a:ext cx="3410712" cy="1234440"/>
          </a:xfrm>
          <a:prstGeom prst="rect">
            <a:avLst/>
          </a:prstGeom>
          <a:noFill/>
          <a:ln/>
        </p:spPr>
        <p:txBody>
          <a:bodyPr wrap="square" lIns="0" tIns="0" rIns="0" bIns="0" rtlCol="0" anchor="t"/>
          <a:lstStyle/>
          <a:p>
            <a:pPr algn="l" indent="0" marL="0">
              <a:lnSpc>
                <a:spcPct val="112000"/>
              </a:lnSpc>
              <a:buNone/>
            </a:pPr>
            <a:r>
              <a:rPr lang="en-US" sz="1050" dirty="0">
                <a:solidFill>
                  <a:srgbClr val="5D6B7E"/>
                </a:solidFill>
                <a:latin typeface="Calibri" pitchFamily="34" charset="0"/>
                <a:ea typeface="Calibri" pitchFamily="34" charset="-122"/>
                <a:cs typeface="Calibri" pitchFamily="34" charset="-120"/>
              </a:rPr>
              <a:t>wire_api = "responses" is the only value. Every 2025-era guide showing wire_api = "chat" for local providers is broken — reportedly the #1 source of dead Codex+local configs.</a:t>
            </a:r>
            <a:endParaRPr lang="en-US" sz="1050" dirty="0"/>
          </a:p>
        </p:txBody>
      </p:sp>
      <p:sp>
        <p:nvSpPr>
          <p:cNvPr id="12" name="Text 9"/>
          <p:cNvSpPr/>
          <p:nvPr/>
        </p:nvSpPr>
        <p:spPr>
          <a:xfrm>
            <a:off x="8010144" y="3246120"/>
            <a:ext cx="3410712" cy="1005840"/>
          </a:xfrm>
          <a:prstGeom prst="rect">
            <a:avLst/>
          </a:prstGeom>
          <a:noFill/>
          <a:ln/>
        </p:spPr>
        <p:txBody>
          <a:bodyPr wrap="square" lIns="0" tIns="0" rIns="0" bIns="0" rtlCol="0" anchor="t"/>
          <a:lstStyle/>
          <a:p>
            <a:pPr algn="l" indent="0" marL="0">
              <a:lnSpc>
                <a:spcPct val="112000"/>
              </a:lnSpc>
              <a:buNone/>
            </a:pPr>
            <a:r>
              <a:rPr lang="en-US" sz="1000" b="1" dirty="0">
                <a:solidFill>
                  <a:srgbClr val="1F2A3D"/>
                </a:solidFill>
                <a:latin typeface="Calibri" pitchFamily="34" charset="0"/>
                <a:ea typeface="Calibri" pitchFamily="34" charset="-122"/>
                <a:cs typeface="Calibri" pitchFamily="34" charset="-120"/>
              </a:rPr>
              <a:t>Discriminator tells change too:  </a:t>
            </a:r>
            <a:pPr algn="l" indent="0" marL="0">
              <a:lnSpc>
                <a:spcPct val="112000"/>
              </a:lnSpc>
              <a:buNone/>
            </a:pPr>
            <a:r>
              <a:rPr lang="en-US" sz="1000" dirty="0">
                <a:solidFill>
                  <a:srgbClr val="5D6B7E"/>
                </a:solidFill>
                <a:latin typeface="Calibri" pitchFamily="34" charset="0"/>
                <a:ea typeface="Calibri" pitchFamily="34" charset="-122"/>
                <a:cs typeface="Calibri" pitchFamily="34" charset="-120"/>
              </a:rPr>
              <a:t>continuation = trailing function_call_output · session id from originator headers, not metadata.user_id</a:t>
            </a:r>
            <a:endParaRPr lang="en-US" sz="1000" dirty="0"/>
          </a:p>
        </p:txBody>
      </p:sp>
      <p:sp>
        <p:nvSpPr>
          <p:cNvPr id="13" name="Shape 10"/>
          <p:cNvSpPr/>
          <p:nvPr/>
        </p:nvSpPr>
        <p:spPr>
          <a:xfrm>
            <a:off x="548640" y="4617720"/>
            <a:ext cx="3566160" cy="1600200"/>
          </a:xfrm>
          <a:prstGeom prst="roundRect">
            <a:avLst>
              <a:gd name="adj" fmla="val 4000"/>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4" name="Text 11"/>
          <p:cNvSpPr/>
          <p:nvPr/>
        </p:nvSpPr>
        <p:spPr>
          <a:xfrm>
            <a:off x="768096" y="4754880"/>
            <a:ext cx="3127248" cy="502920"/>
          </a:xfrm>
          <a:prstGeom prst="rect">
            <a:avLst/>
          </a:prstGeom>
          <a:noFill/>
          <a:ln/>
        </p:spPr>
        <p:txBody>
          <a:bodyPr wrap="square" lIns="0" tIns="0" rIns="0" bIns="0" rtlCol="0" anchor="t"/>
          <a:lstStyle/>
          <a:p>
            <a:pPr algn="l" indent="0" marL="0">
              <a:lnSpc>
                <a:spcPct val="100000"/>
              </a:lnSpc>
              <a:buNone/>
            </a:pPr>
            <a:r>
              <a:rPr lang="en-US" sz="1150" b="1" dirty="0">
                <a:solidFill>
                  <a:srgbClr val="B45309"/>
                </a:solidFill>
                <a:latin typeface="Calibri" pitchFamily="34" charset="0"/>
                <a:ea typeface="Calibri" pitchFamily="34" charset="-122"/>
                <a:cs typeface="Calibri" pitchFamily="34" charset="-120"/>
              </a:rPr>
              <a:t>Translation is now mandatory</a:t>
            </a:r>
            <a:endParaRPr lang="en-US" sz="1150" dirty="0"/>
          </a:p>
        </p:txBody>
      </p:sp>
      <p:sp>
        <p:nvSpPr>
          <p:cNvPr id="15" name="Text 12"/>
          <p:cNvSpPr/>
          <p:nvPr/>
        </p:nvSpPr>
        <p:spPr>
          <a:xfrm>
            <a:off x="768096" y="5230368"/>
            <a:ext cx="3127248" cy="914400"/>
          </a:xfrm>
          <a:prstGeom prst="rect">
            <a:avLst/>
          </a:prstGeom>
          <a:noFill/>
          <a:ln/>
        </p:spPr>
        <p:txBody>
          <a:bodyPr wrap="square" lIns="0" tIns="0" rIns="0" bIns="0" rtlCol="0" anchor="t"/>
          <a:lstStyle/>
          <a:p>
            <a:pPr algn="l" indent="0" marL="0">
              <a:lnSpc>
                <a:spcPct val="108000"/>
              </a:lnSpc>
              <a:buNone/>
            </a:pPr>
            <a:r>
              <a:rPr lang="en-US" sz="950" dirty="0">
                <a:solidFill>
                  <a:srgbClr val="5D6B7E"/>
                </a:solidFill>
                <a:latin typeface="Calibri" pitchFamily="34" charset="0"/>
                <a:ea typeface="Calibri" pitchFamily="34" charset="-122"/>
                <a:cs typeface="Calibri" pitchFamily="34" charset="-120"/>
              </a:rPr>
              <a:t>llama.cpp/MLX speak chat-completions; LiteLLM translates Responses ⇄ chat. This double-translation seam is where S5-style parse failures breed — budget real testing.</a:t>
            </a:r>
            <a:endParaRPr lang="en-US" sz="950" dirty="0"/>
          </a:p>
        </p:txBody>
      </p:sp>
      <p:sp>
        <p:nvSpPr>
          <p:cNvPr id="16" name="Shape 13"/>
          <p:cNvSpPr/>
          <p:nvPr/>
        </p:nvSpPr>
        <p:spPr>
          <a:xfrm>
            <a:off x="4343400" y="4617720"/>
            <a:ext cx="3566160" cy="1600200"/>
          </a:xfrm>
          <a:prstGeom prst="roundRect">
            <a:avLst>
              <a:gd name="adj" fmla="val 4000"/>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7" name="Text 14"/>
          <p:cNvSpPr/>
          <p:nvPr/>
        </p:nvSpPr>
        <p:spPr>
          <a:xfrm>
            <a:off x="4562856" y="4754880"/>
            <a:ext cx="3127248" cy="502920"/>
          </a:xfrm>
          <a:prstGeom prst="rect">
            <a:avLst/>
          </a:prstGeom>
          <a:noFill/>
          <a:ln/>
        </p:spPr>
        <p:txBody>
          <a:bodyPr wrap="square" lIns="0" tIns="0" rIns="0" bIns="0" rtlCol="0" anchor="t"/>
          <a:lstStyle/>
          <a:p>
            <a:pPr algn="l" indent="0" marL="0">
              <a:lnSpc>
                <a:spcPct val="100000"/>
              </a:lnSpc>
              <a:buNone/>
            </a:pPr>
            <a:r>
              <a:rPr lang="en-US" sz="1150" b="1" dirty="0">
                <a:solidFill>
                  <a:srgbClr val="B3261E"/>
                </a:solidFill>
                <a:latin typeface="Calibri" pitchFamily="34" charset="0"/>
                <a:ea typeface="Calibri" pitchFamily="34" charset="-122"/>
                <a:cs typeface="Calibri" pitchFamily="34" charset="-120"/>
              </a:rPr>
              <a:t>Encrypted reasoning can't cross rungs</a:t>
            </a:r>
            <a:endParaRPr lang="en-US" sz="1150" dirty="0"/>
          </a:p>
        </p:txBody>
      </p:sp>
      <p:sp>
        <p:nvSpPr>
          <p:cNvPr id="18" name="Text 15"/>
          <p:cNvSpPr/>
          <p:nvPr/>
        </p:nvSpPr>
        <p:spPr>
          <a:xfrm>
            <a:off x="4562856" y="5230368"/>
            <a:ext cx="3127248" cy="914400"/>
          </a:xfrm>
          <a:prstGeom prst="rect">
            <a:avLst/>
          </a:prstGeom>
          <a:noFill/>
          <a:ln/>
        </p:spPr>
        <p:txBody>
          <a:bodyPr wrap="square" lIns="0" tIns="0" rIns="0" bIns="0" rtlCol="0" anchor="t"/>
          <a:lstStyle/>
          <a:p>
            <a:pPr algn="l" indent="0" marL="0">
              <a:lnSpc>
                <a:spcPct val="108000"/>
              </a:lnSpc>
              <a:buNone/>
            </a:pPr>
            <a:r>
              <a:rPr lang="en-US" sz="950" dirty="0">
                <a:solidFill>
                  <a:srgbClr val="5D6B7E"/>
                </a:solidFill>
                <a:latin typeface="Calibri" pitchFamily="34" charset="0"/>
                <a:ea typeface="Calibri" pitchFamily="34" charset="-122"/>
                <a:cs typeface="Calibri" pitchFamily="34" charset="-120"/>
              </a:rPr>
              <a:t>Provider-opaque by design. Any escalation that changes provider must DROP these items — keeping them = instant 4xx.</a:t>
            </a:r>
            <a:endParaRPr lang="en-US" sz="950" dirty="0"/>
          </a:p>
        </p:txBody>
      </p:sp>
      <p:sp>
        <p:nvSpPr>
          <p:cNvPr id="19" name="Shape 16"/>
          <p:cNvSpPr/>
          <p:nvPr/>
        </p:nvSpPr>
        <p:spPr>
          <a:xfrm>
            <a:off x="8138160" y="4617720"/>
            <a:ext cx="3566160" cy="1600200"/>
          </a:xfrm>
          <a:prstGeom prst="roundRect">
            <a:avLst>
              <a:gd name="adj" fmla="val 4000"/>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20" name="Text 17"/>
          <p:cNvSpPr/>
          <p:nvPr/>
        </p:nvSpPr>
        <p:spPr>
          <a:xfrm>
            <a:off x="8357616" y="4754880"/>
            <a:ext cx="3127248" cy="502920"/>
          </a:xfrm>
          <a:prstGeom prst="rect">
            <a:avLst/>
          </a:prstGeom>
          <a:noFill/>
          <a:ln/>
        </p:spPr>
        <p:txBody>
          <a:bodyPr wrap="square" lIns="0" tIns="0" rIns="0" bIns="0" rtlCol="0" anchor="t"/>
          <a:lstStyle/>
          <a:p>
            <a:pPr algn="l" indent="0" marL="0">
              <a:lnSpc>
                <a:spcPct val="100000"/>
              </a:lnSpc>
              <a:buNone/>
            </a:pPr>
            <a:r>
              <a:rPr lang="en-US" sz="1150" b="1" dirty="0">
                <a:solidFill>
                  <a:srgbClr val="1F7A55"/>
                </a:solidFill>
                <a:latin typeface="Calibri" pitchFamily="34" charset="0"/>
                <a:ea typeface="Calibri" pitchFamily="34" charset="-122"/>
                <a:cs typeface="Calibri" pitchFamily="34" charset="-120"/>
              </a:rPr>
              <a:t>The edit dialect flips</a:t>
            </a:r>
            <a:endParaRPr lang="en-US" sz="1150" dirty="0"/>
          </a:p>
        </p:txBody>
      </p:sp>
      <p:sp>
        <p:nvSpPr>
          <p:cNvPr id="21" name="Text 18"/>
          <p:cNvSpPr/>
          <p:nvPr/>
        </p:nvSpPr>
        <p:spPr>
          <a:xfrm>
            <a:off x="8357616" y="5230368"/>
            <a:ext cx="3127248" cy="914400"/>
          </a:xfrm>
          <a:prstGeom prst="rect">
            <a:avLst/>
          </a:prstGeom>
          <a:noFill/>
          <a:ln/>
        </p:spPr>
        <p:txBody>
          <a:bodyPr wrap="square" lIns="0" tIns="0" rIns="0" bIns="0" rtlCol="0" anchor="t"/>
          <a:lstStyle/>
          <a:p>
            <a:pPr algn="l" indent="0" marL="0">
              <a:lnSpc>
                <a:spcPct val="108000"/>
              </a:lnSpc>
              <a:buNone/>
            </a:pPr>
            <a:r>
              <a:rPr lang="en-US" sz="950" dirty="0">
                <a:solidFill>
                  <a:srgbClr val="5D6B7E"/>
                </a:solidFill>
                <a:latin typeface="Calibri" pitchFamily="34" charset="0"/>
                <a:ea typeface="Calibri" pitchFamily="34" charset="-122"/>
                <a:cs typeface="Calibri" pitchFamily="34" charset="-120"/>
              </a:rPr>
              <a:t>apply_patch tolerates the whitespace drift that killed S3: same Qwen, 0.93 vs 0.87. Same turn = medium under CC, easy-ish under Codex → per-harness thresholds.</a:t>
            </a:r>
            <a:endParaRPr lang="en-US" sz="9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PART 6 · HARNESS DIALECTS</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Parallel tool calls: a harness–model negotiation (S12)</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scenario S12 · design doc §5.4, §8.4</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38</a:t>
            </a:r>
            <a:endParaRPr lang="en-US" sz="900" dirty="0"/>
          </a:p>
        </p:txBody>
      </p:sp>
      <p:sp>
        <p:nvSpPr>
          <p:cNvPr id="7" name="Shape 4"/>
          <p:cNvSpPr/>
          <p:nvPr/>
        </p:nvSpPr>
        <p:spPr>
          <a:xfrm>
            <a:off x="548640" y="1417320"/>
            <a:ext cx="5422392" cy="2514600"/>
          </a:xfrm>
          <a:prstGeom prst="roundRect">
            <a:avLst>
              <a:gd name="adj" fmla="val 2545"/>
            </a:avLst>
          </a:prstGeom>
          <a:solidFill>
            <a:srgbClr val="ECE5F8"/>
          </a:solidFill>
          <a:ln/>
          <a:effectLst>
            <a:outerShdw sx="100000" sy="100000" kx="0" ky="0" algn="bl" rotWithShape="0" blurRad="88900" dist="25400" dir="2700000">
              <a:srgbClr val="1F2A3D">
                <a:alpha val="14000"/>
              </a:srgbClr>
            </a:outerShdw>
          </a:effectLst>
        </p:spPr>
      </p:sp>
      <p:sp>
        <p:nvSpPr>
          <p:cNvPr id="8" name="Text 5"/>
          <p:cNvSpPr/>
          <p:nvPr/>
        </p:nvSpPr>
        <p:spPr>
          <a:xfrm>
            <a:off x="804672" y="1600200"/>
            <a:ext cx="4937760" cy="274320"/>
          </a:xfrm>
          <a:prstGeom prst="rect">
            <a:avLst/>
          </a:prstGeom>
          <a:noFill/>
          <a:ln/>
        </p:spPr>
        <p:txBody>
          <a:bodyPr wrap="square" lIns="0" tIns="0" rIns="0" bIns="0" rtlCol="0" anchor="t"/>
          <a:lstStyle/>
          <a:p>
            <a:pPr algn="l" indent="0" marL="0">
              <a:buNone/>
            </a:pPr>
            <a:r>
              <a:rPr lang="en-US" sz="1150" b="1" spc="100" kern="0" dirty="0">
                <a:solidFill>
                  <a:srgbClr val="5B21B6"/>
                </a:solidFill>
                <a:latin typeface="Calibri" pitchFamily="34" charset="0"/>
                <a:ea typeface="Calibri" pitchFamily="34" charset="-122"/>
                <a:cs typeface="Calibri" pitchFamily="34" charset="-120"/>
              </a:rPr>
              <a:t>FRONTIER — parallel OK</a:t>
            </a:r>
            <a:endParaRPr lang="en-US" sz="1150" dirty="0"/>
          </a:p>
        </p:txBody>
      </p:sp>
      <p:sp>
        <p:nvSpPr>
          <p:cNvPr id="9" name="Shape 6"/>
          <p:cNvSpPr/>
          <p:nvPr/>
        </p:nvSpPr>
        <p:spPr>
          <a:xfrm>
            <a:off x="804672" y="1938528"/>
            <a:ext cx="4892040" cy="1783080"/>
          </a:xfrm>
          <a:prstGeom prst="roundRect">
            <a:avLst>
              <a:gd name="adj" fmla="val 3590"/>
            </a:avLst>
          </a:prstGeom>
          <a:solidFill>
            <a:srgbClr val="101D31"/>
          </a:solidFill>
          <a:ln/>
          <a:effectLst>
            <a:outerShdw sx="100000" sy="100000" kx="0" ky="0" algn="bl" rotWithShape="0" blurRad="88900" dist="25400" dir="2700000">
              <a:srgbClr val="1F2A3D">
                <a:alpha val="14000"/>
              </a:srgbClr>
            </a:outerShdw>
          </a:effectLst>
        </p:spPr>
      </p:sp>
      <p:sp>
        <p:nvSpPr>
          <p:cNvPr id="10" name="Text 7"/>
          <p:cNvSpPr/>
          <p:nvPr/>
        </p:nvSpPr>
        <p:spPr>
          <a:xfrm>
            <a:off x="1005840" y="2084832"/>
            <a:ext cx="4489704" cy="1490472"/>
          </a:xfrm>
          <a:prstGeom prst="rect">
            <a:avLst/>
          </a:prstGeom>
          <a:noFill/>
          <a:ln/>
        </p:spPr>
        <p:txBody>
          <a:bodyPr wrap="square" lIns="0" tIns="0" rIns="0" bIns="0" rtlCol="0" anchor="ctr"/>
          <a:lstStyle/>
          <a:p>
            <a:pPr indent="0" marL="0">
              <a:lnSpc>
                <a:spcPct val="112000"/>
              </a:lnSpc>
              <a:buNone/>
            </a:pPr>
            <a:r>
              <a:rPr lang="en-US" sz="950" dirty="0">
                <a:solidFill>
                  <a:srgbClr val="9CC3EC"/>
                </a:solidFill>
                <a:latin typeface="Courier New" pitchFamily="34" charset="0"/>
                <a:ea typeface="Courier New" pitchFamily="34" charset="-122"/>
                <a:cs typeface="Courier New" pitchFamily="34" charset="-120"/>
              </a:rPr>
              <a:t>// ONE assistant message, THREE tool_use blocks:</a:t>
            </a:r>
            <a:endParaRPr lang="en-US" sz="950" dirty="0"/>
          </a:p>
          <a:p>
            <a:pPr indent="0" marL="0">
              <a:lnSpc>
                <a:spcPct val="112000"/>
              </a:lnSpc>
              <a:buNone/>
            </a:pPr>
            <a:r>
              <a:rPr lang="en-US" sz="950" dirty="0">
                <a:solidFill>
                  <a:srgbClr val="D9E4F3"/>
                </a:solidFill>
                <a:latin typeface="Courier New" pitchFamily="34" charset="0"/>
                <a:ea typeface="Courier New" pitchFamily="34" charset="-122"/>
                <a:cs typeface="Courier New" pitchFamily="34" charset="-120"/>
              </a:rPr>
              <a:t>[{tool_use, id:"toolu_F1", Read src/a.py},</a:t>
            </a:r>
            <a:endParaRPr lang="en-US" sz="950" dirty="0"/>
          </a:p>
          <a:p>
            <a:pPr indent="0" marL="0">
              <a:lnSpc>
                <a:spcPct val="112000"/>
              </a:lnSpc>
              <a:buNone/>
            </a:pPr>
            <a:r>
              <a:rPr lang="en-US" sz="950" dirty="0">
                <a:solidFill>
                  <a:srgbClr val="D9E4F3"/>
                </a:solidFill>
                <a:latin typeface="Courier New" pitchFamily="34" charset="0"/>
                <a:ea typeface="Courier New" pitchFamily="34" charset="-122"/>
                <a:cs typeface="Courier New" pitchFamily="34" charset="-120"/>
              </a:rPr>
              <a:t> {tool_use, id:"toolu_F2", Read src/b.py},</a:t>
            </a:r>
            <a:endParaRPr lang="en-US" sz="950" dirty="0"/>
          </a:p>
          <a:p>
            <a:pPr indent="0" marL="0">
              <a:lnSpc>
                <a:spcPct val="112000"/>
              </a:lnSpc>
              <a:buNone/>
            </a:pPr>
            <a:r>
              <a:rPr lang="en-US" sz="950" dirty="0">
                <a:solidFill>
                  <a:srgbClr val="D9E4F3"/>
                </a:solidFill>
                <a:latin typeface="Courier New" pitchFamily="34" charset="0"/>
                <a:ea typeface="Courier New" pitchFamily="34" charset="-122"/>
                <a:cs typeface="Courier New" pitchFamily="34" charset="-120"/>
              </a:rPr>
              <a:t> {tool_use, id:"toolu_F3", Grep configure\(}]</a:t>
            </a:r>
            <a:endParaRPr lang="en-US" sz="950" dirty="0"/>
          </a:p>
          <a:p>
            <a:pPr indent="0" marL="0">
              <a:lnSpc>
                <a:spcPct val="112000"/>
              </a:lnSpc>
              <a:buNone/>
            </a:pPr>
            <a:r>
              <a:rPr lang="en-US" sz="950" b="1" dirty="0">
                <a:solidFill>
                  <a:srgbClr val="8ED6AC"/>
                </a:solidFill>
                <a:latin typeface="Courier New" pitchFamily="34" charset="0"/>
                <a:ea typeface="Courier New" pitchFamily="34" charset="-122"/>
                <a:cs typeface="Courier New" pitchFamily="34" charset="-120"/>
              </a:rPr>
              <a:t>→ one round-trip, three results</a:t>
            </a:r>
            <a:endParaRPr lang="en-US" sz="950" dirty="0"/>
          </a:p>
        </p:txBody>
      </p:sp>
      <p:sp>
        <p:nvSpPr>
          <p:cNvPr id="11" name="Shape 8"/>
          <p:cNvSpPr/>
          <p:nvPr/>
        </p:nvSpPr>
        <p:spPr>
          <a:xfrm>
            <a:off x="6217920" y="1417320"/>
            <a:ext cx="5422392" cy="2514600"/>
          </a:xfrm>
          <a:prstGeom prst="roundRect">
            <a:avLst>
              <a:gd name="adj" fmla="val 2545"/>
            </a:avLst>
          </a:prstGeom>
          <a:solidFill>
            <a:srgbClr val="E3F1EA"/>
          </a:solidFill>
          <a:ln/>
          <a:effectLst>
            <a:outerShdw sx="100000" sy="100000" kx="0" ky="0" algn="bl" rotWithShape="0" blurRad="88900" dist="25400" dir="2700000">
              <a:srgbClr val="1F2A3D">
                <a:alpha val="14000"/>
              </a:srgbClr>
            </a:outerShdw>
          </a:effectLst>
        </p:spPr>
      </p:sp>
      <p:sp>
        <p:nvSpPr>
          <p:cNvPr id="12" name="Text 9"/>
          <p:cNvSpPr/>
          <p:nvPr/>
        </p:nvSpPr>
        <p:spPr>
          <a:xfrm>
            <a:off x="6473952" y="1600200"/>
            <a:ext cx="4937760" cy="274320"/>
          </a:xfrm>
          <a:prstGeom prst="rect">
            <a:avLst/>
          </a:prstGeom>
          <a:noFill/>
          <a:ln/>
        </p:spPr>
        <p:txBody>
          <a:bodyPr wrap="square" lIns="0" tIns="0" rIns="0" bIns="0" rtlCol="0" anchor="t"/>
          <a:lstStyle/>
          <a:p>
            <a:pPr algn="l" indent="0" marL="0">
              <a:buNone/>
            </a:pPr>
            <a:r>
              <a:rPr lang="en-US" sz="1150" b="1" spc="100" kern="0" dirty="0">
                <a:solidFill>
                  <a:srgbClr val="1F7A55"/>
                </a:solidFill>
                <a:latin typeface="Calibri" pitchFamily="34" charset="0"/>
                <a:ea typeface="Calibri" pitchFamily="34" charset="-122"/>
                <a:cs typeface="Calibri" pitchFamily="34" charset="-120"/>
              </a:rPr>
              <a:t>LOCAL — registry says NO</a:t>
            </a:r>
            <a:endParaRPr lang="en-US" sz="1150" dirty="0"/>
          </a:p>
        </p:txBody>
      </p:sp>
      <p:sp>
        <p:nvSpPr>
          <p:cNvPr id="13" name="Shape 10"/>
          <p:cNvSpPr/>
          <p:nvPr/>
        </p:nvSpPr>
        <p:spPr>
          <a:xfrm>
            <a:off x="6473952" y="1938528"/>
            <a:ext cx="4892040" cy="1783080"/>
          </a:xfrm>
          <a:prstGeom prst="roundRect">
            <a:avLst>
              <a:gd name="adj" fmla="val 3590"/>
            </a:avLst>
          </a:prstGeom>
          <a:solidFill>
            <a:srgbClr val="101D31"/>
          </a:solidFill>
          <a:ln/>
          <a:effectLst>
            <a:outerShdw sx="100000" sy="100000" kx="0" ky="0" algn="bl" rotWithShape="0" blurRad="88900" dist="25400" dir="2700000">
              <a:srgbClr val="1F2A3D">
                <a:alpha val="14000"/>
              </a:srgbClr>
            </a:outerShdw>
          </a:effectLst>
        </p:spPr>
      </p:sp>
      <p:sp>
        <p:nvSpPr>
          <p:cNvPr id="14" name="Text 11"/>
          <p:cNvSpPr/>
          <p:nvPr/>
        </p:nvSpPr>
        <p:spPr>
          <a:xfrm>
            <a:off x="6675120" y="2084832"/>
            <a:ext cx="4489704" cy="1490472"/>
          </a:xfrm>
          <a:prstGeom prst="rect">
            <a:avLst/>
          </a:prstGeom>
          <a:noFill/>
          <a:ln/>
        </p:spPr>
        <p:txBody>
          <a:bodyPr wrap="square" lIns="0" tIns="0" rIns="0" bIns="0" rtlCol="0" anchor="ctr"/>
          <a:lstStyle/>
          <a:p>
            <a:pPr indent="0" marL="0">
              <a:lnSpc>
                <a:spcPct val="112000"/>
              </a:lnSpc>
              <a:buNone/>
            </a:pPr>
            <a:r>
              <a:rPr lang="en-US" sz="950" dirty="0">
                <a:solidFill>
                  <a:srgbClr val="EFCB84"/>
                </a:solidFill>
                <a:latin typeface="Courier New" pitchFamily="34" charset="0"/>
                <a:ea typeface="Courier New" pitchFamily="34" charset="-122"/>
                <a:cs typeface="Courier New" pitchFamily="34" charset="-120"/>
              </a:rPr>
              <a:t># registry: parallel_tool_calls: false</a:t>
            </a:r>
            <a:endParaRPr lang="en-US" sz="950" dirty="0"/>
          </a:p>
          <a:p>
            <a:pPr indent="0" marL="0">
              <a:lnSpc>
                <a:spcPct val="112000"/>
              </a:lnSpc>
              <a:buNone/>
            </a:pPr>
            <a:r>
              <a:rPr lang="en-US" sz="950" dirty="0">
                <a:solidFill>
                  <a:srgbClr val="D9E4F3"/>
                </a:solidFill>
                <a:latin typeface="Courier New" pitchFamily="34" charset="0"/>
                <a:ea typeface="Courier New" pitchFamily="34" charset="-122"/>
                <a:cs typeface="Courier New" pitchFamily="34" charset="-120"/>
              </a:rPr>
              <a:t>req a: Read a.py → result</a:t>
            </a:r>
            <a:endParaRPr lang="en-US" sz="950" dirty="0"/>
          </a:p>
          <a:p>
            <a:pPr indent="0" marL="0">
              <a:lnSpc>
                <a:spcPct val="112000"/>
              </a:lnSpc>
              <a:buNone/>
            </a:pPr>
            <a:r>
              <a:rPr lang="en-US" sz="950" dirty="0">
                <a:solidFill>
                  <a:srgbClr val="D9E4F3"/>
                </a:solidFill>
                <a:latin typeface="Courier New" pitchFamily="34" charset="0"/>
                <a:ea typeface="Courier New" pitchFamily="34" charset="-122"/>
                <a:cs typeface="Courier New" pitchFamily="34" charset="-120"/>
              </a:rPr>
              <a:t>req b: Read b.py → result</a:t>
            </a:r>
            <a:endParaRPr lang="en-US" sz="950" dirty="0"/>
          </a:p>
          <a:p>
            <a:pPr indent="0" marL="0">
              <a:lnSpc>
                <a:spcPct val="112000"/>
              </a:lnSpc>
              <a:buNone/>
            </a:pPr>
            <a:r>
              <a:rPr lang="en-US" sz="950" dirty="0">
                <a:solidFill>
                  <a:srgbClr val="D9E4F3"/>
                </a:solidFill>
                <a:latin typeface="Courier New" pitchFamily="34" charset="0"/>
                <a:ea typeface="Courier New" pitchFamily="34" charset="-122"/>
                <a:cs typeface="Courier New" pitchFamily="34" charset="-120"/>
              </a:rPr>
              <a:t>req c: Grep     → result</a:t>
            </a:r>
            <a:endParaRPr lang="en-US" sz="950" dirty="0"/>
          </a:p>
          <a:p>
            <a:pPr indent="0" marL="0">
              <a:lnSpc>
                <a:spcPct val="112000"/>
              </a:lnSpc>
              <a:buNone/>
            </a:pPr>
            <a:r>
              <a:rPr lang="en-US" sz="950" b="1" dirty="0">
                <a:solidFill>
                  <a:srgbClr val="F2A69E"/>
                </a:solidFill>
                <a:latin typeface="Courier New" pitchFamily="34" charset="0"/>
                <a:ea typeface="Courier New" pitchFamily="34" charset="-122"/>
                <a:cs typeface="Courier New" pitchFamily="34" charset="-120"/>
              </a:rPr>
              <a:t>→ 3 round-trips: turn latency ≈ 3× overhead</a:t>
            </a:r>
            <a:endParaRPr lang="en-US" sz="950" dirty="0"/>
          </a:p>
        </p:txBody>
      </p:sp>
      <p:sp>
        <p:nvSpPr>
          <p:cNvPr id="15" name="Shape 12"/>
          <p:cNvSpPr/>
          <p:nvPr/>
        </p:nvSpPr>
        <p:spPr>
          <a:xfrm>
            <a:off x="548640" y="4206240"/>
            <a:ext cx="11091672" cy="1005840"/>
          </a:xfrm>
          <a:prstGeom prst="roundRect">
            <a:avLst>
              <a:gd name="adj" fmla="val 6364"/>
            </a:avLst>
          </a:prstGeom>
          <a:solidFill>
            <a:srgbClr val="F9E7E4"/>
          </a:solidFill>
          <a:ln/>
          <a:effectLst>
            <a:outerShdw sx="100000" sy="100000" kx="0" ky="0" algn="bl" rotWithShape="0" blurRad="88900" dist="25400" dir="2700000">
              <a:srgbClr val="1F2A3D">
                <a:alpha val="14000"/>
              </a:srgbClr>
            </a:outerShdw>
          </a:effectLst>
        </p:spPr>
      </p:sp>
      <p:sp>
        <p:nvSpPr>
          <p:cNvPr id="16" name="Text 13"/>
          <p:cNvSpPr/>
          <p:nvPr/>
        </p:nvSpPr>
        <p:spPr>
          <a:xfrm>
            <a:off x="822960" y="4370832"/>
            <a:ext cx="10515600" cy="685800"/>
          </a:xfrm>
          <a:prstGeom prst="rect">
            <a:avLst/>
          </a:prstGeom>
          <a:noFill/>
          <a:ln/>
        </p:spPr>
        <p:txBody>
          <a:bodyPr wrap="square" lIns="0" tIns="0" rIns="0" bIns="0" rtlCol="0" anchor="t"/>
          <a:lstStyle/>
          <a:p>
            <a:pPr algn="l" indent="0" marL="0">
              <a:lnSpc>
                <a:spcPct val="112000"/>
              </a:lnSpc>
              <a:buNone/>
            </a:pPr>
            <a:r>
              <a:rPr lang="en-US" sz="1200" b="1" dirty="0">
                <a:solidFill>
                  <a:srgbClr val="1F2A3D"/>
                </a:solidFill>
                <a:latin typeface="Calibri" pitchFamily="34" charset="0"/>
                <a:ea typeface="Calibri" pitchFamily="34" charset="-122"/>
                <a:cs typeface="Calibri" pitchFamily="34" charset="-120"/>
              </a:rPr>
              <a:t>The trifecta if unenforced:  </a:t>
            </a:r>
            <a:pPr algn="l" indent="0" marL="0">
              <a:lnSpc>
                <a:spcPct val="112000"/>
              </a:lnSpc>
              <a:buNone/>
            </a:pPr>
            <a:r>
              <a:rPr lang="en-US" sz="1150" dirty="0">
                <a:solidFill>
                  <a:srgbClr val="5D6B7E"/>
                </a:solidFill>
                <a:latin typeface="Calibri" pitchFamily="34" charset="0"/>
                <a:ea typeface="Calibri" pitchFamily="34" charset="-122"/>
                <a:cs typeface="Calibri" pitchFamily="34" charset="-120"/>
              </a:rPr>
              <a:t>local emits two blocks, one ID malformed → orphaned tool_result → hard 400 → looks like infra (S7), is actually dialect (S5). The registry flag prevents it from ever starting.</a:t>
            </a:r>
            <a:endParaRPr lang="en-US" sz="1200" dirty="0"/>
          </a:p>
        </p:txBody>
      </p:sp>
      <p:sp>
        <p:nvSpPr>
          <p:cNvPr id="17" name="Text 14"/>
          <p:cNvSpPr/>
          <p:nvPr/>
        </p:nvSpPr>
        <p:spPr>
          <a:xfrm>
            <a:off x="548640" y="5486400"/>
            <a:ext cx="11091672" cy="548640"/>
          </a:xfrm>
          <a:prstGeom prst="rect">
            <a:avLst/>
          </a:prstGeom>
          <a:noFill/>
          <a:ln/>
        </p:spPr>
        <p:txBody>
          <a:bodyPr wrap="square" lIns="0" tIns="0" rIns="0" bIns="0" rtlCol="0" anchor="t"/>
          <a:lstStyle/>
          <a:p>
            <a:pPr algn="ctr" indent="0" marL="0">
              <a:lnSpc>
                <a:spcPct val="110000"/>
              </a:lnSpc>
              <a:buNone/>
            </a:pPr>
            <a:r>
              <a:rPr lang="en-US" sz="1300" b="1" dirty="0">
                <a:solidFill>
                  <a:srgbClr val="1F2A3D"/>
                </a:solidFill>
                <a:latin typeface="Cambria" pitchFamily="34" charset="0"/>
                <a:ea typeface="Cambria" pitchFamily="34" charset="-122"/>
                <a:cs typeface="Cambria" pitchFamily="34" charset="-120"/>
              </a:rPr>
              <a:t>Parallelism is a negotiation between harness and model — the router referees it via the registry, and charges the sequential latency tax in routing decisions.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PART 6 · HARNESS DIALECTS</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Frontier delegates to a local subagent (S13)</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scenario S13 · design doc §5.6, §7</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39</a:t>
            </a:r>
            <a:endParaRPr lang="en-US" sz="900" dirty="0"/>
          </a:p>
        </p:txBody>
      </p:sp>
      <p:sp>
        <p:nvSpPr>
          <p:cNvPr id="7" name="Shape 4"/>
          <p:cNvSpPr/>
          <p:nvPr/>
        </p:nvSpPr>
        <p:spPr>
          <a:xfrm>
            <a:off x="548640" y="1463040"/>
            <a:ext cx="3291840" cy="1188720"/>
          </a:xfrm>
          <a:prstGeom prst="roundRect">
            <a:avLst>
              <a:gd name="adj" fmla="val 5385"/>
            </a:avLst>
          </a:prstGeom>
          <a:solidFill>
            <a:srgbClr val="ECE5F8"/>
          </a:solidFill>
          <a:ln/>
          <a:effectLst>
            <a:outerShdw sx="100000" sy="100000" kx="0" ky="0" algn="bl" rotWithShape="0" blurRad="88900" dist="25400" dir="2700000">
              <a:srgbClr val="1F2A3D">
                <a:alpha val="14000"/>
              </a:srgbClr>
            </a:outerShdw>
          </a:effectLst>
        </p:spPr>
      </p:sp>
      <p:sp>
        <p:nvSpPr>
          <p:cNvPr id="8" name="Text 5"/>
          <p:cNvSpPr/>
          <p:nvPr/>
        </p:nvSpPr>
        <p:spPr>
          <a:xfrm>
            <a:off x="777240" y="1600200"/>
            <a:ext cx="2834640" cy="274320"/>
          </a:xfrm>
          <a:prstGeom prst="rect">
            <a:avLst/>
          </a:prstGeom>
          <a:noFill/>
          <a:ln/>
        </p:spPr>
        <p:txBody>
          <a:bodyPr wrap="square" lIns="0" tIns="0" rIns="0" bIns="0" rtlCol="0" anchor="t"/>
          <a:lstStyle/>
          <a:p>
            <a:pPr algn="l" indent="0" marL="0">
              <a:buNone/>
            </a:pPr>
            <a:r>
              <a:rPr lang="en-US" sz="1050" b="1" dirty="0">
                <a:solidFill>
                  <a:srgbClr val="5B21B6"/>
                </a:solidFill>
                <a:latin typeface="Calibri" pitchFamily="34" charset="0"/>
                <a:ea typeface="Calibri" pitchFamily="34" charset="-122"/>
                <a:cs typeface="Calibri" pitchFamily="34" charset="-120"/>
              </a:rPr>
              <a:t>FRONTIER (parent turn)</a:t>
            </a:r>
            <a:endParaRPr lang="en-US" sz="1050" dirty="0"/>
          </a:p>
        </p:txBody>
      </p:sp>
      <p:sp>
        <p:nvSpPr>
          <p:cNvPr id="9" name="Text 6"/>
          <p:cNvSpPr/>
          <p:nvPr/>
        </p:nvSpPr>
        <p:spPr>
          <a:xfrm>
            <a:off x="777240" y="1874520"/>
            <a:ext cx="2880360" cy="685800"/>
          </a:xfrm>
          <a:prstGeom prst="rect">
            <a:avLst/>
          </a:prstGeom>
          <a:noFill/>
          <a:ln/>
        </p:spPr>
        <p:txBody>
          <a:bodyPr wrap="square" lIns="0" tIns="0" rIns="0" bIns="0" rtlCol="0" anchor="t"/>
          <a:lstStyle/>
          <a:p>
            <a:pPr algn="l" indent="0" marL="0">
              <a:lnSpc>
                <a:spcPct val="108000"/>
              </a:lnSpc>
              <a:buNone/>
            </a:pPr>
            <a:r>
              <a:rPr lang="en-US" sz="950" dirty="0">
                <a:solidFill>
                  <a:srgbClr val="5D6B7E"/>
                </a:solidFill>
                <a:latin typeface="Calibri" pitchFamily="34" charset="0"/>
                <a:ea typeface="Calibri" pitchFamily="34" charset="-122"/>
                <a:cs typeface="Calibri" pitchFamily="34" charset="-120"/>
              </a:rPr>
              <a:t>mid-refactor, emits Task: “find every RateLimiter config site”</a:t>
            </a:r>
            <a:endParaRPr lang="en-US" sz="950" dirty="0"/>
          </a:p>
        </p:txBody>
      </p:sp>
      <p:sp>
        <p:nvSpPr>
          <p:cNvPr id="10" name="Shape 7"/>
          <p:cNvSpPr/>
          <p:nvPr/>
        </p:nvSpPr>
        <p:spPr>
          <a:xfrm>
            <a:off x="3931920" y="2057400"/>
            <a:ext cx="502920" cy="0"/>
          </a:xfrm>
          <a:prstGeom prst="line">
            <a:avLst/>
          </a:prstGeom>
          <a:noFill/>
          <a:ln w="22225">
            <a:solidFill>
              <a:srgbClr val="5D6B7E"/>
            </a:solidFill>
            <a:prstDash val="solid"/>
            <a:headEnd type="none"/>
            <a:tailEnd type="triangle"/>
          </a:ln>
        </p:spPr>
      </p:sp>
      <p:sp>
        <p:nvSpPr>
          <p:cNvPr id="11" name="Shape 8"/>
          <p:cNvSpPr/>
          <p:nvPr/>
        </p:nvSpPr>
        <p:spPr>
          <a:xfrm>
            <a:off x="4526280" y="1463040"/>
            <a:ext cx="3383280" cy="1188720"/>
          </a:xfrm>
          <a:prstGeom prst="roundRect">
            <a:avLst>
              <a:gd name="adj" fmla="val 5385"/>
            </a:avLst>
          </a:prstGeom>
          <a:solidFill>
            <a:srgbClr val="E3F1EA"/>
          </a:solidFill>
          <a:ln/>
          <a:effectLst>
            <a:outerShdw sx="100000" sy="100000" kx="0" ky="0" algn="bl" rotWithShape="0" blurRad="88900" dist="25400" dir="2700000">
              <a:srgbClr val="1F2A3D">
                <a:alpha val="14000"/>
              </a:srgbClr>
            </a:outerShdw>
          </a:effectLst>
        </p:spPr>
      </p:sp>
      <p:sp>
        <p:nvSpPr>
          <p:cNvPr id="12" name="Text 9"/>
          <p:cNvSpPr/>
          <p:nvPr/>
        </p:nvSpPr>
        <p:spPr>
          <a:xfrm>
            <a:off x="4754880" y="1600200"/>
            <a:ext cx="2926080" cy="274320"/>
          </a:xfrm>
          <a:prstGeom prst="rect">
            <a:avLst/>
          </a:prstGeom>
          <a:noFill/>
          <a:ln/>
        </p:spPr>
        <p:txBody>
          <a:bodyPr wrap="square" lIns="0" tIns="0" rIns="0" bIns="0" rtlCol="0" anchor="t"/>
          <a:lstStyle/>
          <a:p>
            <a:pPr algn="l" indent="0" marL="0">
              <a:buNone/>
            </a:pPr>
            <a:r>
              <a:rPr lang="en-US" sz="1050" b="1" dirty="0">
                <a:solidFill>
                  <a:srgbClr val="1F7A55"/>
                </a:solidFill>
                <a:latin typeface="Calibri" pitchFamily="34" charset="0"/>
                <a:ea typeface="Calibri" pitchFamily="34" charset="-122"/>
                <a:cs typeface="Calibri" pitchFamily="34" charset="-120"/>
              </a:rPr>
              <a:t>SUBAGENT → LOCAL</a:t>
            </a:r>
            <a:endParaRPr lang="en-US" sz="1050" dirty="0"/>
          </a:p>
        </p:txBody>
      </p:sp>
      <p:sp>
        <p:nvSpPr>
          <p:cNvPr id="13" name="Text 10"/>
          <p:cNvSpPr/>
          <p:nvPr/>
        </p:nvSpPr>
        <p:spPr>
          <a:xfrm>
            <a:off x="4754880" y="1874520"/>
            <a:ext cx="2971800" cy="685800"/>
          </a:xfrm>
          <a:prstGeom prst="rect">
            <a:avLst/>
          </a:prstGeom>
          <a:noFill/>
          <a:ln/>
        </p:spPr>
        <p:txBody>
          <a:bodyPr wrap="square" lIns="0" tIns="0" rIns="0" bIns="0" rtlCol="0" anchor="t"/>
          <a:lstStyle/>
          <a:p>
            <a:pPr algn="l" indent="0" marL="0">
              <a:lnSpc>
                <a:spcPct val="108000"/>
              </a:lnSpc>
              <a:buNone/>
            </a:pPr>
            <a:r>
              <a:rPr lang="en-US" sz="950" dirty="0">
                <a:solidFill>
                  <a:srgbClr val="5D6B7E"/>
                </a:solidFill>
                <a:latin typeface="Calibri" pitchFamily="34" charset="0"/>
                <a:ea typeface="Calibri" pitchFamily="34" charset="-122"/>
                <a:cs typeface="Calibri" pitchFamily="34" charset="-120"/>
              </a:rPr>
              <a:t>brand-new conversation: fresh small sys prompt · empty history · read-only tools · 3k ctx</a:t>
            </a:r>
            <a:endParaRPr lang="en-US" sz="950" dirty="0"/>
          </a:p>
        </p:txBody>
      </p:sp>
      <p:sp>
        <p:nvSpPr>
          <p:cNvPr id="14" name="Shape 11"/>
          <p:cNvSpPr/>
          <p:nvPr/>
        </p:nvSpPr>
        <p:spPr>
          <a:xfrm>
            <a:off x="8001000" y="2057400"/>
            <a:ext cx="502920" cy="0"/>
          </a:xfrm>
          <a:prstGeom prst="line">
            <a:avLst/>
          </a:prstGeom>
          <a:noFill/>
          <a:ln w="22225">
            <a:solidFill>
              <a:srgbClr val="5D6B7E"/>
            </a:solidFill>
            <a:prstDash val="solid"/>
            <a:headEnd type="none"/>
            <a:tailEnd type="triangle"/>
          </a:ln>
        </p:spPr>
      </p:sp>
      <p:sp>
        <p:nvSpPr>
          <p:cNvPr id="15" name="Shape 12"/>
          <p:cNvSpPr/>
          <p:nvPr/>
        </p:nvSpPr>
        <p:spPr>
          <a:xfrm>
            <a:off x="8595360" y="1463040"/>
            <a:ext cx="3063240" cy="1188720"/>
          </a:xfrm>
          <a:prstGeom prst="roundRect">
            <a:avLst>
              <a:gd name="adj" fmla="val 5385"/>
            </a:avLst>
          </a:prstGeom>
          <a:solidFill>
            <a:srgbClr val="ECE5F8"/>
          </a:solidFill>
          <a:ln/>
          <a:effectLst>
            <a:outerShdw sx="100000" sy="100000" kx="0" ky="0" algn="bl" rotWithShape="0" blurRad="88900" dist="25400" dir="2700000">
              <a:srgbClr val="1F2A3D">
                <a:alpha val="14000"/>
              </a:srgbClr>
            </a:outerShdw>
          </a:effectLst>
        </p:spPr>
      </p:sp>
      <p:sp>
        <p:nvSpPr>
          <p:cNvPr id="16" name="Text 13"/>
          <p:cNvSpPr/>
          <p:nvPr/>
        </p:nvSpPr>
        <p:spPr>
          <a:xfrm>
            <a:off x="8823960" y="1600200"/>
            <a:ext cx="2651760" cy="274320"/>
          </a:xfrm>
          <a:prstGeom prst="rect">
            <a:avLst/>
          </a:prstGeom>
          <a:noFill/>
          <a:ln/>
        </p:spPr>
        <p:txBody>
          <a:bodyPr wrap="square" lIns="0" tIns="0" rIns="0" bIns="0" rtlCol="0" anchor="t"/>
          <a:lstStyle/>
          <a:p>
            <a:pPr algn="l" indent="0" marL="0">
              <a:buNone/>
            </a:pPr>
            <a:r>
              <a:rPr lang="en-US" sz="1050" b="1" dirty="0">
                <a:solidFill>
                  <a:srgbClr val="5B21B6"/>
                </a:solidFill>
                <a:latin typeface="Calibri" pitchFamily="34" charset="0"/>
                <a:ea typeface="Calibri" pitchFamily="34" charset="-122"/>
                <a:cs typeface="Calibri" pitchFamily="34" charset="-120"/>
              </a:rPr>
              <a:t>RESULT FOLDS BACK</a:t>
            </a:r>
            <a:endParaRPr lang="en-US" sz="1050" dirty="0"/>
          </a:p>
        </p:txBody>
      </p:sp>
      <p:sp>
        <p:nvSpPr>
          <p:cNvPr id="17" name="Text 14"/>
          <p:cNvSpPr/>
          <p:nvPr/>
        </p:nvSpPr>
        <p:spPr>
          <a:xfrm>
            <a:off x="8823960" y="1874520"/>
            <a:ext cx="2651760" cy="685800"/>
          </a:xfrm>
          <a:prstGeom prst="rect">
            <a:avLst/>
          </a:prstGeom>
          <a:noFill/>
          <a:ln/>
        </p:spPr>
        <p:txBody>
          <a:bodyPr wrap="square" lIns="0" tIns="0" rIns="0" bIns="0" rtlCol="0" anchor="t"/>
          <a:lstStyle/>
          <a:p>
            <a:pPr algn="l" indent="0" marL="0">
              <a:lnSpc>
                <a:spcPct val="108000"/>
              </a:lnSpc>
              <a:buNone/>
            </a:pPr>
            <a:r>
              <a:rPr lang="en-US" sz="950" dirty="0">
                <a:solidFill>
                  <a:srgbClr val="5D6B7E"/>
                </a:solidFill>
                <a:latin typeface="Calibri" pitchFamily="34" charset="0"/>
                <a:ea typeface="Calibri" pitchFamily="34" charset="-122"/>
                <a:cs typeface="Calibri" pitchFamily="34" charset="-120"/>
              </a:rPr>
              <a:t>file:line list returns as tool_result(toolu_F9); parent continues sticky on frontier</a:t>
            </a:r>
            <a:endParaRPr lang="en-US" sz="950" dirty="0"/>
          </a:p>
        </p:txBody>
      </p:sp>
      <p:sp>
        <p:nvSpPr>
          <p:cNvPr id="18" name="Shape 15"/>
          <p:cNvSpPr/>
          <p:nvPr/>
        </p:nvSpPr>
        <p:spPr>
          <a:xfrm>
            <a:off x="548640" y="2971800"/>
            <a:ext cx="5422392" cy="1737360"/>
          </a:xfrm>
          <a:prstGeom prst="roundRect">
            <a:avLst>
              <a:gd name="adj" fmla="val 3684"/>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9" name="Text 16"/>
          <p:cNvSpPr/>
          <p:nvPr/>
        </p:nvSpPr>
        <p:spPr>
          <a:xfrm>
            <a:off x="804672" y="3136392"/>
            <a:ext cx="4937760" cy="292608"/>
          </a:xfrm>
          <a:prstGeom prst="rect">
            <a:avLst/>
          </a:prstGeom>
          <a:noFill/>
          <a:ln/>
        </p:spPr>
        <p:txBody>
          <a:bodyPr wrap="square" lIns="0" tIns="0" rIns="0" bIns="0" rtlCol="0" anchor="t"/>
          <a:lstStyle/>
          <a:p>
            <a:pPr algn="l" indent="0" marL="0">
              <a:buNone/>
            </a:pPr>
            <a:r>
              <a:rPr lang="en-US" sz="1250" b="1" dirty="0">
                <a:solidFill>
                  <a:srgbClr val="1F2A3D"/>
                </a:solidFill>
                <a:latin typeface="Calibri" pitchFamily="34" charset="0"/>
                <a:ea typeface="Calibri" pitchFamily="34" charset="-122"/>
                <a:cs typeface="Calibri" pitchFamily="34" charset="-120"/>
              </a:rPr>
              <a:t>Inheritance is surgical</a:t>
            </a:r>
            <a:endParaRPr lang="en-US" sz="1250" dirty="0"/>
          </a:p>
        </p:txBody>
      </p:sp>
      <p:sp>
        <p:nvSpPr>
          <p:cNvPr id="20" name="Text 17"/>
          <p:cNvSpPr/>
          <p:nvPr/>
        </p:nvSpPr>
        <p:spPr>
          <a:xfrm>
            <a:off x="804672" y="3493008"/>
            <a:ext cx="4937760" cy="1143000"/>
          </a:xfrm>
          <a:prstGeom prst="rect">
            <a:avLst/>
          </a:prstGeom>
          <a:noFill/>
          <a:ln/>
        </p:spPr>
        <p:txBody>
          <a:bodyPr wrap="square" lIns="0" tIns="0" rIns="0" bIns="0" rtlCol="0" anchor="t"/>
          <a:lstStyle/>
          <a:p>
            <a:pPr algn="l" indent="0" marL="0">
              <a:lnSpc>
                <a:spcPct val="115000"/>
              </a:lnSpc>
              <a:buNone/>
            </a:pPr>
            <a:r>
              <a:rPr lang="en-US" sz="1100" b="1" dirty="0">
                <a:solidFill>
                  <a:srgbClr val="B3261E"/>
                </a:solidFill>
                <a:latin typeface="Courier New" pitchFamily="34" charset="0"/>
                <a:ea typeface="Courier New" pitchFamily="34" charset="-122"/>
                <a:cs typeface="Courier New" pitchFamily="34" charset="-120"/>
              </a:rPr>
              <a:t>privacy_pinned → INHERITED</a:t>
            </a:r>
            <a:endParaRPr lang="en-US" sz="1100" dirty="0"/>
          </a:p>
          <a:p>
            <a:pPr algn="l" indent="0" marL="0">
              <a:lnSpc>
                <a:spcPct val="115000"/>
              </a:lnSpc>
              <a:buNone/>
            </a:pPr>
            <a:r>
              <a:rPr lang="en-US" sz="1000" dirty="0">
                <a:solidFill>
                  <a:srgbClr val="5D6B7E"/>
                </a:solidFill>
                <a:latin typeface="Calibri" pitchFamily="34" charset="0"/>
                <a:ea typeface="Calibri" pitchFamily="34" charset="-122"/>
                <a:cs typeface="Calibri" pitchFamily="34" charset="-120"/>
              </a:rPr>
              <a:t>the child can read the same files as the parent</a:t>
            </a:r>
            <a:endParaRPr lang="en-US" sz="1100" dirty="0"/>
          </a:p>
          <a:p>
            <a:pPr algn="l" indent="0" marL="0">
              <a:lnSpc>
                <a:spcPct val="115000"/>
              </a:lnSpc>
              <a:buNone/>
            </a:pPr>
            <a:r>
              <a:rPr lang="en-US" sz="1100" b="1" dirty="0">
                <a:solidFill>
                  <a:srgbClr val="1F7A55"/>
                </a:solidFill>
                <a:latin typeface="Courier New" pitchFamily="34" charset="0"/>
                <a:ea typeface="Courier New" pitchFamily="34" charset="-122"/>
                <a:cs typeface="Courier New" pitchFamily="34" charset="-120"/>
              </a:rPr>
              <a:t>escalation state → NOT inherited</a:t>
            </a:r>
            <a:endParaRPr lang="en-US" sz="1100" dirty="0"/>
          </a:p>
          <a:p>
            <a:pPr algn="l" indent="0" marL="0">
              <a:lnSpc>
                <a:spcPct val="115000"/>
              </a:lnSpc>
              <a:buNone/>
            </a:pPr>
            <a:r>
              <a:rPr lang="en-US" sz="1000" dirty="0">
                <a:solidFill>
                  <a:srgbClr val="5D6B7E"/>
                </a:solidFill>
                <a:latin typeface="Calibri" pitchFamily="34" charset="0"/>
                <a:ea typeface="Calibri" pitchFamily="34" charset="-122"/>
                <a:cs typeface="Calibri" pitchFamily="34" charset="-120"/>
              </a:rPr>
              <a:t>clean slate on difficulty — fresh context, bounded task</a:t>
            </a:r>
            <a:endParaRPr lang="en-US" sz="1100" dirty="0"/>
          </a:p>
        </p:txBody>
      </p:sp>
      <p:sp>
        <p:nvSpPr>
          <p:cNvPr id="21" name="Shape 18"/>
          <p:cNvSpPr/>
          <p:nvPr/>
        </p:nvSpPr>
        <p:spPr>
          <a:xfrm>
            <a:off x="6217920" y="2971800"/>
            <a:ext cx="5422392" cy="1737360"/>
          </a:xfrm>
          <a:prstGeom prst="roundRect">
            <a:avLst>
              <a:gd name="adj" fmla="val 3684"/>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22" name="Text 19"/>
          <p:cNvSpPr/>
          <p:nvPr/>
        </p:nvSpPr>
        <p:spPr>
          <a:xfrm>
            <a:off x="6473952" y="3136392"/>
            <a:ext cx="4937760" cy="292608"/>
          </a:xfrm>
          <a:prstGeom prst="rect">
            <a:avLst/>
          </a:prstGeom>
          <a:noFill/>
          <a:ln/>
        </p:spPr>
        <p:txBody>
          <a:bodyPr wrap="square" lIns="0" tIns="0" rIns="0" bIns="0" rtlCol="0" anchor="t"/>
          <a:lstStyle/>
          <a:p>
            <a:pPr algn="l" indent="0" marL="0">
              <a:buNone/>
            </a:pPr>
            <a:r>
              <a:rPr lang="en-US" sz="1250" b="1" dirty="0">
                <a:solidFill>
                  <a:srgbClr val="1F2A3D"/>
                </a:solidFill>
                <a:latin typeface="Calibri" pitchFamily="34" charset="0"/>
                <a:ea typeface="Calibri" pitchFamily="34" charset="-122"/>
                <a:cs typeface="Calibri" pitchFamily="34" charset="-120"/>
              </a:rPr>
              <a:t>Two keying traps (both fatal)</a:t>
            </a:r>
            <a:endParaRPr lang="en-US" sz="1250" dirty="0"/>
          </a:p>
        </p:txBody>
      </p:sp>
      <p:sp>
        <p:nvSpPr>
          <p:cNvPr id="23" name="Text 20"/>
          <p:cNvSpPr/>
          <p:nvPr/>
        </p:nvSpPr>
        <p:spPr>
          <a:xfrm>
            <a:off x="6473952" y="3493008"/>
            <a:ext cx="4937760" cy="1143000"/>
          </a:xfrm>
          <a:prstGeom prst="rect">
            <a:avLst/>
          </a:prstGeom>
          <a:noFill/>
          <a:ln/>
        </p:spPr>
        <p:txBody>
          <a:bodyPr wrap="square" lIns="0" tIns="0" rIns="0" bIns="0" rtlCol="0" anchor="t"/>
          <a:lstStyle/>
          <a:p>
            <a:pPr algn="l" indent="0" marL="0">
              <a:lnSpc>
                <a:spcPct val="115000"/>
              </a:lnSpc>
              <a:buNone/>
            </a:pPr>
            <a:r>
              <a:rPr lang="en-US" sz="1050" b="1" dirty="0">
                <a:solidFill>
                  <a:srgbClr val="B3261E"/>
                </a:solidFill>
                <a:latin typeface="Calibri" pitchFamily="34" charset="0"/>
                <a:ea typeface="Calibri" pitchFamily="34" charset="-122"/>
                <a:cs typeface="Calibri" pitchFamily="34" charset="-120"/>
              </a:rPr>
              <a:t>hashed into the parent's key →</a:t>
            </a:r>
            <a:endParaRPr lang="en-US" sz="1050" dirty="0"/>
          </a:p>
          <a:p>
            <a:pPr algn="l" indent="0" marL="0">
              <a:lnSpc>
                <a:spcPct val="115000"/>
              </a:lnSpc>
              <a:buNone/>
            </a:pPr>
            <a:r>
              <a:rPr lang="en-US" sz="1000" dirty="0">
                <a:solidFill>
                  <a:srgbClr val="5D6B7E"/>
                </a:solidFill>
                <a:latin typeface="Calibri" pitchFamily="34" charset="0"/>
                <a:ea typeface="Calibri" pitchFamily="34" charset="-122"/>
                <a:cs typeface="Calibri" pitchFamily="34" charset="-120"/>
              </a:rPr>
              <a:t>5 subagent requests corrupt the parent's strike counters and turn state</a:t>
            </a:r>
            <a:endParaRPr lang="en-US" sz="1050" dirty="0"/>
          </a:p>
          <a:p>
            <a:pPr algn="l" indent="0" marL="0">
              <a:lnSpc>
                <a:spcPct val="115000"/>
              </a:lnSpc>
              <a:buNone/>
            </a:pPr>
            <a:r>
              <a:rPr lang="en-US" sz="1050" b="1" dirty="0">
                <a:solidFill>
                  <a:srgbClr val="B3261E"/>
                </a:solidFill>
                <a:latin typeface="Calibri" pitchFamily="34" charset="0"/>
                <a:ea typeface="Calibri" pitchFamily="34" charset="-122"/>
                <a:cs typeface="Calibri" pitchFamily="34" charset="-120"/>
              </a:rPr>
              <a:t>fully independent key →</a:t>
            </a:r>
            <a:endParaRPr lang="en-US" sz="1050" dirty="0"/>
          </a:p>
          <a:p>
            <a:pPr algn="l" indent="0" marL="0">
              <a:lnSpc>
                <a:spcPct val="115000"/>
              </a:lnSpc>
              <a:buNone/>
            </a:pPr>
            <a:r>
              <a:rPr lang="en-US" sz="1000" dirty="0">
                <a:solidFill>
                  <a:srgbClr val="5D6B7E"/>
                </a:solidFill>
                <a:latin typeface="Calibri" pitchFamily="34" charset="0"/>
                <a:ea typeface="Calibri" pitchFamily="34" charset="-122"/>
                <a:cs typeface="Calibri" pitchFamily="34" charset="-120"/>
              </a:rPr>
              <a:t>silently LOSES the privacy pin. Answer: linked-but-separate — s_17.sub_3</a:t>
            </a:r>
            <a:endParaRPr lang="en-US" sz="1050" dirty="0"/>
          </a:p>
        </p:txBody>
      </p:sp>
      <p:sp>
        <p:nvSpPr>
          <p:cNvPr id="24" name="Shape 21"/>
          <p:cNvSpPr/>
          <p:nvPr/>
        </p:nvSpPr>
        <p:spPr>
          <a:xfrm>
            <a:off x="548640" y="4983480"/>
            <a:ext cx="11091672" cy="1188720"/>
          </a:xfrm>
          <a:prstGeom prst="roundRect">
            <a:avLst>
              <a:gd name="adj" fmla="val 5385"/>
            </a:avLst>
          </a:prstGeom>
          <a:solidFill>
            <a:srgbClr val="E4EEF6"/>
          </a:solidFill>
          <a:ln/>
          <a:effectLst>
            <a:outerShdw sx="100000" sy="100000" kx="0" ky="0" algn="bl" rotWithShape="0" blurRad="88900" dist="25400" dir="2700000">
              <a:srgbClr val="1F2A3D">
                <a:alpha val="14000"/>
              </a:srgbClr>
            </a:outerShdw>
          </a:effectLst>
        </p:spPr>
      </p:sp>
      <p:sp>
        <p:nvSpPr>
          <p:cNvPr id="25" name="Text 22"/>
          <p:cNvSpPr/>
          <p:nvPr/>
        </p:nvSpPr>
        <p:spPr>
          <a:xfrm>
            <a:off x="822960" y="5166360"/>
            <a:ext cx="10515600" cy="868680"/>
          </a:xfrm>
          <a:prstGeom prst="rect">
            <a:avLst/>
          </a:prstGeom>
          <a:noFill/>
          <a:ln/>
        </p:spPr>
        <p:txBody>
          <a:bodyPr wrap="square" lIns="0" tIns="0" rIns="0" bIns="0" rtlCol="0" anchor="t"/>
          <a:lstStyle/>
          <a:p>
            <a:pPr algn="l" indent="0" marL="0">
              <a:lnSpc>
                <a:spcPct val="114000"/>
              </a:lnSpc>
              <a:buNone/>
            </a:pPr>
            <a:r>
              <a:rPr lang="en-US" sz="1250" b="1" dirty="0">
                <a:solidFill>
                  <a:srgbClr val="1F2A3D"/>
                </a:solidFill>
                <a:latin typeface="Calibri" pitchFamily="34" charset="0"/>
                <a:ea typeface="Calibri" pitchFamily="34" charset="-122"/>
                <a:cs typeface="Calibri" pitchFamily="34" charset="-120"/>
              </a:rPr>
              <a:t>Why this is the hybrid sweet spot:  </a:t>
            </a:r>
            <a:pPr algn="l" indent="0" marL="0">
              <a:lnSpc>
                <a:spcPct val="114000"/>
              </a:lnSpc>
              <a:buNone/>
            </a:pPr>
            <a:r>
              <a:rPr lang="en-US" sz="1150" dirty="0">
                <a:solidFill>
                  <a:srgbClr val="5D6B7E"/>
                </a:solidFill>
                <a:latin typeface="Calibri" pitchFamily="34" charset="0"/>
                <a:ea typeface="Calibri" pitchFamily="34" charset="-122"/>
                <a:cs typeface="Calibri" pitchFamily="34" charset="-120"/>
              </a:rPr>
              <a:t>the frontier model does the thinking AND generates perfectly-shaped local workloads — small context, clear goal, read-only. Sessions like this push a majority of raw token volume to the local rung while every hard thought stays frontier.</a:t>
            </a:r>
            <a:endParaRPr lang="en-US" sz="12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PART 6 · HARNESS DIALECTS</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Auto-compaction: housekeeping that isn't trivial (S14)</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scenario S14 · design doc §5.1</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40</a:t>
            </a:r>
            <a:endParaRPr lang="en-US" sz="900" dirty="0"/>
          </a:p>
        </p:txBody>
      </p:sp>
      <p:sp>
        <p:nvSpPr>
          <p:cNvPr id="7" name="Shape 4"/>
          <p:cNvSpPr/>
          <p:nvPr/>
        </p:nvSpPr>
        <p:spPr>
          <a:xfrm>
            <a:off x="548640" y="1417320"/>
            <a:ext cx="6858000" cy="2468880"/>
          </a:xfrm>
          <a:prstGeom prst="roundRect">
            <a:avLst>
              <a:gd name="adj" fmla="val 2593"/>
            </a:avLst>
          </a:prstGeom>
          <a:solidFill>
            <a:srgbClr val="101D31"/>
          </a:solidFill>
          <a:ln/>
          <a:effectLst>
            <a:outerShdw sx="100000" sy="100000" kx="0" ky="0" algn="bl" rotWithShape="0" blurRad="88900" dist="25400" dir="2700000">
              <a:srgbClr val="1F2A3D">
                <a:alpha val="14000"/>
              </a:srgbClr>
            </a:outerShdw>
          </a:effectLst>
        </p:spPr>
      </p:sp>
      <p:sp>
        <p:nvSpPr>
          <p:cNvPr id="8" name="Text 5"/>
          <p:cNvSpPr/>
          <p:nvPr/>
        </p:nvSpPr>
        <p:spPr>
          <a:xfrm>
            <a:off x="749808" y="1563624"/>
            <a:ext cx="6455664" cy="2176272"/>
          </a:xfrm>
          <a:prstGeom prst="rect">
            <a:avLst/>
          </a:prstGeom>
          <a:noFill/>
          <a:ln/>
        </p:spPr>
        <p:txBody>
          <a:bodyPr wrap="square" lIns="0" tIns="0" rIns="0" bIns="0" rtlCol="0" anchor="ctr"/>
          <a:lstStyle/>
          <a:p>
            <a:pPr indent="0" marL="0">
              <a:lnSpc>
                <a:spcPct val="112000"/>
              </a:lnSpc>
              <a:buNone/>
            </a:pPr>
            <a:r>
              <a:rPr lang="en-US" sz="950" dirty="0">
                <a:solidFill>
                  <a:srgbClr val="D9E4F3"/>
                </a:solidFill>
                <a:latin typeface="Courier New" pitchFamily="34" charset="0"/>
                <a:ea typeface="Courier New" pitchFamily="34" charset="-122"/>
                <a:cs typeface="Courier New" pitchFamily="34" charset="-120"/>
              </a:rPr>
              <a:t>POST /v1/messages   { "model":"adaptive-code",</a:t>
            </a:r>
            <a:endParaRPr lang="en-US" sz="950" dirty="0"/>
          </a:p>
          <a:p>
            <a:pPr indent="0" marL="0">
              <a:lnSpc>
                <a:spcPct val="112000"/>
              </a:lnSpc>
              <a:buNone/>
            </a:pPr>
            <a:r>
              <a:rPr lang="en-US" sz="950" dirty="0">
                <a:solidFill>
                  <a:srgbClr val="D9E4F3"/>
                </a:solidFill>
                <a:latin typeface="Courier New" pitchFamily="34" charset="0"/>
                <a:ea typeface="Courier New" pitchFamily="34" charset="-122"/>
                <a:cs typeface="Courier New" pitchFamily="34" charset="-120"/>
              </a:rPr>
              <a:t>  "system":[…"You are a helpful AI assistant tasked with</a:t>
            </a:r>
            <a:endParaRPr lang="en-US" sz="950" dirty="0"/>
          </a:p>
          <a:p>
            <a:pPr indent="0" marL="0">
              <a:lnSpc>
                <a:spcPct val="112000"/>
              </a:lnSpc>
              <a:buNone/>
            </a:pPr>
            <a:r>
              <a:rPr lang="en-US" sz="950" dirty="0">
                <a:solidFill>
                  <a:srgbClr val="D9E4F3"/>
                </a:solidFill>
                <a:latin typeface="Courier New" pitchFamily="34" charset="0"/>
                <a:ea typeface="Courier New" pitchFamily="34" charset="-122"/>
                <a:cs typeface="Courier New" pitchFamily="34" charset="-120"/>
              </a:rPr>
              <a:t>              summarizing conversations…"],</a:t>
            </a:r>
            <a:endParaRPr lang="en-US" sz="950" dirty="0"/>
          </a:p>
          <a:p>
            <a:pPr indent="0" marL="0">
              <a:lnSpc>
                <a:spcPct val="112000"/>
              </a:lnSpc>
              <a:buNone/>
            </a:pPr>
            <a:r>
              <a:rPr lang="en-US" sz="950" b="1" dirty="0">
                <a:solidFill>
                  <a:srgbClr val="EFCB84"/>
                </a:solidFill>
                <a:latin typeface="Courier New" pitchFamily="34" charset="0"/>
                <a:ea typeface="Courier New" pitchFamily="34" charset="-122"/>
                <a:cs typeface="Courier New" pitchFamily="34" charset="-120"/>
              </a:rPr>
              <a:t>  "messages":[ …the ENTIRE 150k-token transcript…,</a:t>
            </a:r>
            <a:endParaRPr lang="en-US" sz="950" dirty="0"/>
          </a:p>
          <a:p>
            <a:pPr indent="0" marL="0">
              <a:lnSpc>
                <a:spcPct val="112000"/>
              </a:lnSpc>
              <a:buNone/>
            </a:pPr>
            <a:r>
              <a:rPr lang="en-US" sz="950" dirty="0">
                <a:solidFill>
                  <a:srgbClr val="D9E4F3"/>
                </a:solidFill>
                <a:latin typeface="Courier New" pitchFamily="34" charset="0"/>
                <a:ea typeface="Courier New" pitchFamily="34" charset="-122"/>
                <a:cs typeface="Courier New" pitchFamily="34" charset="-120"/>
              </a:rPr>
              <a:t>    {"role":"user","content":"Summarize… preserving: current</a:t>
            </a:r>
            <a:endParaRPr lang="en-US" sz="950" dirty="0"/>
          </a:p>
          <a:p>
            <a:pPr indent="0" marL="0">
              <a:lnSpc>
                <a:spcPct val="112000"/>
              </a:lnSpc>
              <a:buNone/>
            </a:pPr>
            <a:r>
              <a:rPr lang="en-US" sz="950" dirty="0">
                <a:solidFill>
                  <a:srgbClr val="D9E4F3"/>
                </a:solidFill>
                <a:latin typeface="Courier New" pitchFamily="34" charset="0"/>
                <a:ea typeface="Courier New" pitchFamily="34" charset="-122"/>
                <a:cs typeface="Courier New" pitchFamily="34" charset="-120"/>
              </a:rPr>
              <a:t>     task state, files modified, key decisions, pending work…"}],</a:t>
            </a:r>
            <a:endParaRPr lang="en-US" sz="950" dirty="0"/>
          </a:p>
          <a:p>
            <a:pPr indent="0" marL="0">
              <a:lnSpc>
                <a:spcPct val="112000"/>
              </a:lnSpc>
              <a:buNone/>
            </a:pPr>
            <a:r>
              <a:rPr lang="en-US" sz="950" dirty="0">
                <a:solidFill>
                  <a:srgbClr val="D9E4F3"/>
                </a:solidFill>
                <a:latin typeface="Courier New" pitchFamily="34" charset="0"/>
                <a:ea typeface="Courier New" pitchFamily="34" charset="-122"/>
                <a:cs typeface="Courier New" pitchFamily="34" charset="-120"/>
              </a:rPr>
              <a:t>  "max_tokens": 8000 }</a:t>
            </a:r>
            <a:endParaRPr lang="en-US" sz="950" dirty="0"/>
          </a:p>
        </p:txBody>
      </p:sp>
      <p:sp>
        <p:nvSpPr>
          <p:cNvPr id="9" name="Shape 6"/>
          <p:cNvSpPr/>
          <p:nvPr/>
        </p:nvSpPr>
        <p:spPr>
          <a:xfrm>
            <a:off x="7772400" y="1417320"/>
            <a:ext cx="3886200" cy="2468880"/>
          </a:xfrm>
          <a:prstGeom prst="roundRect">
            <a:avLst>
              <a:gd name="adj" fmla="val 2593"/>
            </a:avLst>
          </a:prstGeom>
          <a:solidFill>
            <a:srgbClr val="F3F6F9"/>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0" name="Text 7"/>
          <p:cNvSpPr/>
          <p:nvPr/>
        </p:nvSpPr>
        <p:spPr>
          <a:xfrm>
            <a:off x="8010144" y="1581912"/>
            <a:ext cx="3410712" cy="292608"/>
          </a:xfrm>
          <a:prstGeom prst="rect">
            <a:avLst/>
          </a:prstGeom>
          <a:noFill/>
          <a:ln/>
        </p:spPr>
        <p:txBody>
          <a:bodyPr wrap="square" lIns="0" tIns="0" rIns="0" bIns="0" rtlCol="0" anchor="t"/>
          <a:lstStyle/>
          <a:p>
            <a:pPr algn="l" indent="0" marL="0">
              <a:buNone/>
            </a:pPr>
            <a:r>
              <a:rPr lang="en-US" sz="1250" b="1" dirty="0">
                <a:solidFill>
                  <a:srgbClr val="1F2A3D"/>
                </a:solidFill>
                <a:latin typeface="Calibri" pitchFamily="34" charset="0"/>
                <a:ea typeface="Calibri" pitchFamily="34" charset="-122"/>
                <a:cs typeface="Calibri" pitchFamily="34" charset="-120"/>
              </a:rPr>
              <a:t>Smells like utility. Isn't.</a:t>
            </a:r>
            <a:endParaRPr lang="en-US" sz="1250" dirty="0"/>
          </a:p>
        </p:txBody>
      </p:sp>
      <p:sp>
        <p:nvSpPr>
          <p:cNvPr id="11" name="Text 8"/>
          <p:cNvSpPr/>
          <p:nvPr/>
        </p:nvSpPr>
        <p:spPr>
          <a:xfrm>
            <a:off x="8010144" y="1920240"/>
            <a:ext cx="3410712" cy="1371600"/>
          </a:xfrm>
          <a:prstGeom prst="rect">
            <a:avLst/>
          </a:prstGeom>
          <a:noFill/>
          <a:ln/>
        </p:spPr>
        <p:txBody>
          <a:bodyPr wrap="square" lIns="0" tIns="0" rIns="0" bIns="0" rtlCol="0" anchor="t"/>
          <a:lstStyle/>
          <a:p>
            <a:pPr algn="l" indent="0" marL="0">
              <a:lnSpc>
                <a:spcPct val="113000"/>
              </a:lnSpc>
              <a:buNone/>
            </a:pPr>
            <a:r>
              <a:rPr lang="en-US" sz="1050" dirty="0">
                <a:solidFill>
                  <a:srgbClr val="5D6B7E"/>
                </a:solidFill>
                <a:latin typeface="Calibri" pitchFamily="34" charset="0"/>
                <a:ea typeface="Calibri" pitchFamily="34" charset="-122"/>
                <a:cs typeface="Calibri" pitchFamily="34" charset="-120"/>
              </a:rPr>
              <a:t>The output becomes the episode's memory. A weak summary that drops “we kept the legacy API behind a flag” quietly poisons every later decision — and you'd never trace the regression back to the compactor.</a:t>
            </a:r>
            <a:endParaRPr lang="en-US" sz="1050" dirty="0"/>
          </a:p>
        </p:txBody>
      </p:sp>
      <p:sp>
        <p:nvSpPr>
          <p:cNvPr id="12" name="Text 9"/>
          <p:cNvSpPr/>
          <p:nvPr/>
        </p:nvSpPr>
        <p:spPr>
          <a:xfrm>
            <a:off x="8010144" y="3364992"/>
            <a:ext cx="3410712" cy="457200"/>
          </a:xfrm>
          <a:prstGeom prst="rect">
            <a:avLst/>
          </a:prstGeom>
          <a:noFill/>
          <a:ln/>
        </p:spPr>
        <p:txBody>
          <a:bodyPr wrap="square" lIns="0" tIns="0" rIns="0" bIns="0" rtlCol="0" anchor="t"/>
          <a:lstStyle/>
          <a:p>
            <a:pPr algn="l" indent="0" marL="0">
              <a:lnSpc>
                <a:spcPct val="105000"/>
              </a:lnSpc>
              <a:buNone/>
            </a:pPr>
            <a:r>
              <a:rPr lang="en-US" sz="1050" b="1" dirty="0">
                <a:solidFill>
                  <a:srgbClr val="1F2A3D"/>
                </a:solidFill>
                <a:latin typeface="Calibri" pitchFamily="34" charset="0"/>
                <a:ea typeface="Calibri" pitchFamily="34" charset="-122"/>
                <a:cs typeface="Calibri" pitchFamily="34" charset="-120"/>
              </a:rPr>
              <a:t>Titles are throwaway; compaction is memory-critical.</a:t>
            </a:r>
            <a:endParaRPr lang="en-US" sz="1050" dirty="0"/>
          </a:p>
        </p:txBody>
      </p:sp>
      <p:sp>
        <p:nvSpPr>
          <p:cNvPr id="13" name="Shape 10"/>
          <p:cNvSpPr/>
          <p:nvPr/>
        </p:nvSpPr>
        <p:spPr>
          <a:xfrm>
            <a:off x="548640" y="4114800"/>
            <a:ext cx="5422392" cy="1051560"/>
          </a:xfrm>
          <a:prstGeom prst="roundRect">
            <a:avLst>
              <a:gd name="adj" fmla="val 6087"/>
            </a:avLst>
          </a:prstGeom>
          <a:solidFill>
            <a:srgbClr val="ECE5F8"/>
          </a:solidFill>
          <a:ln/>
          <a:effectLst>
            <a:outerShdw sx="100000" sy="100000" kx="0" ky="0" algn="bl" rotWithShape="0" blurRad="88900" dist="25400" dir="2700000">
              <a:srgbClr val="1F2A3D">
                <a:alpha val="14000"/>
              </a:srgbClr>
            </a:outerShdw>
          </a:effectLst>
        </p:spPr>
      </p:sp>
      <p:sp>
        <p:nvSpPr>
          <p:cNvPr id="14" name="Text 11"/>
          <p:cNvSpPr/>
          <p:nvPr/>
        </p:nvSpPr>
        <p:spPr>
          <a:xfrm>
            <a:off x="804672" y="4279392"/>
            <a:ext cx="4937760" cy="777240"/>
          </a:xfrm>
          <a:prstGeom prst="rect">
            <a:avLst/>
          </a:prstGeom>
          <a:noFill/>
          <a:ln/>
        </p:spPr>
        <p:txBody>
          <a:bodyPr wrap="square" lIns="0" tIns="0" rIns="0" bIns="0" rtlCol="0" anchor="t"/>
          <a:lstStyle/>
          <a:p>
            <a:pPr algn="l" indent="0" marL="0">
              <a:lnSpc>
                <a:spcPct val="112000"/>
              </a:lnSpc>
              <a:buNone/>
            </a:pPr>
            <a:r>
              <a:rPr lang="en-US" sz="1150" b="1" dirty="0">
                <a:solidFill>
                  <a:srgbClr val="1F2A3D"/>
                </a:solidFill>
                <a:latin typeface="Calibri" pitchFamily="34" charset="0"/>
                <a:ea typeface="Calibri" pitchFamily="34" charset="-122"/>
                <a:cs typeface="Calibri" pitchFamily="34" charset="-120"/>
              </a:rPr>
              <a:t>Frontier episode → cheap-cloud minimum.  </a:t>
            </a:r>
            <a:pPr algn="l" indent="0" marL="0">
              <a:lnSpc>
                <a:spcPct val="112000"/>
              </a:lnSpc>
              <a:buNone/>
            </a:pPr>
            <a:r>
              <a:rPr lang="en-US" sz="1050" dirty="0">
                <a:solidFill>
                  <a:srgbClr val="5D6B7E"/>
                </a:solidFill>
                <a:latin typeface="Calibri" pitchFamily="34" charset="0"/>
                <a:ea typeface="Calibri" pitchFamily="34" charset="-122"/>
                <a:cs typeface="Calibri" pitchFamily="34" charset="-120"/>
              </a:rPr>
              <a:t>Haiku-class summarizes reliably; local-small can't even fit 150k input.</a:t>
            </a:r>
            <a:endParaRPr lang="en-US" sz="1150" dirty="0"/>
          </a:p>
        </p:txBody>
      </p:sp>
      <p:sp>
        <p:nvSpPr>
          <p:cNvPr id="15" name="Shape 12"/>
          <p:cNvSpPr/>
          <p:nvPr/>
        </p:nvSpPr>
        <p:spPr>
          <a:xfrm>
            <a:off x="6217920" y="4114800"/>
            <a:ext cx="5422392" cy="1051560"/>
          </a:xfrm>
          <a:prstGeom prst="roundRect">
            <a:avLst>
              <a:gd name="adj" fmla="val 6087"/>
            </a:avLst>
          </a:prstGeom>
          <a:solidFill>
            <a:srgbClr val="E3F1EA"/>
          </a:solidFill>
          <a:ln/>
          <a:effectLst>
            <a:outerShdw sx="100000" sy="100000" kx="0" ky="0" algn="bl" rotWithShape="0" blurRad="88900" dist="25400" dir="2700000">
              <a:srgbClr val="1F2A3D">
                <a:alpha val="14000"/>
              </a:srgbClr>
            </a:outerShdw>
          </a:effectLst>
        </p:spPr>
      </p:sp>
      <p:sp>
        <p:nvSpPr>
          <p:cNvPr id="16" name="Text 13"/>
          <p:cNvSpPr/>
          <p:nvPr/>
        </p:nvSpPr>
        <p:spPr>
          <a:xfrm>
            <a:off x="6473952" y="4279392"/>
            <a:ext cx="4937760" cy="777240"/>
          </a:xfrm>
          <a:prstGeom prst="rect">
            <a:avLst/>
          </a:prstGeom>
          <a:noFill/>
          <a:ln/>
        </p:spPr>
        <p:txBody>
          <a:bodyPr wrap="square" lIns="0" tIns="0" rIns="0" bIns="0" rtlCol="0" anchor="t"/>
          <a:lstStyle/>
          <a:p>
            <a:pPr algn="l" indent="0" marL="0">
              <a:lnSpc>
                <a:spcPct val="112000"/>
              </a:lnSpc>
              <a:buNone/>
            </a:pPr>
            <a:r>
              <a:rPr lang="en-US" sz="1150" b="1" dirty="0">
                <a:solidFill>
                  <a:srgbClr val="1F2A3D"/>
                </a:solidFill>
                <a:latin typeface="Calibri" pitchFamily="34" charset="0"/>
                <a:ea typeface="Calibri" pitchFamily="34" charset="-122"/>
                <a:cs typeface="Calibri" pitchFamily="34" charset="-120"/>
              </a:rPr>
              <a:t>Local episode → local is fine.  </a:t>
            </a:r>
            <a:pPr algn="l" indent="0" marL="0">
              <a:lnSpc>
                <a:spcPct val="112000"/>
              </a:lnSpc>
              <a:buNone/>
            </a:pPr>
            <a:r>
              <a:rPr lang="en-US" sz="1050" dirty="0">
                <a:solidFill>
                  <a:srgbClr val="5D6B7E"/>
                </a:solidFill>
                <a:latin typeface="Calibri" pitchFamily="34" charset="0"/>
                <a:ea typeface="Calibri" pitchFamily="34" charset="-122"/>
                <a:cs typeface="Calibri" pitchFamily="34" charset="-120"/>
              </a:rPr>
              <a:t>Discriminator branches on session.current_rung via the utility:compaction label — the one place v1 needs a second utility label.</a:t>
            </a:r>
            <a:endParaRPr lang="en-US" sz="1150" dirty="0"/>
          </a:p>
        </p:txBody>
      </p:sp>
      <p:sp>
        <p:nvSpPr>
          <p:cNvPr id="17" name="Shape 14"/>
          <p:cNvSpPr/>
          <p:nvPr/>
        </p:nvSpPr>
        <p:spPr>
          <a:xfrm>
            <a:off x="548640" y="5394960"/>
            <a:ext cx="11091672" cy="868680"/>
          </a:xfrm>
          <a:prstGeom prst="roundRect">
            <a:avLst>
              <a:gd name="adj" fmla="val 7368"/>
            </a:avLst>
          </a:prstGeom>
          <a:solidFill>
            <a:srgbClr val="F3F6F9"/>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8" name="Text 15"/>
          <p:cNvSpPr/>
          <p:nvPr/>
        </p:nvSpPr>
        <p:spPr>
          <a:xfrm>
            <a:off x="822960" y="5559552"/>
            <a:ext cx="10515600" cy="566928"/>
          </a:xfrm>
          <a:prstGeom prst="rect">
            <a:avLst/>
          </a:prstGeom>
          <a:noFill/>
          <a:ln/>
        </p:spPr>
        <p:txBody>
          <a:bodyPr wrap="square" lIns="0" tIns="0" rIns="0" bIns="0" rtlCol="0" anchor="t"/>
          <a:lstStyle/>
          <a:p>
            <a:pPr algn="l" indent="0" marL="0">
              <a:lnSpc>
                <a:spcPct val="112000"/>
              </a:lnSpc>
              <a:buNone/>
            </a:pPr>
            <a:r>
              <a:rPr lang="en-US" sz="1150" b="1" dirty="0">
                <a:solidFill>
                  <a:srgbClr val="1F2A3D"/>
                </a:solidFill>
                <a:latin typeface="Calibri" pitchFamily="34" charset="0"/>
                <a:ea typeface="Calibri" pitchFamily="34" charset="-122"/>
                <a:cs typeface="Calibri" pitchFamily="34" charset="-120"/>
              </a:rPr>
              <a:t>Cache reset follows by design:  </a:t>
            </a:r>
            <a:pPr algn="l" indent="0" marL="0">
              <a:lnSpc>
                <a:spcPct val="112000"/>
              </a:lnSpc>
              <a:buNone/>
            </a:pPr>
            <a:r>
              <a:rPr lang="en-US" sz="1100" dirty="0">
                <a:solidFill>
                  <a:srgbClr val="5D6B7E"/>
                </a:solidFill>
                <a:latin typeface="Calibri" pitchFamily="34" charset="0"/>
                <a:ea typeface="Calibri" pitchFamily="34" charset="-122"/>
                <a:cs typeface="Calibri" pitchFamily="34" charset="-120"/>
              </a:rPr>
              <a:t>post-compaction, provider cache and llama.cpp slots are cold — the next 1–2 requests are slow and full-price. Exempt them from wall-clock trip-wire budgets; don't let the flywheel log the spike as rung slowness.</a:t>
            </a:r>
            <a:endParaRPr lang="en-US" sz="11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PART 7 · MAKING IT REAL</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The flywheel: how the router gets smarter</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design doc §5.7</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41</a:t>
            </a:r>
            <a:endParaRPr lang="en-US" sz="900" dirty="0"/>
          </a:p>
        </p:txBody>
      </p:sp>
      <p:sp>
        <p:nvSpPr>
          <p:cNvPr id="7" name="Shape 4"/>
          <p:cNvSpPr/>
          <p:nvPr/>
        </p:nvSpPr>
        <p:spPr>
          <a:xfrm>
            <a:off x="548640" y="1417320"/>
            <a:ext cx="6858000" cy="2148840"/>
          </a:xfrm>
          <a:prstGeom prst="roundRect">
            <a:avLst>
              <a:gd name="adj" fmla="val 2979"/>
            </a:avLst>
          </a:prstGeom>
          <a:solidFill>
            <a:srgbClr val="101D31"/>
          </a:solidFill>
          <a:ln/>
          <a:effectLst>
            <a:outerShdw sx="100000" sy="100000" kx="0" ky="0" algn="bl" rotWithShape="0" blurRad="88900" dist="25400" dir="2700000">
              <a:srgbClr val="1F2A3D">
                <a:alpha val="14000"/>
              </a:srgbClr>
            </a:outerShdw>
          </a:effectLst>
        </p:spPr>
      </p:sp>
      <p:sp>
        <p:nvSpPr>
          <p:cNvPr id="8" name="Text 5"/>
          <p:cNvSpPr/>
          <p:nvPr/>
        </p:nvSpPr>
        <p:spPr>
          <a:xfrm>
            <a:off x="749808" y="1563624"/>
            <a:ext cx="6455664" cy="1856232"/>
          </a:xfrm>
          <a:prstGeom prst="rect">
            <a:avLst/>
          </a:prstGeom>
          <a:noFill/>
          <a:ln/>
        </p:spPr>
        <p:txBody>
          <a:bodyPr wrap="square" lIns="0" tIns="0" rIns="0" bIns="0" rtlCol="0" anchor="ctr"/>
          <a:lstStyle/>
          <a:p>
            <a:pPr indent="0" marL="0">
              <a:lnSpc>
                <a:spcPct val="112000"/>
              </a:lnSpc>
              <a:buNone/>
            </a:pPr>
            <a:r>
              <a:rPr lang="en-US" sz="1000" dirty="0">
                <a:solidFill>
                  <a:srgbClr val="D9E4F3"/>
                </a:solidFill>
                <a:latin typeface="Courier New" pitchFamily="34" charset="0"/>
                <a:ea typeface="Courier New" pitchFamily="34" charset="-122"/>
                <a:cs typeface="Courier New" pitchFamily="34" charset="-120"/>
              </a:rPr>
              <a:t>{ "route_id":"r_8842", "session":"s_17", "turn":42,</a:t>
            </a:r>
            <a:endParaRPr lang="en-US" sz="1000" dirty="0"/>
          </a:p>
          <a:p>
            <a:pPr indent="0" marL="0">
              <a:lnSpc>
                <a:spcPct val="112000"/>
              </a:lnSpc>
              <a:buNone/>
            </a:pPr>
            <a:r>
              <a:rPr lang="en-US" sz="1000" dirty="0">
                <a:solidFill>
                  <a:srgbClr val="9CC3EC"/>
                </a:solidFill>
                <a:latin typeface="Courier New" pitchFamily="34" charset="0"/>
                <a:ea typeface="Courier New" pitchFamily="34" charset="-122"/>
                <a:cs typeface="Courier New" pitchFamily="34" charset="-120"/>
              </a:rPr>
              <a:t>  "features": {"intent":"debug","ctx_tokens":41200,"strikes_before":0},</a:t>
            </a:r>
            <a:endParaRPr lang="en-US" sz="1000" dirty="0"/>
          </a:p>
          <a:p>
            <a:pPr indent="0" marL="0">
              <a:lnSpc>
                <a:spcPct val="112000"/>
              </a:lnSpc>
              <a:buNone/>
            </a:pPr>
            <a:r>
              <a:rPr lang="en-US" sz="1000" dirty="0">
                <a:solidFill>
                  <a:srgbClr val="8ED6AC"/>
                </a:solidFill>
                <a:latin typeface="Courier New" pitchFamily="34" charset="0"/>
                <a:ea typeface="Courier New" pitchFamily="34" charset="-122"/>
                <a:cs typeface="Courier New" pitchFamily="34" charset="-120"/>
              </a:rPr>
              <a:t>  "decision": {"rung":"local","layer":"heuristic","score":0.41},</a:t>
            </a:r>
            <a:endParaRPr lang="en-US" sz="1000" dirty="0"/>
          </a:p>
          <a:p>
            <a:pPr indent="0" marL="0">
              <a:lnSpc>
                <a:spcPct val="112000"/>
              </a:lnSpc>
              <a:buNone/>
            </a:pPr>
            <a:r>
              <a:rPr lang="en-US" sz="1000" dirty="0">
                <a:solidFill>
                  <a:srgbClr val="EFCB84"/>
                </a:solidFill>
                <a:latin typeface="Courier New" pitchFamily="34" charset="0"/>
                <a:ea typeface="Courier New" pitchFamily="34" charset="-122"/>
                <a:cs typeface="Courier New" pitchFamily="34" charset="-120"/>
              </a:rPr>
              <a:t>  "outcome":  {"escalated":true, "tripwire":"edit_apply",</a:t>
            </a:r>
            <a:endParaRPr lang="en-US" sz="1000" dirty="0"/>
          </a:p>
          <a:p>
            <a:pPr indent="0" marL="0">
              <a:lnSpc>
                <a:spcPct val="112000"/>
              </a:lnSpc>
              <a:buNone/>
            </a:pPr>
            <a:r>
              <a:rPr lang="en-US" sz="1000" dirty="0">
                <a:solidFill>
                  <a:srgbClr val="EFCB84"/>
                </a:solidFill>
                <a:latin typeface="Courier New" pitchFamily="34" charset="0"/>
                <a:ea typeface="Courier New" pitchFamily="34" charset="-122"/>
                <a:cs typeface="Courier New" pitchFamily="34" charset="-120"/>
              </a:rPr>
              <a:t>               "local_tokens_wasted":3800, "wall_clock_s":74,</a:t>
            </a:r>
            <a:endParaRPr lang="en-US" sz="1000" dirty="0"/>
          </a:p>
          <a:p>
            <a:pPr indent="0" marL="0">
              <a:lnSpc>
                <a:spcPct val="112000"/>
              </a:lnSpc>
              <a:buNone/>
            </a:pPr>
            <a:r>
              <a:rPr lang="en-US" sz="1000" dirty="0">
                <a:solidFill>
                  <a:srgbClr val="EFCB84"/>
                </a:solidFill>
                <a:latin typeface="Courier New" pitchFamily="34" charset="0"/>
                <a:ea typeface="Courier New" pitchFamily="34" charset="-122"/>
                <a:cs typeface="Courier New" pitchFamily="34" charset="-120"/>
              </a:rPr>
              <a:t>               "user_retried":false, "diff_survived_1h":true} }</a:t>
            </a:r>
            <a:endParaRPr lang="en-US" sz="1000" dirty="0"/>
          </a:p>
        </p:txBody>
      </p:sp>
      <p:sp>
        <p:nvSpPr>
          <p:cNvPr id="9" name="Text 6"/>
          <p:cNvSpPr/>
          <p:nvPr/>
        </p:nvSpPr>
        <p:spPr>
          <a:xfrm>
            <a:off x="594360" y="3639312"/>
            <a:ext cx="6766560" cy="274320"/>
          </a:xfrm>
          <a:prstGeom prst="rect">
            <a:avLst/>
          </a:prstGeom>
          <a:noFill/>
          <a:ln/>
        </p:spPr>
        <p:txBody>
          <a:bodyPr wrap="square" lIns="0" tIns="0" rIns="0" bIns="0" rtlCol="0" anchor="t"/>
          <a:lstStyle/>
          <a:p>
            <a:pPr algn="l" indent="0" marL="0">
              <a:buNone/>
            </a:pPr>
            <a:r>
              <a:rPr lang="en-US" sz="950" i="1" dirty="0">
                <a:solidFill>
                  <a:srgbClr val="93A1B1"/>
                </a:solidFill>
                <a:latin typeface="Calibri" pitchFamily="34" charset="0"/>
                <a:ea typeface="Calibri" pitchFamily="34" charset="-122"/>
                <a:cs typeface="Calibri" pitchFamily="34" charset="-120"/>
              </a:rPr>
              <a:t>one record per routed turn — features + decision + outcome, joined by route_id</a:t>
            </a:r>
            <a:endParaRPr lang="en-US" sz="950" dirty="0"/>
          </a:p>
        </p:txBody>
      </p:sp>
      <p:sp>
        <p:nvSpPr>
          <p:cNvPr id="10" name="Shape 7"/>
          <p:cNvSpPr/>
          <p:nvPr/>
        </p:nvSpPr>
        <p:spPr>
          <a:xfrm>
            <a:off x="7772400" y="1417320"/>
            <a:ext cx="3886200" cy="822960"/>
          </a:xfrm>
          <a:prstGeom prst="roundRect">
            <a:avLst>
              <a:gd name="adj" fmla="val 7778"/>
            </a:avLst>
          </a:prstGeom>
          <a:solidFill>
            <a:srgbClr val="F3F6F9"/>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1" name="Text 8"/>
          <p:cNvSpPr/>
          <p:nvPr/>
        </p:nvSpPr>
        <p:spPr>
          <a:xfrm>
            <a:off x="7973568" y="1536192"/>
            <a:ext cx="457200" cy="457200"/>
          </a:xfrm>
          <a:prstGeom prst="rect">
            <a:avLst/>
          </a:prstGeom>
          <a:noFill/>
          <a:ln/>
        </p:spPr>
        <p:txBody>
          <a:bodyPr wrap="square" lIns="0" tIns="0" rIns="0" bIns="0" rtlCol="0" anchor="t"/>
          <a:lstStyle/>
          <a:p>
            <a:pPr algn="l" indent="0" marL="0">
              <a:buNone/>
            </a:pPr>
            <a:r>
              <a:rPr lang="en-US" sz="1900" b="1" dirty="0">
                <a:solidFill>
                  <a:srgbClr val="1D6FA5"/>
                </a:solidFill>
                <a:latin typeface="Cambria" pitchFamily="34" charset="0"/>
                <a:ea typeface="Cambria" pitchFamily="34" charset="-122"/>
                <a:cs typeface="Cambria" pitchFamily="34" charset="-120"/>
              </a:rPr>
              <a:t>1</a:t>
            </a:r>
            <a:endParaRPr lang="en-US" sz="1900" dirty="0"/>
          </a:p>
        </p:txBody>
      </p:sp>
      <p:sp>
        <p:nvSpPr>
          <p:cNvPr id="12" name="Text 9"/>
          <p:cNvSpPr/>
          <p:nvPr/>
        </p:nvSpPr>
        <p:spPr>
          <a:xfrm>
            <a:off x="8458200" y="1508760"/>
            <a:ext cx="3017520" cy="256032"/>
          </a:xfrm>
          <a:prstGeom prst="rect">
            <a:avLst/>
          </a:prstGeom>
          <a:noFill/>
          <a:ln/>
        </p:spPr>
        <p:txBody>
          <a:bodyPr wrap="square" lIns="0" tIns="0" rIns="0" bIns="0" rtlCol="0" anchor="t"/>
          <a:lstStyle/>
          <a:p>
            <a:pPr algn="l" indent="0" marL="0">
              <a:buNone/>
            </a:pPr>
            <a:r>
              <a:rPr lang="en-US" sz="1100" b="1" dirty="0">
                <a:solidFill>
                  <a:srgbClr val="1F2A3D"/>
                </a:solidFill>
                <a:latin typeface="Calibri" pitchFamily="34" charset="0"/>
                <a:ea typeface="Calibri" pitchFamily="34" charset="-122"/>
                <a:cs typeface="Calibri" pitchFamily="34" charset="-120"/>
              </a:rPr>
              <a:t>Dashboards</a:t>
            </a:r>
            <a:endParaRPr lang="en-US" sz="1100" dirty="0"/>
          </a:p>
        </p:txBody>
      </p:sp>
      <p:sp>
        <p:nvSpPr>
          <p:cNvPr id="13" name="Text 10"/>
          <p:cNvSpPr/>
          <p:nvPr/>
        </p:nvSpPr>
        <p:spPr>
          <a:xfrm>
            <a:off x="8458200" y="1764792"/>
            <a:ext cx="3063240" cy="438912"/>
          </a:xfrm>
          <a:prstGeom prst="rect">
            <a:avLst/>
          </a:prstGeom>
          <a:noFill/>
          <a:ln/>
        </p:spPr>
        <p:txBody>
          <a:bodyPr wrap="square" lIns="0" tIns="0" rIns="0" bIns="0" rtlCol="0" anchor="t"/>
          <a:lstStyle/>
          <a:p>
            <a:pPr algn="l" indent="0" marL="0">
              <a:lnSpc>
                <a:spcPct val="102000"/>
              </a:lnSpc>
              <a:buNone/>
            </a:pPr>
            <a:r>
              <a:rPr lang="en-US" sz="850" dirty="0">
                <a:solidFill>
                  <a:srgbClr val="5D6B7E"/>
                </a:solidFill>
                <a:latin typeface="Calibri" pitchFamily="34" charset="0"/>
                <a:ea typeface="Calibri" pitchFamily="34" charset="-122"/>
                <a:cs typeface="Calibri" pitchFamily="34" charset="-120"/>
              </a:rPr>
              <a:t>Is it saving money without hurting quality? (slide 45)</a:t>
            </a:r>
            <a:endParaRPr lang="en-US" sz="850" dirty="0"/>
          </a:p>
        </p:txBody>
      </p:sp>
      <p:sp>
        <p:nvSpPr>
          <p:cNvPr id="14" name="Shape 11"/>
          <p:cNvSpPr/>
          <p:nvPr/>
        </p:nvSpPr>
        <p:spPr>
          <a:xfrm>
            <a:off x="7772400" y="2331720"/>
            <a:ext cx="3886200" cy="822960"/>
          </a:xfrm>
          <a:prstGeom prst="roundRect">
            <a:avLst>
              <a:gd name="adj" fmla="val 7778"/>
            </a:avLst>
          </a:prstGeom>
          <a:solidFill>
            <a:srgbClr val="F3F6F9"/>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5" name="Text 12"/>
          <p:cNvSpPr/>
          <p:nvPr/>
        </p:nvSpPr>
        <p:spPr>
          <a:xfrm>
            <a:off x="7973568" y="2450592"/>
            <a:ext cx="457200" cy="457200"/>
          </a:xfrm>
          <a:prstGeom prst="rect">
            <a:avLst/>
          </a:prstGeom>
          <a:noFill/>
          <a:ln/>
        </p:spPr>
        <p:txBody>
          <a:bodyPr wrap="square" lIns="0" tIns="0" rIns="0" bIns="0" rtlCol="0" anchor="t"/>
          <a:lstStyle/>
          <a:p>
            <a:pPr algn="l" indent="0" marL="0">
              <a:buNone/>
            </a:pPr>
            <a:r>
              <a:rPr lang="en-US" sz="1900" b="1" dirty="0">
                <a:solidFill>
                  <a:srgbClr val="1D6FA5"/>
                </a:solidFill>
                <a:latin typeface="Cambria" pitchFamily="34" charset="0"/>
                <a:ea typeface="Cambria" pitchFamily="34" charset="-122"/>
                <a:cs typeface="Cambria" pitchFamily="34" charset="-120"/>
              </a:rPr>
              <a:t>2</a:t>
            </a:r>
            <a:endParaRPr lang="en-US" sz="1900" dirty="0"/>
          </a:p>
        </p:txBody>
      </p:sp>
      <p:sp>
        <p:nvSpPr>
          <p:cNvPr id="16" name="Text 13"/>
          <p:cNvSpPr/>
          <p:nvPr/>
        </p:nvSpPr>
        <p:spPr>
          <a:xfrm>
            <a:off x="8458200" y="2423160"/>
            <a:ext cx="3017520" cy="256032"/>
          </a:xfrm>
          <a:prstGeom prst="rect">
            <a:avLst/>
          </a:prstGeom>
          <a:noFill/>
          <a:ln/>
        </p:spPr>
        <p:txBody>
          <a:bodyPr wrap="square" lIns="0" tIns="0" rIns="0" bIns="0" rtlCol="0" anchor="t"/>
          <a:lstStyle/>
          <a:p>
            <a:pPr algn="l" indent="0" marL="0">
              <a:buNone/>
            </a:pPr>
            <a:r>
              <a:rPr lang="en-US" sz="1100" b="1" dirty="0">
                <a:solidFill>
                  <a:srgbClr val="1F2A3D"/>
                </a:solidFill>
                <a:latin typeface="Calibri" pitchFamily="34" charset="0"/>
                <a:ea typeface="Calibri" pitchFamily="34" charset="-122"/>
                <a:cs typeface="Calibri" pitchFamily="34" charset="-120"/>
              </a:rPr>
              <a:t>Threshold tuning</a:t>
            </a:r>
            <a:endParaRPr lang="en-US" sz="1100" dirty="0"/>
          </a:p>
        </p:txBody>
      </p:sp>
      <p:sp>
        <p:nvSpPr>
          <p:cNvPr id="17" name="Text 14"/>
          <p:cNvSpPr/>
          <p:nvPr/>
        </p:nvSpPr>
        <p:spPr>
          <a:xfrm>
            <a:off x="8458200" y="2679192"/>
            <a:ext cx="3063240" cy="438912"/>
          </a:xfrm>
          <a:prstGeom prst="rect">
            <a:avLst/>
          </a:prstGeom>
          <a:noFill/>
          <a:ln/>
        </p:spPr>
        <p:txBody>
          <a:bodyPr wrap="square" lIns="0" tIns="0" rIns="0" bIns="0" rtlCol="0" anchor="t"/>
          <a:lstStyle/>
          <a:p>
            <a:pPr algn="l" indent="0" marL="0">
              <a:lnSpc>
                <a:spcPct val="102000"/>
              </a:lnSpc>
              <a:buNone/>
            </a:pPr>
            <a:r>
              <a:rPr lang="en-US" sz="850" dirty="0">
                <a:solidFill>
                  <a:srgbClr val="5D6B7E"/>
                </a:solidFill>
                <a:latin typeface="Calibri" pitchFamily="34" charset="0"/>
                <a:ea typeface="Calibri" pitchFamily="34" charset="-122"/>
                <a:cs typeface="Calibri" pitchFamily="34" charset="-120"/>
              </a:rPr>
              <a:t>Move T_EASY / T_HARD where the escalation data says they belong</a:t>
            </a:r>
            <a:endParaRPr lang="en-US" sz="850" dirty="0"/>
          </a:p>
        </p:txBody>
      </p:sp>
      <p:sp>
        <p:nvSpPr>
          <p:cNvPr id="18" name="Shape 15"/>
          <p:cNvSpPr/>
          <p:nvPr/>
        </p:nvSpPr>
        <p:spPr>
          <a:xfrm>
            <a:off x="7772400" y="3246120"/>
            <a:ext cx="3886200" cy="822960"/>
          </a:xfrm>
          <a:prstGeom prst="roundRect">
            <a:avLst>
              <a:gd name="adj" fmla="val 7778"/>
            </a:avLst>
          </a:prstGeom>
          <a:solidFill>
            <a:srgbClr val="F3F6F9"/>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9" name="Text 16"/>
          <p:cNvSpPr/>
          <p:nvPr/>
        </p:nvSpPr>
        <p:spPr>
          <a:xfrm>
            <a:off x="7973568" y="3364992"/>
            <a:ext cx="457200" cy="457200"/>
          </a:xfrm>
          <a:prstGeom prst="rect">
            <a:avLst/>
          </a:prstGeom>
          <a:noFill/>
          <a:ln/>
        </p:spPr>
        <p:txBody>
          <a:bodyPr wrap="square" lIns="0" tIns="0" rIns="0" bIns="0" rtlCol="0" anchor="t"/>
          <a:lstStyle/>
          <a:p>
            <a:pPr algn="l" indent="0" marL="0">
              <a:buNone/>
            </a:pPr>
            <a:r>
              <a:rPr lang="en-US" sz="1900" b="1" dirty="0">
                <a:solidFill>
                  <a:srgbClr val="1D6FA5"/>
                </a:solidFill>
                <a:latin typeface="Cambria" pitchFamily="34" charset="0"/>
                <a:ea typeface="Cambria" pitchFamily="34" charset="-122"/>
                <a:cs typeface="Cambria" pitchFamily="34" charset="-120"/>
              </a:rPr>
              <a:t>3</a:t>
            </a:r>
            <a:endParaRPr lang="en-US" sz="1900" dirty="0"/>
          </a:p>
        </p:txBody>
      </p:sp>
      <p:sp>
        <p:nvSpPr>
          <p:cNvPr id="20" name="Text 17"/>
          <p:cNvSpPr/>
          <p:nvPr/>
        </p:nvSpPr>
        <p:spPr>
          <a:xfrm>
            <a:off x="8458200" y="3337560"/>
            <a:ext cx="3017520" cy="256032"/>
          </a:xfrm>
          <a:prstGeom prst="rect">
            <a:avLst/>
          </a:prstGeom>
          <a:noFill/>
          <a:ln/>
        </p:spPr>
        <p:txBody>
          <a:bodyPr wrap="square" lIns="0" tIns="0" rIns="0" bIns="0" rtlCol="0" anchor="t"/>
          <a:lstStyle/>
          <a:p>
            <a:pPr algn="l" indent="0" marL="0">
              <a:buNone/>
            </a:pPr>
            <a:r>
              <a:rPr lang="en-US" sz="1100" b="1" dirty="0">
                <a:solidFill>
                  <a:srgbClr val="1F2A3D"/>
                </a:solidFill>
                <a:latin typeface="Calibri" pitchFamily="34" charset="0"/>
                <a:ea typeface="Calibri" pitchFamily="34" charset="-122"/>
                <a:cs typeface="Calibri" pitchFamily="34" charset="-120"/>
              </a:rPr>
              <a:t>Training data</a:t>
            </a:r>
            <a:endParaRPr lang="en-US" sz="1100" dirty="0"/>
          </a:p>
        </p:txBody>
      </p:sp>
      <p:sp>
        <p:nvSpPr>
          <p:cNvPr id="21" name="Text 18"/>
          <p:cNvSpPr/>
          <p:nvPr/>
        </p:nvSpPr>
        <p:spPr>
          <a:xfrm>
            <a:off x="8458200" y="3593592"/>
            <a:ext cx="3063240" cy="438912"/>
          </a:xfrm>
          <a:prstGeom prst="rect">
            <a:avLst/>
          </a:prstGeom>
          <a:noFill/>
          <a:ln/>
        </p:spPr>
        <p:txBody>
          <a:bodyPr wrap="square" lIns="0" tIns="0" rIns="0" bIns="0" rtlCol="0" anchor="t"/>
          <a:lstStyle/>
          <a:p>
            <a:pPr algn="l" indent="0" marL="0">
              <a:lnSpc>
                <a:spcPct val="102000"/>
              </a:lnSpc>
              <a:buNone/>
            </a:pPr>
            <a:r>
              <a:rPr lang="en-US" sz="850" dirty="0">
                <a:solidFill>
                  <a:srgbClr val="5D6B7E"/>
                </a:solidFill>
                <a:latin typeface="Calibri" pitchFamily="34" charset="0"/>
                <a:ea typeface="Calibri" pitchFamily="34" charset="-122"/>
                <a:cs typeface="Calibri" pitchFamily="34" charset="-120"/>
              </a:rPr>
              <a:t>“Did local succeed without escalation?” = a clean label; replay candidate policies offline first</a:t>
            </a:r>
            <a:endParaRPr lang="en-US" sz="850" dirty="0"/>
          </a:p>
        </p:txBody>
      </p:sp>
      <p:sp>
        <p:nvSpPr>
          <p:cNvPr id="22" name="Shape 19"/>
          <p:cNvSpPr/>
          <p:nvPr/>
        </p:nvSpPr>
        <p:spPr>
          <a:xfrm>
            <a:off x="548640" y="4224528"/>
            <a:ext cx="11091672" cy="960120"/>
          </a:xfrm>
          <a:prstGeom prst="roundRect">
            <a:avLst>
              <a:gd name="adj" fmla="val 6667"/>
            </a:avLst>
          </a:prstGeom>
          <a:solidFill>
            <a:srgbClr val="FBEFDC"/>
          </a:solidFill>
          <a:ln/>
          <a:effectLst>
            <a:outerShdw sx="100000" sy="100000" kx="0" ky="0" algn="bl" rotWithShape="0" blurRad="88900" dist="25400" dir="2700000">
              <a:srgbClr val="1F2A3D">
                <a:alpha val="14000"/>
              </a:srgbClr>
            </a:outerShdw>
          </a:effectLst>
        </p:spPr>
      </p:sp>
      <p:sp>
        <p:nvSpPr>
          <p:cNvPr id="23" name="Text 20"/>
          <p:cNvSpPr/>
          <p:nvPr/>
        </p:nvSpPr>
        <p:spPr>
          <a:xfrm>
            <a:off x="822960" y="4370832"/>
            <a:ext cx="10515600" cy="713232"/>
          </a:xfrm>
          <a:prstGeom prst="rect">
            <a:avLst/>
          </a:prstGeom>
          <a:noFill/>
          <a:ln/>
        </p:spPr>
        <p:txBody>
          <a:bodyPr wrap="square" lIns="0" tIns="0" rIns="0" bIns="0" rtlCol="0" anchor="t"/>
          <a:lstStyle/>
          <a:p>
            <a:pPr algn="l" indent="0" marL="0">
              <a:lnSpc>
                <a:spcPct val="110000"/>
              </a:lnSpc>
              <a:buNone/>
            </a:pPr>
            <a:r>
              <a:rPr lang="en-US" sz="1200" b="1" dirty="0">
                <a:solidFill>
                  <a:srgbClr val="1F2A3D"/>
                </a:solidFill>
                <a:latin typeface="Calibri" pitchFamily="34" charset="0"/>
                <a:ea typeface="Calibri" pitchFamily="34" charset="-122"/>
                <a:cs typeface="Calibri" pitchFamily="34" charset="-120"/>
              </a:rPr>
              <a:t>Label honesty:  </a:t>
            </a:r>
            <a:pPr algn="l" indent="0" marL="0">
              <a:lnSpc>
                <a:spcPct val="110000"/>
              </a:lnSpc>
              <a:buNone/>
            </a:pPr>
            <a:r>
              <a:rPr lang="en-US" sz="1100" dirty="0">
                <a:solidFill>
                  <a:srgbClr val="5D6B7E"/>
                </a:solidFill>
                <a:latin typeface="Calibri" pitchFamily="34" charset="0"/>
                <a:ea typeface="Calibri" pitchFamily="34" charset="-122"/>
                <a:cs typeface="Calibri" pitchFamily="34" charset="-120"/>
              </a:rPr>
              <a:t>user_retried and diff_survived_1h are noisy proxies — weight them accordingly, and never train on “diff accepted” alone: silence is not success. diff_survived_1h needs an owner (a small git-watcher job) — if that doesn't ship in v1, drop the field rather than log nulls.</a:t>
            </a:r>
            <a:endParaRPr lang="en-US" sz="1200" dirty="0"/>
          </a:p>
        </p:txBody>
      </p:sp>
      <p:sp>
        <p:nvSpPr>
          <p:cNvPr id="24" name="Shape 21"/>
          <p:cNvSpPr/>
          <p:nvPr/>
        </p:nvSpPr>
        <p:spPr>
          <a:xfrm>
            <a:off x="548640" y="5367528"/>
            <a:ext cx="11091672" cy="868680"/>
          </a:xfrm>
          <a:prstGeom prst="roundRect">
            <a:avLst>
              <a:gd name="adj" fmla="val 7368"/>
            </a:avLst>
          </a:prstGeom>
          <a:solidFill>
            <a:srgbClr val="ECE5F8"/>
          </a:solidFill>
          <a:ln/>
          <a:effectLst>
            <a:outerShdw sx="100000" sy="100000" kx="0" ky="0" algn="bl" rotWithShape="0" blurRad="88900" dist="25400" dir="2700000">
              <a:srgbClr val="1F2A3D">
                <a:alpha val="14000"/>
              </a:srgbClr>
            </a:outerShdw>
          </a:effectLst>
        </p:spPr>
      </p:sp>
      <p:sp>
        <p:nvSpPr>
          <p:cNvPr id="25" name="Text 22"/>
          <p:cNvSpPr/>
          <p:nvPr/>
        </p:nvSpPr>
        <p:spPr>
          <a:xfrm>
            <a:off x="822960" y="5522976"/>
            <a:ext cx="10515600" cy="621792"/>
          </a:xfrm>
          <a:prstGeom prst="rect">
            <a:avLst/>
          </a:prstGeom>
          <a:noFill/>
          <a:ln/>
        </p:spPr>
        <p:txBody>
          <a:bodyPr wrap="square" lIns="0" tIns="0" rIns="0" bIns="0" rtlCol="0" anchor="t"/>
          <a:lstStyle/>
          <a:p>
            <a:pPr algn="l" indent="0" marL="0">
              <a:lnSpc>
                <a:spcPct val="110000"/>
              </a:lnSpc>
              <a:buNone/>
            </a:pPr>
            <a:r>
              <a:rPr lang="en-US" sz="1150" b="1" dirty="0">
                <a:solidFill>
                  <a:srgbClr val="1F2A3D"/>
                </a:solidFill>
                <a:latin typeface="Calibri" pitchFamily="34" charset="0"/>
                <a:ea typeface="Calibri" pitchFamily="34" charset="-122"/>
                <a:cs typeface="Calibri" pitchFamily="34" charset="-120"/>
              </a:rPr>
              <a:t>From the literature:  </a:t>
            </a:r>
            <a:pPr algn="l" indent="0" marL="0">
              <a:lnSpc>
                <a:spcPct val="110000"/>
              </a:lnSpc>
              <a:buNone/>
            </a:pPr>
            <a:r>
              <a:rPr lang="en-US" sz="1100" dirty="0">
                <a:solidFill>
                  <a:srgbClr val="5D6B7E"/>
                </a:solidFill>
                <a:latin typeface="Calibri" pitchFamily="34" charset="0"/>
                <a:ea typeface="Calibri" pitchFamily="34" charset="-122"/>
                <a:cs typeface="Calibri" pitchFamily="34" charset="-120"/>
              </a:rPr>
              <a:t>train Layer 2 on a cost-aware objective (quality − λ·normalized cost, the xRouter formulation), not imitation of the heuristics — imitation just reproduces their blind spots. And the Phase-0 best-single-model baseline is the bar it must beat (slide 44).</a:t>
            </a:r>
            <a:endParaRPr lang="en-US" sz="11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PART 7 · MAKING IT REAL</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Mounting it, and who owns which check</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design doc §8.1, §8.2, §8.5</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42</a:t>
            </a:r>
            <a:endParaRPr lang="en-US" sz="900" dirty="0"/>
          </a:p>
        </p:txBody>
      </p:sp>
      <p:sp>
        <p:nvSpPr>
          <p:cNvPr id="7" name="Shape 4"/>
          <p:cNvSpPr/>
          <p:nvPr/>
        </p:nvSpPr>
        <p:spPr>
          <a:xfrm>
            <a:off x="548640" y="1417320"/>
            <a:ext cx="6583680" cy="3657600"/>
          </a:xfrm>
          <a:prstGeom prst="roundRect">
            <a:avLst>
              <a:gd name="adj" fmla="val 1750"/>
            </a:avLst>
          </a:prstGeom>
          <a:solidFill>
            <a:srgbClr val="101D31"/>
          </a:solidFill>
          <a:ln/>
          <a:effectLst>
            <a:outerShdw sx="100000" sy="100000" kx="0" ky="0" algn="bl" rotWithShape="0" blurRad="88900" dist="25400" dir="2700000">
              <a:srgbClr val="1F2A3D">
                <a:alpha val="14000"/>
              </a:srgbClr>
            </a:outerShdw>
          </a:effectLst>
        </p:spPr>
      </p:sp>
      <p:sp>
        <p:nvSpPr>
          <p:cNvPr id="8" name="Text 5"/>
          <p:cNvSpPr/>
          <p:nvPr/>
        </p:nvSpPr>
        <p:spPr>
          <a:xfrm>
            <a:off x="749808" y="1563624"/>
            <a:ext cx="6181344" cy="3364992"/>
          </a:xfrm>
          <a:prstGeom prst="rect">
            <a:avLst/>
          </a:prstGeom>
          <a:noFill/>
          <a:ln/>
        </p:spPr>
        <p:txBody>
          <a:bodyPr wrap="square" lIns="0" tIns="0" rIns="0" bIns="0" rtlCol="0" anchor="ctr"/>
          <a:lstStyle/>
          <a:p>
            <a:pPr indent="0" marL="0">
              <a:lnSpc>
                <a:spcPct val="112000"/>
              </a:lnSpc>
              <a:buNone/>
            </a:pPr>
            <a:r>
              <a:rPr lang="en-US" sz="950" b="1" dirty="0">
                <a:solidFill>
                  <a:srgbClr val="9CC3EC"/>
                </a:solidFill>
                <a:latin typeface="Courier New" pitchFamily="34" charset="0"/>
                <a:ea typeface="Courier New" pitchFamily="34" charset="-122"/>
                <a:cs typeface="Courier New" pitchFamily="34" charset="-120"/>
              </a:rPr>
              <a:t>class AdaptiveRouter(CustomLogger):            # Option A — ship first</a:t>
            </a:r>
            <a:endParaRPr lang="en-US" sz="950" dirty="0"/>
          </a:p>
          <a:p>
            <a:pPr indent="0" marL="0">
              <a:lnSpc>
                <a:spcPct val="112000"/>
              </a:lnSpc>
              <a:buNone/>
            </a:pPr>
            <a:r>
              <a:rPr lang="en-US" sz="950" dirty="0">
                <a:solidFill>
                  <a:srgbClr val="D9E4F3"/>
                </a:solidFill>
                <a:latin typeface="Courier New" pitchFamily="34" charset="0"/>
                <a:ea typeface="Courier New" pitchFamily="34" charset="-122"/>
                <a:cs typeface="Courier New" pitchFamily="34" charset="-120"/>
              </a:rPr>
              <a:t>  async def async_pre_call_hook(self, …, data, call_type):</a:t>
            </a:r>
            <a:endParaRPr lang="en-US" sz="950" dirty="0"/>
          </a:p>
          <a:p>
            <a:pPr indent="0" marL="0">
              <a:lnSpc>
                <a:spcPct val="112000"/>
              </a:lnSpc>
              <a:buNone/>
            </a:pPr>
            <a:r>
              <a:rPr lang="en-US" sz="950" dirty="0">
                <a:solidFill>
                  <a:srgbClr val="D9E4F3"/>
                </a:solidFill>
                <a:latin typeface="Courier New" pitchFamily="34" charset="0"/>
                <a:ea typeface="Courier New" pitchFamily="34" charset="-122"/>
                <a:cs typeface="Courier New" pitchFamily="34" charset="-120"/>
              </a:rPr>
              <a:t>    kind = discriminate(data)                  # §5.1 mechanical rules</a:t>
            </a:r>
            <a:endParaRPr lang="en-US" sz="950" dirty="0"/>
          </a:p>
          <a:p>
            <a:pPr indent="0" marL="0">
              <a:lnSpc>
                <a:spcPct val="112000"/>
              </a:lnSpc>
              <a:buNone/>
            </a:pPr>
            <a:r>
              <a:rPr lang="en-US" sz="950" dirty="0">
                <a:solidFill>
                  <a:srgbClr val="D9E4F3"/>
                </a:solidFill>
                <a:latin typeface="Courier New" pitchFamily="34" charset="0"/>
                <a:ea typeface="Courier New" pitchFamily="34" charset="-122"/>
                <a:cs typeface="Courier New" pitchFamily="34" charset="-120"/>
              </a:rPr>
              <a:t>    sess = store.get(session_key(data))</a:t>
            </a:r>
            <a:endParaRPr lang="en-US" sz="950" dirty="0"/>
          </a:p>
          <a:p>
            <a:pPr indent="0" marL="0">
              <a:lnSpc>
                <a:spcPct val="112000"/>
              </a:lnSpc>
              <a:buNone/>
            </a:pPr>
            <a:r>
              <a:rPr lang="en-US" sz="950" dirty="0">
                <a:solidFill>
                  <a:srgbClr val="8ED6AC"/>
                </a:solidFill>
                <a:latin typeface="Courier New" pitchFamily="34" charset="0"/>
                <a:ea typeface="Courier New" pitchFamily="34" charset="-122"/>
                <a:cs typeface="Courier New" pitchFamily="34" charset="-120"/>
              </a:rPr>
              <a:t>    if kind == "utility":      data["model"] = "local-small"</a:t>
            </a:r>
            <a:endParaRPr lang="en-US" sz="950" dirty="0"/>
          </a:p>
          <a:p>
            <a:pPr indent="0" marL="0">
              <a:lnSpc>
                <a:spcPct val="112000"/>
              </a:lnSpc>
              <a:buNone/>
            </a:pPr>
            <a:r>
              <a:rPr lang="en-US" sz="950" dirty="0">
                <a:solidFill>
                  <a:srgbClr val="8ED6AC"/>
                </a:solidFill>
                <a:latin typeface="Courier New" pitchFamily="34" charset="0"/>
                <a:ea typeface="Courier New" pitchFamily="34" charset="-122"/>
                <a:cs typeface="Courier New" pitchFamily="34" charset="-120"/>
              </a:rPr>
              <a:t>    elif kind == "continuation": data["model"] = sess.route   # sticky</a:t>
            </a:r>
            <a:endParaRPr lang="en-US" sz="950" dirty="0"/>
          </a:p>
          <a:p>
            <a:pPr indent="0" marL="0">
              <a:lnSpc>
                <a:spcPct val="112000"/>
              </a:lnSpc>
              <a:buNone/>
            </a:pPr>
            <a:r>
              <a:rPr lang="en-US" sz="950" dirty="0">
                <a:solidFill>
                  <a:srgbClr val="D9E4F3"/>
                </a:solidFill>
                <a:latin typeface="Courier New" pitchFamily="34" charset="0"/>
                <a:ea typeface="Courier New" pitchFamily="34" charset="-122"/>
                <a:cs typeface="Courier New" pitchFamily="34" charset="-120"/>
              </a:rPr>
              <a:t>    else:                                      # user_turn / subagent</a:t>
            </a:r>
            <a:endParaRPr lang="en-US" sz="950" dirty="0"/>
          </a:p>
          <a:p>
            <a:pPr indent="0" marL="0">
              <a:lnSpc>
                <a:spcPct val="112000"/>
              </a:lnSpc>
              <a:buNone/>
            </a:pPr>
            <a:r>
              <a:rPr lang="en-US" sz="950" dirty="0">
                <a:solidFill>
                  <a:srgbClr val="D9E4F3"/>
                </a:solidFill>
                <a:latin typeface="Courier New" pitchFamily="34" charset="0"/>
                <a:ea typeface="Courier New" pitchFamily="34" charset="-122"/>
                <a:cs typeface="Courier New" pitchFamily="34" charset="-120"/>
              </a:rPr>
              <a:t>      route = policy.route_turn(extract_features(data, sess), …)</a:t>
            </a:r>
            <a:endParaRPr lang="en-US" sz="950" dirty="0"/>
          </a:p>
          <a:p>
            <a:pPr indent="0" marL="0">
              <a:lnSpc>
                <a:spcPct val="112000"/>
              </a:lnSpc>
              <a:buNone/>
            </a:pPr>
            <a:r>
              <a:rPr lang="en-US" sz="950" dirty="0">
                <a:solidFill>
                  <a:srgbClr val="D9E4F3"/>
                </a:solidFill>
                <a:latin typeface="Courier New" pitchFamily="34" charset="0"/>
                <a:ea typeface="Courier New" pitchFamily="34" charset="-122"/>
                <a:cs typeface="Courier New" pitchFamily="34" charset="-120"/>
              </a:rPr>
              <a:t>      data["model"] = route.rung</a:t>
            </a:r>
            <a:endParaRPr lang="en-US" sz="950" dirty="0"/>
          </a:p>
          <a:p>
            <a:pPr indent="0" marL="0">
              <a:lnSpc>
                <a:spcPct val="112000"/>
              </a:lnSpc>
              <a:buNone/>
            </a:pPr>
            <a:r>
              <a:rPr lang="en-US" sz="950" dirty="0">
                <a:solidFill>
                  <a:srgbClr val="EFCB84"/>
                </a:solidFill>
                <a:latin typeface="Courier New" pitchFamily="34" charset="0"/>
                <a:ea typeface="Courier New" pitchFamily="34" charset="-122"/>
                <a:cs typeface="Courier New" pitchFamily="34" charset="-120"/>
              </a:rPr>
              <a:t>      data["metadata"]["route_id"] = route.id   # flywheel join key</a:t>
            </a:r>
            <a:endParaRPr lang="en-US" sz="950" dirty="0"/>
          </a:p>
          <a:p>
            <a:pPr indent="0" marL="0">
              <a:lnSpc>
                <a:spcPct val="112000"/>
              </a:lnSpc>
              <a:buNone/>
            </a:pPr>
            <a:r>
              <a:rPr lang="en-US" sz="950" dirty="0">
                <a:solidFill>
                  <a:srgbClr val="D9E4F3"/>
                </a:solidFill>
                <a:latin typeface="Courier New" pitchFamily="34" charset="0"/>
                <a:ea typeface="Courier New" pitchFamily="34" charset="-122"/>
                <a:cs typeface="Courier New" pitchFamily="34" charset="-120"/>
              </a:rPr>
              <a:t>    return data</a:t>
            </a:r>
            <a:endParaRPr lang="en-US" sz="950" dirty="0"/>
          </a:p>
          <a:p>
            <a:pPr indent="0" marL="0">
              <a:lnSpc>
                <a:spcPct val="112000"/>
              </a:lnSpc>
              <a:buNone/>
            </a:pPr>
            <a:r>
              <a:rPr lang="en-US" sz="950" dirty="0">
                <a:solidFill>
                  <a:srgbClr val="D9E4F3"/>
                </a:solidFill>
                <a:latin typeface="Courier New" pitchFamily="34" charset="0"/>
                <a:ea typeface="Courier New" pitchFamily="34" charset="-122"/>
                <a:cs typeface="Courier New" pitchFamily="34" charset="-120"/>
              </a:rPr>
              <a:t>  # post-call: outcome logging + trip-wire checks; escalation</a:t>
            </a:r>
            <a:endParaRPr lang="en-US" sz="950" dirty="0"/>
          </a:p>
          <a:p>
            <a:pPr indent="0" marL="0">
              <a:lnSpc>
                <a:spcPct val="112000"/>
              </a:lnSpc>
              <a:buNone/>
            </a:pPr>
            <a:r>
              <a:rPr lang="en-US" sz="950" dirty="0">
                <a:solidFill>
                  <a:srgbClr val="D9E4F3"/>
                </a:solidFill>
                <a:latin typeface="Courier New" pitchFamily="34" charset="0"/>
                <a:ea typeface="Courier New" pitchFamily="34" charset="-122"/>
                <a:cs typeface="Courier New" pitchFamily="34" charset="-120"/>
              </a:rPr>
              <a:t>  # re-issues the scrubbed transcript as a new internal request</a:t>
            </a:r>
            <a:endParaRPr lang="en-US" sz="950" dirty="0"/>
          </a:p>
        </p:txBody>
      </p:sp>
      <p:sp>
        <p:nvSpPr>
          <p:cNvPr id="9" name="Text 6"/>
          <p:cNvSpPr/>
          <p:nvPr/>
        </p:nvSpPr>
        <p:spPr>
          <a:xfrm>
            <a:off x="594360" y="5193792"/>
            <a:ext cx="6492240" cy="502920"/>
          </a:xfrm>
          <a:prstGeom prst="rect">
            <a:avLst/>
          </a:prstGeom>
          <a:noFill/>
          <a:ln/>
        </p:spPr>
        <p:txBody>
          <a:bodyPr wrap="square" lIns="0" tIns="0" rIns="0" bIns="0" rtlCol="0" anchor="t"/>
          <a:lstStyle/>
          <a:p>
            <a:pPr algn="l" indent="0" marL="0">
              <a:lnSpc>
                <a:spcPct val="110000"/>
              </a:lnSpc>
              <a:buNone/>
            </a:pPr>
            <a:r>
              <a:rPr lang="en-US" sz="1000" i="1" dirty="0">
                <a:solidFill>
                  <a:srgbClr val="5D6B7E"/>
                </a:solidFill>
                <a:latin typeface="Calibri" pitchFamily="34" charset="0"/>
                <a:ea typeface="Calibri" pitchFamily="34" charset="-122"/>
                <a:cs typeface="Calibri" pitchFamily="34" charset="-120"/>
              </a:rPr>
              <a:t>Option B (evolve): sidecar FastAPI service — policy retrains without touching the data plane; serves multiple LiteLLM instances.</a:t>
            </a:r>
            <a:endParaRPr lang="en-US" sz="10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7452360" y="1417320"/>
          <a:ext cx="4206240" cy="914400"/>
        </p:xfrm>
        <a:graphic>
          <a:graphicData uri="http://schemas.openxmlformats.org/drawingml/2006/table">
            <a:tbl>
              <a:tblPr/>
              <a:tblGrid>
                <a:gridCol w="2606040"/>
                <a:gridCol w="1600200"/>
              </a:tblGrid>
              <a:tr h="47548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Concern</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20334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Owner</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20334F"/>
                    </a:solidFill>
                  </a:tcPr>
                </a:tc>
              </a:tr>
              <a:tr h="475488">
                <a:tc>
                  <a:txBody>
                    <a:bodyPr/>
                    <a:lstStyle/>
                    <a:p>
                      <a:pPr indent="0" marL="0">
                        <a:buNone/>
                      </a:pPr>
                      <a:r>
                        <a:rPr lang="en-US" sz="900" dirty="0">
                          <a:solidFill>
                            <a:srgbClr val="1F2A3D"/>
                          </a:solidFill>
                          <a:latin typeface="Calibri" pitchFamily="34" charset="0"/>
                          <a:ea typeface="Calibri" pitchFamily="34" charset="-122"/>
                          <a:cs typeface="Calibri" pitchFamily="34" charset="-120"/>
                        </a:rPr>
                        <a:t>Turn difficulty · episodes · stickiness · trip-wires</a:t>
                      </a:r>
                      <a:endParaRPr lang="en-US" sz="9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900" b="1" dirty="0">
                          <a:solidFill>
                            <a:srgbClr val="1D6FA5"/>
                          </a:solidFill>
                          <a:latin typeface="Calibri" pitchFamily="34" charset="0"/>
                          <a:ea typeface="Calibri" pitchFamily="34" charset="-122"/>
                          <a:cs typeface="Calibri" pitchFamily="34" charset="-120"/>
                        </a:rPr>
                        <a:t>US</a:t>
                      </a:r>
                      <a:endParaRPr lang="en-US" sz="9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r h="475488">
                <a:tc>
                  <a:txBody>
                    <a:bodyPr/>
                    <a:lstStyle/>
                    <a:p>
                      <a:pPr indent="0" marL="0">
                        <a:buNone/>
                      </a:pPr>
                      <a:r>
                        <a:rPr lang="en-US" sz="900" dirty="0">
                          <a:solidFill>
                            <a:srgbClr val="1F2A3D"/>
                          </a:solidFill>
                          <a:latin typeface="Calibri" pitchFamily="34" charset="0"/>
                          <a:ea typeface="Calibri" pitchFamily="34" charset="-122"/>
                          <a:cs typeface="Calibri" pitchFamily="34" charset="-120"/>
                        </a:rPr>
                        <a:t>Privacy pin (no gateway ships an equivalent)</a:t>
                      </a:r>
                      <a:endParaRPr lang="en-US" sz="9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900" b="1" dirty="0">
                          <a:solidFill>
                            <a:srgbClr val="B3261E"/>
                          </a:solidFill>
                          <a:latin typeface="Calibri" pitchFamily="34" charset="0"/>
                          <a:ea typeface="Calibri" pitchFamily="34" charset="-122"/>
                          <a:cs typeface="Calibri" pitchFamily="34" charset="-120"/>
                        </a:rPr>
                        <a:t>US</a:t>
                      </a:r>
                      <a:endParaRPr lang="en-US" sz="9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r h="475488">
                <a:tc>
                  <a:txBody>
                    <a:bodyPr/>
                    <a:lstStyle/>
                    <a:p>
                      <a:pPr indent="0" marL="0">
                        <a:buNone/>
                      </a:pPr>
                      <a:r>
                        <a:rPr lang="en-US" sz="900" dirty="0">
                          <a:solidFill>
                            <a:srgbClr val="1F2A3D"/>
                          </a:solidFill>
                          <a:latin typeface="Calibri" pitchFamily="34" charset="0"/>
                          <a:ea typeface="Calibri" pitchFamily="34" charset="-122"/>
                          <a:cs typeface="Calibri" pitchFamily="34" charset="-120"/>
                        </a:rPr>
                        <a:t>Context feasibility</a:t>
                      </a:r>
                      <a:endParaRPr lang="en-US" sz="9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850" dirty="0">
                          <a:solidFill>
                            <a:srgbClr val="1F2A3D"/>
                          </a:solidFill>
                          <a:latin typeface="Calibri" pitchFamily="34" charset="0"/>
                          <a:ea typeface="Calibri" pitchFamily="34" charset="-122"/>
                          <a:cs typeface="Calibri" pitchFamily="34" charset="-120"/>
                        </a:rPr>
                        <a:t>BOTH — we gate at decision time; enable_pre_call_checks backstops at call time</a:t>
                      </a:r>
                      <a:endParaRPr lang="en-US" sz="8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r h="475488">
                <a:tc>
                  <a:txBody>
                    <a:bodyPr/>
                    <a:lstStyle/>
                    <a:p>
                      <a:pPr indent="0" marL="0">
                        <a:buNone/>
                      </a:pPr>
                      <a:r>
                        <a:rPr lang="en-US" sz="900" dirty="0">
                          <a:solidFill>
                            <a:srgbClr val="1F2A3D"/>
                          </a:solidFill>
                          <a:latin typeface="Calibri" pitchFamily="34" charset="0"/>
                          <a:ea typeface="Calibri" pitchFamily="34" charset="-122"/>
                          <a:cs typeface="Calibri" pitchFamily="34" charset="-120"/>
                        </a:rPr>
                        <a:t>Endpoint health &amp; failover within a rung</a:t>
                      </a:r>
                      <a:endParaRPr lang="en-US" sz="9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900" b="1" dirty="0">
                          <a:solidFill>
                            <a:srgbClr val="B45309"/>
                          </a:solidFill>
                          <a:latin typeface="Calibri" pitchFamily="34" charset="0"/>
                          <a:ea typeface="Calibri" pitchFamily="34" charset="-122"/>
                          <a:cs typeface="Calibri" pitchFamily="34" charset="-120"/>
                        </a:rPr>
                        <a:t>LiteLLM</a:t>
                      </a:r>
                      <a:endParaRPr lang="en-US" sz="9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r h="475488">
                <a:tc>
                  <a:txBody>
                    <a:bodyPr/>
                    <a:lstStyle/>
                    <a:p>
                      <a:pPr indent="0" marL="0">
                        <a:buNone/>
                      </a:pPr>
                      <a:r>
                        <a:rPr lang="en-US" sz="900" dirty="0">
                          <a:solidFill>
                            <a:srgbClr val="1F2A3D"/>
                          </a:solidFill>
                          <a:latin typeface="Calibri" pitchFamily="34" charset="0"/>
                          <a:ea typeface="Calibri" pitchFamily="34" charset="-122"/>
                          <a:cs typeface="Calibri" pitchFamily="34" charset="-120"/>
                        </a:rPr>
                        <a:t>Retries · rate-limit cooldowns</a:t>
                      </a:r>
                      <a:endParaRPr lang="en-US" sz="9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900" b="1" dirty="0">
                          <a:solidFill>
                            <a:srgbClr val="B45309"/>
                          </a:solidFill>
                          <a:latin typeface="Calibri" pitchFamily="34" charset="0"/>
                          <a:ea typeface="Calibri" pitchFamily="34" charset="-122"/>
                          <a:cs typeface="Calibri" pitchFamily="34" charset="-120"/>
                        </a:rPr>
                        <a:t>LiteLLM</a:t>
                      </a:r>
                      <a:endParaRPr lang="en-US" sz="9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r h="475488">
                <a:tc>
                  <a:txBody>
                    <a:bodyPr/>
                    <a:lstStyle/>
                    <a:p>
                      <a:pPr indent="0" marL="0">
                        <a:buNone/>
                      </a:pPr>
                      <a:r>
                        <a:rPr lang="en-US" sz="900" dirty="0">
                          <a:solidFill>
                            <a:srgbClr val="1F2A3D"/>
                          </a:solidFill>
                          <a:latin typeface="Calibri" pitchFamily="34" charset="0"/>
                          <a:ea typeface="Calibri" pitchFamily="34" charset="-122"/>
                          <a:cs typeface="Calibri" pitchFamily="34" charset="-120"/>
                        </a:rPr>
                        <a:t>Spend caps (hard backstop under our dashboards)</a:t>
                      </a:r>
                      <a:endParaRPr lang="en-US" sz="9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900" b="1" dirty="0">
                          <a:solidFill>
                            <a:srgbClr val="B45309"/>
                          </a:solidFill>
                          <a:latin typeface="Calibri" pitchFamily="34" charset="0"/>
                          <a:ea typeface="Calibri" pitchFamily="34" charset="-122"/>
                          <a:cs typeface="Calibri" pitchFamily="34" charset="-120"/>
                        </a:rPr>
                        <a:t>LiteLLM</a:t>
                      </a:r>
                      <a:endParaRPr lang="en-US" sz="9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bl>
          </a:graphicData>
        </a:graphic>
      </p:graphicFrame>
      <p:sp>
        <p:nvSpPr>
          <p:cNvPr id="11" name="Shape 7"/>
          <p:cNvSpPr/>
          <p:nvPr/>
        </p:nvSpPr>
        <p:spPr>
          <a:xfrm>
            <a:off x="7452360" y="4919472"/>
            <a:ext cx="4206240" cy="1371600"/>
          </a:xfrm>
          <a:prstGeom prst="roundRect">
            <a:avLst>
              <a:gd name="adj" fmla="val 4667"/>
            </a:avLst>
          </a:prstGeom>
          <a:solidFill>
            <a:srgbClr val="F3F6F9"/>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2" name="Text 8"/>
          <p:cNvSpPr/>
          <p:nvPr/>
        </p:nvSpPr>
        <p:spPr>
          <a:xfrm>
            <a:off x="7690104" y="5056632"/>
            <a:ext cx="3749040" cy="1143000"/>
          </a:xfrm>
          <a:prstGeom prst="rect">
            <a:avLst/>
          </a:prstGeom>
          <a:noFill/>
          <a:ln/>
        </p:spPr>
        <p:txBody>
          <a:bodyPr wrap="square" lIns="0" tIns="0" rIns="0" bIns="0" rtlCol="0" anchor="t"/>
          <a:lstStyle/>
          <a:p>
            <a:pPr algn="l" indent="0" marL="0">
              <a:lnSpc>
                <a:spcPct val="108000"/>
              </a:lnSpc>
              <a:buNone/>
            </a:pPr>
            <a:r>
              <a:rPr lang="en-US" sz="1050" b="1" dirty="0">
                <a:solidFill>
                  <a:srgbClr val="1F2A3D"/>
                </a:solidFill>
                <a:latin typeface="Calibri" pitchFamily="34" charset="0"/>
                <a:ea typeface="Calibri" pitchFamily="34" charset="-122"/>
                <a:cs typeface="Calibri" pitchFamily="34" charset="-120"/>
              </a:rPr>
              <a:t>Why not LiteLLM's built-in routers?  </a:t>
            </a:r>
            <a:endParaRPr lang="en-US" sz="1050" dirty="0"/>
          </a:p>
          <a:p>
            <a:pPr algn="l" indent="0" marL="0">
              <a:lnSpc>
                <a:spcPct val="108000"/>
              </a:lnSpc>
              <a:buNone/>
            </a:pPr>
            <a:r>
              <a:rPr lang="en-US" sz="950" dirty="0">
                <a:solidFill>
                  <a:srgbClr val="5D6B7E"/>
                </a:solidFill>
                <a:latin typeface="Calibri" pitchFamily="34" charset="0"/>
                <a:ea typeface="Calibri" pitchFamily="34" charset="-122"/>
                <a:cs typeface="Calibri" pitchFamily="34" charset="-120"/>
              </a:rPr>
              <a:t>Auto/complexity/adaptive are per-request and stateless: they'd classify tool payloads, re-decide mid-turn, and know nothing of strikes, episodes, or pins. Execution: LiteLLM. Decision: ours.</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PART 7 · MAKING IT REAL</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What we deliberately do NOT do</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design doc §9</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43</a:t>
            </a:r>
            <a:endParaRPr lang="en-US" sz="900" dirty="0"/>
          </a:p>
        </p:txBody>
      </p:sp>
      <p:sp>
        <p:nvSpPr>
          <p:cNvPr id="7" name="Shape 4"/>
          <p:cNvSpPr/>
          <p:nvPr/>
        </p:nvSpPr>
        <p:spPr>
          <a:xfrm>
            <a:off x="548640" y="1417320"/>
            <a:ext cx="11091672" cy="841248"/>
          </a:xfrm>
          <a:prstGeom prst="roundRect">
            <a:avLst>
              <a:gd name="adj" fmla="val 7609"/>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8" name="Shape 5"/>
          <p:cNvSpPr/>
          <p:nvPr/>
        </p:nvSpPr>
        <p:spPr>
          <a:xfrm>
            <a:off x="777240" y="1609344"/>
            <a:ext cx="457200" cy="457200"/>
          </a:xfrm>
          <a:prstGeom prst="ellipse">
            <a:avLst/>
          </a:prstGeom>
          <a:solidFill>
            <a:srgbClr val="B3261E"/>
          </a:solidFill>
          <a:ln/>
        </p:spPr>
      </p:sp>
      <p:pic>
        <p:nvPicPr>
          <p:cNvPr id="9" name="Image 0" descr="preencoded.png">    </p:cNvPr>
          <p:cNvPicPr>
            <a:picLocks noChangeAspect="1"/>
          </p:cNvPicPr>
          <p:nvPr/>
        </p:nvPicPr>
        <p:blipFill>
          <a:blip r:embed="rId1"/>
          <a:stretch>
            <a:fillRect/>
          </a:stretch>
        </p:blipFill>
        <p:spPr>
          <a:xfrm>
            <a:off x="896112" y="1728216"/>
            <a:ext cx="219456" cy="219456"/>
          </a:xfrm>
          <a:prstGeom prst="rect">
            <a:avLst/>
          </a:prstGeom>
        </p:spPr>
      </p:pic>
      <p:sp>
        <p:nvSpPr>
          <p:cNvPr id="10" name="Text 6"/>
          <p:cNvSpPr/>
          <p:nvPr/>
        </p:nvSpPr>
        <p:spPr>
          <a:xfrm>
            <a:off x="1417320" y="1536192"/>
            <a:ext cx="4937760" cy="594360"/>
          </a:xfrm>
          <a:prstGeom prst="rect">
            <a:avLst/>
          </a:prstGeom>
          <a:noFill/>
          <a:ln/>
        </p:spPr>
        <p:txBody>
          <a:bodyPr wrap="square" lIns="0" tIns="0" rIns="0" bIns="0" rtlCol="0" anchor="ctr"/>
          <a:lstStyle/>
          <a:p>
            <a:pPr algn="l" indent="0" marL="0">
              <a:lnSpc>
                <a:spcPct val="100000"/>
              </a:lnSpc>
              <a:buNone/>
            </a:pPr>
            <a:r>
              <a:rPr lang="en-US" sz="1250" b="1" dirty="0">
                <a:solidFill>
                  <a:srgbClr val="1F2A3D"/>
                </a:solidFill>
                <a:latin typeface="Calibri" pitchFamily="34" charset="0"/>
                <a:ea typeface="Calibri" pitchFamily="34" charset="-122"/>
                <a:cs typeface="Calibri" pitchFamily="34" charset="-120"/>
              </a:rPr>
              <a:t>Re-route every request “for maximum adaptivity”</a:t>
            </a:r>
            <a:endParaRPr lang="en-US" sz="1250" dirty="0"/>
          </a:p>
        </p:txBody>
      </p:sp>
      <p:sp>
        <p:nvSpPr>
          <p:cNvPr id="11" name="Text 7"/>
          <p:cNvSpPr/>
          <p:nvPr/>
        </p:nvSpPr>
        <p:spPr>
          <a:xfrm>
            <a:off x="6537960" y="1536192"/>
            <a:ext cx="4892040" cy="594360"/>
          </a:xfrm>
          <a:prstGeom prst="rect">
            <a:avLst/>
          </a:prstGeom>
          <a:noFill/>
          <a:ln/>
        </p:spPr>
        <p:txBody>
          <a:bodyPr wrap="square" lIns="0" tIns="0" rIns="0" bIns="0" rtlCol="0" anchor="ctr"/>
          <a:lstStyle/>
          <a:p>
            <a:pPr algn="l" indent="0" marL="0">
              <a:lnSpc>
                <a:spcPct val="105000"/>
              </a:lnSpc>
              <a:buNone/>
            </a:pPr>
            <a:r>
              <a:rPr lang="en-US" sz="1050" dirty="0">
                <a:solidFill>
                  <a:srgbClr val="5D6B7E"/>
                </a:solidFill>
                <a:latin typeface="Calibri" pitchFamily="34" charset="0"/>
                <a:ea typeface="Calibri" pitchFamily="34" charset="-122"/>
                <a:cs typeface="Calibri" pitchFamily="34" charset="-120"/>
              </a:rPr>
              <a:t>Destroys caches, splits one thought across two models, thrash. Turns only.</a:t>
            </a:r>
            <a:endParaRPr lang="en-US" sz="1050" dirty="0"/>
          </a:p>
        </p:txBody>
      </p:sp>
      <p:sp>
        <p:nvSpPr>
          <p:cNvPr id="12" name="Shape 8"/>
          <p:cNvSpPr/>
          <p:nvPr/>
        </p:nvSpPr>
        <p:spPr>
          <a:xfrm>
            <a:off x="548640" y="2386584"/>
            <a:ext cx="11091672" cy="841248"/>
          </a:xfrm>
          <a:prstGeom prst="roundRect">
            <a:avLst>
              <a:gd name="adj" fmla="val 7609"/>
            </a:avLst>
          </a:prstGeom>
          <a:solidFill>
            <a:srgbClr val="F3F6F9"/>
          </a:solidFill>
          <a:ln w="9525">
            <a:solidFill>
              <a:srgbClr val="D9E1E9"/>
            </a:solidFill>
            <a:prstDash val="solid"/>
          </a:ln>
        </p:spPr>
      </p:sp>
      <p:sp>
        <p:nvSpPr>
          <p:cNvPr id="13" name="Shape 9"/>
          <p:cNvSpPr/>
          <p:nvPr/>
        </p:nvSpPr>
        <p:spPr>
          <a:xfrm>
            <a:off x="777240" y="2578608"/>
            <a:ext cx="457200" cy="457200"/>
          </a:xfrm>
          <a:prstGeom prst="ellipse">
            <a:avLst/>
          </a:prstGeom>
          <a:solidFill>
            <a:srgbClr val="B3261E"/>
          </a:solidFill>
          <a:ln/>
        </p:spPr>
      </p:sp>
      <p:pic>
        <p:nvPicPr>
          <p:cNvPr id="14" name="Image 1" descr="preencoded.png">    </p:cNvPr>
          <p:cNvPicPr>
            <a:picLocks noChangeAspect="1"/>
          </p:cNvPicPr>
          <p:nvPr/>
        </p:nvPicPr>
        <p:blipFill>
          <a:blip r:embed="rId2"/>
          <a:stretch>
            <a:fillRect/>
          </a:stretch>
        </p:blipFill>
        <p:spPr>
          <a:xfrm>
            <a:off x="896112" y="2697480"/>
            <a:ext cx="219456" cy="219456"/>
          </a:xfrm>
          <a:prstGeom prst="rect">
            <a:avLst/>
          </a:prstGeom>
        </p:spPr>
      </p:pic>
      <p:sp>
        <p:nvSpPr>
          <p:cNvPr id="15" name="Text 10"/>
          <p:cNvSpPr/>
          <p:nvPr/>
        </p:nvSpPr>
        <p:spPr>
          <a:xfrm>
            <a:off x="1417320" y="2505456"/>
            <a:ext cx="4937760" cy="594360"/>
          </a:xfrm>
          <a:prstGeom prst="rect">
            <a:avLst/>
          </a:prstGeom>
          <a:noFill/>
          <a:ln/>
        </p:spPr>
        <p:txBody>
          <a:bodyPr wrap="square" lIns="0" tIns="0" rIns="0" bIns="0" rtlCol="0" anchor="ctr"/>
          <a:lstStyle/>
          <a:p>
            <a:pPr algn="l" indent="0" marL="0">
              <a:lnSpc>
                <a:spcPct val="100000"/>
              </a:lnSpc>
              <a:buNone/>
            </a:pPr>
            <a:r>
              <a:rPr lang="en-US" sz="1250" b="1" dirty="0">
                <a:solidFill>
                  <a:srgbClr val="1F2A3D"/>
                </a:solidFill>
                <a:latin typeface="Calibri" pitchFamily="34" charset="0"/>
                <a:ea typeface="Calibri" pitchFamily="34" charset="-122"/>
                <a:cs typeface="Calibri" pitchFamily="34" charset="-120"/>
              </a:rPr>
              <a:t>LLM-judge each local action mid-flight</a:t>
            </a:r>
            <a:endParaRPr lang="en-US" sz="1250" dirty="0"/>
          </a:p>
        </p:txBody>
      </p:sp>
      <p:sp>
        <p:nvSpPr>
          <p:cNvPr id="16" name="Text 11"/>
          <p:cNvSpPr/>
          <p:nvPr/>
        </p:nvSpPr>
        <p:spPr>
          <a:xfrm>
            <a:off x="6537960" y="2505456"/>
            <a:ext cx="4892040" cy="594360"/>
          </a:xfrm>
          <a:prstGeom prst="rect">
            <a:avLst/>
          </a:prstGeom>
          <a:noFill/>
          <a:ln/>
        </p:spPr>
        <p:txBody>
          <a:bodyPr wrap="square" lIns="0" tIns="0" rIns="0" bIns="0" rtlCol="0" anchor="ctr"/>
          <a:lstStyle/>
          <a:p>
            <a:pPr algn="l" indent="0" marL="0">
              <a:lnSpc>
                <a:spcPct val="105000"/>
              </a:lnSpc>
              <a:buNone/>
            </a:pPr>
            <a:r>
              <a:rPr lang="en-US" sz="1050" dirty="0">
                <a:solidFill>
                  <a:srgbClr val="5D6B7E"/>
                </a:solidFill>
                <a:latin typeface="Calibri" pitchFamily="34" charset="0"/>
                <a:ea typeface="Calibri" pitchFamily="34" charset="-122"/>
                <a:cs typeface="Calibri" pitchFamily="34" charset="-120"/>
              </a:rPr>
              <a:t>The judge costs ≈ the task. Mechanical trip-wires in-flight; judging happens offline, in the flywheel.</a:t>
            </a:r>
            <a:endParaRPr lang="en-US" sz="1050" dirty="0"/>
          </a:p>
        </p:txBody>
      </p:sp>
      <p:sp>
        <p:nvSpPr>
          <p:cNvPr id="17" name="Shape 12"/>
          <p:cNvSpPr/>
          <p:nvPr/>
        </p:nvSpPr>
        <p:spPr>
          <a:xfrm>
            <a:off x="548640" y="3355848"/>
            <a:ext cx="11091672" cy="841248"/>
          </a:xfrm>
          <a:prstGeom prst="roundRect">
            <a:avLst>
              <a:gd name="adj" fmla="val 7609"/>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8" name="Shape 13"/>
          <p:cNvSpPr/>
          <p:nvPr/>
        </p:nvSpPr>
        <p:spPr>
          <a:xfrm>
            <a:off x="777240" y="3547872"/>
            <a:ext cx="457200" cy="457200"/>
          </a:xfrm>
          <a:prstGeom prst="ellipse">
            <a:avLst/>
          </a:prstGeom>
          <a:solidFill>
            <a:srgbClr val="B3261E"/>
          </a:solidFill>
          <a:ln/>
        </p:spPr>
      </p:sp>
      <p:pic>
        <p:nvPicPr>
          <p:cNvPr id="19" name="Image 2" descr="preencoded.png">    </p:cNvPr>
          <p:cNvPicPr>
            <a:picLocks noChangeAspect="1"/>
          </p:cNvPicPr>
          <p:nvPr/>
        </p:nvPicPr>
        <p:blipFill>
          <a:blip r:embed="rId3"/>
          <a:stretch>
            <a:fillRect/>
          </a:stretch>
        </p:blipFill>
        <p:spPr>
          <a:xfrm>
            <a:off x="896112" y="3666744"/>
            <a:ext cx="219456" cy="219456"/>
          </a:xfrm>
          <a:prstGeom prst="rect">
            <a:avLst/>
          </a:prstGeom>
        </p:spPr>
      </p:pic>
      <p:sp>
        <p:nvSpPr>
          <p:cNvPr id="20" name="Text 14"/>
          <p:cNvSpPr/>
          <p:nvPr/>
        </p:nvSpPr>
        <p:spPr>
          <a:xfrm>
            <a:off x="1417320" y="3474720"/>
            <a:ext cx="4937760" cy="594360"/>
          </a:xfrm>
          <a:prstGeom prst="rect">
            <a:avLst/>
          </a:prstGeom>
          <a:noFill/>
          <a:ln/>
        </p:spPr>
        <p:txBody>
          <a:bodyPr wrap="square" lIns="0" tIns="0" rIns="0" bIns="0" rtlCol="0" anchor="ctr"/>
          <a:lstStyle/>
          <a:p>
            <a:pPr algn="l" indent="0" marL="0">
              <a:lnSpc>
                <a:spcPct val="100000"/>
              </a:lnSpc>
              <a:buNone/>
            </a:pPr>
            <a:r>
              <a:rPr lang="en-US" sz="1250" b="1" dirty="0">
                <a:solidFill>
                  <a:srgbClr val="1F2A3D"/>
                </a:solidFill>
                <a:latin typeface="Calibri" pitchFamily="34" charset="0"/>
                <a:ea typeface="Calibri" pitchFamily="34" charset="-122"/>
                <a:cs typeface="Calibri" pitchFamily="34" charset="-120"/>
              </a:rPr>
              <a:t>Cascade everything through local first</a:t>
            </a:r>
            <a:endParaRPr lang="en-US" sz="1250" dirty="0"/>
          </a:p>
        </p:txBody>
      </p:sp>
      <p:sp>
        <p:nvSpPr>
          <p:cNvPr id="21" name="Text 15"/>
          <p:cNvSpPr/>
          <p:nvPr/>
        </p:nvSpPr>
        <p:spPr>
          <a:xfrm>
            <a:off x="6537960" y="3474720"/>
            <a:ext cx="4892040" cy="594360"/>
          </a:xfrm>
          <a:prstGeom prst="rect">
            <a:avLst/>
          </a:prstGeom>
          <a:noFill/>
          <a:ln/>
        </p:spPr>
        <p:txBody>
          <a:bodyPr wrap="square" lIns="0" tIns="0" rIns="0" bIns="0" rtlCol="0" anchor="ctr"/>
          <a:lstStyle/>
          <a:p>
            <a:pPr algn="l" indent="0" marL="0">
              <a:lnSpc>
                <a:spcPct val="105000"/>
              </a:lnSpc>
              <a:buNone/>
            </a:pPr>
            <a:r>
              <a:rPr lang="en-US" sz="1050" dirty="0">
                <a:solidFill>
                  <a:srgbClr val="5D6B7E"/>
                </a:solidFill>
                <a:latin typeface="Calibri" pitchFamily="34" charset="0"/>
                <a:ea typeface="Calibri" pitchFamily="34" charset="-122"/>
                <a:cs typeface="Calibri" pitchFamily="34" charset="-120"/>
              </a:rPr>
              <a:t>For clearly-hard turns: local waste + frontier anyway + the user's time. Direct-to-frontier is the cheaper path (S10).</a:t>
            </a:r>
            <a:endParaRPr lang="en-US" sz="1050" dirty="0"/>
          </a:p>
        </p:txBody>
      </p:sp>
      <p:sp>
        <p:nvSpPr>
          <p:cNvPr id="22" name="Shape 16"/>
          <p:cNvSpPr/>
          <p:nvPr/>
        </p:nvSpPr>
        <p:spPr>
          <a:xfrm>
            <a:off x="548640" y="4325112"/>
            <a:ext cx="11091672" cy="841248"/>
          </a:xfrm>
          <a:prstGeom prst="roundRect">
            <a:avLst>
              <a:gd name="adj" fmla="val 7609"/>
            </a:avLst>
          </a:prstGeom>
          <a:solidFill>
            <a:srgbClr val="F3F6F9"/>
          </a:solidFill>
          <a:ln w="9525">
            <a:solidFill>
              <a:srgbClr val="D9E1E9"/>
            </a:solidFill>
            <a:prstDash val="solid"/>
          </a:ln>
        </p:spPr>
      </p:sp>
      <p:sp>
        <p:nvSpPr>
          <p:cNvPr id="23" name="Shape 17"/>
          <p:cNvSpPr/>
          <p:nvPr/>
        </p:nvSpPr>
        <p:spPr>
          <a:xfrm>
            <a:off x="777240" y="4517136"/>
            <a:ext cx="457200" cy="457200"/>
          </a:xfrm>
          <a:prstGeom prst="ellipse">
            <a:avLst/>
          </a:prstGeom>
          <a:solidFill>
            <a:srgbClr val="B3261E"/>
          </a:solidFill>
          <a:ln/>
        </p:spPr>
      </p:sp>
      <p:pic>
        <p:nvPicPr>
          <p:cNvPr id="24" name="Image 3" descr="preencoded.png">    </p:cNvPr>
          <p:cNvPicPr>
            <a:picLocks noChangeAspect="1"/>
          </p:cNvPicPr>
          <p:nvPr/>
        </p:nvPicPr>
        <p:blipFill>
          <a:blip r:embed="rId4"/>
          <a:stretch>
            <a:fillRect/>
          </a:stretch>
        </p:blipFill>
        <p:spPr>
          <a:xfrm>
            <a:off x="896112" y="4636008"/>
            <a:ext cx="219456" cy="219456"/>
          </a:xfrm>
          <a:prstGeom prst="rect">
            <a:avLst/>
          </a:prstGeom>
        </p:spPr>
      </p:pic>
      <p:sp>
        <p:nvSpPr>
          <p:cNvPr id="25" name="Text 18"/>
          <p:cNvSpPr/>
          <p:nvPr/>
        </p:nvSpPr>
        <p:spPr>
          <a:xfrm>
            <a:off x="1417320" y="4443984"/>
            <a:ext cx="4937760" cy="594360"/>
          </a:xfrm>
          <a:prstGeom prst="rect">
            <a:avLst/>
          </a:prstGeom>
          <a:noFill/>
          <a:ln/>
        </p:spPr>
        <p:txBody>
          <a:bodyPr wrap="square" lIns="0" tIns="0" rIns="0" bIns="0" rtlCol="0" anchor="ctr"/>
          <a:lstStyle/>
          <a:p>
            <a:pPr algn="l" indent="0" marL="0">
              <a:lnSpc>
                <a:spcPct val="100000"/>
              </a:lnSpc>
              <a:buNone/>
            </a:pPr>
            <a:r>
              <a:rPr lang="en-US" sz="1250" b="1" dirty="0">
                <a:solidFill>
                  <a:srgbClr val="1F2A3D"/>
                </a:solidFill>
                <a:latin typeface="Calibri" pitchFamily="34" charset="0"/>
                <a:ea typeface="Calibri" pitchFamily="34" charset="-122"/>
                <a:cs typeface="Calibri" pitchFamily="34" charset="-120"/>
              </a:rPr>
              <a:t>Let the learned router override privacy gates</a:t>
            </a:r>
            <a:endParaRPr lang="en-US" sz="1250" dirty="0"/>
          </a:p>
        </p:txBody>
      </p:sp>
      <p:sp>
        <p:nvSpPr>
          <p:cNvPr id="26" name="Text 19"/>
          <p:cNvSpPr/>
          <p:nvPr/>
        </p:nvSpPr>
        <p:spPr>
          <a:xfrm>
            <a:off x="6537960" y="4443984"/>
            <a:ext cx="4892040" cy="594360"/>
          </a:xfrm>
          <a:prstGeom prst="rect">
            <a:avLst/>
          </a:prstGeom>
          <a:noFill/>
          <a:ln/>
        </p:spPr>
        <p:txBody>
          <a:bodyPr wrap="square" lIns="0" tIns="0" rIns="0" bIns="0" rtlCol="0" anchor="ctr"/>
          <a:lstStyle/>
          <a:p>
            <a:pPr algn="l" indent="0" marL="0">
              <a:lnSpc>
                <a:spcPct val="105000"/>
              </a:lnSpc>
              <a:buNone/>
            </a:pPr>
            <a:r>
              <a:rPr lang="en-US" sz="1050" dirty="0">
                <a:solidFill>
                  <a:srgbClr val="5D6B7E"/>
                </a:solidFill>
                <a:latin typeface="Calibri" pitchFamily="34" charset="0"/>
                <a:ea typeface="Calibri" pitchFamily="34" charset="-122"/>
                <a:cs typeface="Calibri" pitchFamily="34" charset="-120"/>
              </a:rPr>
              <a:t>Gates run first, structurally. An “escalation” that leaks a secret is a security incident, not a quality miss.</a:t>
            </a:r>
            <a:endParaRPr lang="en-US" sz="1050" dirty="0"/>
          </a:p>
        </p:txBody>
      </p:sp>
      <p:sp>
        <p:nvSpPr>
          <p:cNvPr id="27" name="Shape 20"/>
          <p:cNvSpPr/>
          <p:nvPr/>
        </p:nvSpPr>
        <p:spPr>
          <a:xfrm>
            <a:off x="548640" y="5294376"/>
            <a:ext cx="11091672" cy="841248"/>
          </a:xfrm>
          <a:prstGeom prst="roundRect">
            <a:avLst>
              <a:gd name="adj" fmla="val 7609"/>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28" name="Shape 21"/>
          <p:cNvSpPr/>
          <p:nvPr/>
        </p:nvSpPr>
        <p:spPr>
          <a:xfrm>
            <a:off x="777240" y="5486400"/>
            <a:ext cx="457200" cy="457200"/>
          </a:xfrm>
          <a:prstGeom prst="ellipse">
            <a:avLst/>
          </a:prstGeom>
          <a:solidFill>
            <a:srgbClr val="B3261E"/>
          </a:solidFill>
          <a:ln/>
        </p:spPr>
      </p:sp>
      <p:pic>
        <p:nvPicPr>
          <p:cNvPr id="29" name="Image 4" descr="preencoded.png">    </p:cNvPr>
          <p:cNvPicPr>
            <a:picLocks noChangeAspect="1"/>
          </p:cNvPicPr>
          <p:nvPr/>
        </p:nvPicPr>
        <p:blipFill>
          <a:blip r:embed="rId5"/>
          <a:stretch>
            <a:fillRect/>
          </a:stretch>
        </p:blipFill>
        <p:spPr>
          <a:xfrm>
            <a:off x="896112" y="5605272"/>
            <a:ext cx="219456" cy="219456"/>
          </a:xfrm>
          <a:prstGeom prst="rect">
            <a:avLst/>
          </a:prstGeom>
        </p:spPr>
      </p:pic>
      <p:sp>
        <p:nvSpPr>
          <p:cNvPr id="30" name="Text 22"/>
          <p:cNvSpPr/>
          <p:nvPr/>
        </p:nvSpPr>
        <p:spPr>
          <a:xfrm>
            <a:off x="1417320" y="5413248"/>
            <a:ext cx="4937760" cy="594360"/>
          </a:xfrm>
          <a:prstGeom prst="rect">
            <a:avLst/>
          </a:prstGeom>
          <a:noFill/>
          <a:ln/>
        </p:spPr>
        <p:txBody>
          <a:bodyPr wrap="square" lIns="0" tIns="0" rIns="0" bIns="0" rtlCol="0" anchor="ctr"/>
          <a:lstStyle/>
          <a:p>
            <a:pPr algn="l" indent="0" marL="0">
              <a:lnSpc>
                <a:spcPct val="100000"/>
              </a:lnSpc>
              <a:buNone/>
            </a:pPr>
            <a:r>
              <a:rPr lang="en-US" sz="1250" b="1" dirty="0">
                <a:solidFill>
                  <a:srgbClr val="1F2A3D"/>
                </a:solidFill>
                <a:latin typeface="Calibri" pitchFamily="34" charset="0"/>
                <a:ea typeface="Calibri" pitchFamily="34" charset="-122"/>
                <a:cs typeface="Calibri" pitchFamily="34" charset="-120"/>
              </a:rPr>
              <a:t>Trust public benchmarks for the registry</a:t>
            </a:r>
            <a:endParaRPr lang="en-US" sz="1250" dirty="0"/>
          </a:p>
        </p:txBody>
      </p:sp>
      <p:sp>
        <p:nvSpPr>
          <p:cNvPr id="31" name="Text 23"/>
          <p:cNvSpPr/>
          <p:nvPr/>
        </p:nvSpPr>
        <p:spPr>
          <a:xfrm>
            <a:off x="6537960" y="5413248"/>
            <a:ext cx="4892040" cy="594360"/>
          </a:xfrm>
          <a:prstGeom prst="rect">
            <a:avLst/>
          </a:prstGeom>
          <a:noFill/>
          <a:ln/>
        </p:spPr>
        <p:txBody>
          <a:bodyPr wrap="square" lIns="0" tIns="0" rIns="0" bIns="0" rtlCol="0" anchor="ctr"/>
          <a:lstStyle/>
          <a:p>
            <a:pPr algn="l" indent="0" marL="0">
              <a:lnSpc>
                <a:spcPct val="105000"/>
              </a:lnSpc>
              <a:buNone/>
            </a:pPr>
            <a:r>
              <a:rPr lang="en-US" sz="1050" dirty="0">
                <a:solidFill>
                  <a:srgbClr val="5D6B7E"/>
                </a:solidFill>
                <a:latin typeface="Calibri" pitchFamily="34" charset="0"/>
                <a:ea typeface="Calibri" pitchFamily="34" charset="-122"/>
                <a:cs typeface="Calibri" pitchFamily="34" charset="-120"/>
              </a:rPr>
              <a:t>Tool-call reliability is harness-dialect-specific. Measure with your own eval pack, per (model, harness).</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PART 7 · MAKING IT REAL</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Rollout: four phases, each with an exit gate</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design doc §10</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44</a:t>
            </a:r>
            <a:endParaRPr lang="en-US" sz="900" dirty="0"/>
          </a:p>
        </p:txBody>
      </p:sp>
      <p:sp>
        <p:nvSpPr>
          <p:cNvPr id="7" name="Shape 4"/>
          <p:cNvSpPr/>
          <p:nvPr/>
        </p:nvSpPr>
        <p:spPr>
          <a:xfrm>
            <a:off x="548640" y="1463040"/>
            <a:ext cx="2651760" cy="4114800"/>
          </a:xfrm>
          <a:prstGeom prst="roundRect">
            <a:avLst>
              <a:gd name="adj" fmla="val 2414"/>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8" name="Shape 5"/>
          <p:cNvSpPr/>
          <p:nvPr/>
        </p:nvSpPr>
        <p:spPr>
          <a:xfrm>
            <a:off x="548640" y="1463040"/>
            <a:ext cx="2651760" cy="868680"/>
          </a:xfrm>
          <a:prstGeom prst="roundRect">
            <a:avLst>
              <a:gd name="adj" fmla="val 7368"/>
            </a:avLst>
          </a:prstGeom>
          <a:solidFill>
            <a:srgbClr val="E4EEF6"/>
          </a:solidFill>
          <a:ln/>
        </p:spPr>
      </p:sp>
      <p:sp>
        <p:nvSpPr>
          <p:cNvPr id="9" name="Text 6"/>
          <p:cNvSpPr/>
          <p:nvPr/>
        </p:nvSpPr>
        <p:spPr>
          <a:xfrm>
            <a:off x="749808" y="1591056"/>
            <a:ext cx="2249424" cy="256032"/>
          </a:xfrm>
          <a:prstGeom prst="rect">
            <a:avLst/>
          </a:prstGeom>
          <a:noFill/>
          <a:ln/>
        </p:spPr>
        <p:txBody>
          <a:bodyPr wrap="square" lIns="0" tIns="0" rIns="0" bIns="0" rtlCol="0" anchor="t"/>
          <a:lstStyle/>
          <a:p>
            <a:pPr algn="l" indent="0" marL="0">
              <a:buNone/>
            </a:pPr>
            <a:r>
              <a:rPr lang="en-US" sz="1000" b="1" spc="200" kern="0" dirty="0">
                <a:solidFill>
                  <a:srgbClr val="1D6FA5"/>
                </a:solidFill>
                <a:latin typeface="Calibri" pitchFamily="34" charset="0"/>
                <a:ea typeface="Calibri" pitchFamily="34" charset="-122"/>
                <a:cs typeface="Calibri" pitchFamily="34" charset="-120"/>
              </a:rPr>
              <a:t>PHASE 0</a:t>
            </a:r>
            <a:endParaRPr lang="en-US" sz="1000" dirty="0"/>
          </a:p>
        </p:txBody>
      </p:sp>
      <p:sp>
        <p:nvSpPr>
          <p:cNvPr id="10" name="Text 7"/>
          <p:cNvSpPr/>
          <p:nvPr/>
        </p:nvSpPr>
        <p:spPr>
          <a:xfrm>
            <a:off x="749808" y="1847088"/>
            <a:ext cx="2249424" cy="411480"/>
          </a:xfrm>
          <a:prstGeom prst="rect">
            <a:avLst/>
          </a:prstGeom>
          <a:noFill/>
          <a:ln/>
        </p:spPr>
        <p:txBody>
          <a:bodyPr wrap="square" lIns="0" tIns="0" rIns="0" bIns="0" rtlCol="0" anchor="t"/>
          <a:lstStyle/>
          <a:p>
            <a:pPr algn="l" indent="0" marL="0">
              <a:lnSpc>
                <a:spcPct val="95000"/>
              </a:lnSpc>
              <a:buNone/>
            </a:pPr>
            <a:r>
              <a:rPr lang="en-US" sz="1300" b="1" dirty="0">
                <a:solidFill>
                  <a:srgbClr val="1F2A3D"/>
                </a:solidFill>
                <a:latin typeface="Calibri" pitchFamily="34" charset="0"/>
                <a:ea typeface="Calibri" pitchFamily="34" charset="-122"/>
                <a:cs typeface="Calibri" pitchFamily="34" charset="-120"/>
              </a:rPr>
              <a:t>Shadow</a:t>
            </a:r>
            <a:endParaRPr lang="en-US" sz="1300" dirty="0"/>
          </a:p>
        </p:txBody>
      </p:sp>
      <p:sp>
        <p:nvSpPr>
          <p:cNvPr id="11" name="Text 8"/>
          <p:cNvSpPr/>
          <p:nvPr/>
        </p:nvSpPr>
        <p:spPr>
          <a:xfrm>
            <a:off x="749808" y="2468880"/>
            <a:ext cx="2249424" cy="256032"/>
          </a:xfrm>
          <a:prstGeom prst="rect">
            <a:avLst/>
          </a:prstGeom>
          <a:noFill/>
          <a:ln/>
        </p:spPr>
        <p:txBody>
          <a:bodyPr wrap="square" lIns="0" tIns="0" rIns="0" bIns="0" rtlCol="0" anchor="t"/>
          <a:lstStyle/>
          <a:p>
            <a:pPr algn="l" indent="0" marL="0">
              <a:buNone/>
            </a:pPr>
            <a:r>
              <a:rPr lang="en-US" sz="950" i="1" dirty="0">
                <a:solidFill>
                  <a:srgbClr val="5D6B7E"/>
                </a:solidFill>
                <a:latin typeface="Calibri" pitchFamily="34" charset="0"/>
                <a:ea typeface="Calibri" pitchFamily="34" charset="-122"/>
                <a:cs typeface="Calibri" pitchFamily="34" charset="-120"/>
              </a:rPr>
              <a:t>week 1 · risk: zero</a:t>
            </a:r>
            <a:endParaRPr lang="en-US" sz="950" dirty="0"/>
          </a:p>
        </p:txBody>
      </p:sp>
      <p:sp>
        <p:nvSpPr>
          <p:cNvPr id="12" name="Text 9"/>
          <p:cNvSpPr/>
          <p:nvPr/>
        </p:nvSpPr>
        <p:spPr>
          <a:xfrm>
            <a:off x="749808" y="2788920"/>
            <a:ext cx="2249424" cy="1051560"/>
          </a:xfrm>
          <a:prstGeom prst="rect">
            <a:avLst/>
          </a:prstGeom>
          <a:noFill/>
          <a:ln/>
        </p:spPr>
        <p:txBody>
          <a:bodyPr wrap="square" lIns="0" tIns="0" rIns="0" bIns="0" rtlCol="0" anchor="t"/>
          <a:lstStyle/>
          <a:p>
            <a:pPr algn="l" indent="0" marL="0">
              <a:lnSpc>
                <a:spcPct val="110000"/>
              </a:lnSpc>
              <a:buNone/>
            </a:pPr>
            <a:r>
              <a:rPr lang="en-US" sz="1000" dirty="0">
                <a:solidFill>
                  <a:srgbClr val="5D6B7E"/>
                </a:solidFill>
                <a:latin typeface="Calibri" pitchFamily="34" charset="0"/>
                <a:ea typeface="Calibri" pitchFamily="34" charset="-122"/>
                <a:cs typeface="Calibri" pitchFamily="34" charset="-120"/>
              </a:rPr>
              <a:t>Run on live traffic, log decisions only; replay historical captures offline.</a:t>
            </a:r>
            <a:endParaRPr lang="en-US" sz="1000" dirty="0"/>
          </a:p>
        </p:txBody>
      </p:sp>
      <p:sp>
        <p:nvSpPr>
          <p:cNvPr id="13" name="Text 10"/>
          <p:cNvSpPr/>
          <p:nvPr/>
        </p:nvSpPr>
        <p:spPr>
          <a:xfrm>
            <a:off x="749808" y="3913632"/>
            <a:ext cx="2249424" cy="219456"/>
          </a:xfrm>
          <a:prstGeom prst="rect">
            <a:avLst/>
          </a:prstGeom>
          <a:noFill/>
          <a:ln/>
        </p:spPr>
        <p:txBody>
          <a:bodyPr wrap="square" lIns="0" tIns="0" rIns="0" bIns="0" rtlCol="0" anchor="t"/>
          <a:lstStyle/>
          <a:p>
            <a:pPr algn="l" indent="0" marL="0">
              <a:buNone/>
            </a:pPr>
            <a:r>
              <a:rPr lang="en-US" sz="850" b="1" spc="200" kern="0" dirty="0">
                <a:solidFill>
                  <a:srgbClr val="1D6FA5"/>
                </a:solidFill>
                <a:latin typeface="Calibri" pitchFamily="34" charset="0"/>
                <a:ea typeface="Calibri" pitchFamily="34" charset="-122"/>
                <a:cs typeface="Calibri" pitchFamily="34" charset="-120"/>
              </a:rPr>
              <a:t>EXIT GATE</a:t>
            </a:r>
            <a:endParaRPr lang="en-US" sz="850" dirty="0"/>
          </a:p>
        </p:txBody>
      </p:sp>
      <p:sp>
        <p:nvSpPr>
          <p:cNvPr id="14" name="Text 11"/>
          <p:cNvSpPr/>
          <p:nvPr/>
        </p:nvSpPr>
        <p:spPr>
          <a:xfrm>
            <a:off x="749808" y="4160520"/>
            <a:ext cx="2249424" cy="1280160"/>
          </a:xfrm>
          <a:prstGeom prst="rect">
            <a:avLst/>
          </a:prstGeom>
          <a:noFill/>
          <a:ln/>
        </p:spPr>
        <p:txBody>
          <a:bodyPr wrap="square" lIns="0" tIns="0" rIns="0" bIns="0" rtlCol="0" anchor="t"/>
          <a:lstStyle/>
          <a:p>
            <a:pPr algn="l" indent="0" marL="0">
              <a:lnSpc>
                <a:spcPct val="110000"/>
              </a:lnSpc>
              <a:buNone/>
            </a:pPr>
            <a:r>
              <a:rPr lang="en-US" sz="900" dirty="0">
                <a:solidFill>
                  <a:srgbClr val="1F2A3D"/>
                </a:solidFill>
                <a:latin typeface="Calibri" pitchFamily="34" charset="0"/>
                <a:ea typeface="Calibri" pitchFamily="34" charset="-122"/>
                <a:cs typeface="Calibri" pitchFamily="34" charset="-120"/>
              </a:rPr>
              <a:t>≥200 turns sane · p50 &lt;20 ms · best-single-model baseline computed · user_id + tool-ID assumptions tested</a:t>
            </a:r>
            <a:endParaRPr lang="en-US" sz="900" dirty="0"/>
          </a:p>
        </p:txBody>
      </p:sp>
      <p:sp>
        <p:nvSpPr>
          <p:cNvPr id="15" name="Shape 12"/>
          <p:cNvSpPr/>
          <p:nvPr/>
        </p:nvSpPr>
        <p:spPr>
          <a:xfrm>
            <a:off x="3214116" y="3474720"/>
            <a:ext cx="164592" cy="0"/>
          </a:xfrm>
          <a:prstGeom prst="line">
            <a:avLst/>
          </a:prstGeom>
          <a:noFill/>
          <a:ln w="19050">
            <a:solidFill>
              <a:srgbClr val="5D6B7E"/>
            </a:solidFill>
            <a:prstDash val="solid"/>
            <a:headEnd type="none"/>
            <a:tailEnd type="triangle"/>
          </a:ln>
        </p:spPr>
      </p:sp>
      <p:sp>
        <p:nvSpPr>
          <p:cNvPr id="16" name="Shape 13"/>
          <p:cNvSpPr/>
          <p:nvPr/>
        </p:nvSpPr>
        <p:spPr>
          <a:xfrm>
            <a:off x="3392424" y="1463040"/>
            <a:ext cx="2651760" cy="4114800"/>
          </a:xfrm>
          <a:prstGeom prst="roundRect">
            <a:avLst>
              <a:gd name="adj" fmla="val 2414"/>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17" name="Shape 14"/>
          <p:cNvSpPr/>
          <p:nvPr/>
        </p:nvSpPr>
        <p:spPr>
          <a:xfrm>
            <a:off x="3392424" y="1463040"/>
            <a:ext cx="2651760" cy="868680"/>
          </a:xfrm>
          <a:prstGeom prst="roundRect">
            <a:avLst>
              <a:gd name="adj" fmla="val 7368"/>
            </a:avLst>
          </a:prstGeom>
          <a:solidFill>
            <a:srgbClr val="E3F1EA"/>
          </a:solidFill>
          <a:ln/>
        </p:spPr>
      </p:sp>
      <p:sp>
        <p:nvSpPr>
          <p:cNvPr id="18" name="Text 15"/>
          <p:cNvSpPr/>
          <p:nvPr/>
        </p:nvSpPr>
        <p:spPr>
          <a:xfrm>
            <a:off x="3593592" y="1591056"/>
            <a:ext cx="2249424" cy="256032"/>
          </a:xfrm>
          <a:prstGeom prst="rect">
            <a:avLst/>
          </a:prstGeom>
          <a:noFill/>
          <a:ln/>
        </p:spPr>
        <p:txBody>
          <a:bodyPr wrap="square" lIns="0" tIns="0" rIns="0" bIns="0" rtlCol="0" anchor="t"/>
          <a:lstStyle/>
          <a:p>
            <a:pPr algn="l" indent="0" marL="0">
              <a:buNone/>
            </a:pPr>
            <a:r>
              <a:rPr lang="en-US" sz="1000" b="1" spc="200" kern="0" dirty="0">
                <a:solidFill>
                  <a:srgbClr val="1F7A55"/>
                </a:solidFill>
                <a:latin typeface="Calibri" pitchFamily="34" charset="0"/>
                <a:ea typeface="Calibri" pitchFamily="34" charset="-122"/>
                <a:cs typeface="Calibri" pitchFamily="34" charset="-120"/>
              </a:rPr>
              <a:t>PHASE 1</a:t>
            </a:r>
            <a:endParaRPr lang="en-US" sz="1000" dirty="0"/>
          </a:p>
        </p:txBody>
      </p:sp>
      <p:sp>
        <p:nvSpPr>
          <p:cNvPr id="19" name="Text 16"/>
          <p:cNvSpPr/>
          <p:nvPr/>
        </p:nvSpPr>
        <p:spPr>
          <a:xfrm>
            <a:off x="3593592" y="1847088"/>
            <a:ext cx="2249424" cy="411480"/>
          </a:xfrm>
          <a:prstGeom prst="rect">
            <a:avLst/>
          </a:prstGeom>
          <a:noFill/>
          <a:ln/>
        </p:spPr>
        <p:txBody>
          <a:bodyPr wrap="square" lIns="0" tIns="0" rIns="0" bIns="0" rtlCol="0" anchor="t"/>
          <a:lstStyle/>
          <a:p>
            <a:pPr algn="l" indent="0" marL="0">
              <a:lnSpc>
                <a:spcPct val="95000"/>
              </a:lnSpc>
              <a:buNone/>
            </a:pPr>
            <a:r>
              <a:rPr lang="en-US" sz="1300" b="1" dirty="0">
                <a:solidFill>
                  <a:srgbClr val="1F2A3D"/>
                </a:solidFill>
                <a:latin typeface="Calibri" pitchFamily="34" charset="0"/>
                <a:ea typeface="Calibri" pitchFamily="34" charset="-122"/>
                <a:cs typeface="Calibri" pitchFamily="34" charset="-120"/>
              </a:rPr>
              <a:t>Pin utility calls</a:t>
            </a:r>
            <a:endParaRPr lang="en-US" sz="1300" dirty="0"/>
          </a:p>
        </p:txBody>
      </p:sp>
      <p:sp>
        <p:nvSpPr>
          <p:cNvPr id="20" name="Text 17"/>
          <p:cNvSpPr/>
          <p:nvPr/>
        </p:nvSpPr>
        <p:spPr>
          <a:xfrm>
            <a:off x="3593592" y="2468880"/>
            <a:ext cx="2249424" cy="256032"/>
          </a:xfrm>
          <a:prstGeom prst="rect">
            <a:avLst/>
          </a:prstGeom>
          <a:noFill/>
          <a:ln/>
        </p:spPr>
        <p:txBody>
          <a:bodyPr wrap="square" lIns="0" tIns="0" rIns="0" bIns="0" rtlCol="0" anchor="t"/>
          <a:lstStyle/>
          <a:p>
            <a:pPr algn="l" indent="0" marL="0">
              <a:buNone/>
            </a:pPr>
            <a:r>
              <a:rPr lang="en-US" sz="950" i="1" dirty="0">
                <a:solidFill>
                  <a:srgbClr val="5D6B7E"/>
                </a:solidFill>
                <a:latin typeface="Calibri" pitchFamily="34" charset="0"/>
                <a:ea typeface="Calibri" pitchFamily="34" charset="-122"/>
                <a:cs typeface="Calibri" pitchFamily="34" charset="-120"/>
              </a:rPr>
              <a:t>week 2 · risk: ~zero</a:t>
            </a:r>
            <a:endParaRPr lang="en-US" sz="950" dirty="0"/>
          </a:p>
        </p:txBody>
      </p:sp>
      <p:sp>
        <p:nvSpPr>
          <p:cNvPr id="21" name="Text 18"/>
          <p:cNvSpPr/>
          <p:nvPr/>
        </p:nvSpPr>
        <p:spPr>
          <a:xfrm>
            <a:off x="3593592" y="2788920"/>
            <a:ext cx="2249424" cy="1051560"/>
          </a:xfrm>
          <a:prstGeom prst="rect">
            <a:avLst/>
          </a:prstGeom>
          <a:noFill/>
          <a:ln/>
        </p:spPr>
        <p:txBody>
          <a:bodyPr wrap="square" lIns="0" tIns="0" rIns="0" bIns="0" rtlCol="0" anchor="t"/>
          <a:lstStyle/>
          <a:p>
            <a:pPr algn="l" indent="0" marL="0">
              <a:lnSpc>
                <a:spcPct val="110000"/>
              </a:lnSpc>
              <a:buNone/>
            </a:pPr>
            <a:r>
              <a:rPr lang="en-US" sz="1000" dirty="0">
                <a:solidFill>
                  <a:srgbClr val="5D6B7E"/>
                </a:solidFill>
                <a:latin typeface="Calibri" pitchFamily="34" charset="0"/>
                <a:ea typeface="Calibri" pitchFamily="34" charset="-122"/>
                <a:cs typeface="Calibri" pitchFamily="34" charset="-120"/>
              </a:rPr>
              <a:t>Housekeeping → local, hardcoded. Worst case: uglier session titles.</a:t>
            </a:r>
            <a:endParaRPr lang="en-US" sz="1000" dirty="0"/>
          </a:p>
        </p:txBody>
      </p:sp>
      <p:sp>
        <p:nvSpPr>
          <p:cNvPr id="22" name="Text 19"/>
          <p:cNvSpPr/>
          <p:nvPr/>
        </p:nvSpPr>
        <p:spPr>
          <a:xfrm>
            <a:off x="3593592" y="3913632"/>
            <a:ext cx="2249424" cy="219456"/>
          </a:xfrm>
          <a:prstGeom prst="rect">
            <a:avLst/>
          </a:prstGeom>
          <a:noFill/>
          <a:ln/>
        </p:spPr>
        <p:txBody>
          <a:bodyPr wrap="square" lIns="0" tIns="0" rIns="0" bIns="0" rtlCol="0" anchor="t"/>
          <a:lstStyle/>
          <a:p>
            <a:pPr algn="l" indent="0" marL="0">
              <a:buNone/>
            </a:pPr>
            <a:r>
              <a:rPr lang="en-US" sz="850" b="1" spc="200" kern="0" dirty="0">
                <a:solidFill>
                  <a:srgbClr val="1F7A55"/>
                </a:solidFill>
                <a:latin typeface="Calibri" pitchFamily="34" charset="0"/>
                <a:ea typeface="Calibri" pitchFamily="34" charset="-122"/>
                <a:cs typeface="Calibri" pitchFamily="34" charset="-120"/>
              </a:rPr>
              <a:t>EXIT GATE</a:t>
            </a:r>
            <a:endParaRPr lang="en-US" sz="850" dirty="0"/>
          </a:p>
        </p:txBody>
      </p:sp>
      <p:sp>
        <p:nvSpPr>
          <p:cNvPr id="23" name="Text 20"/>
          <p:cNvSpPr/>
          <p:nvPr/>
        </p:nvSpPr>
        <p:spPr>
          <a:xfrm>
            <a:off x="3593592" y="4160520"/>
            <a:ext cx="2249424" cy="1280160"/>
          </a:xfrm>
          <a:prstGeom prst="rect">
            <a:avLst/>
          </a:prstGeom>
          <a:noFill/>
          <a:ln/>
        </p:spPr>
        <p:txBody>
          <a:bodyPr wrap="square" lIns="0" tIns="0" rIns="0" bIns="0" rtlCol="0" anchor="t"/>
          <a:lstStyle/>
          <a:p>
            <a:pPr algn="l" indent="0" marL="0">
              <a:lnSpc>
                <a:spcPct val="110000"/>
              </a:lnSpc>
              <a:buNone/>
            </a:pPr>
            <a:r>
              <a:rPr lang="en-US" sz="900" dirty="0">
                <a:solidFill>
                  <a:srgbClr val="1F2A3D"/>
                </a:solidFill>
                <a:latin typeface="Calibri" pitchFamily="34" charset="0"/>
                <a:ea typeface="Calibri" pitchFamily="34" charset="-122"/>
                <a:cs typeface="Calibri" pitchFamily="34" charset="-120"/>
              </a:rPr>
              <a:t>no harness breakage after 1 week</a:t>
            </a:r>
            <a:endParaRPr lang="en-US" sz="900" dirty="0"/>
          </a:p>
        </p:txBody>
      </p:sp>
      <p:sp>
        <p:nvSpPr>
          <p:cNvPr id="24" name="Shape 21"/>
          <p:cNvSpPr/>
          <p:nvPr/>
        </p:nvSpPr>
        <p:spPr>
          <a:xfrm>
            <a:off x="6057900" y="3474720"/>
            <a:ext cx="164592" cy="0"/>
          </a:xfrm>
          <a:prstGeom prst="line">
            <a:avLst/>
          </a:prstGeom>
          <a:noFill/>
          <a:ln w="19050">
            <a:solidFill>
              <a:srgbClr val="5D6B7E"/>
            </a:solidFill>
            <a:prstDash val="solid"/>
            <a:headEnd type="none"/>
            <a:tailEnd type="triangle"/>
          </a:ln>
        </p:spPr>
      </p:sp>
      <p:sp>
        <p:nvSpPr>
          <p:cNvPr id="25" name="Shape 22"/>
          <p:cNvSpPr/>
          <p:nvPr/>
        </p:nvSpPr>
        <p:spPr>
          <a:xfrm>
            <a:off x="6236208" y="1463040"/>
            <a:ext cx="2651760" cy="4114800"/>
          </a:xfrm>
          <a:prstGeom prst="roundRect">
            <a:avLst>
              <a:gd name="adj" fmla="val 2414"/>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26" name="Shape 23"/>
          <p:cNvSpPr/>
          <p:nvPr/>
        </p:nvSpPr>
        <p:spPr>
          <a:xfrm>
            <a:off x="6236208" y="1463040"/>
            <a:ext cx="2651760" cy="868680"/>
          </a:xfrm>
          <a:prstGeom prst="roundRect">
            <a:avLst>
              <a:gd name="adj" fmla="val 7368"/>
            </a:avLst>
          </a:prstGeom>
          <a:solidFill>
            <a:srgbClr val="FBEFDC"/>
          </a:solidFill>
          <a:ln/>
        </p:spPr>
      </p:sp>
      <p:sp>
        <p:nvSpPr>
          <p:cNvPr id="27" name="Text 24"/>
          <p:cNvSpPr/>
          <p:nvPr/>
        </p:nvSpPr>
        <p:spPr>
          <a:xfrm>
            <a:off x="6437376" y="1591056"/>
            <a:ext cx="2249424" cy="256032"/>
          </a:xfrm>
          <a:prstGeom prst="rect">
            <a:avLst/>
          </a:prstGeom>
          <a:noFill/>
          <a:ln/>
        </p:spPr>
        <p:txBody>
          <a:bodyPr wrap="square" lIns="0" tIns="0" rIns="0" bIns="0" rtlCol="0" anchor="t"/>
          <a:lstStyle/>
          <a:p>
            <a:pPr algn="l" indent="0" marL="0">
              <a:buNone/>
            </a:pPr>
            <a:r>
              <a:rPr lang="en-US" sz="1000" b="1" spc="200" kern="0" dirty="0">
                <a:solidFill>
                  <a:srgbClr val="B45309"/>
                </a:solidFill>
                <a:latin typeface="Calibri" pitchFamily="34" charset="0"/>
                <a:ea typeface="Calibri" pitchFamily="34" charset="-122"/>
                <a:cs typeface="Calibri" pitchFamily="34" charset="-120"/>
              </a:rPr>
              <a:t>PHASE 2</a:t>
            </a:r>
            <a:endParaRPr lang="en-US" sz="1000" dirty="0"/>
          </a:p>
        </p:txBody>
      </p:sp>
      <p:sp>
        <p:nvSpPr>
          <p:cNvPr id="28" name="Text 25"/>
          <p:cNvSpPr/>
          <p:nvPr/>
        </p:nvSpPr>
        <p:spPr>
          <a:xfrm>
            <a:off x="6437376" y="1847088"/>
            <a:ext cx="2249424" cy="411480"/>
          </a:xfrm>
          <a:prstGeom prst="rect">
            <a:avLst/>
          </a:prstGeom>
          <a:noFill/>
          <a:ln/>
        </p:spPr>
        <p:txBody>
          <a:bodyPr wrap="square" lIns="0" tIns="0" rIns="0" bIns="0" rtlCol="0" anchor="t"/>
          <a:lstStyle/>
          <a:p>
            <a:pPr algn="l" indent="0" marL="0">
              <a:lnSpc>
                <a:spcPct val="95000"/>
              </a:lnSpc>
              <a:buNone/>
            </a:pPr>
            <a:r>
              <a:rPr lang="en-US" sz="1300" b="1" dirty="0">
                <a:solidFill>
                  <a:srgbClr val="1F2A3D"/>
                </a:solidFill>
                <a:latin typeface="Calibri" pitchFamily="34" charset="0"/>
                <a:ea typeface="Calibri" pitchFamily="34" charset="-122"/>
                <a:cs typeface="Calibri" pitchFamily="34" charset="-120"/>
              </a:rPr>
              <a:t>Gates + heuristics live</a:t>
            </a:r>
            <a:endParaRPr lang="en-US" sz="1300" dirty="0"/>
          </a:p>
        </p:txBody>
      </p:sp>
      <p:sp>
        <p:nvSpPr>
          <p:cNvPr id="29" name="Text 26"/>
          <p:cNvSpPr/>
          <p:nvPr/>
        </p:nvSpPr>
        <p:spPr>
          <a:xfrm>
            <a:off x="6437376" y="2468880"/>
            <a:ext cx="2249424" cy="256032"/>
          </a:xfrm>
          <a:prstGeom prst="rect">
            <a:avLst/>
          </a:prstGeom>
          <a:noFill/>
          <a:ln/>
        </p:spPr>
        <p:txBody>
          <a:bodyPr wrap="square" lIns="0" tIns="0" rIns="0" bIns="0" rtlCol="0" anchor="t"/>
          <a:lstStyle/>
          <a:p>
            <a:pPr algn="l" indent="0" marL="0">
              <a:buNone/>
            </a:pPr>
            <a:r>
              <a:rPr lang="en-US" sz="950" i="1" dirty="0">
                <a:solidFill>
                  <a:srgbClr val="5D6B7E"/>
                </a:solidFill>
                <a:latin typeface="Calibri" pitchFamily="34" charset="0"/>
                <a:ea typeface="Calibri" pitchFamily="34" charset="-122"/>
                <a:cs typeface="Calibri" pitchFamily="34" charset="-120"/>
              </a:rPr>
              <a:t>weeks 3+ · risk: moderate</a:t>
            </a:r>
            <a:endParaRPr lang="en-US" sz="950" dirty="0"/>
          </a:p>
        </p:txBody>
      </p:sp>
      <p:sp>
        <p:nvSpPr>
          <p:cNvPr id="30" name="Text 27"/>
          <p:cNvSpPr/>
          <p:nvPr/>
        </p:nvSpPr>
        <p:spPr>
          <a:xfrm>
            <a:off x="6437376" y="2788920"/>
            <a:ext cx="2249424" cy="1051560"/>
          </a:xfrm>
          <a:prstGeom prst="rect">
            <a:avLst/>
          </a:prstGeom>
          <a:noFill/>
          <a:ln/>
        </p:spPr>
        <p:txBody>
          <a:bodyPr wrap="square" lIns="0" tIns="0" rIns="0" bIns="0" rtlCol="0" anchor="t"/>
          <a:lstStyle/>
          <a:p>
            <a:pPr algn="l" indent="0" marL="0">
              <a:lnSpc>
                <a:spcPct val="110000"/>
              </a:lnSpc>
              <a:buNone/>
            </a:pPr>
            <a:r>
              <a:rPr lang="en-US" sz="1000" dirty="0">
                <a:solidFill>
                  <a:srgbClr val="5D6B7E"/>
                </a:solidFill>
                <a:latin typeface="Calibri" pitchFamily="34" charset="0"/>
                <a:ea typeface="Calibri" pitchFamily="34" charset="-122"/>
                <a:cs typeface="Calibri" pitchFamily="34" charset="-120"/>
              </a:rPr>
              <a:t>User turns routed; trip-wires armed; kill switch to static config.</a:t>
            </a:r>
            <a:endParaRPr lang="en-US" sz="1000" dirty="0"/>
          </a:p>
        </p:txBody>
      </p:sp>
      <p:sp>
        <p:nvSpPr>
          <p:cNvPr id="31" name="Text 28"/>
          <p:cNvSpPr/>
          <p:nvPr/>
        </p:nvSpPr>
        <p:spPr>
          <a:xfrm>
            <a:off x="6437376" y="3913632"/>
            <a:ext cx="2249424" cy="219456"/>
          </a:xfrm>
          <a:prstGeom prst="rect">
            <a:avLst/>
          </a:prstGeom>
          <a:noFill/>
          <a:ln/>
        </p:spPr>
        <p:txBody>
          <a:bodyPr wrap="square" lIns="0" tIns="0" rIns="0" bIns="0" rtlCol="0" anchor="t"/>
          <a:lstStyle/>
          <a:p>
            <a:pPr algn="l" indent="0" marL="0">
              <a:buNone/>
            </a:pPr>
            <a:r>
              <a:rPr lang="en-US" sz="850" b="1" spc="200" kern="0" dirty="0">
                <a:solidFill>
                  <a:srgbClr val="B45309"/>
                </a:solidFill>
                <a:latin typeface="Calibri" pitchFamily="34" charset="0"/>
                <a:ea typeface="Calibri" pitchFamily="34" charset="-122"/>
                <a:cs typeface="Calibri" pitchFamily="34" charset="-120"/>
              </a:rPr>
              <a:t>EXIT GATE</a:t>
            </a:r>
            <a:endParaRPr lang="en-US" sz="850" dirty="0"/>
          </a:p>
        </p:txBody>
      </p:sp>
      <p:sp>
        <p:nvSpPr>
          <p:cNvPr id="32" name="Text 29"/>
          <p:cNvSpPr/>
          <p:nvPr/>
        </p:nvSpPr>
        <p:spPr>
          <a:xfrm>
            <a:off x="6437376" y="4160520"/>
            <a:ext cx="2249424" cy="1280160"/>
          </a:xfrm>
          <a:prstGeom prst="rect">
            <a:avLst/>
          </a:prstGeom>
          <a:noFill/>
          <a:ln/>
        </p:spPr>
        <p:txBody>
          <a:bodyPr wrap="square" lIns="0" tIns="0" rIns="0" bIns="0" rtlCol="0" anchor="t"/>
          <a:lstStyle/>
          <a:p>
            <a:pPr algn="l" indent="0" marL="0">
              <a:lnSpc>
                <a:spcPct val="110000"/>
              </a:lnSpc>
              <a:buNone/>
            </a:pPr>
            <a:r>
              <a:rPr lang="en-US" sz="900" dirty="0">
                <a:solidFill>
                  <a:srgbClr val="1F2A3D"/>
                </a:solidFill>
                <a:latin typeface="Calibri" pitchFamily="34" charset="0"/>
                <a:ea typeface="Calibri" pitchFamily="34" charset="-122"/>
                <a:cs typeface="Calibri" pitchFamily="34" charset="-120"/>
              </a:rPr>
              <a:t>escalation &lt;30% · local retry ≤ frontier baseline · ZERO pin violations</a:t>
            </a:r>
            <a:endParaRPr lang="en-US" sz="900" dirty="0"/>
          </a:p>
        </p:txBody>
      </p:sp>
      <p:sp>
        <p:nvSpPr>
          <p:cNvPr id="33" name="Shape 30"/>
          <p:cNvSpPr/>
          <p:nvPr/>
        </p:nvSpPr>
        <p:spPr>
          <a:xfrm>
            <a:off x="8901684" y="3474720"/>
            <a:ext cx="164592" cy="0"/>
          </a:xfrm>
          <a:prstGeom prst="line">
            <a:avLst/>
          </a:prstGeom>
          <a:noFill/>
          <a:ln w="19050">
            <a:solidFill>
              <a:srgbClr val="5D6B7E"/>
            </a:solidFill>
            <a:prstDash val="solid"/>
            <a:headEnd type="none"/>
            <a:tailEnd type="triangle"/>
          </a:ln>
        </p:spPr>
      </p:sp>
      <p:sp>
        <p:nvSpPr>
          <p:cNvPr id="34" name="Shape 31"/>
          <p:cNvSpPr/>
          <p:nvPr/>
        </p:nvSpPr>
        <p:spPr>
          <a:xfrm>
            <a:off x="9079992" y="1463040"/>
            <a:ext cx="2651760" cy="4114800"/>
          </a:xfrm>
          <a:prstGeom prst="roundRect">
            <a:avLst>
              <a:gd name="adj" fmla="val 2414"/>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35" name="Shape 32"/>
          <p:cNvSpPr/>
          <p:nvPr/>
        </p:nvSpPr>
        <p:spPr>
          <a:xfrm>
            <a:off x="9079992" y="1463040"/>
            <a:ext cx="2651760" cy="868680"/>
          </a:xfrm>
          <a:prstGeom prst="roundRect">
            <a:avLst>
              <a:gd name="adj" fmla="val 7368"/>
            </a:avLst>
          </a:prstGeom>
          <a:solidFill>
            <a:srgbClr val="ECE5F8"/>
          </a:solidFill>
          <a:ln/>
        </p:spPr>
      </p:sp>
      <p:sp>
        <p:nvSpPr>
          <p:cNvPr id="36" name="Text 33"/>
          <p:cNvSpPr/>
          <p:nvPr/>
        </p:nvSpPr>
        <p:spPr>
          <a:xfrm>
            <a:off x="9281160" y="1591056"/>
            <a:ext cx="2249424" cy="256032"/>
          </a:xfrm>
          <a:prstGeom prst="rect">
            <a:avLst/>
          </a:prstGeom>
          <a:noFill/>
          <a:ln/>
        </p:spPr>
        <p:txBody>
          <a:bodyPr wrap="square" lIns="0" tIns="0" rIns="0" bIns="0" rtlCol="0" anchor="t"/>
          <a:lstStyle/>
          <a:p>
            <a:pPr algn="l" indent="0" marL="0">
              <a:buNone/>
            </a:pPr>
            <a:r>
              <a:rPr lang="en-US" sz="1000" b="1" spc="200" kern="0" dirty="0">
                <a:solidFill>
                  <a:srgbClr val="5B21B6"/>
                </a:solidFill>
                <a:latin typeface="Calibri" pitchFamily="34" charset="0"/>
                <a:ea typeface="Calibri" pitchFamily="34" charset="-122"/>
                <a:cs typeface="Calibri" pitchFamily="34" charset="-120"/>
              </a:rPr>
              <a:t>PHASE 3</a:t>
            </a:r>
            <a:endParaRPr lang="en-US" sz="1000" dirty="0"/>
          </a:p>
        </p:txBody>
      </p:sp>
      <p:sp>
        <p:nvSpPr>
          <p:cNvPr id="37" name="Text 34"/>
          <p:cNvSpPr/>
          <p:nvPr/>
        </p:nvSpPr>
        <p:spPr>
          <a:xfrm>
            <a:off x="9281160" y="1847088"/>
            <a:ext cx="2249424" cy="411480"/>
          </a:xfrm>
          <a:prstGeom prst="rect">
            <a:avLst/>
          </a:prstGeom>
          <a:noFill/>
          <a:ln/>
        </p:spPr>
        <p:txBody>
          <a:bodyPr wrap="square" lIns="0" tIns="0" rIns="0" bIns="0" rtlCol="0" anchor="t"/>
          <a:lstStyle/>
          <a:p>
            <a:pPr algn="l" indent="0" marL="0">
              <a:lnSpc>
                <a:spcPct val="95000"/>
              </a:lnSpc>
              <a:buNone/>
            </a:pPr>
            <a:r>
              <a:rPr lang="en-US" sz="1300" b="1" dirty="0">
                <a:solidFill>
                  <a:srgbClr val="1F2A3D"/>
                </a:solidFill>
                <a:latin typeface="Calibri" pitchFamily="34" charset="0"/>
                <a:ea typeface="Calibri" pitchFamily="34" charset="-122"/>
                <a:cs typeface="Calibri" pitchFamily="34" charset="-120"/>
              </a:rPr>
              <a:t>Learned router</a:t>
            </a:r>
            <a:endParaRPr lang="en-US" sz="1300" dirty="0"/>
          </a:p>
        </p:txBody>
      </p:sp>
      <p:sp>
        <p:nvSpPr>
          <p:cNvPr id="38" name="Text 35"/>
          <p:cNvSpPr/>
          <p:nvPr/>
        </p:nvSpPr>
        <p:spPr>
          <a:xfrm>
            <a:off x="9281160" y="2468880"/>
            <a:ext cx="2249424" cy="256032"/>
          </a:xfrm>
          <a:prstGeom prst="rect">
            <a:avLst/>
          </a:prstGeom>
          <a:noFill/>
          <a:ln/>
        </p:spPr>
        <p:txBody>
          <a:bodyPr wrap="square" lIns="0" tIns="0" rIns="0" bIns="0" rtlCol="0" anchor="t"/>
          <a:lstStyle/>
          <a:p>
            <a:pPr algn="l" indent="0" marL="0">
              <a:buNone/>
            </a:pPr>
            <a:r>
              <a:rPr lang="en-US" sz="950" i="1" dirty="0">
                <a:solidFill>
                  <a:srgbClr val="5D6B7E"/>
                </a:solidFill>
                <a:latin typeface="Calibri" pitchFamily="34" charset="0"/>
                <a:ea typeface="Calibri" pitchFamily="34" charset="-122"/>
                <a:cs typeface="Calibri" pitchFamily="34" charset="-120"/>
              </a:rPr>
              <a:t>later · risk: contained</a:t>
            </a:r>
            <a:endParaRPr lang="en-US" sz="950" dirty="0"/>
          </a:p>
        </p:txBody>
      </p:sp>
      <p:sp>
        <p:nvSpPr>
          <p:cNvPr id="39" name="Text 36"/>
          <p:cNvSpPr/>
          <p:nvPr/>
        </p:nvSpPr>
        <p:spPr>
          <a:xfrm>
            <a:off x="9281160" y="2788920"/>
            <a:ext cx="2249424" cy="1051560"/>
          </a:xfrm>
          <a:prstGeom prst="rect">
            <a:avLst/>
          </a:prstGeom>
          <a:noFill/>
          <a:ln/>
        </p:spPr>
        <p:txBody>
          <a:bodyPr wrap="square" lIns="0" tIns="0" rIns="0" bIns="0" rtlCol="0" anchor="t"/>
          <a:lstStyle/>
          <a:p>
            <a:pPr algn="l" indent="0" marL="0">
              <a:lnSpc>
                <a:spcPct val="110000"/>
              </a:lnSpc>
              <a:buNone/>
            </a:pPr>
            <a:r>
              <a:rPr lang="en-US" sz="1000" dirty="0">
                <a:solidFill>
                  <a:srgbClr val="5D6B7E"/>
                </a:solidFill>
                <a:latin typeface="Calibri" pitchFamily="34" charset="0"/>
                <a:ea typeface="Calibri" pitchFamily="34" charset="-122"/>
                <a:cs typeface="Calibri" pitchFamily="34" charset="-120"/>
              </a:rPr>
              <a:t>Layer 2 takes the ambiguous middle, trained on Phase 0–2 outcomes.</a:t>
            </a:r>
            <a:endParaRPr lang="en-US" sz="1000" dirty="0"/>
          </a:p>
        </p:txBody>
      </p:sp>
      <p:sp>
        <p:nvSpPr>
          <p:cNvPr id="40" name="Text 37"/>
          <p:cNvSpPr/>
          <p:nvPr/>
        </p:nvSpPr>
        <p:spPr>
          <a:xfrm>
            <a:off x="9281160" y="3913632"/>
            <a:ext cx="2249424" cy="219456"/>
          </a:xfrm>
          <a:prstGeom prst="rect">
            <a:avLst/>
          </a:prstGeom>
          <a:noFill/>
          <a:ln/>
        </p:spPr>
        <p:txBody>
          <a:bodyPr wrap="square" lIns="0" tIns="0" rIns="0" bIns="0" rtlCol="0" anchor="t"/>
          <a:lstStyle/>
          <a:p>
            <a:pPr algn="l" indent="0" marL="0">
              <a:buNone/>
            </a:pPr>
            <a:r>
              <a:rPr lang="en-US" sz="850" b="1" spc="200" kern="0" dirty="0">
                <a:solidFill>
                  <a:srgbClr val="5B21B6"/>
                </a:solidFill>
                <a:latin typeface="Calibri" pitchFamily="34" charset="0"/>
                <a:ea typeface="Calibri" pitchFamily="34" charset="-122"/>
                <a:cs typeface="Calibri" pitchFamily="34" charset="-120"/>
              </a:rPr>
              <a:t>EXIT GATE</a:t>
            </a:r>
            <a:endParaRPr lang="en-US" sz="850" dirty="0"/>
          </a:p>
        </p:txBody>
      </p:sp>
      <p:sp>
        <p:nvSpPr>
          <p:cNvPr id="41" name="Text 38"/>
          <p:cNvSpPr/>
          <p:nvPr/>
        </p:nvSpPr>
        <p:spPr>
          <a:xfrm>
            <a:off x="9281160" y="4160520"/>
            <a:ext cx="2249424" cy="1280160"/>
          </a:xfrm>
          <a:prstGeom prst="rect">
            <a:avLst/>
          </a:prstGeom>
          <a:noFill/>
          <a:ln/>
        </p:spPr>
        <p:txBody>
          <a:bodyPr wrap="square" lIns="0" tIns="0" rIns="0" bIns="0" rtlCol="0" anchor="t"/>
          <a:lstStyle/>
          <a:p>
            <a:pPr algn="l" indent="0" marL="0">
              <a:lnSpc>
                <a:spcPct val="110000"/>
              </a:lnSpc>
              <a:buNone/>
            </a:pPr>
            <a:r>
              <a:rPr lang="en-US" sz="900" dirty="0">
                <a:solidFill>
                  <a:srgbClr val="1F2A3D"/>
                </a:solidFill>
                <a:latin typeface="Calibri" pitchFamily="34" charset="0"/>
                <a:ea typeface="Calibri" pitchFamily="34" charset="-122"/>
                <a:cs typeface="Calibri" pitchFamily="34" charset="-120"/>
              </a:rPr>
              <a:t>beats heuristics AND best-single on replay → live A/B $/turn at equal retry</a:t>
            </a:r>
            <a:endParaRPr lang="en-US" sz="900" dirty="0"/>
          </a:p>
        </p:txBody>
      </p:sp>
      <p:sp>
        <p:nvSpPr>
          <p:cNvPr id="42" name="Shape 39"/>
          <p:cNvSpPr/>
          <p:nvPr/>
        </p:nvSpPr>
        <p:spPr>
          <a:xfrm>
            <a:off x="548640" y="5806440"/>
            <a:ext cx="11091672" cy="566928"/>
          </a:xfrm>
          <a:prstGeom prst="roundRect">
            <a:avLst>
              <a:gd name="adj" fmla="val 11290"/>
            </a:avLst>
          </a:prstGeom>
          <a:solidFill>
            <a:srgbClr val="F3F6F9"/>
          </a:solidFill>
          <a:ln/>
        </p:spPr>
      </p:sp>
      <p:sp>
        <p:nvSpPr>
          <p:cNvPr id="43" name="Text 40"/>
          <p:cNvSpPr/>
          <p:nvPr/>
        </p:nvSpPr>
        <p:spPr>
          <a:xfrm>
            <a:off x="822960" y="5916168"/>
            <a:ext cx="10515600" cy="365760"/>
          </a:xfrm>
          <a:prstGeom prst="rect">
            <a:avLst/>
          </a:prstGeom>
          <a:noFill/>
          <a:ln/>
        </p:spPr>
        <p:txBody>
          <a:bodyPr wrap="square" lIns="0" tIns="0" rIns="0" bIns="0" rtlCol="0" anchor="t"/>
          <a:lstStyle/>
          <a:p>
            <a:pPr algn="l" indent="0" marL="0">
              <a:buNone/>
            </a:pPr>
            <a:r>
              <a:rPr lang="en-US" sz="1150" b="1" dirty="0">
                <a:solidFill>
                  <a:srgbClr val="1F2A3D"/>
                </a:solidFill>
                <a:latin typeface="Calibri" pitchFamily="34" charset="0"/>
                <a:ea typeface="Calibri" pitchFamily="34" charset="-122"/>
                <a:cs typeface="Calibri" pitchFamily="34" charset="-120"/>
              </a:rPr>
              <a:t>Phases 0–2 are ML-free by design. Two weeks of Phase 0/1 answers “is this worth it?” with our own numbers — before any user-visible risk.</a:t>
            </a:r>
            <a:endParaRPr lang="en-US" sz="11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PART 7 · MAKING IT REAL</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Metrics that decide success — and the risks they watch</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design doc §11, §12</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45</a:t>
            </a:r>
            <a:endParaRPr lang="en-US" sz="9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5852160" cy="914400"/>
        </p:xfrm>
        <a:graphic>
          <a:graphicData uri="http://schemas.openxmlformats.org/drawingml/2006/table">
            <a:tbl>
              <a:tblPr/>
              <a:tblGrid>
                <a:gridCol w="2834640"/>
                <a:gridCol w="3017520"/>
              </a:tblGrid>
              <a:tr h="47548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Metric</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20334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Target / alarm</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20334F"/>
                    </a:solidFill>
                  </a:tcPr>
                </a:tc>
              </a:tr>
              <a:tr h="475488">
                <a:tc>
                  <a:txBody>
                    <a:bodyPr/>
                    <a:lstStyle/>
                    <a:p>
                      <a:pPr indent="0" marL="0">
                        <a:buNone/>
                      </a:pPr>
                      <a:r>
                        <a:rPr lang="en-US" sz="950" dirty="0">
                          <a:solidFill>
                            <a:srgbClr val="1F2A3D"/>
                          </a:solidFill>
                          <a:latin typeface="Calibri" pitchFamily="34" charset="0"/>
                          <a:ea typeface="Calibri" pitchFamily="34" charset="-122"/>
                          <a:cs typeface="Calibri" pitchFamily="34" charset="-120"/>
                        </a:rPr>
                        <a:t>Router overhead (p50/p99 per request)</a:t>
                      </a:r>
                      <a:endParaRPr lang="en-US" sz="9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950" b="1" dirty="0">
                          <a:solidFill>
                            <a:srgbClr val="1F2A3D"/>
                          </a:solidFill>
                          <a:latin typeface="Calibri" pitchFamily="34" charset="0"/>
                          <a:ea typeface="Calibri" pitchFamily="34" charset="-122"/>
                          <a:cs typeface="Calibri" pitchFamily="34" charset="-120"/>
                        </a:rPr>
                        <a:t>&lt;5 ms sticky · &lt;30 ms decision</a:t>
                      </a:r>
                      <a:endParaRPr lang="en-US" sz="9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r h="475488">
                <a:tc>
                  <a:txBody>
                    <a:bodyPr/>
                    <a:lstStyle/>
                    <a:p>
                      <a:pPr indent="0" marL="0">
                        <a:buNone/>
                      </a:pPr>
                      <a:r>
                        <a:rPr lang="en-US" sz="950" dirty="0">
                          <a:solidFill>
                            <a:srgbClr val="1F2A3D"/>
                          </a:solidFill>
                          <a:latin typeface="Calibri" pitchFamily="34" charset="0"/>
                          <a:ea typeface="Calibri" pitchFamily="34" charset="-122"/>
                          <a:cs typeface="Calibri" pitchFamily="34" charset="-120"/>
                        </a:rPr>
                        <a:t>% turns fully handled locally</a:t>
                      </a:r>
                      <a:endParaRPr lang="en-US" sz="9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950" b="1" dirty="0">
                          <a:solidFill>
                            <a:srgbClr val="1F7A55"/>
                          </a:solidFill>
                          <a:latin typeface="Calibri" pitchFamily="34" charset="0"/>
                          <a:ea typeface="Calibri" pitchFamily="34" charset="-122"/>
                          <a:cs typeface="Calibri" pitchFamily="34" charset="-120"/>
                        </a:rPr>
                        <a:t>the headline savings number — weekly</a:t>
                      </a:r>
                      <a:endParaRPr lang="en-US" sz="9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r h="475488">
                <a:tc>
                  <a:txBody>
                    <a:bodyPr/>
                    <a:lstStyle/>
                    <a:p>
                      <a:pPr indent="0" marL="0">
                        <a:buNone/>
                      </a:pPr>
                      <a:r>
                        <a:rPr lang="en-US" sz="950" dirty="0">
                          <a:solidFill>
                            <a:srgbClr val="1F2A3D"/>
                          </a:solidFill>
                          <a:latin typeface="Calibri" pitchFamily="34" charset="0"/>
                          <a:ea typeface="Calibri" pitchFamily="34" charset="-122"/>
                          <a:cs typeface="Calibri" pitchFamily="34" charset="-120"/>
                        </a:rPr>
                        <a:t>Escalation rate (of cascaded turns)</a:t>
                      </a:r>
                      <a:endParaRPr lang="en-US" sz="9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950" dirty="0">
                          <a:solidFill>
                            <a:srgbClr val="1F2A3D"/>
                          </a:solidFill>
                          <a:latin typeface="Calibri" pitchFamily="34" charset="0"/>
                          <a:ea typeface="Calibri" pitchFamily="34" charset="-122"/>
                          <a:cs typeface="Calibri" pitchFamily="34" charset="-120"/>
                        </a:rPr>
                        <a:t>&lt;30% · above ~50% cascading loses money → tighten T_HARD</a:t>
                      </a:r>
                      <a:endParaRPr lang="en-US" sz="9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r h="475488">
                <a:tc>
                  <a:txBody>
                    <a:bodyPr/>
                    <a:lstStyle/>
                    <a:p>
                      <a:pPr indent="0" marL="0">
                        <a:buNone/>
                      </a:pPr>
                      <a:r>
                        <a:rPr lang="en-US" sz="950" dirty="0">
                          <a:solidFill>
                            <a:srgbClr val="1F2A3D"/>
                          </a:solidFill>
                          <a:latin typeface="Calibri" pitchFamily="34" charset="0"/>
                          <a:ea typeface="Calibri" pitchFamily="34" charset="-122"/>
                          <a:cs typeface="Calibri" pitchFamily="34" charset="-120"/>
                        </a:rPr>
                        <a:t>Regret (should've gone direct)</a:t>
                      </a:r>
                      <a:endParaRPr lang="en-US" sz="9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950" dirty="0">
                          <a:solidFill>
                            <a:srgbClr val="1F2A3D"/>
                          </a:solidFill>
                          <a:latin typeface="Calibri" pitchFamily="34" charset="0"/>
                          <a:ea typeface="Calibri" pitchFamily="34" charset="-122"/>
                          <a:cs typeface="Calibri" pitchFamily="34" charset="-120"/>
                        </a:rPr>
                        <a:t>wall-clock wasted; drives threshold tuning</a:t>
                      </a:r>
                      <a:endParaRPr lang="en-US" sz="9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r h="475488">
                <a:tc>
                  <a:txBody>
                    <a:bodyPr/>
                    <a:lstStyle/>
                    <a:p>
                      <a:pPr indent="0" marL="0">
                        <a:buNone/>
                      </a:pPr>
                      <a:r>
                        <a:rPr lang="en-US" sz="950" dirty="0">
                          <a:solidFill>
                            <a:srgbClr val="1F2A3D"/>
                          </a:solidFill>
                          <a:latin typeface="Calibri" pitchFamily="34" charset="0"/>
                          <a:ea typeface="Calibri" pitchFamily="34" charset="-122"/>
                          <a:cs typeface="Calibri" pitchFamily="34" charset="-120"/>
                        </a:rPr>
                        <a:t>User-retry rate, by rung</a:t>
                      </a:r>
                      <a:endParaRPr lang="en-US" sz="9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950" b="1" dirty="0">
                          <a:solidFill>
                            <a:srgbClr val="B45309"/>
                          </a:solidFill>
                          <a:latin typeface="Calibri" pitchFamily="34" charset="0"/>
                          <a:ea typeface="Calibri" pitchFamily="34" charset="-122"/>
                          <a:cs typeface="Calibri" pitchFamily="34" charset="-120"/>
                        </a:rPr>
                        <a:t>local ≤ frontier baseline — the quality tripcord</a:t>
                      </a:r>
                      <a:endParaRPr lang="en-US" sz="9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r h="475488">
                <a:tc>
                  <a:txBody>
                    <a:bodyPr/>
                    <a:lstStyle/>
                    <a:p>
                      <a:pPr indent="0" marL="0">
                        <a:buNone/>
                      </a:pPr>
                      <a:r>
                        <a:rPr lang="en-US" sz="950" dirty="0">
                          <a:solidFill>
                            <a:srgbClr val="1F2A3D"/>
                          </a:solidFill>
                          <a:latin typeface="Calibri" pitchFamily="34" charset="0"/>
                          <a:ea typeface="Calibri" pitchFamily="34" charset="-122"/>
                          <a:cs typeface="Calibri" pitchFamily="34" charset="-120"/>
                        </a:rPr>
                        <a:t>$ / session · tokens / turn · cache hits</a:t>
                      </a:r>
                      <a:endParaRPr lang="en-US" sz="9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950" dirty="0">
                          <a:solidFill>
                            <a:srgbClr val="1F2A3D"/>
                          </a:solidFill>
                          <a:latin typeface="Calibri" pitchFamily="34" charset="0"/>
                          <a:ea typeface="Calibri" pitchFamily="34" charset="-122"/>
                          <a:cs typeface="Calibri" pitchFamily="34" charset="-120"/>
                        </a:rPr>
                        <a:t>before vs after, from capture logs</a:t>
                      </a:r>
                      <a:endParaRPr lang="en-US" sz="9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r h="475488">
                <a:tc>
                  <a:txBody>
                    <a:bodyPr/>
                    <a:lstStyle/>
                    <a:p>
                      <a:pPr indent="0" marL="0">
                        <a:buNone/>
                      </a:pPr>
                      <a:r>
                        <a:rPr lang="en-US" sz="950" b="1" dirty="0">
                          <a:solidFill>
                            <a:srgbClr val="B3261E"/>
                          </a:solidFill>
                          <a:latin typeface="Calibri" pitchFamily="34" charset="0"/>
                          <a:ea typeface="Calibri" pitchFamily="34" charset="-122"/>
                          <a:cs typeface="Calibri" pitchFamily="34" charset="-120"/>
                        </a:rPr>
                        <a:t>Privacy-pin violations</a:t>
                      </a:r>
                      <a:endParaRPr lang="en-US" sz="9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950" b="1" dirty="0">
                          <a:solidFill>
                            <a:srgbClr val="B3261E"/>
                          </a:solidFill>
                          <a:latin typeface="Calibri" pitchFamily="34" charset="0"/>
                          <a:ea typeface="Calibri" pitchFamily="34" charset="-122"/>
                          <a:cs typeface="Calibri" pitchFamily="34" charset="-120"/>
                        </a:rPr>
                        <a:t>ZERO. An alarm, not a metric.</a:t>
                      </a:r>
                      <a:endParaRPr lang="en-US" sz="9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9E7E4"/>
                    </a:solidFill>
                  </a:tcPr>
                </a:tc>
              </a:tr>
            </a:tbl>
          </a:graphicData>
        </a:graphic>
      </p:graphicFrame>
      <p:graphicFrame>
        <p:nvGraphicFramePr>
          <p:cNvPr id="91" name="Table 1"/>
          <p:cNvGraphicFramePr>
            <a:graphicFrameLocks noGrp="1"/>
          </p:cNvGraphicFramePr>
          <p:nvPr>
            <p:extLst>
              <p:ext uri="{D42A27DB-BD31-4B8C-83A1-F6EECF244321}">
                <p14:modId xmlns:p14="http://schemas.microsoft.com/office/powerpoint/2010/main" val="1579011935"/>
              </p:ext>
            </p:extLst>
          </p:nvPr>
        </p:nvGraphicFramePr>
        <p:xfrm>
          <a:off x="6720840" y="1463040"/>
          <a:ext cx="4937760" cy="914400"/>
        </p:xfrm>
        <a:graphic>
          <a:graphicData uri="http://schemas.openxmlformats.org/drawingml/2006/table">
            <a:tbl>
              <a:tblPr/>
              <a:tblGrid>
                <a:gridCol w="2468880"/>
                <a:gridCol w="2468880"/>
              </a:tblGrid>
              <a:tr h="56692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Risk</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20334F"/>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Mitigation</a:t>
                      </a:r>
                      <a:endParaRPr lang="en-US" sz="105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20334F"/>
                    </a:solidFill>
                  </a:tcPr>
                </a:tc>
              </a:tr>
              <a:tr h="566928">
                <a:tc>
                  <a:txBody>
                    <a:bodyPr/>
                    <a:lstStyle/>
                    <a:p>
                      <a:pPr indent="0" marL="0">
                        <a:buNone/>
                      </a:pPr>
                      <a:r>
                        <a:rPr lang="en-US" sz="900" dirty="0">
                          <a:solidFill>
                            <a:srgbClr val="1F2A3D"/>
                          </a:solidFill>
                          <a:latin typeface="Calibri" pitchFamily="34" charset="0"/>
                          <a:ea typeface="Calibri" pitchFamily="34" charset="-122"/>
                          <a:cs typeface="Calibri" pitchFamily="34" charset="-120"/>
                        </a:rPr>
                        <a:t>Silent quality degradation (local “succeeds” with worse code)</a:t>
                      </a:r>
                      <a:endParaRPr lang="en-US" sz="9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900" dirty="0">
                          <a:solidFill>
                            <a:srgbClr val="1F2A3D"/>
                          </a:solidFill>
                          <a:latin typeface="Calibri" pitchFamily="34" charset="0"/>
                          <a:ea typeface="Calibri" pitchFamily="34" charset="-122"/>
                          <a:cs typeface="Calibri" pitchFamily="34" charset="-120"/>
                        </a:rPr>
                        <a:t>retry tripcord · sampled offline judging · diff-survival tracking</a:t>
                      </a:r>
                      <a:endParaRPr lang="en-US" sz="9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r h="566928">
                <a:tc>
                  <a:txBody>
                    <a:bodyPr/>
                    <a:lstStyle/>
                    <a:p>
                      <a:pPr indent="0" marL="0">
                        <a:buNone/>
                      </a:pPr>
                      <a:r>
                        <a:rPr lang="en-US" sz="900" dirty="0">
                          <a:solidFill>
                            <a:srgbClr val="1F2A3D"/>
                          </a:solidFill>
                          <a:latin typeface="Calibri" pitchFamily="34" charset="0"/>
                          <a:ea typeface="Calibri" pitchFamily="34" charset="-122"/>
                          <a:cs typeface="Calibri" pitchFamily="34" charset="-120"/>
                        </a:rPr>
                        <a:t>Flywheel learns from mislabeled failures (dialect ≠ difficulty)</a:t>
                      </a:r>
                      <a:endParaRPr lang="en-US" sz="9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900" dirty="0">
                          <a:solidFill>
                            <a:srgbClr val="1F2A3D"/>
                          </a:solidFill>
                          <a:latin typeface="Calibri" pitchFamily="34" charset="0"/>
                          <a:ea typeface="Calibri" pitchFamily="34" charset="-122"/>
                          <a:cs typeface="Calibri" pitchFamily="34" charset="-120"/>
                        </a:rPr>
                        <a:t>trip-wire TYPE stored with every outcome (S5)</a:t>
                      </a:r>
                      <a:endParaRPr lang="en-US" sz="9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r h="566928">
                <a:tc>
                  <a:txBody>
                    <a:bodyPr/>
                    <a:lstStyle/>
                    <a:p>
                      <a:pPr indent="0" marL="0">
                        <a:buNone/>
                      </a:pPr>
                      <a:r>
                        <a:rPr lang="en-US" sz="900" dirty="0">
                          <a:solidFill>
                            <a:srgbClr val="1F2A3D"/>
                          </a:solidFill>
                          <a:latin typeface="Calibri" pitchFamily="34" charset="0"/>
                          <a:ea typeface="Calibri" pitchFamily="34" charset="-122"/>
                          <a:cs typeface="Calibri" pitchFamily="34" charset="-120"/>
                        </a:rPr>
                        <a:t>Prefill latency makes local feel slow on big contexts</a:t>
                      </a:r>
                      <a:endParaRPr lang="en-US" sz="9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900" dirty="0">
                          <a:solidFill>
                            <a:srgbClr val="1F2A3D"/>
                          </a:solidFill>
                          <a:latin typeface="Calibri" pitchFamily="34" charset="0"/>
                          <a:ea typeface="Calibri" pitchFamily="34" charset="-122"/>
                          <a:cs typeface="Calibri" pitchFamily="34" charset="-120"/>
                        </a:rPr>
                        <a:t>registry has prefill_tok_s — gate on predicted wall-clock, not tokens</a:t>
                      </a:r>
                      <a:endParaRPr lang="en-US" sz="9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r h="566928">
                <a:tc>
                  <a:txBody>
                    <a:bodyPr/>
                    <a:lstStyle/>
                    <a:p>
                      <a:pPr indent="0" marL="0">
                        <a:buNone/>
                      </a:pPr>
                      <a:r>
                        <a:rPr lang="en-US" sz="900" dirty="0">
                          <a:solidFill>
                            <a:srgbClr val="1F2A3D"/>
                          </a:solidFill>
                          <a:latin typeface="Calibri" pitchFamily="34" charset="0"/>
                          <a:ea typeface="Calibri" pitchFamily="34" charset="-122"/>
                          <a:cs typeface="Calibri" pitchFamily="34" charset="-120"/>
                        </a:rPr>
                        <a:t>Learned router underperforms trivial baseline (common!)</a:t>
                      </a:r>
                      <a:endParaRPr lang="en-US" sz="9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900" dirty="0">
                          <a:solidFill>
                            <a:srgbClr val="1F2A3D"/>
                          </a:solidFill>
                          <a:latin typeface="Calibri" pitchFamily="34" charset="0"/>
                          <a:ea typeface="Calibri" pitchFamily="34" charset="-122"/>
                          <a:cs typeface="Calibri" pitchFamily="34" charset="-120"/>
                        </a:rPr>
                        <a:t>hard Phase-3 gate vs best-single-model · heuristics remain the permanent fallback</a:t>
                      </a:r>
                      <a:endParaRPr lang="en-US" sz="9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r h="566928">
                <a:tc>
                  <a:txBody>
                    <a:bodyPr/>
                    <a:lstStyle/>
                    <a:p>
                      <a:pPr indent="0" marL="0">
                        <a:buNone/>
                      </a:pPr>
                      <a:r>
                        <a:rPr lang="en-US" sz="900" dirty="0">
                          <a:solidFill>
                            <a:srgbClr val="1F2A3D"/>
                          </a:solidFill>
                          <a:latin typeface="Calibri" pitchFamily="34" charset="0"/>
                          <a:ea typeface="Calibri" pitchFamily="34" charset="-122"/>
                          <a:cs typeface="Calibri" pitchFamily="34" charset="-120"/>
                        </a:rPr>
                        <a:t>Session mis-keying splits one session's state in two</a:t>
                      </a:r>
                      <a:endParaRPr lang="en-US" sz="9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900" dirty="0">
                          <a:solidFill>
                            <a:srgbClr val="1F2A3D"/>
                          </a:solidFill>
                          <a:latin typeface="Calibri" pitchFamily="34" charset="0"/>
                          <a:ea typeface="Calibri" pitchFamily="34" charset="-122"/>
                          <a:cs typeface="Calibri" pitchFamily="34" charset="-120"/>
                        </a:rPr>
                        <a:t>prefer harness-native session IDs; log the keying method</a:t>
                      </a:r>
                      <a:endParaRPr lang="en-US" sz="9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r h="566928">
                <a:tc>
                  <a:txBody>
                    <a:bodyPr/>
                    <a:lstStyle/>
                    <a:p>
                      <a:pPr indent="0" marL="0">
                        <a:buNone/>
                      </a:pPr>
                      <a:r>
                        <a:rPr lang="en-US" sz="900" dirty="0">
                          <a:solidFill>
                            <a:srgbClr val="1F2A3D"/>
                          </a:solidFill>
                          <a:latin typeface="Calibri" pitchFamily="34" charset="0"/>
                          <a:ea typeface="Calibri" pitchFamily="34" charset="-122"/>
                          <a:cs typeface="Calibri" pitchFamily="34" charset="-120"/>
                        </a:rPr>
                        <a:t>Scope creep: ML before plumbing</a:t>
                      </a:r>
                      <a:endParaRPr lang="en-US" sz="9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c>
                  <a:txBody>
                    <a:bodyPr/>
                    <a:lstStyle/>
                    <a:p>
                      <a:pPr indent="0" marL="0">
                        <a:buNone/>
                      </a:pPr>
                      <a:r>
                        <a:rPr lang="en-US" sz="900" dirty="0">
                          <a:solidFill>
                            <a:srgbClr val="1F2A3D"/>
                          </a:solidFill>
                          <a:latin typeface="Calibri" pitchFamily="34" charset="0"/>
                          <a:ea typeface="Calibri" pitchFamily="34" charset="-122"/>
                          <a:cs typeface="Calibri" pitchFamily="34" charset="-120"/>
                        </a:rPr>
                        <a:t>Phases 0–2 are ML-free by design</a:t>
                      </a:r>
                      <a:endParaRPr lang="en-US" sz="900" dirty="0">
                        <a:latin typeface="Calibri" charset="0"/>
                        <a:ea typeface="Calibri" charset="0"/>
                        <a:cs typeface="Calibri" charset="0"/>
                      </a:endParaRPr>
                    </a:p>
                  </a:txBody>
                  <a:tcPr marL="54864" marR="54864" marT="54864" marB="54864" anchor="ctr">
                    <a:lnL w="9525" cap="flat" cmpd="sng" algn="ctr">
                      <a:solidFill>
                        <a:srgbClr val="D9E1E9"/>
                      </a:solidFill>
                      <a:prstDash val="solid"/>
                      <a:round/>
                      <a:headEnd type="none" w="med" len="med"/>
                      <a:tailEnd type="none" w="med" len="med"/>
                    </a:lnL>
                    <a:lnR w="9525" cap="flat" cmpd="sng" algn="ctr">
                      <a:solidFill>
                        <a:srgbClr val="D9E1E9"/>
                      </a:solidFill>
                      <a:prstDash val="solid"/>
                      <a:round/>
                      <a:headEnd type="none" w="med" len="med"/>
                      <a:tailEnd type="none" w="med" len="med"/>
                    </a:lnR>
                    <a:lnT w="9525" cap="flat" cmpd="sng" algn="ctr">
                      <a:solidFill>
                        <a:srgbClr val="D9E1E9"/>
                      </a:solidFill>
                      <a:prstDash val="solid"/>
                      <a:round/>
                      <a:headEnd type="none" w="med" len="med"/>
                      <a:tailEnd type="none" w="med" len="med"/>
                    </a:lnT>
                    <a:lnB w="9525" cap="flat" cmpd="sng" algn="ctr">
                      <a:solidFill>
                        <a:srgbClr val="D9E1E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1094415" cy="237744"/>
          </a:xfrm>
          <a:prstGeom prst="rect">
            <a:avLst/>
          </a:prstGeom>
          <a:noFill/>
          <a:ln/>
        </p:spPr>
        <p:txBody>
          <a:bodyPr wrap="square" lIns="0" tIns="0" rIns="0" bIns="0" rtlCol="0" anchor="ctr"/>
          <a:lstStyle/>
          <a:p>
            <a:pPr indent="0" marL="0">
              <a:buNone/>
            </a:pPr>
            <a:r>
              <a:rPr lang="en-US" sz="1000" b="1" spc="300" kern="0" dirty="0">
                <a:solidFill>
                  <a:srgbClr val="1D6FA5"/>
                </a:solidFill>
                <a:latin typeface="Calibri" pitchFamily="34" charset="0"/>
                <a:ea typeface="Calibri" pitchFamily="34" charset="-122"/>
                <a:cs typeface="Calibri" pitchFamily="34" charset="-120"/>
              </a:rPr>
              <a:t>PART 7 · MAKING IT REAL</a:t>
            </a:r>
            <a:endParaRPr lang="en-US" sz="1000" dirty="0"/>
          </a:p>
        </p:txBody>
      </p:sp>
      <p:sp>
        <p:nvSpPr>
          <p:cNvPr id="3" name="Text 1"/>
          <p:cNvSpPr/>
          <p:nvPr/>
        </p:nvSpPr>
        <p:spPr>
          <a:xfrm>
            <a:off x="548640" y="530352"/>
            <a:ext cx="11094415" cy="658368"/>
          </a:xfrm>
          <a:prstGeom prst="rect">
            <a:avLst/>
          </a:prstGeom>
          <a:noFill/>
          <a:ln/>
        </p:spPr>
        <p:txBody>
          <a:bodyPr wrap="square" lIns="0" tIns="0" rIns="0" bIns="0" rtlCol="0" anchor="ctr"/>
          <a:lstStyle/>
          <a:p>
            <a:pPr indent="0" marL="0">
              <a:buNone/>
            </a:pPr>
            <a:r>
              <a:rPr lang="en-US" sz="3000" b="1" dirty="0">
                <a:solidFill>
                  <a:srgbClr val="1F2A3D"/>
                </a:solidFill>
                <a:latin typeface="Cambria" pitchFamily="34" charset="0"/>
                <a:ea typeface="Cambria" pitchFamily="34" charset="-122"/>
                <a:cs typeface="Cambria" pitchFamily="34" charset="-120"/>
              </a:rPr>
              <a:t>How we know the design holds up: the vetting report</a:t>
            </a:r>
            <a:endParaRPr lang="en-US" sz="3000" dirty="0"/>
          </a:p>
        </p:txBody>
      </p:sp>
      <p:sp>
        <p:nvSpPr>
          <p:cNvPr id="4" name="Text 2"/>
          <p:cNvSpPr/>
          <p:nvPr/>
        </p:nvSpPr>
        <p:spPr>
          <a:xfrm>
            <a:off x="548640" y="6473952"/>
            <a:ext cx="7315200" cy="274320"/>
          </a:xfrm>
          <a:prstGeom prst="rect">
            <a:avLst/>
          </a:prstGeom>
          <a:noFill/>
          <a:ln/>
        </p:spPr>
        <p:txBody>
          <a:bodyPr wrap="square" lIns="0" tIns="0" rIns="0" bIns="0" rtlCol="0" anchor="ctr"/>
          <a:lstStyle/>
          <a:p>
            <a:pPr indent="0" marL="0">
              <a:buNone/>
            </a:pPr>
            <a:r>
              <a:rPr lang="en-US" sz="900" dirty="0">
                <a:solidFill>
                  <a:srgbClr val="93A1B1"/>
                </a:solidFill>
                <a:latin typeface="Calibri" pitchFamily="34" charset="0"/>
                <a:ea typeface="Calibri" pitchFamily="34" charset="-122"/>
                <a:cs typeface="Calibri" pitchFamily="34" charset="-120"/>
              </a:rPr>
              <a:t>deep-research-vetting.md · design doc §16 changelog</a:t>
            </a:r>
            <a:endParaRPr lang="en-US" sz="900" dirty="0"/>
          </a:p>
        </p:txBody>
      </p:sp>
      <p:sp>
        <p:nvSpPr>
          <p:cNvPr id="5" name="Text 3"/>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3A1B1"/>
                </a:solidFill>
                <a:latin typeface="Calibri" pitchFamily="34" charset="0"/>
                <a:ea typeface="Calibri" pitchFamily="34" charset="-122"/>
                <a:cs typeface="Calibri" pitchFamily="34" charset="-120"/>
              </a:rPr>
              <a:t>46</a:t>
            </a:r>
            <a:endParaRPr lang="en-US" sz="900" dirty="0"/>
          </a:p>
        </p:txBody>
      </p:sp>
      <p:sp>
        <p:nvSpPr>
          <p:cNvPr id="7" name="Shape 4"/>
          <p:cNvSpPr/>
          <p:nvPr/>
        </p:nvSpPr>
        <p:spPr>
          <a:xfrm>
            <a:off x="548640" y="1417320"/>
            <a:ext cx="2651760" cy="1051560"/>
          </a:xfrm>
          <a:prstGeom prst="roundRect">
            <a:avLst>
              <a:gd name="adj" fmla="val 6087"/>
            </a:avLst>
          </a:prstGeom>
          <a:solidFill>
            <a:srgbClr val="15223A"/>
          </a:solidFill>
          <a:ln/>
          <a:effectLst>
            <a:outerShdw sx="100000" sy="100000" kx="0" ky="0" algn="bl" rotWithShape="0" blurRad="88900" dist="25400" dir="2700000">
              <a:srgbClr val="1F2A3D">
                <a:alpha val="14000"/>
              </a:srgbClr>
            </a:outerShdw>
          </a:effectLst>
        </p:spPr>
      </p:sp>
      <p:sp>
        <p:nvSpPr>
          <p:cNvPr id="8" name="Text 5"/>
          <p:cNvSpPr/>
          <p:nvPr/>
        </p:nvSpPr>
        <p:spPr>
          <a:xfrm>
            <a:off x="548640" y="1536192"/>
            <a:ext cx="2651760" cy="457200"/>
          </a:xfrm>
          <a:prstGeom prst="rect">
            <a:avLst/>
          </a:prstGeom>
          <a:noFill/>
          <a:ln/>
        </p:spPr>
        <p:txBody>
          <a:bodyPr wrap="square" lIns="0" tIns="0" rIns="0" bIns="0" rtlCol="0" anchor="t"/>
          <a:lstStyle/>
          <a:p>
            <a:pPr algn="ctr" indent="0" marL="0">
              <a:buNone/>
            </a:pPr>
            <a:r>
              <a:rPr lang="en-US" sz="2200" b="1" dirty="0">
                <a:solidFill>
                  <a:srgbClr val="FFFFFF"/>
                </a:solidFill>
                <a:latin typeface="Cambria" pitchFamily="34" charset="0"/>
                <a:ea typeface="Cambria" pitchFamily="34" charset="-122"/>
                <a:cs typeface="Cambria" pitchFamily="34" charset="-120"/>
              </a:rPr>
              <a:t>108</a:t>
            </a:r>
            <a:endParaRPr lang="en-US" sz="2200" dirty="0"/>
          </a:p>
        </p:txBody>
      </p:sp>
      <p:sp>
        <p:nvSpPr>
          <p:cNvPr id="9" name="Text 6"/>
          <p:cNvSpPr/>
          <p:nvPr/>
        </p:nvSpPr>
        <p:spPr>
          <a:xfrm>
            <a:off x="685800" y="2011680"/>
            <a:ext cx="2377440" cy="411480"/>
          </a:xfrm>
          <a:prstGeom prst="rect">
            <a:avLst/>
          </a:prstGeom>
          <a:noFill/>
          <a:ln/>
        </p:spPr>
        <p:txBody>
          <a:bodyPr wrap="square" lIns="0" tIns="0" rIns="0" bIns="0" rtlCol="0" anchor="t"/>
          <a:lstStyle/>
          <a:p>
            <a:pPr algn="ctr" indent="0" marL="0">
              <a:lnSpc>
                <a:spcPct val="100000"/>
              </a:lnSpc>
              <a:buNone/>
            </a:pPr>
            <a:r>
              <a:rPr lang="en-US" sz="850" dirty="0">
                <a:solidFill>
                  <a:srgbClr val="9FB0C7"/>
                </a:solidFill>
                <a:latin typeface="Calibri" pitchFamily="34" charset="0"/>
                <a:ea typeface="Calibri" pitchFamily="34" charset="-122"/>
                <a:cs typeface="Calibri" pitchFamily="34" charset="-120"/>
              </a:rPr>
              <a:t>research agents, 5 angles</a:t>
            </a:r>
            <a:endParaRPr lang="en-US" sz="850" dirty="0"/>
          </a:p>
        </p:txBody>
      </p:sp>
      <p:sp>
        <p:nvSpPr>
          <p:cNvPr id="10" name="Shape 7"/>
          <p:cNvSpPr/>
          <p:nvPr/>
        </p:nvSpPr>
        <p:spPr>
          <a:xfrm>
            <a:off x="3392424" y="1417320"/>
            <a:ext cx="2651760" cy="1051560"/>
          </a:xfrm>
          <a:prstGeom prst="roundRect">
            <a:avLst>
              <a:gd name="adj" fmla="val 6087"/>
            </a:avLst>
          </a:prstGeom>
          <a:solidFill>
            <a:srgbClr val="15223A"/>
          </a:solidFill>
          <a:ln/>
          <a:effectLst>
            <a:outerShdw sx="100000" sy="100000" kx="0" ky="0" algn="bl" rotWithShape="0" blurRad="88900" dist="25400" dir="2700000">
              <a:srgbClr val="1F2A3D">
                <a:alpha val="14000"/>
              </a:srgbClr>
            </a:outerShdw>
          </a:effectLst>
        </p:spPr>
      </p:sp>
      <p:sp>
        <p:nvSpPr>
          <p:cNvPr id="11" name="Text 8"/>
          <p:cNvSpPr/>
          <p:nvPr/>
        </p:nvSpPr>
        <p:spPr>
          <a:xfrm>
            <a:off x="3392424" y="1536192"/>
            <a:ext cx="2651760" cy="457200"/>
          </a:xfrm>
          <a:prstGeom prst="rect">
            <a:avLst/>
          </a:prstGeom>
          <a:noFill/>
          <a:ln/>
        </p:spPr>
        <p:txBody>
          <a:bodyPr wrap="square" lIns="0" tIns="0" rIns="0" bIns="0" rtlCol="0" anchor="t"/>
          <a:lstStyle/>
          <a:p>
            <a:pPr algn="ctr" indent="0" marL="0">
              <a:buNone/>
            </a:pPr>
            <a:r>
              <a:rPr lang="en-US" sz="2200" b="1" dirty="0">
                <a:solidFill>
                  <a:srgbClr val="FFFFFF"/>
                </a:solidFill>
                <a:latin typeface="Cambria" pitchFamily="34" charset="0"/>
                <a:ea typeface="Cambria" pitchFamily="34" charset="-122"/>
                <a:cs typeface="Cambria" pitchFamily="34" charset="-120"/>
              </a:rPr>
              <a:t>26</a:t>
            </a:r>
            <a:endParaRPr lang="en-US" sz="2200" dirty="0"/>
          </a:p>
        </p:txBody>
      </p:sp>
      <p:sp>
        <p:nvSpPr>
          <p:cNvPr id="12" name="Text 9"/>
          <p:cNvSpPr/>
          <p:nvPr/>
        </p:nvSpPr>
        <p:spPr>
          <a:xfrm>
            <a:off x="3529584" y="2011680"/>
            <a:ext cx="2377440" cy="411480"/>
          </a:xfrm>
          <a:prstGeom prst="rect">
            <a:avLst/>
          </a:prstGeom>
          <a:noFill/>
          <a:ln/>
        </p:spPr>
        <p:txBody>
          <a:bodyPr wrap="square" lIns="0" tIns="0" rIns="0" bIns="0" rtlCol="0" anchor="t"/>
          <a:lstStyle/>
          <a:p>
            <a:pPr algn="ctr" indent="0" marL="0">
              <a:lnSpc>
                <a:spcPct val="100000"/>
              </a:lnSpc>
              <a:buNone/>
            </a:pPr>
            <a:r>
              <a:rPr lang="en-US" sz="850" dirty="0">
                <a:solidFill>
                  <a:srgbClr val="9FB0C7"/>
                </a:solidFill>
                <a:latin typeface="Calibri" pitchFamily="34" charset="0"/>
                <a:ea typeface="Calibri" pitchFamily="34" charset="-122"/>
                <a:cs typeface="Calibri" pitchFamily="34" charset="-120"/>
              </a:rPr>
              <a:t>sources fetched</a:t>
            </a:r>
            <a:endParaRPr lang="en-US" sz="850" dirty="0"/>
          </a:p>
        </p:txBody>
      </p:sp>
      <p:sp>
        <p:nvSpPr>
          <p:cNvPr id="13" name="Shape 10"/>
          <p:cNvSpPr/>
          <p:nvPr/>
        </p:nvSpPr>
        <p:spPr>
          <a:xfrm>
            <a:off x="6236208" y="1417320"/>
            <a:ext cx="2651760" cy="1051560"/>
          </a:xfrm>
          <a:prstGeom prst="roundRect">
            <a:avLst>
              <a:gd name="adj" fmla="val 6087"/>
            </a:avLst>
          </a:prstGeom>
          <a:solidFill>
            <a:srgbClr val="15223A"/>
          </a:solidFill>
          <a:ln/>
          <a:effectLst>
            <a:outerShdw sx="100000" sy="100000" kx="0" ky="0" algn="bl" rotWithShape="0" blurRad="88900" dist="25400" dir="2700000">
              <a:srgbClr val="1F2A3D">
                <a:alpha val="14000"/>
              </a:srgbClr>
            </a:outerShdw>
          </a:effectLst>
        </p:spPr>
      </p:sp>
      <p:sp>
        <p:nvSpPr>
          <p:cNvPr id="14" name="Text 11"/>
          <p:cNvSpPr/>
          <p:nvPr/>
        </p:nvSpPr>
        <p:spPr>
          <a:xfrm>
            <a:off x="6236208" y="1536192"/>
            <a:ext cx="2651760" cy="457200"/>
          </a:xfrm>
          <a:prstGeom prst="rect">
            <a:avLst/>
          </a:prstGeom>
          <a:noFill/>
          <a:ln/>
        </p:spPr>
        <p:txBody>
          <a:bodyPr wrap="square" lIns="0" tIns="0" rIns="0" bIns="0" rtlCol="0" anchor="t"/>
          <a:lstStyle/>
          <a:p>
            <a:pPr algn="ctr" indent="0" marL="0">
              <a:buNone/>
            </a:pPr>
            <a:r>
              <a:rPr lang="en-US" sz="2200" b="1" dirty="0">
                <a:solidFill>
                  <a:srgbClr val="FFFFFF"/>
                </a:solidFill>
                <a:latin typeface="Cambria" pitchFamily="34" charset="0"/>
                <a:ea typeface="Cambria" pitchFamily="34" charset="-122"/>
                <a:cs typeface="Cambria" pitchFamily="34" charset="-120"/>
              </a:rPr>
              <a:t>129</a:t>
            </a:r>
            <a:endParaRPr lang="en-US" sz="2200" dirty="0"/>
          </a:p>
        </p:txBody>
      </p:sp>
      <p:sp>
        <p:nvSpPr>
          <p:cNvPr id="15" name="Text 12"/>
          <p:cNvSpPr/>
          <p:nvPr/>
        </p:nvSpPr>
        <p:spPr>
          <a:xfrm>
            <a:off x="6373368" y="2011680"/>
            <a:ext cx="2377440" cy="411480"/>
          </a:xfrm>
          <a:prstGeom prst="rect">
            <a:avLst/>
          </a:prstGeom>
          <a:noFill/>
          <a:ln/>
        </p:spPr>
        <p:txBody>
          <a:bodyPr wrap="square" lIns="0" tIns="0" rIns="0" bIns="0" rtlCol="0" anchor="t"/>
          <a:lstStyle/>
          <a:p>
            <a:pPr algn="ctr" indent="0" marL="0">
              <a:lnSpc>
                <a:spcPct val="100000"/>
              </a:lnSpc>
              <a:buNone/>
            </a:pPr>
            <a:r>
              <a:rPr lang="en-US" sz="850" dirty="0">
                <a:solidFill>
                  <a:srgbClr val="9FB0C7"/>
                </a:solidFill>
                <a:latin typeface="Calibri" pitchFamily="34" charset="0"/>
                <a:ea typeface="Calibri" pitchFamily="34" charset="-122"/>
                <a:cs typeface="Calibri" pitchFamily="34" charset="-120"/>
              </a:rPr>
              <a:t>claims extracted</a:t>
            </a:r>
            <a:endParaRPr lang="en-US" sz="850" dirty="0"/>
          </a:p>
        </p:txBody>
      </p:sp>
      <p:sp>
        <p:nvSpPr>
          <p:cNvPr id="16" name="Shape 13"/>
          <p:cNvSpPr/>
          <p:nvPr/>
        </p:nvSpPr>
        <p:spPr>
          <a:xfrm>
            <a:off x="9079992" y="1417320"/>
            <a:ext cx="2651760" cy="1051560"/>
          </a:xfrm>
          <a:prstGeom prst="roundRect">
            <a:avLst>
              <a:gd name="adj" fmla="val 6087"/>
            </a:avLst>
          </a:prstGeom>
          <a:solidFill>
            <a:srgbClr val="15223A"/>
          </a:solidFill>
          <a:ln/>
          <a:effectLst>
            <a:outerShdw sx="100000" sy="100000" kx="0" ky="0" algn="bl" rotWithShape="0" blurRad="88900" dist="25400" dir="2700000">
              <a:srgbClr val="1F2A3D">
                <a:alpha val="14000"/>
              </a:srgbClr>
            </a:outerShdw>
          </a:effectLst>
        </p:spPr>
      </p:sp>
      <p:sp>
        <p:nvSpPr>
          <p:cNvPr id="17" name="Text 14"/>
          <p:cNvSpPr/>
          <p:nvPr/>
        </p:nvSpPr>
        <p:spPr>
          <a:xfrm>
            <a:off x="9079992" y="1536192"/>
            <a:ext cx="2651760" cy="457200"/>
          </a:xfrm>
          <a:prstGeom prst="rect">
            <a:avLst/>
          </a:prstGeom>
          <a:noFill/>
          <a:ln/>
        </p:spPr>
        <p:txBody>
          <a:bodyPr wrap="square" lIns="0" tIns="0" rIns="0" bIns="0" rtlCol="0" anchor="t"/>
          <a:lstStyle/>
          <a:p>
            <a:pPr algn="ctr" indent="0" marL="0">
              <a:buNone/>
            </a:pPr>
            <a:r>
              <a:rPr lang="en-US" sz="2200" b="1" dirty="0">
                <a:solidFill>
                  <a:srgbClr val="FFFFFF"/>
                </a:solidFill>
                <a:latin typeface="Cambria" pitchFamily="34" charset="0"/>
                <a:ea typeface="Cambria" pitchFamily="34" charset="-122"/>
                <a:cs typeface="Cambria" pitchFamily="34" charset="-120"/>
              </a:rPr>
              <a:t>23–2–0</a:t>
            </a:r>
            <a:endParaRPr lang="en-US" sz="2200" dirty="0"/>
          </a:p>
        </p:txBody>
      </p:sp>
      <p:sp>
        <p:nvSpPr>
          <p:cNvPr id="18" name="Text 15"/>
          <p:cNvSpPr/>
          <p:nvPr/>
        </p:nvSpPr>
        <p:spPr>
          <a:xfrm>
            <a:off x="9217152" y="2011680"/>
            <a:ext cx="2377440" cy="411480"/>
          </a:xfrm>
          <a:prstGeom prst="rect">
            <a:avLst/>
          </a:prstGeom>
          <a:noFill/>
          <a:ln/>
        </p:spPr>
        <p:txBody>
          <a:bodyPr wrap="square" lIns="0" tIns="0" rIns="0" bIns="0" rtlCol="0" anchor="t"/>
          <a:lstStyle/>
          <a:p>
            <a:pPr algn="ctr" indent="0" marL="0">
              <a:lnSpc>
                <a:spcPct val="100000"/>
              </a:lnSpc>
              <a:buNone/>
            </a:pPr>
            <a:r>
              <a:rPr lang="en-US" sz="850" dirty="0">
                <a:solidFill>
                  <a:srgbClr val="9FB0C7"/>
                </a:solidFill>
                <a:latin typeface="Calibri" pitchFamily="34" charset="0"/>
                <a:ea typeface="Calibri" pitchFamily="34" charset="-122"/>
                <a:cs typeface="Calibri" pitchFamily="34" charset="-120"/>
              </a:rPr>
              <a:t>confirmed · refuted · unverified (top 25, 3-vote panels)</a:t>
            </a:r>
            <a:endParaRPr lang="en-US" sz="850" dirty="0"/>
          </a:p>
        </p:txBody>
      </p:sp>
      <p:sp>
        <p:nvSpPr>
          <p:cNvPr id="19" name="Shape 16"/>
          <p:cNvSpPr/>
          <p:nvPr/>
        </p:nvSpPr>
        <p:spPr>
          <a:xfrm>
            <a:off x="548640" y="2697480"/>
            <a:ext cx="5422392" cy="1325880"/>
          </a:xfrm>
          <a:prstGeom prst="roundRect">
            <a:avLst>
              <a:gd name="adj" fmla="val 4828"/>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20" name="Text 17"/>
          <p:cNvSpPr/>
          <p:nvPr/>
        </p:nvSpPr>
        <p:spPr>
          <a:xfrm>
            <a:off x="768096" y="2816352"/>
            <a:ext cx="4983480" cy="274320"/>
          </a:xfrm>
          <a:prstGeom prst="rect">
            <a:avLst/>
          </a:prstGeom>
          <a:noFill/>
          <a:ln/>
        </p:spPr>
        <p:txBody>
          <a:bodyPr wrap="square" lIns="0" tIns="0" rIns="0" bIns="0" rtlCol="0" anchor="t"/>
          <a:lstStyle/>
          <a:p>
            <a:pPr algn="l" indent="0" marL="0">
              <a:buNone/>
            </a:pPr>
            <a:r>
              <a:rPr lang="en-US" sz="1150" b="1" dirty="0">
                <a:solidFill>
                  <a:srgbClr val="1F7A55"/>
                </a:solidFill>
                <a:latin typeface="Calibri" pitchFamily="34" charset="0"/>
                <a:ea typeface="Calibri" pitchFamily="34" charset="-122"/>
                <a:cs typeface="Calibri" pitchFamily="34" charset="-120"/>
              </a:rPr>
              <a:t>Sticky routing: validated in production</a:t>
            </a:r>
            <a:endParaRPr lang="en-US" sz="1150" dirty="0"/>
          </a:p>
        </p:txBody>
      </p:sp>
      <p:sp>
        <p:nvSpPr>
          <p:cNvPr id="21" name="Text 18"/>
          <p:cNvSpPr/>
          <p:nvPr/>
        </p:nvSpPr>
        <p:spPr>
          <a:xfrm>
            <a:off x="768096" y="3108960"/>
            <a:ext cx="4983480" cy="868680"/>
          </a:xfrm>
          <a:prstGeom prst="rect">
            <a:avLst/>
          </a:prstGeom>
          <a:noFill/>
          <a:ln/>
        </p:spPr>
        <p:txBody>
          <a:bodyPr wrap="square" lIns="0" tIns="0" rIns="0" bIns="0" rtlCol="0" anchor="t"/>
          <a:lstStyle/>
          <a:p>
            <a:pPr algn="l" indent="0" marL="0">
              <a:lnSpc>
                <a:spcPct val="108000"/>
              </a:lnSpc>
              <a:buNone/>
            </a:pPr>
            <a:r>
              <a:rPr lang="en-US" sz="950" dirty="0">
                <a:solidFill>
                  <a:srgbClr val="5D6B7E"/>
                </a:solidFill>
                <a:latin typeface="Calibri" pitchFamily="34" charset="0"/>
                <a:ea typeface="Calibri" pitchFamily="34" charset="-122"/>
                <a:cs typeface="Calibri" pitchFamily="34" charset="-120"/>
              </a:rPr>
              <a:t>Copilot Auto re-routes only at cache boundaries: “switching models mid-conversation breaks that cache, which can cost more than the routing change saves.”</a:t>
            </a:r>
            <a:endParaRPr lang="en-US" sz="950" dirty="0"/>
          </a:p>
        </p:txBody>
      </p:sp>
      <p:sp>
        <p:nvSpPr>
          <p:cNvPr id="22" name="Shape 19"/>
          <p:cNvSpPr/>
          <p:nvPr/>
        </p:nvSpPr>
        <p:spPr>
          <a:xfrm>
            <a:off x="6217920" y="2697480"/>
            <a:ext cx="5422392" cy="1325880"/>
          </a:xfrm>
          <a:prstGeom prst="roundRect">
            <a:avLst>
              <a:gd name="adj" fmla="val 4828"/>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23" name="Text 20"/>
          <p:cNvSpPr/>
          <p:nvPr/>
        </p:nvSpPr>
        <p:spPr>
          <a:xfrm>
            <a:off x="6437376" y="2816352"/>
            <a:ext cx="4983480" cy="274320"/>
          </a:xfrm>
          <a:prstGeom prst="rect">
            <a:avLst/>
          </a:prstGeom>
          <a:noFill/>
          <a:ln/>
        </p:spPr>
        <p:txBody>
          <a:bodyPr wrap="square" lIns="0" tIns="0" rIns="0" bIns="0" rtlCol="0" anchor="t"/>
          <a:lstStyle/>
          <a:p>
            <a:pPr algn="l" indent="0" marL="0">
              <a:buNone/>
            </a:pPr>
            <a:r>
              <a:rPr lang="en-US" sz="1150" b="1" dirty="0">
                <a:solidFill>
                  <a:srgbClr val="1D6FA5"/>
                </a:solidFill>
                <a:latin typeface="Calibri" pitchFamily="34" charset="0"/>
                <a:ea typeface="Calibri" pitchFamily="34" charset="-122"/>
                <a:cs typeface="Calibri" pitchFamily="34" charset="-120"/>
              </a:rPr>
              <a:t>Health gate: adopted from the gap list</a:t>
            </a:r>
            <a:endParaRPr lang="en-US" sz="1150" dirty="0"/>
          </a:p>
        </p:txBody>
      </p:sp>
      <p:sp>
        <p:nvSpPr>
          <p:cNvPr id="24" name="Text 21"/>
          <p:cNvSpPr/>
          <p:nvPr/>
        </p:nvSpPr>
        <p:spPr>
          <a:xfrm>
            <a:off x="6437376" y="3108960"/>
            <a:ext cx="4983480" cy="868680"/>
          </a:xfrm>
          <a:prstGeom prst="rect">
            <a:avLst/>
          </a:prstGeom>
          <a:noFill/>
          <a:ln/>
        </p:spPr>
        <p:txBody>
          <a:bodyPr wrap="square" lIns="0" tIns="0" rIns="0" bIns="0" rtlCol="0" anchor="t"/>
          <a:lstStyle/>
          <a:p>
            <a:pPr algn="l" indent="0" marL="0">
              <a:lnSpc>
                <a:spcPct val="108000"/>
              </a:lnSpc>
              <a:buNone/>
            </a:pPr>
            <a:r>
              <a:rPr lang="en-US" sz="950" dirty="0">
                <a:solidFill>
                  <a:srgbClr val="5D6B7E"/>
                </a:solidFill>
                <a:latin typeface="Calibri" pitchFamily="34" charset="0"/>
                <a:ea typeface="Calibri" pitchFamily="34" charset="-122"/>
                <a:cs typeface="Calibri" pitchFamily="34" charset="-120"/>
              </a:rPr>
              <a:t>Copilot runs a real-time availability engine co-equal with its task router. v1 lacked it; v2's layer-0 health gate (fed by LiteLLM) is the fix.</a:t>
            </a:r>
            <a:endParaRPr lang="en-US" sz="950" dirty="0"/>
          </a:p>
        </p:txBody>
      </p:sp>
      <p:sp>
        <p:nvSpPr>
          <p:cNvPr id="25" name="Shape 22"/>
          <p:cNvSpPr/>
          <p:nvPr/>
        </p:nvSpPr>
        <p:spPr>
          <a:xfrm>
            <a:off x="548640" y="4160520"/>
            <a:ext cx="5422392" cy="1325880"/>
          </a:xfrm>
          <a:prstGeom prst="roundRect">
            <a:avLst>
              <a:gd name="adj" fmla="val 4828"/>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26" name="Text 23"/>
          <p:cNvSpPr/>
          <p:nvPr/>
        </p:nvSpPr>
        <p:spPr>
          <a:xfrm>
            <a:off x="768096" y="4279392"/>
            <a:ext cx="4983480" cy="274320"/>
          </a:xfrm>
          <a:prstGeom prst="rect">
            <a:avLst/>
          </a:prstGeom>
          <a:noFill/>
          <a:ln/>
        </p:spPr>
        <p:txBody>
          <a:bodyPr wrap="square" lIns="0" tIns="0" rIns="0" bIns="0" rtlCol="0" anchor="t"/>
          <a:lstStyle/>
          <a:p>
            <a:pPr algn="l" indent="0" marL="0">
              <a:buNone/>
            </a:pPr>
            <a:r>
              <a:rPr lang="en-US" sz="1150" b="1" dirty="0">
                <a:solidFill>
                  <a:srgbClr val="B45309"/>
                </a:solidFill>
                <a:latin typeface="Calibri" pitchFamily="34" charset="0"/>
                <a:ea typeface="Calibri" pitchFamily="34" charset="-122"/>
                <a:cs typeface="Calibri" pitchFamily="34" charset="-120"/>
              </a:rPr>
              <a:t>(model, harness) registry: validated</a:t>
            </a:r>
            <a:endParaRPr lang="en-US" sz="1150" dirty="0"/>
          </a:p>
        </p:txBody>
      </p:sp>
      <p:sp>
        <p:nvSpPr>
          <p:cNvPr id="27" name="Text 24"/>
          <p:cNvSpPr/>
          <p:nvPr/>
        </p:nvSpPr>
        <p:spPr>
          <a:xfrm>
            <a:off x="768096" y="4572000"/>
            <a:ext cx="4983480" cy="868680"/>
          </a:xfrm>
          <a:prstGeom prst="rect">
            <a:avLst/>
          </a:prstGeom>
          <a:noFill/>
          <a:ln/>
        </p:spPr>
        <p:txBody>
          <a:bodyPr wrap="square" lIns="0" tIns="0" rIns="0" bIns="0" rtlCol="0" anchor="t"/>
          <a:lstStyle/>
          <a:p>
            <a:pPr algn="l" indent="0" marL="0">
              <a:lnSpc>
                <a:spcPct val="108000"/>
              </a:lnSpc>
              <a:buNone/>
            </a:pPr>
            <a:r>
              <a:rPr lang="en-US" sz="950" dirty="0">
                <a:solidFill>
                  <a:srgbClr val="5D6B7E"/>
                </a:solidFill>
                <a:latin typeface="Calibri" pitchFamily="34" charset="0"/>
                <a:ea typeface="Calibri" pitchFamily="34" charset="-122"/>
                <a:cs typeface="Calibri" pitchFamily="34" charset="-120"/>
              </a:rPr>
              <a:t>GitHub's own harness benchmark + Harness-Bench: the same model scores up to 16 points differently across harnesses.</a:t>
            </a:r>
            <a:endParaRPr lang="en-US" sz="950" dirty="0"/>
          </a:p>
        </p:txBody>
      </p:sp>
      <p:sp>
        <p:nvSpPr>
          <p:cNvPr id="28" name="Shape 25"/>
          <p:cNvSpPr/>
          <p:nvPr/>
        </p:nvSpPr>
        <p:spPr>
          <a:xfrm>
            <a:off x="6217920" y="4160520"/>
            <a:ext cx="5422392" cy="1325880"/>
          </a:xfrm>
          <a:prstGeom prst="roundRect">
            <a:avLst>
              <a:gd name="adj" fmla="val 4828"/>
            </a:avLst>
          </a:prstGeom>
          <a:solidFill>
            <a:srgbClr val="FFFFFF"/>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29" name="Text 26"/>
          <p:cNvSpPr/>
          <p:nvPr/>
        </p:nvSpPr>
        <p:spPr>
          <a:xfrm>
            <a:off x="6437376" y="4279392"/>
            <a:ext cx="4983480" cy="274320"/>
          </a:xfrm>
          <a:prstGeom prst="rect">
            <a:avLst/>
          </a:prstGeom>
          <a:noFill/>
          <a:ln/>
        </p:spPr>
        <p:txBody>
          <a:bodyPr wrap="square" lIns="0" tIns="0" rIns="0" bIns="0" rtlCol="0" anchor="t"/>
          <a:lstStyle/>
          <a:p>
            <a:pPr algn="l" indent="0" marL="0">
              <a:buNone/>
            </a:pPr>
            <a:r>
              <a:rPr lang="en-US" sz="1150" b="1" dirty="0">
                <a:solidFill>
                  <a:srgbClr val="5B21B6"/>
                </a:solidFill>
                <a:latin typeface="Calibri" pitchFamily="34" charset="0"/>
                <a:ea typeface="Calibri" pitchFamily="34" charset="-122"/>
                <a:cs typeface="Calibri" pitchFamily="34" charset="-120"/>
              </a:rPr>
              <a:t>Learned-router humility: justified</a:t>
            </a:r>
            <a:endParaRPr lang="en-US" sz="1150" dirty="0"/>
          </a:p>
        </p:txBody>
      </p:sp>
      <p:sp>
        <p:nvSpPr>
          <p:cNvPr id="30" name="Text 27"/>
          <p:cNvSpPr/>
          <p:nvPr/>
        </p:nvSpPr>
        <p:spPr>
          <a:xfrm>
            <a:off x="6437376" y="4572000"/>
            <a:ext cx="4983480" cy="868680"/>
          </a:xfrm>
          <a:prstGeom prst="rect">
            <a:avLst/>
          </a:prstGeom>
          <a:noFill/>
          <a:ln/>
        </p:spPr>
        <p:txBody>
          <a:bodyPr wrap="square" lIns="0" tIns="0" rIns="0" bIns="0" rtlCol="0" anchor="t"/>
          <a:lstStyle/>
          <a:p>
            <a:pPr algn="l" indent="0" marL="0">
              <a:lnSpc>
                <a:spcPct val="108000"/>
              </a:lnSpc>
              <a:buNone/>
            </a:pPr>
            <a:r>
              <a:rPr lang="en-US" sz="950" dirty="0">
                <a:solidFill>
                  <a:srgbClr val="5D6B7E"/>
                </a:solidFill>
                <a:latin typeface="Calibri" pitchFamily="34" charset="0"/>
                <a:ea typeface="Calibri" pitchFamily="34" charset="-122"/>
                <a:cs typeface="Calibri" pitchFamily="34" charset="-120"/>
              </a:rPr>
              <a:t>LLMRouterBench: several learned/commercial routers lose to “always use the best model” (OpenRouter −24.7%). Hence the Phase-3 gate.</a:t>
            </a:r>
            <a:endParaRPr lang="en-US" sz="950" dirty="0"/>
          </a:p>
        </p:txBody>
      </p:sp>
      <p:sp>
        <p:nvSpPr>
          <p:cNvPr id="31" name="Shape 28"/>
          <p:cNvSpPr/>
          <p:nvPr/>
        </p:nvSpPr>
        <p:spPr>
          <a:xfrm>
            <a:off x="548640" y="5715000"/>
            <a:ext cx="11091672" cy="658368"/>
          </a:xfrm>
          <a:prstGeom prst="roundRect">
            <a:avLst>
              <a:gd name="adj" fmla="val 9722"/>
            </a:avLst>
          </a:prstGeom>
          <a:solidFill>
            <a:srgbClr val="F3F6F9"/>
          </a:solidFill>
          <a:ln w="9525">
            <a:solidFill>
              <a:srgbClr val="D9E1E9"/>
            </a:solidFill>
            <a:prstDash val="solid"/>
          </a:ln>
          <a:effectLst>
            <a:outerShdw sx="100000" sy="100000" kx="0" ky="0" algn="bl" rotWithShape="0" blurRad="88900" dist="25400" dir="2700000">
              <a:srgbClr val="1F2A3D">
                <a:alpha val="14000"/>
              </a:srgbClr>
            </a:outerShdw>
          </a:effectLst>
        </p:spPr>
      </p:sp>
      <p:sp>
        <p:nvSpPr>
          <p:cNvPr id="32" name="Text 29"/>
          <p:cNvSpPr/>
          <p:nvPr/>
        </p:nvSpPr>
        <p:spPr>
          <a:xfrm>
            <a:off x="822960" y="5852160"/>
            <a:ext cx="10515600" cy="457200"/>
          </a:xfrm>
          <a:prstGeom prst="rect">
            <a:avLst/>
          </a:prstGeom>
          <a:noFill/>
          <a:ln/>
        </p:spPr>
        <p:txBody>
          <a:bodyPr wrap="square" lIns="0" tIns="0" rIns="0" bIns="0" rtlCol="0" anchor="t"/>
          <a:lstStyle/>
          <a:p>
            <a:pPr algn="l" indent="0" marL="0">
              <a:lnSpc>
                <a:spcPct val="110000"/>
              </a:lnSpc>
              <a:buNone/>
            </a:pPr>
            <a:r>
              <a:rPr lang="en-US" sz="1100" b="1" dirty="0">
                <a:solidFill>
                  <a:srgbClr val="1F2A3D"/>
                </a:solidFill>
                <a:latin typeface="Calibri" pitchFamily="34" charset="0"/>
                <a:ea typeface="Calibri" pitchFamily="34" charset="-122"/>
                <a:cs typeface="Calibri" pitchFamily="34" charset="-120"/>
              </a:rPr>
              <a:t>Honestly still open:  </a:t>
            </a:r>
            <a:pPr algn="l" indent="0" marL="0">
              <a:lnSpc>
                <a:spcPct val="110000"/>
              </a:lnSpc>
              <a:buNone/>
            </a:pPr>
            <a:r>
              <a:rPr lang="en-US" sz="1050" dirty="0">
                <a:solidFill>
                  <a:srgbClr val="5D6B7E"/>
                </a:solidFill>
                <a:latin typeface="Calibri" pitchFamily="34" charset="0"/>
                <a:ea typeface="Calibri" pitchFamily="34" charset="-122"/>
                <a:cs typeface="Calibri" pitchFamily="34" charset="-120"/>
              </a:rPr>
              <a:t>no public benchmark for learned routing on multi-turn agentic traffic (ours would be first), and no verified evidence on privacy-driven routing — the one-way pin may be ahead of industry practice.</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5223A"/>
        </a:solidFill>
      </p:bgPr>
    </p:bg>
    <p:spTree>
      <p:nvGrpSpPr>
        <p:cNvPr id="1" name=""/>
        <p:cNvGrpSpPr/>
        <p:nvPr/>
      </p:nvGrpSpPr>
      <p:grpSpPr>
        <a:xfrm>
          <a:off x="0" y="0"/>
          <a:ext cx="0" cy="0"/>
          <a:chOff x="0" y="0"/>
          <a:chExt cx="0" cy="0"/>
        </a:xfrm>
      </p:grpSpPr>
      <p:sp>
        <p:nvSpPr>
          <p:cNvPr id="2" name="Text 0"/>
          <p:cNvSpPr/>
          <p:nvPr/>
        </p:nvSpPr>
        <p:spPr>
          <a:xfrm>
            <a:off x="11277295" y="6473952"/>
            <a:ext cx="365760" cy="274320"/>
          </a:xfrm>
          <a:prstGeom prst="rect">
            <a:avLst/>
          </a:prstGeom>
          <a:noFill/>
          <a:ln/>
        </p:spPr>
        <p:txBody>
          <a:bodyPr wrap="square" lIns="0" tIns="0" rIns="0" bIns="0" rtlCol="0" anchor="ctr"/>
          <a:lstStyle/>
          <a:p>
            <a:pPr algn="r" indent="0" marL="0">
              <a:buNone/>
            </a:pPr>
            <a:r>
              <a:rPr lang="en-US" sz="900" dirty="0">
                <a:solidFill>
                  <a:srgbClr val="9FB0C7"/>
                </a:solidFill>
                <a:latin typeface="Calibri" pitchFamily="34" charset="0"/>
                <a:ea typeface="Calibri" pitchFamily="34" charset="-122"/>
                <a:cs typeface="Calibri" pitchFamily="34" charset="-120"/>
              </a:rPr>
              <a:t>47</a:t>
            </a:r>
            <a:endParaRPr lang="en-US" sz="900" dirty="0"/>
          </a:p>
        </p:txBody>
      </p:sp>
      <p:sp>
        <p:nvSpPr>
          <p:cNvPr id="4" name="Text 1"/>
          <p:cNvSpPr/>
          <p:nvPr/>
        </p:nvSpPr>
        <p:spPr>
          <a:xfrm>
            <a:off x="822960" y="777240"/>
            <a:ext cx="10515600" cy="274320"/>
          </a:xfrm>
          <a:prstGeom prst="rect">
            <a:avLst/>
          </a:prstGeom>
          <a:noFill/>
          <a:ln/>
        </p:spPr>
        <p:txBody>
          <a:bodyPr wrap="square" lIns="0" tIns="0" rIns="0" bIns="0" rtlCol="0" anchor="t"/>
          <a:lstStyle/>
          <a:p>
            <a:pPr algn="l" indent="0" marL="0">
              <a:buNone/>
            </a:pPr>
            <a:r>
              <a:rPr lang="en-US" sz="1100" b="1" spc="300" kern="0" dirty="0">
                <a:solidFill>
                  <a:srgbClr val="9FB0C7"/>
                </a:solidFill>
                <a:latin typeface="Calibri" pitchFamily="34" charset="0"/>
                <a:ea typeface="Calibri" pitchFamily="34" charset="-122"/>
                <a:cs typeface="Calibri" pitchFamily="34" charset="-120"/>
              </a:rPr>
              <a:t>THE FIVE SENTENCES TO REMEMBER</a:t>
            </a:r>
            <a:endParaRPr lang="en-US" sz="1100" dirty="0"/>
          </a:p>
        </p:txBody>
      </p:sp>
      <p:sp>
        <p:nvSpPr>
          <p:cNvPr id="5" name="Text 2"/>
          <p:cNvSpPr/>
          <p:nvPr/>
        </p:nvSpPr>
        <p:spPr>
          <a:xfrm>
            <a:off x="822960" y="1234440"/>
            <a:ext cx="502920" cy="502920"/>
          </a:xfrm>
          <a:prstGeom prst="rect">
            <a:avLst/>
          </a:prstGeom>
          <a:noFill/>
          <a:ln/>
        </p:spPr>
        <p:txBody>
          <a:bodyPr wrap="square" lIns="0" tIns="0" rIns="0" bIns="0" rtlCol="0" anchor="t"/>
          <a:lstStyle/>
          <a:p>
            <a:pPr algn="l" indent="0" marL="0">
              <a:buNone/>
            </a:pPr>
            <a:r>
              <a:rPr lang="en-US" sz="2600" b="1" dirty="0">
                <a:solidFill>
                  <a:srgbClr val="8ED6AC"/>
                </a:solidFill>
                <a:latin typeface="Cambria" pitchFamily="34" charset="0"/>
                <a:ea typeface="Cambria" pitchFamily="34" charset="-122"/>
                <a:cs typeface="Cambria" pitchFamily="34" charset="-120"/>
              </a:rPr>
              <a:t>1</a:t>
            </a:r>
            <a:endParaRPr lang="en-US" sz="2600" dirty="0"/>
          </a:p>
        </p:txBody>
      </p:sp>
      <p:sp>
        <p:nvSpPr>
          <p:cNvPr id="6" name="Text 3"/>
          <p:cNvSpPr/>
          <p:nvPr/>
        </p:nvSpPr>
        <p:spPr>
          <a:xfrm>
            <a:off x="1463040" y="1252728"/>
            <a:ext cx="5760720" cy="365760"/>
          </a:xfrm>
          <a:prstGeom prst="rect">
            <a:avLst/>
          </a:prstGeom>
          <a:noFill/>
          <a:ln/>
        </p:spPr>
        <p:txBody>
          <a:bodyPr wrap="square" lIns="0" tIns="0" rIns="0" bIns="0" rtlCol="0" anchor="t"/>
          <a:lstStyle/>
          <a:p>
            <a:pPr algn="l" indent="0" marL="0">
              <a:buNone/>
            </a:pPr>
            <a:r>
              <a:rPr lang="en-US" sz="1700" b="1" dirty="0">
                <a:solidFill>
                  <a:srgbClr val="EAF0F8"/>
                </a:solidFill>
                <a:latin typeface="Cambria" pitchFamily="34" charset="0"/>
                <a:ea typeface="Cambria" pitchFamily="34" charset="-122"/>
                <a:cs typeface="Cambria" pitchFamily="34" charset="-120"/>
              </a:rPr>
              <a:t>Route turns, not requests.</a:t>
            </a:r>
            <a:endParaRPr lang="en-US" sz="1700" dirty="0"/>
          </a:p>
        </p:txBody>
      </p:sp>
      <p:sp>
        <p:nvSpPr>
          <p:cNvPr id="7" name="Text 4"/>
          <p:cNvSpPr/>
          <p:nvPr/>
        </p:nvSpPr>
        <p:spPr>
          <a:xfrm>
            <a:off x="1463040" y="1664208"/>
            <a:ext cx="6583680" cy="365760"/>
          </a:xfrm>
          <a:prstGeom prst="rect">
            <a:avLst/>
          </a:prstGeom>
          <a:noFill/>
          <a:ln/>
        </p:spPr>
        <p:txBody>
          <a:bodyPr wrap="square" lIns="0" tIns="0" rIns="0" bIns="0" rtlCol="0" anchor="t"/>
          <a:lstStyle/>
          <a:p>
            <a:pPr algn="l" indent="0" marL="0">
              <a:buNone/>
            </a:pPr>
            <a:r>
              <a:rPr lang="en-US" sz="1050" dirty="0">
                <a:solidFill>
                  <a:srgbClr val="9FB0C7"/>
                </a:solidFill>
                <a:latin typeface="Calibri" pitchFamily="34" charset="0"/>
                <a:ea typeface="Calibri" pitchFamily="34" charset="-122"/>
                <a:cs typeface="Calibri" pitchFamily="34" charset="-120"/>
              </a:rPr>
              <a:t>One thought, one model — the route moves only at a new turn or a trip-wire's action boundary.</a:t>
            </a:r>
            <a:endParaRPr lang="en-US" sz="1050" dirty="0"/>
          </a:p>
        </p:txBody>
      </p:sp>
      <p:sp>
        <p:nvSpPr>
          <p:cNvPr id="8" name="Text 5"/>
          <p:cNvSpPr/>
          <p:nvPr/>
        </p:nvSpPr>
        <p:spPr>
          <a:xfrm>
            <a:off x="822960" y="2130552"/>
            <a:ext cx="502920" cy="502920"/>
          </a:xfrm>
          <a:prstGeom prst="rect">
            <a:avLst/>
          </a:prstGeom>
          <a:noFill/>
          <a:ln/>
        </p:spPr>
        <p:txBody>
          <a:bodyPr wrap="square" lIns="0" tIns="0" rIns="0" bIns="0" rtlCol="0" anchor="t"/>
          <a:lstStyle/>
          <a:p>
            <a:pPr algn="l" indent="0" marL="0">
              <a:buNone/>
            </a:pPr>
            <a:r>
              <a:rPr lang="en-US" sz="2600" b="1" dirty="0">
                <a:solidFill>
                  <a:srgbClr val="8ED6AC"/>
                </a:solidFill>
                <a:latin typeface="Cambria" pitchFamily="34" charset="0"/>
                <a:ea typeface="Cambria" pitchFamily="34" charset="-122"/>
                <a:cs typeface="Cambria" pitchFamily="34" charset="-120"/>
              </a:rPr>
              <a:t>2</a:t>
            </a:r>
            <a:endParaRPr lang="en-US" sz="2600" dirty="0"/>
          </a:p>
        </p:txBody>
      </p:sp>
      <p:sp>
        <p:nvSpPr>
          <p:cNvPr id="9" name="Text 6"/>
          <p:cNvSpPr/>
          <p:nvPr/>
        </p:nvSpPr>
        <p:spPr>
          <a:xfrm>
            <a:off x="1463040" y="2148840"/>
            <a:ext cx="5760720" cy="365760"/>
          </a:xfrm>
          <a:prstGeom prst="rect">
            <a:avLst/>
          </a:prstGeom>
          <a:noFill/>
          <a:ln/>
        </p:spPr>
        <p:txBody>
          <a:bodyPr wrap="square" lIns="0" tIns="0" rIns="0" bIns="0" rtlCol="0" anchor="t"/>
          <a:lstStyle/>
          <a:p>
            <a:pPr algn="l" indent="0" marL="0">
              <a:buNone/>
            </a:pPr>
            <a:r>
              <a:rPr lang="en-US" sz="1700" b="1" dirty="0">
                <a:solidFill>
                  <a:srgbClr val="EAF0F8"/>
                </a:solidFill>
                <a:latin typeface="Cambria" pitchFamily="34" charset="0"/>
                <a:ea typeface="Cambria" pitchFamily="34" charset="-122"/>
                <a:cs typeface="Cambria" pitchFamily="34" charset="-120"/>
              </a:rPr>
              <a:t>Escalate on evidence, not vibes.</a:t>
            </a:r>
            <a:endParaRPr lang="en-US" sz="1700" dirty="0"/>
          </a:p>
        </p:txBody>
      </p:sp>
      <p:sp>
        <p:nvSpPr>
          <p:cNvPr id="10" name="Text 7"/>
          <p:cNvSpPr/>
          <p:nvPr/>
        </p:nvSpPr>
        <p:spPr>
          <a:xfrm>
            <a:off x="1463040" y="2560320"/>
            <a:ext cx="6583680" cy="365760"/>
          </a:xfrm>
          <a:prstGeom prst="rect">
            <a:avLst/>
          </a:prstGeom>
          <a:noFill/>
          <a:ln/>
        </p:spPr>
        <p:txBody>
          <a:bodyPr wrap="square" lIns="0" tIns="0" rIns="0" bIns="0" rtlCol="0" anchor="t"/>
          <a:lstStyle/>
          <a:p>
            <a:pPr algn="l" indent="0" marL="0">
              <a:buNone/>
            </a:pPr>
            <a:r>
              <a:rPr lang="en-US" sz="1050" dirty="0">
                <a:solidFill>
                  <a:srgbClr val="9FB0C7"/>
                </a:solidFill>
                <a:latin typeface="Calibri" pitchFamily="34" charset="0"/>
                <a:ea typeface="Calibri" pitchFamily="34" charset="-122"/>
                <a:cs typeface="Calibri" pitchFamily="34" charset="-120"/>
              </a:rPr>
              <a:t>Mechanical trip-wires; rebuild the transcript; hand over the chart, don't repeat the story.</a:t>
            </a:r>
            <a:endParaRPr lang="en-US" sz="1050" dirty="0"/>
          </a:p>
        </p:txBody>
      </p:sp>
      <p:sp>
        <p:nvSpPr>
          <p:cNvPr id="11" name="Text 8"/>
          <p:cNvSpPr/>
          <p:nvPr/>
        </p:nvSpPr>
        <p:spPr>
          <a:xfrm>
            <a:off x="822960" y="3026664"/>
            <a:ext cx="502920" cy="502920"/>
          </a:xfrm>
          <a:prstGeom prst="rect">
            <a:avLst/>
          </a:prstGeom>
          <a:noFill/>
          <a:ln/>
        </p:spPr>
        <p:txBody>
          <a:bodyPr wrap="square" lIns="0" tIns="0" rIns="0" bIns="0" rtlCol="0" anchor="t"/>
          <a:lstStyle/>
          <a:p>
            <a:pPr algn="l" indent="0" marL="0">
              <a:buNone/>
            </a:pPr>
            <a:r>
              <a:rPr lang="en-US" sz="2600" b="1" dirty="0">
                <a:solidFill>
                  <a:srgbClr val="8ED6AC"/>
                </a:solidFill>
                <a:latin typeface="Cambria" pitchFamily="34" charset="0"/>
                <a:ea typeface="Cambria" pitchFamily="34" charset="-122"/>
                <a:cs typeface="Cambria" pitchFamily="34" charset="-120"/>
              </a:rPr>
              <a:t>3</a:t>
            </a:r>
            <a:endParaRPr lang="en-US" sz="2600" dirty="0"/>
          </a:p>
        </p:txBody>
      </p:sp>
      <p:sp>
        <p:nvSpPr>
          <p:cNvPr id="12" name="Text 9"/>
          <p:cNvSpPr/>
          <p:nvPr/>
        </p:nvSpPr>
        <p:spPr>
          <a:xfrm>
            <a:off x="1463040" y="3044952"/>
            <a:ext cx="5760720" cy="365760"/>
          </a:xfrm>
          <a:prstGeom prst="rect">
            <a:avLst/>
          </a:prstGeom>
          <a:noFill/>
          <a:ln/>
        </p:spPr>
        <p:txBody>
          <a:bodyPr wrap="square" lIns="0" tIns="0" rIns="0" bIns="0" rtlCol="0" anchor="t"/>
          <a:lstStyle/>
          <a:p>
            <a:pPr algn="l" indent="0" marL="0">
              <a:buNone/>
            </a:pPr>
            <a:r>
              <a:rPr lang="en-US" sz="1700" b="1" dirty="0">
                <a:solidFill>
                  <a:srgbClr val="EAF0F8"/>
                </a:solidFill>
                <a:latin typeface="Cambria" pitchFamily="34" charset="0"/>
                <a:ea typeface="Cambria" pitchFamily="34" charset="-122"/>
                <a:cs typeface="Cambria" pitchFamily="34" charset="-120"/>
              </a:rPr>
              <a:t>Gates before difficulty.</a:t>
            </a:r>
            <a:endParaRPr lang="en-US" sz="1700" dirty="0"/>
          </a:p>
        </p:txBody>
      </p:sp>
      <p:sp>
        <p:nvSpPr>
          <p:cNvPr id="13" name="Text 10"/>
          <p:cNvSpPr/>
          <p:nvPr/>
        </p:nvSpPr>
        <p:spPr>
          <a:xfrm>
            <a:off x="1463040" y="3456432"/>
            <a:ext cx="6583680" cy="365760"/>
          </a:xfrm>
          <a:prstGeom prst="rect">
            <a:avLst/>
          </a:prstGeom>
          <a:noFill/>
          <a:ln/>
        </p:spPr>
        <p:txBody>
          <a:bodyPr wrap="square" lIns="0" tIns="0" rIns="0" bIns="0" rtlCol="0" anchor="t"/>
          <a:lstStyle/>
          <a:p>
            <a:pPr algn="l" indent="0" marL="0">
              <a:buNone/>
            </a:pPr>
            <a:r>
              <a:rPr lang="en-US" sz="1050" dirty="0">
                <a:solidFill>
                  <a:srgbClr val="9FB0C7"/>
                </a:solidFill>
                <a:latin typeface="Calibri" pitchFamily="34" charset="0"/>
                <a:ea typeface="Calibri" pitchFamily="34" charset="-122"/>
                <a:cs typeface="Calibri" pitchFamily="34" charset="-120"/>
              </a:rPr>
              <a:t>Feasibility, health, and privacy structurally outrank “it looked easy.”</a:t>
            </a:r>
            <a:endParaRPr lang="en-US" sz="1050" dirty="0"/>
          </a:p>
        </p:txBody>
      </p:sp>
      <p:sp>
        <p:nvSpPr>
          <p:cNvPr id="14" name="Text 11"/>
          <p:cNvSpPr/>
          <p:nvPr/>
        </p:nvSpPr>
        <p:spPr>
          <a:xfrm>
            <a:off x="822960" y="3922776"/>
            <a:ext cx="502920" cy="502920"/>
          </a:xfrm>
          <a:prstGeom prst="rect">
            <a:avLst/>
          </a:prstGeom>
          <a:noFill/>
          <a:ln/>
        </p:spPr>
        <p:txBody>
          <a:bodyPr wrap="square" lIns="0" tIns="0" rIns="0" bIns="0" rtlCol="0" anchor="t"/>
          <a:lstStyle/>
          <a:p>
            <a:pPr algn="l" indent="0" marL="0">
              <a:buNone/>
            </a:pPr>
            <a:r>
              <a:rPr lang="en-US" sz="2600" b="1" dirty="0">
                <a:solidFill>
                  <a:srgbClr val="8ED6AC"/>
                </a:solidFill>
                <a:latin typeface="Cambria" pitchFamily="34" charset="0"/>
                <a:ea typeface="Cambria" pitchFamily="34" charset="-122"/>
                <a:cs typeface="Cambria" pitchFamily="34" charset="-120"/>
              </a:rPr>
              <a:t>4</a:t>
            </a:r>
            <a:endParaRPr lang="en-US" sz="2600" dirty="0"/>
          </a:p>
        </p:txBody>
      </p:sp>
      <p:sp>
        <p:nvSpPr>
          <p:cNvPr id="15" name="Text 12"/>
          <p:cNvSpPr/>
          <p:nvPr/>
        </p:nvSpPr>
        <p:spPr>
          <a:xfrm>
            <a:off x="1463040" y="3941064"/>
            <a:ext cx="5760720" cy="365760"/>
          </a:xfrm>
          <a:prstGeom prst="rect">
            <a:avLst/>
          </a:prstGeom>
          <a:noFill/>
          <a:ln/>
        </p:spPr>
        <p:txBody>
          <a:bodyPr wrap="square" lIns="0" tIns="0" rIns="0" bIns="0" rtlCol="0" anchor="t"/>
          <a:lstStyle/>
          <a:p>
            <a:pPr algn="l" indent="0" marL="0">
              <a:buNone/>
            </a:pPr>
            <a:r>
              <a:rPr lang="en-US" sz="1700" b="1" dirty="0">
                <a:solidFill>
                  <a:srgbClr val="EAF0F8"/>
                </a:solidFill>
                <a:latin typeface="Cambria" pitchFamily="34" charset="0"/>
                <a:ea typeface="Cambria" pitchFamily="34" charset="-122"/>
                <a:cs typeface="Cambria" pitchFamily="34" charset="-120"/>
              </a:rPr>
              <a:t>The pin always wins.</a:t>
            </a:r>
            <a:endParaRPr lang="en-US" sz="1700" dirty="0"/>
          </a:p>
        </p:txBody>
      </p:sp>
      <p:sp>
        <p:nvSpPr>
          <p:cNvPr id="16" name="Text 13"/>
          <p:cNvSpPr/>
          <p:nvPr/>
        </p:nvSpPr>
        <p:spPr>
          <a:xfrm>
            <a:off x="1463040" y="4352544"/>
            <a:ext cx="6583680" cy="365760"/>
          </a:xfrm>
          <a:prstGeom prst="rect">
            <a:avLst/>
          </a:prstGeom>
          <a:noFill/>
          <a:ln/>
        </p:spPr>
        <p:txBody>
          <a:bodyPr wrap="square" lIns="0" tIns="0" rIns="0" bIns="0" rtlCol="0" anchor="t"/>
          <a:lstStyle/>
          <a:p>
            <a:pPr algn="l" indent="0" marL="0">
              <a:buNone/>
            </a:pPr>
            <a:r>
              <a:rPr lang="en-US" sz="1050" dirty="0">
                <a:solidFill>
                  <a:srgbClr val="9FB0C7"/>
                </a:solidFill>
                <a:latin typeface="Calibri" pitchFamily="34" charset="0"/>
                <a:ea typeface="Calibri" pitchFamily="34" charset="-122"/>
                <a:cs typeface="Calibri" pitchFamily="34" charset="-120"/>
              </a:rPr>
              <a:t>Feasibility problems surface to the human; they never weaken the privacy pin.</a:t>
            </a:r>
            <a:endParaRPr lang="en-US" sz="1050" dirty="0"/>
          </a:p>
        </p:txBody>
      </p:sp>
      <p:sp>
        <p:nvSpPr>
          <p:cNvPr id="17" name="Text 14"/>
          <p:cNvSpPr/>
          <p:nvPr/>
        </p:nvSpPr>
        <p:spPr>
          <a:xfrm>
            <a:off x="822960" y="4818888"/>
            <a:ext cx="502920" cy="502920"/>
          </a:xfrm>
          <a:prstGeom prst="rect">
            <a:avLst/>
          </a:prstGeom>
          <a:noFill/>
          <a:ln/>
        </p:spPr>
        <p:txBody>
          <a:bodyPr wrap="square" lIns="0" tIns="0" rIns="0" bIns="0" rtlCol="0" anchor="t"/>
          <a:lstStyle/>
          <a:p>
            <a:pPr algn="l" indent="0" marL="0">
              <a:buNone/>
            </a:pPr>
            <a:r>
              <a:rPr lang="en-US" sz="2600" b="1" dirty="0">
                <a:solidFill>
                  <a:srgbClr val="8ED6AC"/>
                </a:solidFill>
                <a:latin typeface="Cambria" pitchFamily="34" charset="0"/>
                <a:ea typeface="Cambria" pitchFamily="34" charset="-122"/>
                <a:cs typeface="Cambria" pitchFamily="34" charset="-120"/>
              </a:rPr>
              <a:t>5</a:t>
            </a:r>
            <a:endParaRPr lang="en-US" sz="2600" dirty="0"/>
          </a:p>
        </p:txBody>
      </p:sp>
      <p:sp>
        <p:nvSpPr>
          <p:cNvPr id="18" name="Text 15"/>
          <p:cNvSpPr/>
          <p:nvPr/>
        </p:nvSpPr>
        <p:spPr>
          <a:xfrm>
            <a:off x="1463040" y="4837176"/>
            <a:ext cx="5760720" cy="365760"/>
          </a:xfrm>
          <a:prstGeom prst="rect">
            <a:avLst/>
          </a:prstGeom>
          <a:noFill/>
          <a:ln/>
        </p:spPr>
        <p:txBody>
          <a:bodyPr wrap="square" lIns="0" tIns="0" rIns="0" bIns="0" rtlCol="0" anchor="t"/>
          <a:lstStyle/>
          <a:p>
            <a:pPr algn="l" indent="0" marL="0">
              <a:buNone/>
            </a:pPr>
            <a:r>
              <a:rPr lang="en-US" sz="1700" b="1" dirty="0">
                <a:solidFill>
                  <a:srgbClr val="EAF0F8"/>
                </a:solidFill>
                <a:latin typeface="Cambria" pitchFamily="34" charset="0"/>
                <a:ea typeface="Cambria" pitchFamily="34" charset="-122"/>
                <a:cs typeface="Cambria" pitchFamily="34" charset="-120"/>
              </a:rPr>
              <a:t>Dumb rules on purpose.</a:t>
            </a:r>
            <a:endParaRPr lang="en-US" sz="1700" dirty="0"/>
          </a:p>
        </p:txBody>
      </p:sp>
      <p:sp>
        <p:nvSpPr>
          <p:cNvPr id="19" name="Text 16"/>
          <p:cNvSpPr/>
          <p:nvPr/>
        </p:nvSpPr>
        <p:spPr>
          <a:xfrm>
            <a:off x="1463040" y="5248656"/>
            <a:ext cx="6583680" cy="365760"/>
          </a:xfrm>
          <a:prstGeom prst="rect">
            <a:avLst/>
          </a:prstGeom>
          <a:noFill/>
          <a:ln/>
        </p:spPr>
        <p:txBody>
          <a:bodyPr wrap="square" lIns="0" tIns="0" rIns="0" bIns="0" rtlCol="0" anchor="t"/>
          <a:lstStyle/>
          <a:p>
            <a:pPr algn="l" indent="0" marL="0">
              <a:buNone/>
            </a:pPr>
            <a:r>
              <a:rPr lang="en-US" sz="1050" dirty="0">
                <a:solidFill>
                  <a:srgbClr val="9FB0C7"/>
                </a:solidFill>
                <a:latin typeface="Calibri" pitchFamily="34" charset="0"/>
                <a:ea typeface="Calibri" pitchFamily="34" charset="-122"/>
                <a:cs typeface="Calibri" pitchFamily="34" charset="-120"/>
              </a:rPr>
              <a:t>Heuristics decide ~70%; the learned router ships only after beating the best-single-model baseline.</a:t>
            </a:r>
            <a:endParaRPr lang="en-US" sz="1050" dirty="0"/>
          </a:p>
        </p:txBody>
      </p:sp>
      <p:sp>
        <p:nvSpPr>
          <p:cNvPr id="20" name="Shape 17"/>
          <p:cNvSpPr/>
          <p:nvPr/>
        </p:nvSpPr>
        <p:spPr>
          <a:xfrm>
            <a:off x="8549640" y="1234440"/>
            <a:ext cx="3108960" cy="4343400"/>
          </a:xfrm>
          <a:prstGeom prst="roundRect">
            <a:avLst>
              <a:gd name="adj" fmla="val 2059"/>
            </a:avLst>
          </a:prstGeom>
          <a:solidFill>
            <a:srgbClr val="20334F"/>
          </a:solidFill>
          <a:ln/>
          <a:effectLst>
            <a:outerShdw sx="100000" sy="100000" kx="0" ky="0" algn="bl" rotWithShape="0" blurRad="88900" dist="25400" dir="2700000">
              <a:srgbClr val="1F2A3D">
                <a:alpha val="14000"/>
              </a:srgbClr>
            </a:outerShdw>
          </a:effectLst>
        </p:spPr>
      </p:sp>
      <p:sp>
        <p:nvSpPr>
          <p:cNvPr id="21" name="Text 18"/>
          <p:cNvSpPr/>
          <p:nvPr/>
        </p:nvSpPr>
        <p:spPr>
          <a:xfrm>
            <a:off x="8796528" y="1463040"/>
            <a:ext cx="2651760" cy="274320"/>
          </a:xfrm>
          <a:prstGeom prst="rect">
            <a:avLst/>
          </a:prstGeom>
          <a:noFill/>
          <a:ln/>
        </p:spPr>
        <p:txBody>
          <a:bodyPr wrap="square" lIns="0" tIns="0" rIns="0" bIns="0" rtlCol="0" anchor="t"/>
          <a:lstStyle/>
          <a:p>
            <a:pPr algn="l" indent="0" marL="0">
              <a:buNone/>
            </a:pPr>
            <a:r>
              <a:rPr lang="en-US" sz="1000" b="1" spc="300" kern="0" dirty="0">
                <a:solidFill>
                  <a:srgbClr val="9FB0C7"/>
                </a:solidFill>
                <a:latin typeface="Calibri" pitchFamily="34" charset="0"/>
                <a:ea typeface="Calibri" pitchFamily="34" charset="-122"/>
                <a:cs typeface="Calibri" pitchFamily="34" charset="-120"/>
              </a:rPr>
              <a:t>READ NEXT</a:t>
            </a:r>
            <a:endParaRPr lang="en-US" sz="1000" dirty="0"/>
          </a:p>
        </p:txBody>
      </p:sp>
      <p:sp>
        <p:nvSpPr>
          <p:cNvPr id="22" name="Text 19"/>
          <p:cNvSpPr/>
          <p:nvPr/>
        </p:nvSpPr>
        <p:spPr>
          <a:xfrm>
            <a:off x="8796528" y="1783080"/>
            <a:ext cx="2651760" cy="3657600"/>
          </a:xfrm>
          <a:prstGeom prst="rect">
            <a:avLst/>
          </a:prstGeom>
          <a:noFill/>
          <a:ln/>
        </p:spPr>
        <p:txBody>
          <a:bodyPr wrap="square" lIns="0" tIns="0" rIns="0" bIns="0" rtlCol="0" anchor="t"/>
          <a:lstStyle/>
          <a:p>
            <a:pPr algn="l" indent="0" marL="0">
              <a:lnSpc>
                <a:spcPct val="112000"/>
              </a:lnSpc>
              <a:buNone/>
            </a:pPr>
            <a:r>
              <a:rPr lang="en-US" sz="1100" b="1" dirty="0">
                <a:solidFill>
                  <a:srgbClr val="EAF0F8"/>
                </a:solidFill>
                <a:latin typeface="Calibri" pitchFamily="34" charset="0"/>
                <a:ea typeface="Calibri" pitchFamily="34" charset="-122"/>
                <a:cs typeface="Calibri" pitchFamily="34" charset="-120"/>
              </a:rPr>
              <a:t>adaptive-routing-layer-design.md</a:t>
            </a:r>
            <a:endParaRPr lang="en-US" sz="1100" dirty="0"/>
          </a:p>
          <a:p>
            <a:pPr algn="l" indent="0" marL="0">
              <a:lnSpc>
                <a:spcPct val="112000"/>
              </a:lnSpc>
              <a:buNone/>
            </a:pPr>
            <a:r>
              <a:rPr lang="en-US" sz="950" dirty="0">
                <a:solidFill>
                  <a:srgbClr val="9FB0C7"/>
                </a:solidFill>
                <a:latin typeface="Calibri" pitchFamily="34" charset="0"/>
                <a:ea typeface="Calibri" pitchFamily="34" charset="-122"/>
                <a:cs typeface="Calibri" pitchFamily="34" charset="-120"/>
              </a:rPr>
              <a:t>architecture · components · §16 changelog</a:t>
            </a:r>
            <a:endParaRPr lang="en-US" sz="1100" dirty="0"/>
          </a:p>
          <a:p>
            <a:pPr algn="l" indent="0" marL="0">
              <a:lnSpc>
                <a:spcPct val="112000"/>
              </a:lnSpc>
              <a:buNone/>
            </a:pPr>
            <a:r>
              <a:rPr lang="en-US" sz="600" dirty="0">
                <a:solidFill>
                  <a:srgbClr val="1F2A3D"/>
                </a:solidFill>
                <a:latin typeface="Calibri" pitchFamily="34" charset="0"/>
                <a:ea typeface="Calibri" pitchFamily="34" charset="-122"/>
                <a:cs typeface="Calibri" pitchFamily="34" charset="-120"/>
              </a:rPr>
              <a:t> </a:t>
            </a:r>
            <a:endParaRPr lang="en-US" sz="1100" dirty="0"/>
          </a:p>
          <a:p>
            <a:pPr algn="l" indent="0" marL="0">
              <a:lnSpc>
                <a:spcPct val="112000"/>
              </a:lnSpc>
              <a:buNone/>
            </a:pPr>
            <a:r>
              <a:rPr lang="en-US" sz="1100" b="1" dirty="0">
                <a:solidFill>
                  <a:srgbClr val="EAF0F8"/>
                </a:solidFill>
                <a:latin typeface="Calibri" pitchFamily="34" charset="0"/>
                <a:ea typeface="Calibri" pitchFamily="34" charset="-122"/>
                <a:cs typeface="Calibri" pitchFamily="34" charset="-120"/>
              </a:rPr>
              <a:t>adaptive-routing-scenarios.md</a:t>
            </a:r>
            <a:endParaRPr lang="en-US" sz="1100" dirty="0"/>
          </a:p>
          <a:p>
            <a:pPr algn="l" indent="0" marL="0">
              <a:lnSpc>
                <a:spcPct val="112000"/>
              </a:lnSpc>
              <a:buNone/>
            </a:pPr>
            <a:r>
              <a:rPr lang="en-US" sz="950" dirty="0">
                <a:solidFill>
                  <a:srgbClr val="9FB0C7"/>
                </a:solidFill>
                <a:latin typeface="Calibri" pitchFamily="34" charset="0"/>
                <a:ea typeface="Calibri" pitchFamily="34" charset="-122"/>
                <a:cs typeface="Calibri" pitchFamily="34" charset="-120"/>
              </a:rPr>
              <a:t>all 15 wire-level traces — every principle in this deck, on the wire</a:t>
            </a:r>
            <a:endParaRPr lang="en-US" sz="1100" dirty="0"/>
          </a:p>
          <a:p>
            <a:pPr algn="l" indent="0" marL="0">
              <a:lnSpc>
                <a:spcPct val="112000"/>
              </a:lnSpc>
              <a:buNone/>
            </a:pPr>
            <a:r>
              <a:rPr lang="en-US" sz="600" dirty="0">
                <a:solidFill>
                  <a:srgbClr val="1F2A3D"/>
                </a:solidFill>
                <a:latin typeface="Calibri" pitchFamily="34" charset="0"/>
                <a:ea typeface="Calibri" pitchFamily="34" charset="-122"/>
                <a:cs typeface="Calibri" pitchFamily="34" charset="-120"/>
              </a:rPr>
              <a:t> </a:t>
            </a:r>
            <a:endParaRPr lang="en-US" sz="1100" dirty="0"/>
          </a:p>
          <a:p>
            <a:pPr algn="l" indent="0" marL="0">
              <a:lnSpc>
                <a:spcPct val="112000"/>
              </a:lnSpc>
              <a:buNone/>
            </a:pPr>
            <a:r>
              <a:rPr lang="en-US" sz="1100" b="1" dirty="0">
                <a:solidFill>
                  <a:srgbClr val="EAF0F8"/>
                </a:solidFill>
                <a:latin typeface="Calibri" pitchFamily="34" charset="0"/>
                <a:ea typeface="Calibri" pitchFamily="34" charset="-122"/>
                <a:cs typeface="Calibri" pitchFamily="34" charset="-120"/>
              </a:rPr>
              <a:t>deep-research-vetting.md</a:t>
            </a:r>
            <a:endParaRPr lang="en-US" sz="1100" dirty="0"/>
          </a:p>
          <a:p>
            <a:pPr algn="l" indent="0" marL="0">
              <a:lnSpc>
                <a:spcPct val="112000"/>
              </a:lnSpc>
              <a:buNone/>
            </a:pPr>
            <a:r>
              <a:rPr lang="en-US" sz="950" dirty="0">
                <a:solidFill>
                  <a:srgbClr val="9FB0C7"/>
                </a:solidFill>
                <a:latin typeface="Calibri" pitchFamily="34" charset="0"/>
                <a:ea typeface="Calibri" pitchFamily="34" charset="-122"/>
                <a:cs typeface="Calibri" pitchFamily="34" charset="-120"/>
              </a:rPr>
              <a:t>verified findings, sources, open questions</a:t>
            </a:r>
            <a:endParaRPr lang="en-US" sz="1100" dirty="0"/>
          </a:p>
          <a:p>
            <a:pPr algn="l" indent="0" marL="0">
              <a:lnSpc>
                <a:spcPct val="112000"/>
              </a:lnSpc>
              <a:buNone/>
            </a:pPr>
            <a:r>
              <a:rPr lang="en-US" sz="600" dirty="0">
                <a:solidFill>
                  <a:srgbClr val="1F2A3D"/>
                </a:solidFill>
                <a:latin typeface="Calibri" pitchFamily="34" charset="0"/>
                <a:ea typeface="Calibri" pitchFamily="34" charset="-122"/>
                <a:cs typeface="Calibri" pitchFamily="34" charset="-120"/>
              </a:rPr>
              <a:t> </a:t>
            </a:r>
            <a:endParaRPr lang="en-US" sz="1100" dirty="0"/>
          </a:p>
          <a:p>
            <a:pPr algn="l" indent="0" marL="0">
              <a:lnSpc>
                <a:spcPct val="112000"/>
              </a:lnSpc>
              <a:buNone/>
            </a:pPr>
            <a:r>
              <a:rPr lang="en-US" sz="1100" b="1" dirty="0">
                <a:solidFill>
                  <a:srgbClr val="8ED6AC"/>
                </a:solidFill>
                <a:latin typeface="Calibri" pitchFamily="34" charset="0"/>
                <a:ea typeface="Calibri" pitchFamily="34" charset="-122"/>
                <a:cs typeface="Calibri" pitchFamily="34" charset="-120"/>
              </a:rPr>
              <a:t>First step: Phase 0</a:t>
            </a:r>
            <a:endParaRPr lang="en-US" sz="1100" dirty="0"/>
          </a:p>
          <a:p>
            <a:pPr algn="l" indent="0" marL="0">
              <a:lnSpc>
                <a:spcPct val="112000"/>
              </a:lnSpc>
              <a:buNone/>
            </a:pPr>
            <a:r>
              <a:rPr lang="en-US" sz="950" dirty="0">
                <a:solidFill>
                  <a:srgbClr val="9FB0C7"/>
                </a:solidFill>
                <a:latin typeface="Calibri" pitchFamily="34" charset="0"/>
                <a:ea typeface="Calibri" pitchFamily="34" charset="-122"/>
                <a:cs typeface="Calibri" pitchFamily="34" charset="-120"/>
              </a:rPr>
              <a:t>one week of shadow-mode logging on live traffic — zero risk, real numbers</a:t>
            </a:r>
            <a:endParaRPr lang="en-US" sz="1100" dirty="0"/>
          </a:p>
        </p:txBody>
      </p:sp>
      <p:sp>
        <p:nvSpPr>
          <p:cNvPr id="23" name="Text 20"/>
          <p:cNvSpPr/>
          <p:nvPr/>
        </p:nvSpPr>
        <p:spPr>
          <a:xfrm>
            <a:off x="822960" y="5989320"/>
            <a:ext cx="10515600" cy="320040"/>
          </a:xfrm>
          <a:prstGeom prst="rect">
            <a:avLst/>
          </a:prstGeom>
          <a:noFill/>
          <a:ln/>
        </p:spPr>
        <p:txBody>
          <a:bodyPr wrap="square" lIns="0" tIns="0" rIns="0" bIns="0" rtlCol="0" anchor="t"/>
          <a:lstStyle/>
          <a:p>
            <a:pPr algn="l" indent="0" marL="0">
              <a:buNone/>
            </a:pPr>
            <a:r>
              <a:rPr lang="en-US" sz="1100" dirty="0">
                <a:solidFill>
                  <a:srgbClr val="9FB0C7"/>
                </a:solidFill>
                <a:latin typeface="Calibri" pitchFamily="34" charset="0"/>
                <a:ea typeface="Calibri" pitchFamily="34" charset="-122"/>
                <a:cs typeface="Calibri" pitchFamily="34" charset="-120"/>
              </a:rPr>
              <a:t>Questions → Arun · the docs live in the adrl repo</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Adaptive Routing Layer — Design Handover</dc:title>
  <dc:subject>Adaptive routing for LLM coding agents</dc:subject>
  <dc:creator>Arun</dc:creator>
  <cp:lastModifiedBy>Arun</cp:lastModifiedBy>
  <cp:revision>1</cp:revision>
  <dcterms:created xsi:type="dcterms:W3CDTF">2026-07-06T12:17:49Z</dcterms:created>
  <dcterms:modified xsi:type="dcterms:W3CDTF">2026-07-06T12:17:49Z</dcterms:modified>
</cp:coreProperties>
</file>