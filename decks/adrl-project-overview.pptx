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Request mix</c:v>
                </c:pt>
              </c:strCache>
            </c:strRef>
          </c:tx>
          <c:spPr>
            <a:solidFill>
              <a:schemeClr val="accent1"/>
            </a:solidFill>
            <a:ln w="9525" cap="flat">
              <a:solidFill>
                <a:srgbClr val="F9F9F9"/>
              </a:solidFill>
              <a:prstDash val="solid"/>
              <a:round/>
            </a:ln>
            <a:effectLst/>
          </c:spPr>
          <c:dPt>
            <c:idx val="0"/>
            <c:bubble3D val="0"/>
            <c:spPr>
              <a:solidFill>
                <a:srgbClr val="1D6FA5"/>
              </a:solidFill>
              <a:effectLst/>
            </c:spPr>
          </c:dPt>
          <c:dPt>
            <c:idx val="1"/>
            <c:bubble3D val="0"/>
            <c:spPr>
              <a:solidFill>
                <a:srgbClr val="B45309"/>
              </a:solidFill>
              <a:effectLst/>
            </c:spPr>
          </c:dPt>
          <c:dPt>
            <c:idx val="2"/>
            <c:bubble3D val="0"/>
            <c:spPr>
              <a:solidFill>
                <a:srgbClr val="5B21B6"/>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Tool continuations 73.3%</c:v>
                </c:pt>
                <c:pt idx="1">
                  <c:v>Harness housekeeping 10.7%</c:v>
                </c:pt>
                <c:pt idx="2">
                  <c:v>Genuine user turns 16.1%</c:v>
                </c:pt>
              </c:strCache>
            </c:strRef>
          </c:cat>
          <c:val>
            <c:numRef>
              <c:f>Sheet1!$B$2:$B$4</c:f>
              <c:numCache>
                <c:ptCount val="3"/>
                <c:pt idx="0">
                  <c:v>73.3</c:v>
                </c:pt>
                <c:pt idx="1">
                  <c:v>10.7</c:v>
                </c:pt>
                <c:pt idx="2">
                  <c:v>16.1</c:v>
                </c:pt>
              </c:numCache>
            </c:numRef>
          </c:val>
        </c:ser>
        <c:firstSliceAng val="0"/>
        <c:holeSize val="60"/>
      </c:doughnutChart>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Adaptive Routing Layer routes coding-agent work across a model ladder — local, cheap cloud, frontier — deciding once per user turn. The project's discipline is the story of this deck: every design claim was adversarially validated, then falsified cheaply against 927MB of real traffic, before implementation money was spent. We'll cover the problem, the design, two validation passes, Phase 0 results with real data, and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version of the whole deck: the problem is that agent traffic is mostly not user instructions, yet a static config prices everything at frontier rates. The design routes once per turn across a three-rung ladder and was validated twice before any code — an internal review that fixed five flaws on paper, and a 108-agent research vetting that confirmed 23 of 25 claims. Phase 0 then tested the design against 5.5 weeks of my own real traffic: the traffic model held, and the strategic surprise is that easy user turns are only 3.7% of spend — the real lever is subagent delegation.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failing test” explodes into file reads, test runs, and edits — each round-trip its own HTTP request, most of them the middle of a thought. Measured on my own corpus, 73.3% of requests are mid-turn continuations and 10.7% are harness housekeeping; only 16.1% are genuine new instructions. A static config prices all of it at frontier rates, and the naive fix — re-deciding per request — breaks the agent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 sits between the harness and LiteLLM and decides once per user turn which rung handles it; everything mid-turn inherits that route through a sub-millisecond sticky lookup. There are exactly two legal moments to change models: a new user turn, or a trip-wire firing at an action boundary. The empirical anchor: 99.3% of prompt tokens on my traffic were served from cache — an asset that dies on a mid-turn switch, before you even count the protocol breaks and reasoning whiplash.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discriminator labels every request with mechanical rules in microseconds, so the expensive machinery only runs on ~15% of traffic. The policy engine decides new turns; the escalation controller rescues failing ones; the registry, pin, and flywheel are what make those decisions honest, safe, and self-improving. Details on the next three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0 is the set of hard gates nothing overrides: the privacy pin, context feasibility, endpoint health, and escalation hysteresis — they run first by construction. Layer 1 is hand-tuned heuristics on intent, scope, and error history; it confidently decides about 70% of turns. Layer 2, the learned router, gets only the ambiguous middle and only ships in a later phase, once the flywheel has real outcomes to train on — dumb rules on purpose: fast, debuggable, can't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turn routed cheap runs under supervision: mechanical trip-wires that fire on hard evidence — an edit failing to apply twice, a malformed tool call twice, the same call three times, six actions without progress, or the user interrupting, which is the strongest quality signal available. Escalation is a rebuild, not a resend: strip the foreign reasoning, re-map tool IDs, prepend a three-line failure note so the stronger model doesn't re-walk the dead end. Hysteresis then holds the episode on the higher rung — no flip-flopping.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registry is measured, not benchmarked, and keyed by (model, harness) pairs — the same local model scores 0.93 under Codex's patch-based edits but 0.87 under Claude Code's exact-string edits, so one number per model would mislabel dialect failures as task difficulty. Rungs are model classes; endpoint failover between llama.cpp and MLX serving the same model belongs to LiteLLM. And the privacy pin: if a secret appears in any tool result, the session is pinned to local permanently, enforced structurally at gate layer 0 — the vetting pass found no routing layer on the market documenting an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external check, an internal consistency review walked the design against its own scenarios and found five real flaws — each fixed in the document, where a fix costs an afternoon, instead of in production, where it costs an incident. Two of the five weren't fixable on paper at all: they were load-bearing assumptions, so they were flagged for empirical testing and became Phase 0 exit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multi-agent research harness — 108 agents across the production-router and academic literature — fetched 26 sources, extracted 129 claims, and adversarially verified the top 25 with 3-vote panels: 23 confirmed, 2 refuted. The headline convergence: GitHub Copilot's production Auto router independently made the same core choice — never switch mid-conversation, route at cache boundaries — and the literature backs heuristics-first: several learned routers, including a commercial one at −24.7%, score below the trivial best-single-model baseline. Just as valuable were the four gaps it found, all fixed in v2 before a line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runs the decision logic on real traffic and logs what it would do, changing nothing. The accelerating discovery: the harness already writes full session transcripts to local disk — 3,127 files, 927MB, about 5.5 weeks of real history — and it garbage-collects after ~30 days, so day one was an emergency snapshot. On top of that corpus we built a streaming miner (parser → turn assembler → discriminator-twin labeler → parquet), scenario fingerprint matchers, a metrics report, a secrets scanner, and a transparent wire-capture proxy whose kill switch is unsetting one env var. The full corpus — 5,027 turns — parses with zero errors in about five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results. The traffic model held: every measured share landed inside its predicted band. Ten of fifteen design scenarios matched real traces from the corpus; one was falsified for the boring reason that there's no Codex usage in it, three correctly deferred to wire capture, and the single 'invariant violation' — two models in one turn — turned out to be the provider-side Fable 5 → Opus 4.8 fallback, the one legal kind of mid-turn switch. The privacy scenario is real: seven sessions carried credentials in tool results and would have been pinned. And the economics baseline is set: about $3,313 observed; $2,941 re-priced entirely at Opus 4.8 — the best-single-model number any learned router must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that re-ranked the roadmap: a naive easy-turn filter marks 45.5% of user turns as local-routable, but they're worth only $108 of the $2,941 baseline — 3.7%. The volume and the money are in subagent traffic: 3,773 subagent turns with 27,116 tool continuations, against 1,254 main-session turns. So the biggest lever isn't routing easy user turns down — it's the hybrid pattern where the frontier model does the thinking and delegates bounded, read-only grunt work to a free local model. That inverts Phase 1 priorities and matches the industry's small-models-for-agents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limitations. It's a single-user corpus, skewed by workflow-heavy usage, so the shares will differ for other users and teams. Transcript counts are lower bounds — sidecar calls are invisible until the wire capture runs. The learned-router evidence from the literature is single-turn, not agentic, which is exactly why Phase 3 has a hard exit gate rather than a default green light. And every savings number in this deck is a ceiling,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Phase 0, about two weeks: wire capture is live on daily traffic; next is testing the two flagged assumptions empirically, extracting wire fingerprints, and running the shadow discriminator on at least 200 live turns under 20 milliseconds of overhead. Phase 1 pins housekeeping to local — near-zero risk — and, given the economics finding, likely prioritizes subagent-local routing. Phase 2 goes live on user turns with trip-wires armed and a one-line kill switch, gated on escalation rate, retry rate, and zero pin violations. Phase 3's learned router ships only if it beats both the hand-tuned heuristics and the $2,941 best-single-model baseline on replayed traffic — a bar most published routers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through-line: every claim in this deck was verified against production practice, the research literature, or 927MB of my own traffic before implementation money was spent. Wire capture is running on daily traffic today; the next checkpoint is the shadow discriminator on 200 live turns. The docs, the vetting report, the miner, and the proxy are all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A"/>
        </a:solidFill>
      </p:bgPr>
    </p:bg>
    <p:spTree>
      <p:nvGrpSpPr>
        <p:cNvPr id="1" name=""/>
        <p:cNvGrpSpPr/>
        <p:nvPr/>
      </p:nvGrpSpPr>
      <p:grpSpPr>
        <a:xfrm>
          <a:off x="0" y="0"/>
          <a:ext cx="0" cy="0"/>
          <a:chOff x="0" y="0"/>
          <a:chExt cx="0" cy="0"/>
        </a:xfrm>
      </p:grpSpPr>
      <p:sp>
        <p:nvSpPr>
          <p:cNvPr id="2" name="Text 0"/>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FB0C7"/>
                </a:solidFill>
                <a:latin typeface="Calibri" pitchFamily="34" charset="0"/>
                <a:ea typeface="Calibri" pitchFamily="34" charset="-122"/>
                <a:cs typeface="Calibri" pitchFamily="34" charset="-120"/>
              </a:rPr>
              <a:t>1</a:t>
            </a:r>
            <a:endParaRPr lang="en-US" sz="900" dirty="0"/>
          </a:p>
        </p:txBody>
      </p:sp>
      <p:sp>
        <p:nvSpPr>
          <p:cNvPr id="4" name="Text 1"/>
          <p:cNvSpPr/>
          <p:nvPr/>
        </p:nvSpPr>
        <p:spPr>
          <a:xfrm>
            <a:off x="822960" y="1170432"/>
            <a:ext cx="8229600" cy="274320"/>
          </a:xfrm>
          <a:prstGeom prst="rect">
            <a:avLst/>
          </a:prstGeom>
          <a:noFill/>
          <a:ln/>
        </p:spPr>
        <p:txBody>
          <a:bodyPr wrap="square" lIns="0" tIns="0" rIns="0" bIns="0" rtlCol="0" anchor="t"/>
          <a:lstStyle/>
          <a:p>
            <a:pPr algn="l" indent="0" marL="0">
              <a:buNone/>
            </a:pPr>
            <a:r>
              <a:rPr lang="en-US" sz="1100" b="1" spc="300" kern="0" dirty="0">
                <a:solidFill>
                  <a:srgbClr val="9FB0C7"/>
                </a:solidFill>
                <a:latin typeface="Calibri" pitchFamily="34" charset="0"/>
                <a:ea typeface="Calibri" pitchFamily="34" charset="-122"/>
                <a:cs typeface="Calibri" pitchFamily="34" charset="-120"/>
              </a:rPr>
              <a:t>ADAPTIVE ROUTING LAYER (ADRL) · PROJECT OVERVIEW</a:t>
            </a:r>
            <a:endParaRPr lang="en-US" sz="1100" dirty="0"/>
          </a:p>
        </p:txBody>
      </p:sp>
      <p:sp>
        <p:nvSpPr>
          <p:cNvPr id="5" name="Text 2"/>
          <p:cNvSpPr/>
          <p:nvPr/>
        </p:nvSpPr>
        <p:spPr>
          <a:xfrm>
            <a:off x="822960" y="1554480"/>
            <a:ext cx="6766560" cy="2011680"/>
          </a:xfrm>
          <a:prstGeom prst="rect">
            <a:avLst/>
          </a:prstGeom>
          <a:noFill/>
          <a:ln/>
        </p:spPr>
        <p:txBody>
          <a:bodyPr wrap="square" lIns="0" tIns="0" rIns="0" bIns="0" rtlCol="0" anchor="t"/>
          <a:lstStyle/>
          <a:p>
            <a:pPr algn="l" indent="0" marL="0">
              <a:lnSpc>
                <a:spcPct val="102000"/>
              </a:lnSpc>
              <a:buNone/>
            </a:pPr>
            <a:r>
              <a:rPr lang="en-US" sz="4600" b="1" dirty="0">
                <a:solidFill>
                  <a:srgbClr val="EAF0F8"/>
                </a:solidFill>
                <a:latin typeface="Cambria" pitchFamily="34" charset="0"/>
                <a:ea typeface="Cambria" pitchFamily="34" charset="-122"/>
                <a:cs typeface="Cambria" pitchFamily="34" charset="-120"/>
              </a:rPr>
              <a:t>Route turns,</a:t>
            </a:r>
            <a:endParaRPr lang="en-US" sz="4600" dirty="0"/>
          </a:p>
          <a:p>
            <a:pPr algn="l" indent="0" marL="0">
              <a:lnSpc>
                <a:spcPct val="102000"/>
              </a:lnSpc>
              <a:buNone/>
            </a:pPr>
            <a:r>
              <a:rPr lang="en-US" sz="4600" b="1" dirty="0">
                <a:solidFill>
                  <a:srgbClr val="EAF0F8"/>
                </a:solidFill>
                <a:latin typeface="Cambria" pitchFamily="34" charset="0"/>
                <a:ea typeface="Cambria" pitchFamily="34" charset="-122"/>
                <a:cs typeface="Cambria" pitchFamily="34" charset="-120"/>
              </a:rPr>
              <a:t>not requests</a:t>
            </a:r>
            <a:endParaRPr lang="en-US" sz="4600" dirty="0"/>
          </a:p>
        </p:txBody>
      </p:sp>
      <p:sp>
        <p:nvSpPr>
          <p:cNvPr id="6" name="Text 3"/>
          <p:cNvSpPr/>
          <p:nvPr/>
        </p:nvSpPr>
        <p:spPr>
          <a:xfrm>
            <a:off x="822960" y="3703320"/>
            <a:ext cx="6400800" cy="822960"/>
          </a:xfrm>
          <a:prstGeom prst="rect">
            <a:avLst/>
          </a:prstGeom>
          <a:noFill/>
          <a:ln/>
        </p:spPr>
        <p:txBody>
          <a:bodyPr wrap="square" lIns="0" tIns="0" rIns="0" bIns="0" rtlCol="0" anchor="t"/>
          <a:lstStyle/>
          <a:p>
            <a:pPr algn="l" indent="0" marL="0">
              <a:lnSpc>
                <a:spcPct val="120000"/>
              </a:lnSpc>
              <a:buNone/>
            </a:pPr>
            <a:r>
              <a:rPr lang="en-US" sz="1500" dirty="0">
                <a:solidFill>
                  <a:srgbClr val="9FB0C7"/>
                </a:solidFill>
                <a:latin typeface="Calibri" pitchFamily="34" charset="0"/>
                <a:ea typeface="Calibri" pitchFamily="34" charset="-122"/>
                <a:cs typeface="Calibri" pitchFamily="34" charset="-120"/>
              </a:rPr>
              <a:t>A routing layer for coding agents — designed, adversarially validated, and tested against 927MB of real traffic before build.</a:t>
            </a:r>
            <a:endParaRPr lang="en-US" sz="1500" dirty="0"/>
          </a:p>
        </p:txBody>
      </p:sp>
      <p:sp>
        <p:nvSpPr>
          <p:cNvPr id="7" name="Shape 4"/>
          <p:cNvSpPr/>
          <p:nvPr/>
        </p:nvSpPr>
        <p:spPr>
          <a:xfrm>
            <a:off x="8412480" y="1417320"/>
            <a:ext cx="3063240" cy="841248"/>
          </a:xfrm>
          <a:prstGeom prst="roundRect">
            <a:avLst>
              <a:gd name="adj" fmla="val 7609"/>
            </a:avLst>
          </a:prstGeom>
          <a:solidFill>
            <a:srgbClr val="20334F"/>
          </a:solidFill>
          <a:ln/>
          <a:effectLst>
            <a:outerShdw sx="100000" sy="100000" kx="0" ky="0" algn="bl" rotWithShape="0" blurRad="88900" dist="25400" dir="2700000">
              <a:srgbClr val="1F2A3D">
                <a:alpha val="14000"/>
              </a:srgbClr>
            </a:outerShdw>
          </a:effectLst>
        </p:spPr>
      </p:sp>
      <p:sp>
        <p:nvSpPr>
          <p:cNvPr id="8" name="Shape 5"/>
          <p:cNvSpPr/>
          <p:nvPr/>
        </p:nvSpPr>
        <p:spPr>
          <a:xfrm>
            <a:off x="8577072" y="1627632"/>
            <a:ext cx="420624" cy="420624"/>
          </a:xfrm>
          <a:prstGeom prst="ellipse">
            <a:avLst/>
          </a:prstGeom>
          <a:solidFill>
            <a:srgbClr val="5B21B6"/>
          </a:solidFill>
          <a:ln/>
        </p:spPr>
      </p:sp>
      <p:pic>
        <p:nvPicPr>
          <p:cNvPr id="9" name="Image 0" descr="preencoded.png">    </p:cNvPr>
          <p:cNvPicPr>
            <a:picLocks noChangeAspect="1"/>
          </p:cNvPicPr>
          <p:nvPr/>
        </p:nvPicPr>
        <p:blipFill>
          <a:blip r:embed="rId1"/>
          <a:stretch>
            <a:fillRect/>
          </a:stretch>
        </p:blipFill>
        <p:spPr>
          <a:xfrm>
            <a:off x="8686434" y="1736994"/>
            <a:ext cx="201900" cy="201900"/>
          </a:xfrm>
          <a:prstGeom prst="rect">
            <a:avLst/>
          </a:prstGeom>
        </p:spPr>
      </p:pic>
      <p:sp>
        <p:nvSpPr>
          <p:cNvPr id="10" name="Text 6"/>
          <p:cNvSpPr/>
          <p:nvPr/>
        </p:nvSpPr>
        <p:spPr>
          <a:xfrm>
            <a:off x="9144000" y="1563624"/>
            <a:ext cx="2240280" cy="274320"/>
          </a:xfrm>
          <a:prstGeom prst="rect">
            <a:avLst/>
          </a:prstGeom>
          <a:noFill/>
          <a:ln/>
        </p:spPr>
        <p:txBody>
          <a:bodyPr wrap="square" lIns="0" tIns="0" rIns="0" bIns="0" rtlCol="0" anchor="t"/>
          <a:lstStyle/>
          <a:p>
            <a:pPr algn="l" indent="0" marL="0">
              <a:buNone/>
            </a:pPr>
            <a:r>
              <a:rPr lang="en-US" sz="1250" b="1" spc="100" kern="0" dirty="0">
                <a:solidFill>
                  <a:srgbClr val="EAF0F8"/>
                </a:solidFill>
                <a:latin typeface="Calibri" pitchFamily="34" charset="0"/>
                <a:ea typeface="Calibri" pitchFamily="34" charset="-122"/>
                <a:cs typeface="Calibri" pitchFamily="34" charset="-120"/>
              </a:rPr>
              <a:t>FRONTIER</a:t>
            </a:r>
            <a:endParaRPr lang="en-US" sz="1250" dirty="0"/>
          </a:p>
        </p:txBody>
      </p:sp>
      <p:sp>
        <p:nvSpPr>
          <p:cNvPr id="11" name="Text 7"/>
          <p:cNvSpPr/>
          <p:nvPr/>
        </p:nvSpPr>
        <p:spPr>
          <a:xfrm>
            <a:off x="9144000" y="1856232"/>
            <a:ext cx="2240280" cy="274320"/>
          </a:xfrm>
          <a:prstGeom prst="rect">
            <a:avLst/>
          </a:prstGeom>
          <a:noFill/>
          <a:ln/>
        </p:spPr>
        <p:txBody>
          <a:bodyPr wrap="square" lIns="0" tIns="0" rIns="0" bIns="0" rtlCol="0" anchor="t"/>
          <a:lstStyle/>
          <a:p>
            <a:pPr algn="l" indent="0" marL="0">
              <a:buNone/>
            </a:pPr>
            <a:r>
              <a:rPr lang="en-US" sz="950" dirty="0">
                <a:solidFill>
                  <a:srgbClr val="9FB0C7"/>
                </a:solidFill>
                <a:latin typeface="Calibri" pitchFamily="34" charset="0"/>
                <a:ea typeface="Calibri" pitchFamily="34" charset="-122"/>
                <a:cs typeface="Calibri" pitchFamily="34" charset="-120"/>
              </a:rPr>
              <a:t>Opus-class · the thinking</a:t>
            </a:r>
            <a:endParaRPr lang="en-US" sz="950" dirty="0"/>
          </a:p>
        </p:txBody>
      </p:sp>
      <p:sp>
        <p:nvSpPr>
          <p:cNvPr id="12" name="Shape 8"/>
          <p:cNvSpPr/>
          <p:nvPr/>
        </p:nvSpPr>
        <p:spPr>
          <a:xfrm>
            <a:off x="8412480" y="2514600"/>
            <a:ext cx="3063240" cy="841248"/>
          </a:xfrm>
          <a:prstGeom prst="roundRect">
            <a:avLst>
              <a:gd name="adj" fmla="val 7609"/>
            </a:avLst>
          </a:prstGeom>
          <a:solidFill>
            <a:srgbClr val="20334F"/>
          </a:solidFill>
          <a:ln/>
          <a:effectLst>
            <a:outerShdw sx="100000" sy="100000" kx="0" ky="0" algn="bl" rotWithShape="0" blurRad="88900" dist="25400" dir="2700000">
              <a:srgbClr val="1F2A3D">
                <a:alpha val="14000"/>
              </a:srgbClr>
            </a:outerShdw>
          </a:effectLst>
        </p:spPr>
      </p:sp>
      <p:sp>
        <p:nvSpPr>
          <p:cNvPr id="13" name="Shape 9"/>
          <p:cNvSpPr/>
          <p:nvPr/>
        </p:nvSpPr>
        <p:spPr>
          <a:xfrm>
            <a:off x="8577072" y="2724912"/>
            <a:ext cx="420624" cy="420624"/>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8686434" y="2834274"/>
            <a:ext cx="201900" cy="201900"/>
          </a:xfrm>
          <a:prstGeom prst="rect">
            <a:avLst/>
          </a:prstGeom>
        </p:spPr>
      </p:pic>
      <p:sp>
        <p:nvSpPr>
          <p:cNvPr id="15" name="Text 10"/>
          <p:cNvSpPr/>
          <p:nvPr/>
        </p:nvSpPr>
        <p:spPr>
          <a:xfrm>
            <a:off x="9144000" y="2660904"/>
            <a:ext cx="2240280" cy="274320"/>
          </a:xfrm>
          <a:prstGeom prst="rect">
            <a:avLst/>
          </a:prstGeom>
          <a:noFill/>
          <a:ln/>
        </p:spPr>
        <p:txBody>
          <a:bodyPr wrap="square" lIns="0" tIns="0" rIns="0" bIns="0" rtlCol="0" anchor="t"/>
          <a:lstStyle/>
          <a:p>
            <a:pPr algn="l" indent="0" marL="0">
              <a:buNone/>
            </a:pPr>
            <a:r>
              <a:rPr lang="en-US" sz="1250" b="1" spc="100" kern="0" dirty="0">
                <a:solidFill>
                  <a:srgbClr val="EAF0F8"/>
                </a:solidFill>
                <a:latin typeface="Calibri" pitchFamily="34" charset="0"/>
                <a:ea typeface="Calibri" pitchFamily="34" charset="-122"/>
                <a:cs typeface="Calibri" pitchFamily="34" charset="-120"/>
              </a:rPr>
              <a:t>CHEAP CLOUD</a:t>
            </a:r>
            <a:endParaRPr lang="en-US" sz="1250" dirty="0"/>
          </a:p>
        </p:txBody>
      </p:sp>
      <p:sp>
        <p:nvSpPr>
          <p:cNvPr id="16" name="Text 11"/>
          <p:cNvSpPr/>
          <p:nvPr/>
        </p:nvSpPr>
        <p:spPr>
          <a:xfrm>
            <a:off x="9144000" y="2953512"/>
            <a:ext cx="2240280" cy="274320"/>
          </a:xfrm>
          <a:prstGeom prst="rect">
            <a:avLst/>
          </a:prstGeom>
          <a:noFill/>
          <a:ln/>
        </p:spPr>
        <p:txBody>
          <a:bodyPr wrap="square" lIns="0" tIns="0" rIns="0" bIns="0" rtlCol="0" anchor="t"/>
          <a:lstStyle/>
          <a:p>
            <a:pPr algn="l" indent="0" marL="0">
              <a:buNone/>
            </a:pPr>
            <a:r>
              <a:rPr lang="en-US" sz="950" dirty="0">
                <a:solidFill>
                  <a:srgbClr val="9FB0C7"/>
                </a:solidFill>
                <a:latin typeface="Calibri" pitchFamily="34" charset="0"/>
                <a:ea typeface="Calibri" pitchFamily="34" charset="-122"/>
                <a:cs typeface="Calibri" pitchFamily="34" charset="-120"/>
              </a:rPr>
              <a:t>Haiku-class · reliable middle</a:t>
            </a:r>
            <a:endParaRPr lang="en-US" sz="950" dirty="0"/>
          </a:p>
        </p:txBody>
      </p:sp>
      <p:sp>
        <p:nvSpPr>
          <p:cNvPr id="17" name="Shape 12"/>
          <p:cNvSpPr/>
          <p:nvPr/>
        </p:nvSpPr>
        <p:spPr>
          <a:xfrm>
            <a:off x="8412480" y="3611880"/>
            <a:ext cx="3063240" cy="841248"/>
          </a:xfrm>
          <a:prstGeom prst="roundRect">
            <a:avLst>
              <a:gd name="adj" fmla="val 7609"/>
            </a:avLst>
          </a:prstGeom>
          <a:solidFill>
            <a:srgbClr val="20334F"/>
          </a:solidFill>
          <a:ln/>
          <a:effectLst>
            <a:outerShdw sx="100000" sy="100000" kx="0" ky="0" algn="bl" rotWithShape="0" blurRad="88900" dist="25400" dir="2700000">
              <a:srgbClr val="1F2A3D">
                <a:alpha val="14000"/>
              </a:srgbClr>
            </a:outerShdw>
          </a:effectLst>
        </p:spPr>
      </p:sp>
      <p:sp>
        <p:nvSpPr>
          <p:cNvPr id="18" name="Shape 13"/>
          <p:cNvSpPr/>
          <p:nvPr/>
        </p:nvSpPr>
        <p:spPr>
          <a:xfrm>
            <a:off x="8577072" y="3822192"/>
            <a:ext cx="420624" cy="420624"/>
          </a:xfrm>
          <a:prstGeom prst="ellipse">
            <a:avLst/>
          </a:prstGeom>
          <a:solidFill>
            <a:srgbClr val="1F7A55"/>
          </a:solidFill>
          <a:ln/>
        </p:spPr>
      </p:sp>
      <p:pic>
        <p:nvPicPr>
          <p:cNvPr id="19" name="Image 2" descr="preencoded.png">    </p:cNvPr>
          <p:cNvPicPr>
            <a:picLocks noChangeAspect="1"/>
          </p:cNvPicPr>
          <p:nvPr/>
        </p:nvPicPr>
        <p:blipFill>
          <a:blip r:embed="rId3"/>
          <a:stretch>
            <a:fillRect/>
          </a:stretch>
        </p:blipFill>
        <p:spPr>
          <a:xfrm>
            <a:off x="8686434" y="3931554"/>
            <a:ext cx="201900" cy="201900"/>
          </a:xfrm>
          <a:prstGeom prst="rect">
            <a:avLst/>
          </a:prstGeom>
        </p:spPr>
      </p:pic>
      <p:sp>
        <p:nvSpPr>
          <p:cNvPr id="20" name="Text 14"/>
          <p:cNvSpPr/>
          <p:nvPr/>
        </p:nvSpPr>
        <p:spPr>
          <a:xfrm>
            <a:off x="9144000" y="3758184"/>
            <a:ext cx="2240280" cy="274320"/>
          </a:xfrm>
          <a:prstGeom prst="rect">
            <a:avLst/>
          </a:prstGeom>
          <a:noFill/>
          <a:ln/>
        </p:spPr>
        <p:txBody>
          <a:bodyPr wrap="square" lIns="0" tIns="0" rIns="0" bIns="0" rtlCol="0" anchor="t"/>
          <a:lstStyle/>
          <a:p>
            <a:pPr algn="l" indent="0" marL="0">
              <a:buNone/>
            </a:pPr>
            <a:r>
              <a:rPr lang="en-US" sz="1250" b="1" spc="100" kern="0" dirty="0">
                <a:solidFill>
                  <a:srgbClr val="EAF0F8"/>
                </a:solidFill>
                <a:latin typeface="Calibri" pitchFamily="34" charset="0"/>
                <a:ea typeface="Calibri" pitchFamily="34" charset="-122"/>
                <a:cs typeface="Calibri" pitchFamily="34" charset="-120"/>
              </a:rPr>
              <a:t>LOCAL</a:t>
            </a:r>
            <a:endParaRPr lang="en-US" sz="1250" dirty="0"/>
          </a:p>
        </p:txBody>
      </p:sp>
      <p:sp>
        <p:nvSpPr>
          <p:cNvPr id="21" name="Text 15"/>
          <p:cNvSpPr/>
          <p:nvPr/>
        </p:nvSpPr>
        <p:spPr>
          <a:xfrm>
            <a:off x="9144000" y="4050792"/>
            <a:ext cx="2240280" cy="274320"/>
          </a:xfrm>
          <a:prstGeom prst="rect">
            <a:avLst/>
          </a:prstGeom>
          <a:noFill/>
          <a:ln/>
        </p:spPr>
        <p:txBody>
          <a:bodyPr wrap="square" lIns="0" tIns="0" rIns="0" bIns="0" rtlCol="0" anchor="t"/>
          <a:lstStyle/>
          <a:p>
            <a:pPr algn="l" indent="0" marL="0">
              <a:buNone/>
            </a:pPr>
            <a:r>
              <a:rPr lang="en-US" sz="950" dirty="0">
                <a:solidFill>
                  <a:srgbClr val="9FB0C7"/>
                </a:solidFill>
                <a:latin typeface="Calibri" pitchFamily="34" charset="0"/>
                <a:ea typeface="Calibri" pitchFamily="34" charset="-122"/>
                <a:cs typeface="Calibri" pitchFamily="34" charset="-120"/>
              </a:rPr>
              <a:t>llama.cpp / MLX · ~$0</a:t>
            </a:r>
            <a:endParaRPr lang="en-US" sz="950" dirty="0"/>
          </a:p>
        </p:txBody>
      </p:sp>
      <p:sp>
        <p:nvSpPr>
          <p:cNvPr id="22" name="Shape 16"/>
          <p:cNvSpPr/>
          <p:nvPr/>
        </p:nvSpPr>
        <p:spPr>
          <a:xfrm>
            <a:off x="8028432" y="4251960"/>
            <a:ext cx="0" cy="-2606040"/>
          </a:xfrm>
          <a:prstGeom prst="line">
            <a:avLst/>
          </a:prstGeom>
          <a:noFill/>
          <a:ln w="25400">
            <a:solidFill>
              <a:srgbClr val="9FB0C7"/>
            </a:solidFill>
            <a:prstDash val="solid"/>
            <a:headEnd type="none"/>
            <a:tailEnd type="triangle"/>
          </a:ln>
        </p:spPr>
      </p:sp>
      <p:sp>
        <p:nvSpPr>
          <p:cNvPr id="23" name="Text 17"/>
          <p:cNvSpPr/>
          <p:nvPr/>
        </p:nvSpPr>
        <p:spPr>
          <a:xfrm>
            <a:off x="7178040" y="4590288"/>
            <a:ext cx="1463040" cy="274320"/>
          </a:xfrm>
          <a:prstGeom prst="rect">
            <a:avLst/>
          </a:prstGeom>
          <a:noFill/>
          <a:ln/>
        </p:spPr>
        <p:txBody>
          <a:bodyPr wrap="square" lIns="0" tIns="0" rIns="0" bIns="0" rtlCol="0" anchor="t"/>
          <a:lstStyle/>
          <a:p>
            <a:pPr algn="r" indent="0" marL="0">
              <a:buNone/>
            </a:pPr>
            <a:r>
              <a:rPr lang="en-US" sz="900" i="1" dirty="0">
                <a:solidFill>
                  <a:srgbClr val="9FB0C7"/>
                </a:solidFill>
                <a:latin typeface="Calibri" pitchFamily="34" charset="0"/>
                <a:ea typeface="Calibri" pitchFamily="34" charset="-122"/>
                <a:cs typeface="Calibri" pitchFamily="34" charset="-120"/>
              </a:rPr>
              <a:t>escalate on evidence</a:t>
            </a:r>
            <a:endParaRPr lang="en-US" sz="900" dirty="0"/>
          </a:p>
        </p:txBody>
      </p:sp>
      <p:sp>
        <p:nvSpPr>
          <p:cNvPr id="24" name="Text 18"/>
          <p:cNvSpPr/>
          <p:nvPr/>
        </p:nvSpPr>
        <p:spPr>
          <a:xfrm>
            <a:off x="822960" y="6126480"/>
            <a:ext cx="10515600" cy="274320"/>
          </a:xfrm>
          <a:prstGeom prst="rect">
            <a:avLst/>
          </a:prstGeom>
          <a:noFill/>
          <a:ln/>
        </p:spPr>
        <p:txBody>
          <a:bodyPr wrap="square" lIns="0" tIns="0" rIns="0" bIns="0" rtlCol="0" anchor="t"/>
          <a:lstStyle/>
          <a:p>
            <a:pPr algn="l" indent="0" marL="0">
              <a:buNone/>
            </a:pPr>
            <a:r>
              <a:rPr lang="en-US" sz="1050" dirty="0">
                <a:solidFill>
                  <a:srgbClr val="9FB0C7"/>
                </a:solidFill>
                <a:latin typeface="Calibri" pitchFamily="34" charset="0"/>
                <a:ea typeface="Calibri" pitchFamily="34" charset="-122"/>
                <a:cs typeface="Calibri" pitchFamily="34" charset="-120"/>
              </a:rPr>
              <a:t>Arun · July 2026 · design docs, vetting report, Phase 0 miner + capture proxy: github.com/arunmenon/adrl (private)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EXECUTIVE SUMMARY</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Design → adversarial validation → cheap falsification → build</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v2 · vetting report · Phase 0 report</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548640" y="1463040"/>
            <a:ext cx="2084832" cy="2286000"/>
          </a:xfrm>
          <a:prstGeom prst="roundRect">
            <a:avLst>
              <a:gd name="adj" fmla="val 307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731520" y="1691640"/>
            <a:ext cx="1719072" cy="548640"/>
          </a:xfrm>
          <a:prstGeom prst="rect">
            <a:avLst/>
          </a:prstGeom>
          <a:noFill/>
          <a:ln/>
        </p:spPr>
        <p:txBody>
          <a:bodyPr wrap="square" lIns="0" tIns="0" rIns="0" bIns="0" rtlCol="0" anchor="t"/>
          <a:lstStyle/>
          <a:p>
            <a:pPr algn="l" indent="0" marL="0">
              <a:buNone/>
            </a:pPr>
            <a:r>
              <a:rPr lang="en-US" sz="2500" b="1" dirty="0">
                <a:solidFill>
                  <a:srgbClr val="1D6FA5"/>
                </a:solidFill>
                <a:latin typeface="Cambria" pitchFamily="34" charset="0"/>
                <a:ea typeface="Cambria" pitchFamily="34" charset="-122"/>
                <a:cs typeface="Cambria" pitchFamily="34" charset="-120"/>
              </a:rPr>
              <a:t>16.1%</a:t>
            </a:r>
            <a:endParaRPr lang="en-US" sz="2500" dirty="0"/>
          </a:p>
        </p:txBody>
      </p:sp>
      <p:sp>
        <p:nvSpPr>
          <p:cNvPr id="9" name="Text 6"/>
          <p:cNvSpPr/>
          <p:nvPr/>
        </p:nvSpPr>
        <p:spPr>
          <a:xfrm>
            <a:off x="731520" y="2331720"/>
            <a:ext cx="1719072" cy="1280160"/>
          </a:xfrm>
          <a:prstGeom prst="rect">
            <a:avLst/>
          </a:prstGeom>
          <a:noFill/>
          <a:ln/>
        </p:spPr>
        <p:txBody>
          <a:bodyPr wrap="square" lIns="0" tIns="0" rIns="0" bIns="0" rtlCol="0" anchor="t"/>
          <a:lstStyle/>
          <a:p>
            <a:pPr algn="l" indent="0" marL="0">
              <a:lnSpc>
                <a:spcPct val="110000"/>
              </a:lnSpc>
              <a:buNone/>
            </a:pPr>
            <a:r>
              <a:rPr lang="en-US" sz="950" dirty="0">
                <a:solidFill>
                  <a:srgbClr val="5D6B7E"/>
                </a:solidFill>
                <a:latin typeface="Calibri" pitchFamily="34" charset="0"/>
                <a:ea typeface="Calibri" pitchFamily="34" charset="-122"/>
                <a:cs typeface="Calibri" pitchFamily="34" charset="-120"/>
              </a:rPr>
              <a:t>of requests are genuine user instructions — the rest is tool ping-pong and housekeeping</a:t>
            </a:r>
            <a:endParaRPr lang="en-US" sz="950" dirty="0"/>
          </a:p>
        </p:txBody>
      </p:sp>
      <p:sp>
        <p:nvSpPr>
          <p:cNvPr id="10" name="Shape 7"/>
          <p:cNvSpPr/>
          <p:nvPr/>
        </p:nvSpPr>
        <p:spPr>
          <a:xfrm>
            <a:off x="2816352" y="1463040"/>
            <a:ext cx="2084832" cy="2286000"/>
          </a:xfrm>
          <a:prstGeom prst="roundRect">
            <a:avLst>
              <a:gd name="adj" fmla="val 307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1" name="Text 8"/>
          <p:cNvSpPr/>
          <p:nvPr/>
        </p:nvSpPr>
        <p:spPr>
          <a:xfrm>
            <a:off x="2999232" y="1691640"/>
            <a:ext cx="1719072" cy="548640"/>
          </a:xfrm>
          <a:prstGeom prst="rect">
            <a:avLst/>
          </a:prstGeom>
          <a:noFill/>
          <a:ln/>
        </p:spPr>
        <p:txBody>
          <a:bodyPr wrap="square" lIns="0" tIns="0" rIns="0" bIns="0" rtlCol="0" anchor="t"/>
          <a:lstStyle/>
          <a:p>
            <a:pPr algn="l" indent="0" marL="0">
              <a:buNone/>
            </a:pPr>
            <a:r>
              <a:rPr lang="en-US" sz="2500" b="1" dirty="0">
                <a:solidFill>
                  <a:srgbClr val="1F7A55"/>
                </a:solidFill>
                <a:latin typeface="Cambria" pitchFamily="34" charset="0"/>
                <a:ea typeface="Cambria" pitchFamily="34" charset="-122"/>
                <a:cs typeface="Cambria" pitchFamily="34" charset="-120"/>
              </a:rPr>
              <a:t>1 / turn</a:t>
            </a:r>
            <a:endParaRPr lang="en-US" sz="2500" dirty="0"/>
          </a:p>
        </p:txBody>
      </p:sp>
      <p:sp>
        <p:nvSpPr>
          <p:cNvPr id="12" name="Text 9"/>
          <p:cNvSpPr/>
          <p:nvPr/>
        </p:nvSpPr>
        <p:spPr>
          <a:xfrm>
            <a:off x="2999232" y="2331720"/>
            <a:ext cx="1719072" cy="1280160"/>
          </a:xfrm>
          <a:prstGeom prst="rect">
            <a:avLst/>
          </a:prstGeom>
          <a:noFill/>
          <a:ln/>
        </p:spPr>
        <p:txBody>
          <a:bodyPr wrap="square" lIns="0" tIns="0" rIns="0" bIns="0" rtlCol="0" anchor="t"/>
          <a:lstStyle/>
          <a:p>
            <a:pPr algn="l" indent="0" marL="0">
              <a:lnSpc>
                <a:spcPct val="110000"/>
              </a:lnSpc>
              <a:buNone/>
            </a:pPr>
            <a:r>
              <a:rPr lang="en-US" sz="950" dirty="0">
                <a:solidFill>
                  <a:srgbClr val="5D6B7E"/>
                </a:solidFill>
                <a:latin typeface="Calibri" pitchFamily="34" charset="0"/>
                <a:ea typeface="Calibri" pitchFamily="34" charset="-122"/>
                <a:cs typeface="Calibri" pitchFamily="34" charset="-120"/>
              </a:rPr>
              <a:t>routing decision — everything mid-turn inherits via a sub-ms sticky lookup</a:t>
            </a:r>
            <a:endParaRPr lang="en-US" sz="950" dirty="0"/>
          </a:p>
        </p:txBody>
      </p:sp>
      <p:sp>
        <p:nvSpPr>
          <p:cNvPr id="13" name="Shape 10"/>
          <p:cNvSpPr/>
          <p:nvPr/>
        </p:nvSpPr>
        <p:spPr>
          <a:xfrm>
            <a:off x="5084064" y="1463040"/>
            <a:ext cx="2084832" cy="2286000"/>
          </a:xfrm>
          <a:prstGeom prst="roundRect">
            <a:avLst>
              <a:gd name="adj" fmla="val 307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4" name="Text 11"/>
          <p:cNvSpPr/>
          <p:nvPr/>
        </p:nvSpPr>
        <p:spPr>
          <a:xfrm>
            <a:off x="5266944" y="1691640"/>
            <a:ext cx="1719072" cy="548640"/>
          </a:xfrm>
          <a:prstGeom prst="rect">
            <a:avLst/>
          </a:prstGeom>
          <a:noFill/>
          <a:ln/>
        </p:spPr>
        <p:txBody>
          <a:bodyPr wrap="square" lIns="0" tIns="0" rIns="0" bIns="0" rtlCol="0" anchor="t"/>
          <a:lstStyle/>
          <a:p>
            <a:pPr algn="l" indent="0" marL="0">
              <a:buNone/>
            </a:pPr>
            <a:r>
              <a:rPr lang="en-US" sz="2500" b="1" dirty="0">
                <a:solidFill>
                  <a:srgbClr val="5B21B6"/>
                </a:solidFill>
                <a:latin typeface="Cambria" pitchFamily="34" charset="0"/>
                <a:ea typeface="Cambria" pitchFamily="34" charset="-122"/>
                <a:cs typeface="Cambria" pitchFamily="34" charset="-120"/>
              </a:rPr>
              <a:t>23 / 25</a:t>
            </a:r>
            <a:endParaRPr lang="en-US" sz="2500" dirty="0"/>
          </a:p>
        </p:txBody>
      </p:sp>
      <p:sp>
        <p:nvSpPr>
          <p:cNvPr id="15" name="Text 12"/>
          <p:cNvSpPr/>
          <p:nvPr/>
        </p:nvSpPr>
        <p:spPr>
          <a:xfrm>
            <a:off x="5266944" y="2331720"/>
            <a:ext cx="1719072" cy="1280160"/>
          </a:xfrm>
          <a:prstGeom prst="rect">
            <a:avLst/>
          </a:prstGeom>
          <a:noFill/>
          <a:ln/>
        </p:spPr>
        <p:txBody>
          <a:bodyPr wrap="square" lIns="0" tIns="0" rIns="0" bIns="0" rtlCol="0" anchor="t"/>
          <a:lstStyle/>
          <a:p>
            <a:pPr algn="l" indent="0" marL="0">
              <a:lnSpc>
                <a:spcPct val="110000"/>
              </a:lnSpc>
              <a:buNone/>
            </a:pPr>
            <a:r>
              <a:rPr lang="en-US" sz="950" dirty="0">
                <a:solidFill>
                  <a:srgbClr val="5D6B7E"/>
                </a:solidFill>
                <a:latin typeface="Calibri" pitchFamily="34" charset="0"/>
                <a:ea typeface="Calibri" pitchFamily="34" charset="-122"/>
                <a:cs typeface="Calibri" pitchFamily="34" charset="-120"/>
              </a:rPr>
              <a:t>design claims confirmed by adversarial 3-vote panels (108 research agents)</a:t>
            </a:r>
            <a:endParaRPr lang="en-US" sz="950" dirty="0"/>
          </a:p>
        </p:txBody>
      </p:sp>
      <p:sp>
        <p:nvSpPr>
          <p:cNvPr id="16" name="Shape 13"/>
          <p:cNvSpPr/>
          <p:nvPr/>
        </p:nvSpPr>
        <p:spPr>
          <a:xfrm>
            <a:off x="7351776" y="1463040"/>
            <a:ext cx="2084832" cy="2286000"/>
          </a:xfrm>
          <a:prstGeom prst="roundRect">
            <a:avLst>
              <a:gd name="adj" fmla="val 307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7" name="Text 14"/>
          <p:cNvSpPr/>
          <p:nvPr/>
        </p:nvSpPr>
        <p:spPr>
          <a:xfrm>
            <a:off x="7534656" y="1691640"/>
            <a:ext cx="1719072" cy="548640"/>
          </a:xfrm>
          <a:prstGeom prst="rect">
            <a:avLst/>
          </a:prstGeom>
          <a:noFill/>
          <a:ln/>
        </p:spPr>
        <p:txBody>
          <a:bodyPr wrap="square" lIns="0" tIns="0" rIns="0" bIns="0" rtlCol="0" anchor="t"/>
          <a:lstStyle/>
          <a:p>
            <a:pPr algn="l" indent="0" marL="0">
              <a:buNone/>
            </a:pPr>
            <a:r>
              <a:rPr lang="en-US" sz="2500" b="1" dirty="0">
                <a:solidFill>
                  <a:srgbClr val="B45309"/>
                </a:solidFill>
                <a:latin typeface="Cambria" pitchFamily="34" charset="0"/>
                <a:ea typeface="Cambria" pitchFamily="34" charset="-122"/>
                <a:cs typeface="Cambria" pitchFamily="34" charset="-120"/>
              </a:rPr>
              <a:t>10 / 15</a:t>
            </a:r>
            <a:endParaRPr lang="en-US" sz="2500" dirty="0"/>
          </a:p>
        </p:txBody>
      </p:sp>
      <p:sp>
        <p:nvSpPr>
          <p:cNvPr id="18" name="Text 15"/>
          <p:cNvSpPr/>
          <p:nvPr/>
        </p:nvSpPr>
        <p:spPr>
          <a:xfrm>
            <a:off x="7534656" y="2331720"/>
            <a:ext cx="1719072" cy="1280160"/>
          </a:xfrm>
          <a:prstGeom prst="rect">
            <a:avLst/>
          </a:prstGeom>
          <a:noFill/>
          <a:ln/>
        </p:spPr>
        <p:txBody>
          <a:bodyPr wrap="square" lIns="0" tIns="0" rIns="0" bIns="0" rtlCol="0" anchor="t"/>
          <a:lstStyle/>
          <a:p>
            <a:pPr algn="l" indent="0" marL="0">
              <a:lnSpc>
                <a:spcPct val="110000"/>
              </a:lnSpc>
              <a:buNone/>
            </a:pPr>
            <a:r>
              <a:rPr lang="en-US" sz="950" dirty="0">
                <a:solidFill>
                  <a:srgbClr val="5D6B7E"/>
                </a:solidFill>
                <a:latin typeface="Calibri" pitchFamily="34" charset="0"/>
                <a:ea typeface="Calibri" pitchFamily="34" charset="-122"/>
                <a:cs typeface="Calibri" pitchFamily="34" charset="-120"/>
              </a:rPr>
              <a:t>design scenarios matched with real traces from 927MB of mined transcripts</a:t>
            </a:r>
            <a:endParaRPr lang="en-US" sz="950" dirty="0"/>
          </a:p>
        </p:txBody>
      </p:sp>
      <p:sp>
        <p:nvSpPr>
          <p:cNvPr id="19" name="Shape 16"/>
          <p:cNvSpPr/>
          <p:nvPr/>
        </p:nvSpPr>
        <p:spPr>
          <a:xfrm>
            <a:off x="9619488" y="1463040"/>
            <a:ext cx="2084832" cy="2286000"/>
          </a:xfrm>
          <a:prstGeom prst="roundRect">
            <a:avLst>
              <a:gd name="adj" fmla="val 307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Text 17"/>
          <p:cNvSpPr/>
          <p:nvPr/>
        </p:nvSpPr>
        <p:spPr>
          <a:xfrm>
            <a:off x="9802368" y="1691640"/>
            <a:ext cx="1719072" cy="548640"/>
          </a:xfrm>
          <a:prstGeom prst="rect">
            <a:avLst/>
          </a:prstGeom>
          <a:noFill/>
          <a:ln/>
        </p:spPr>
        <p:txBody>
          <a:bodyPr wrap="square" lIns="0" tIns="0" rIns="0" bIns="0" rtlCol="0" anchor="t"/>
          <a:lstStyle/>
          <a:p>
            <a:pPr algn="l" indent="0" marL="0">
              <a:buNone/>
            </a:pPr>
            <a:r>
              <a:rPr lang="en-US" sz="2500" b="1" dirty="0">
                <a:solidFill>
                  <a:srgbClr val="B3261E"/>
                </a:solidFill>
                <a:latin typeface="Cambria" pitchFamily="34" charset="0"/>
                <a:ea typeface="Cambria" pitchFamily="34" charset="-122"/>
                <a:cs typeface="Cambria" pitchFamily="34" charset="-120"/>
              </a:rPr>
              <a:t>3.7%</a:t>
            </a:r>
            <a:endParaRPr lang="en-US" sz="2500" dirty="0"/>
          </a:p>
        </p:txBody>
      </p:sp>
      <p:sp>
        <p:nvSpPr>
          <p:cNvPr id="21" name="Text 18"/>
          <p:cNvSpPr/>
          <p:nvPr/>
        </p:nvSpPr>
        <p:spPr>
          <a:xfrm>
            <a:off x="9802368" y="2331720"/>
            <a:ext cx="1719072" cy="1280160"/>
          </a:xfrm>
          <a:prstGeom prst="rect">
            <a:avLst/>
          </a:prstGeom>
          <a:noFill/>
          <a:ln/>
        </p:spPr>
        <p:txBody>
          <a:bodyPr wrap="square" lIns="0" tIns="0" rIns="0" bIns="0" rtlCol="0" anchor="t"/>
          <a:lstStyle/>
          <a:p>
            <a:pPr algn="l" indent="0" marL="0">
              <a:lnSpc>
                <a:spcPct val="110000"/>
              </a:lnSpc>
              <a:buNone/>
            </a:pPr>
            <a:r>
              <a:rPr lang="en-US" sz="950" dirty="0">
                <a:solidFill>
                  <a:srgbClr val="5D6B7E"/>
                </a:solidFill>
                <a:latin typeface="Calibri" pitchFamily="34" charset="0"/>
                <a:ea typeface="Calibri" pitchFamily="34" charset="-122"/>
                <a:cs typeface="Calibri" pitchFamily="34" charset="-120"/>
              </a:rPr>
              <a:t>of baseline spend in “easy” user turns (45.5% of turns) — the money is in subagents</a:t>
            </a:r>
            <a:endParaRPr lang="en-US" sz="950" dirty="0"/>
          </a:p>
        </p:txBody>
      </p:sp>
      <p:sp>
        <p:nvSpPr>
          <p:cNvPr id="22" name="Text 19"/>
          <p:cNvSpPr/>
          <p:nvPr/>
        </p:nvSpPr>
        <p:spPr>
          <a:xfrm>
            <a:off x="548640" y="4114800"/>
            <a:ext cx="11091672" cy="2103120"/>
          </a:xfrm>
          <a:prstGeom prst="rect">
            <a:avLst/>
          </a:prstGeom>
          <a:noFill/>
          <a:ln/>
        </p:spPr>
        <p:txBody>
          <a:bodyPr wrap="square" lIns="0" tIns="0" rIns="0" bIns="0" rtlCol="0" anchor="t"/>
          <a:lstStyle/>
          <a:p>
            <a:pPr algn="l" indent="0" marL="0">
              <a:lnSpc>
                <a:spcPct val="118000"/>
              </a:lnSpc>
              <a:buNone/>
            </a:pPr>
            <a:r>
              <a:rPr lang="en-US" sz="1250" b="1" dirty="0">
                <a:solidFill>
                  <a:srgbClr val="1F2A3D"/>
                </a:solidFill>
                <a:latin typeface="Calibri" pitchFamily="34" charset="0"/>
                <a:ea typeface="Calibri" pitchFamily="34" charset="-122"/>
                <a:cs typeface="Calibri" pitchFamily="34" charset="-120"/>
              </a:rPr>
              <a:t>The problem —</a:t>
            </a:r>
            <a:pPr algn="l" indent="0" marL="0">
              <a:lnSpc>
                <a:spcPct val="118000"/>
              </a:lnSpc>
              <a:buNone/>
            </a:pPr>
            <a:r>
              <a:rPr lang="en-US" sz="1250" dirty="0">
                <a:solidFill>
                  <a:srgbClr val="5D6B7E"/>
                </a:solidFill>
                <a:latin typeface="Calibri" pitchFamily="34" charset="0"/>
                <a:ea typeface="Calibri" pitchFamily="34" charset="-122"/>
                <a:cs typeface="Calibri" pitchFamily="34" charset="-120"/>
              </a:rPr>
              <a:t> coding agents send every request to whatever model a static config names, usually frontier. Only 16.1% of requests are real instructions.</a:t>
            </a:r>
            <a:endParaRPr lang="en-US" sz="1250" dirty="0"/>
          </a:p>
          <a:p>
            <a:pPr algn="l" indent="0" marL="0">
              <a:lnSpc>
                <a:spcPct val="118000"/>
              </a:lnSpc>
              <a:buNone/>
            </a:pPr>
            <a:r>
              <a:rPr lang="en-US" sz="1250" dirty="0">
                <a:solidFill>
                  <a:srgbClr val="1F2A3D"/>
                </a:solidFill>
                <a:latin typeface="Calibri" pitchFamily="34" charset="0"/>
                <a:ea typeface="Calibri" pitchFamily="34" charset="-122"/>
                <a:cs typeface="Calibri" pitchFamily="34" charset="-120"/>
              </a:rPr>
              <a:t> </a:t>
            </a:r>
            <a:endParaRPr lang="en-US" sz="1250" dirty="0"/>
          </a:p>
          <a:p>
            <a:pPr algn="l" indent="0" marL="0">
              <a:lnSpc>
                <a:spcPct val="118000"/>
              </a:lnSpc>
              <a:buNone/>
            </a:pPr>
            <a:r>
              <a:rPr lang="en-US" sz="1250" b="1" dirty="0">
                <a:solidFill>
                  <a:srgbClr val="1F2A3D"/>
                </a:solidFill>
                <a:latin typeface="Calibri" pitchFamily="34" charset="0"/>
                <a:ea typeface="Calibri" pitchFamily="34" charset="-122"/>
                <a:cs typeface="Calibri" pitchFamily="34" charset="-120"/>
              </a:rPr>
              <a:t>The design —</a:t>
            </a:r>
            <a:pPr algn="l" indent="0" marL="0">
              <a:lnSpc>
                <a:spcPct val="118000"/>
              </a:lnSpc>
              <a:buNone/>
            </a:pPr>
            <a:r>
              <a:rPr lang="en-US" sz="1250" dirty="0">
                <a:solidFill>
                  <a:srgbClr val="5D6B7E"/>
                </a:solidFill>
                <a:latin typeface="Calibri" pitchFamily="34" charset="0"/>
                <a:ea typeface="Calibri" pitchFamily="34" charset="-122"/>
                <a:cs typeface="Calibri" pitchFamily="34" charset="-120"/>
              </a:rPr>
              <a:t> route turns, not requests, across local → cheap cloud → frontier; deterministic trip-wires rescue failing turns; a privacy pin no market router documents.</a:t>
            </a:r>
            <a:endParaRPr lang="en-US" sz="1250" dirty="0"/>
          </a:p>
          <a:p>
            <a:pPr algn="l" indent="0" marL="0">
              <a:lnSpc>
                <a:spcPct val="118000"/>
              </a:lnSpc>
              <a:buNone/>
            </a:pPr>
            <a:r>
              <a:rPr lang="en-US" sz="1250" dirty="0">
                <a:solidFill>
                  <a:srgbClr val="1F2A3D"/>
                </a:solidFill>
                <a:latin typeface="Calibri" pitchFamily="34" charset="0"/>
                <a:ea typeface="Calibri" pitchFamily="34" charset="-122"/>
                <a:cs typeface="Calibri" pitchFamily="34" charset="-120"/>
              </a:rPr>
              <a:t> </a:t>
            </a:r>
            <a:endParaRPr lang="en-US" sz="1250" dirty="0"/>
          </a:p>
          <a:p>
            <a:pPr algn="l" indent="0" marL="0">
              <a:lnSpc>
                <a:spcPct val="118000"/>
              </a:lnSpc>
              <a:buNone/>
            </a:pPr>
            <a:r>
              <a:rPr lang="en-US" sz="1250" b="1" dirty="0">
                <a:solidFill>
                  <a:srgbClr val="1F2A3D"/>
                </a:solidFill>
                <a:latin typeface="Calibri" pitchFamily="34" charset="0"/>
                <a:ea typeface="Calibri" pitchFamily="34" charset="-122"/>
                <a:cs typeface="Calibri" pitchFamily="34" charset="-120"/>
              </a:rPr>
              <a:t>The evidence —</a:t>
            </a:r>
            <a:pPr algn="l" indent="0" marL="0">
              <a:lnSpc>
                <a:spcPct val="118000"/>
              </a:lnSpc>
              <a:buNone/>
            </a:pPr>
            <a:r>
              <a:rPr lang="en-US" sz="1250" dirty="0">
                <a:solidFill>
                  <a:srgbClr val="5D6B7E"/>
                </a:solidFill>
                <a:latin typeface="Calibri" pitchFamily="34" charset="0"/>
                <a:ea typeface="Calibri" pitchFamily="34" charset="-122"/>
                <a:cs typeface="Calibri" pitchFamily="34" charset="-120"/>
              </a:rPr>
              <a:t> two validation passes before code; then Phase 0 mined 5,027 real turns: predictions held, 99.3% cache-hit confirmed the no-mid-turn-switch stance, and the economics re-ranked Phase 1.</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THE PROBLEM</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One keystroke becomes a burst of requests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measured on 5.5 weeks of own traffic · 5,027 turns</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a:t>
            </a:r>
            <a:endParaRPr lang="en-US" sz="900" dirty="0"/>
          </a:p>
        </p:txBody>
      </p:sp>
      <p:graphicFrame>
        <p:nvGraphicFramePr>
          <p:cNvPr id="7" name="Chart 0" descr=""/>
          <p:cNvGraphicFramePr/>
          <p:nvPr/>
        </p:nvGraphicFramePr>
        <p:xfrm>
          <a:off x="548640" y="1600200"/>
          <a:ext cx="4297680" cy="39319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p:nvPr/>
        </p:nvSpPr>
        <p:spPr>
          <a:xfrm>
            <a:off x="640080" y="5623560"/>
            <a:ext cx="420624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measured request mix — main sessions, transcript-visible</a:t>
            </a:r>
            <a:endParaRPr lang="en-US" sz="950" dirty="0"/>
          </a:p>
        </p:txBody>
      </p:sp>
      <p:sp>
        <p:nvSpPr>
          <p:cNvPr id="9" name="Shape 5"/>
          <p:cNvSpPr/>
          <p:nvPr/>
        </p:nvSpPr>
        <p:spPr>
          <a:xfrm>
            <a:off x="5303520" y="1600200"/>
            <a:ext cx="6355080" cy="1325880"/>
          </a:xfrm>
          <a:prstGeom prst="roundRect">
            <a:avLst>
              <a:gd name="adj" fmla="val 4828"/>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6"/>
          <p:cNvSpPr/>
          <p:nvPr/>
        </p:nvSpPr>
        <p:spPr>
          <a:xfrm>
            <a:off x="5559552" y="1746504"/>
            <a:ext cx="5852160" cy="292608"/>
          </a:xfrm>
          <a:prstGeom prst="rect">
            <a:avLst/>
          </a:prstGeom>
          <a:noFill/>
          <a:ln/>
        </p:spPr>
        <p:txBody>
          <a:bodyPr wrap="square" lIns="0" tIns="0" rIns="0" bIns="0" rtlCol="0" anchor="t"/>
          <a:lstStyle/>
          <a:p>
            <a:pPr algn="l" indent="0" marL="0">
              <a:buNone/>
            </a:pPr>
            <a:r>
              <a:rPr lang="en-US" sz="1300" b="1" dirty="0">
                <a:solidFill>
                  <a:srgbClr val="1F2A3D"/>
                </a:solidFill>
                <a:latin typeface="Calibri" pitchFamily="34" charset="0"/>
                <a:ea typeface="Calibri" pitchFamily="34" charset="-122"/>
                <a:cs typeface="Calibri" pitchFamily="34" charset="-120"/>
              </a:rPr>
              <a:t>One instruction ≠ one request</a:t>
            </a:r>
            <a:endParaRPr lang="en-US" sz="1300" dirty="0"/>
          </a:p>
        </p:txBody>
      </p:sp>
      <p:sp>
        <p:nvSpPr>
          <p:cNvPr id="11" name="Text 7"/>
          <p:cNvSpPr/>
          <p:nvPr/>
        </p:nvSpPr>
        <p:spPr>
          <a:xfrm>
            <a:off x="5559552" y="2075688"/>
            <a:ext cx="5852160" cy="77724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“Fix the failing test” → read files, run pytest, apply edits — each round-trip a separate HTTP request. Most requests are the middle of a thought, not a new task.</a:t>
            </a:r>
            <a:endParaRPr lang="en-US" sz="1050" dirty="0"/>
          </a:p>
        </p:txBody>
      </p:sp>
      <p:sp>
        <p:nvSpPr>
          <p:cNvPr id="12" name="Shape 8"/>
          <p:cNvSpPr/>
          <p:nvPr/>
        </p:nvSpPr>
        <p:spPr>
          <a:xfrm>
            <a:off x="5303520" y="3108960"/>
            <a:ext cx="6355080" cy="1325880"/>
          </a:xfrm>
          <a:prstGeom prst="roundRect">
            <a:avLst>
              <a:gd name="adj" fmla="val 4828"/>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Text 9"/>
          <p:cNvSpPr/>
          <p:nvPr/>
        </p:nvSpPr>
        <p:spPr>
          <a:xfrm>
            <a:off x="5559552" y="3255264"/>
            <a:ext cx="5852160" cy="292608"/>
          </a:xfrm>
          <a:prstGeom prst="rect">
            <a:avLst/>
          </a:prstGeom>
          <a:noFill/>
          <a:ln/>
        </p:spPr>
        <p:txBody>
          <a:bodyPr wrap="square" lIns="0" tIns="0" rIns="0" bIns="0" rtlCol="0" anchor="t"/>
          <a:lstStyle/>
          <a:p>
            <a:pPr algn="l" indent="0" marL="0">
              <a:buNone/>
            </a:pPr>
            <a:r>
              <a:rPr lang="en-US" sz="1300" b="1" dirty="0">
                <a:solidFill>
                  <a:srgbClr val="1F2A3D"/>
                </a:solidFill>
                <a:latin typeface="Calibri" pitchFamily="34" charset="0"/>
                <a:ea typeface="Calibri" pitchFamily="34" charset="-122"/>
                <a:cs typeface="Calibri" pitchFamily="34" charset="-120"/>
              </a:rPr>
              <a:t>Static config prices everything at frontier rates</a:t>
            </a:r>
            <a:endParaRPr lang="en-US" sz="1300" dirty="0"/>
          </a:p>
        </p:txBody>
      </p:sp>
      <p:sp>
        <p:nvSpPr>
          <p:cNvPr id="14" name="Text 10"/>
          <p:cNvSpPr/>
          <p:nvPr/>
        </p:nvSpPr>
        <p:spPr>
          <a:xfrm>
            <a:off x="5559552" y="3584448"/>
            <a:ext cx="5852160" cy="77724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Renames, commit messages, session titles — work a local model could do — billed like architecture.</a:t>
            </a:r>
            <a:endParaRPr lang="en-US" sz="1050" dirty="0"/>
          </a:p>
        </p:txBody>
      </p:sp>
      <p:sp>
        <p:nvSpPr>
          <p:cNvPr id="15" name="Shape 11"/>
          <p:cNvSpPr/>
          <p:nvPr/>
        </p:nvSpPr>
        <p:spPr>
          <a:xfrm>
            <a:off x="5303520" y="4617720"/>
            <a:ext cx="6355080" cy="1325880"/>
          </a:xfrm>
          <a:prstGeom prst="roundRect">
            <a:avLst>
              <a:gd name="adj" fmla="val 4828"/>
            </a:avLst>
          </a:prstGeom>
          <a:solidFill>
            <a:srgbClr val="F9E7E4"/>
          </a:solidFill>
          <a:ln/>
          <a:effectLst>
            <a:outerShdw sx="100000" sy="100000" kx="0" ky="0" algn="bl" rotWithShape="0" blurRad="88900" dist="25400" dir="2700000">
              <a:srgbClr val="1F2A3D">
                <a:alpha val="14000"/>
              </a:srgbClr>
            </a:outerShdw>
          </a:effectLst>
        </p:spPr>
      </p:sp>
      <p:sp>
        <p:nvSpPr>
          <p:cNvPr id="16" name="Text 12"/>
          <p:cNvSpPr/>
          <p:nvPr/>
        </p:nvSpPr>
        <p:spPr>
          <a:xfrm>
            <a:off x="5559552" y="4764024"/>
            <a:ext cx="5852160" cy="292608"/>
          </a:xfrm>
          <a:prstGeom prst="rect">
            <a:avLst/>
          </a:prstGeom>
          <a:noFill/>
          <a:ln/>
        </p:spPr>
        <p:txBody>
          <a:bodyPr wrap="square" lIns="0" tIns="0" rIns="0" bIns="0" rtlCol="0" anchor="t"/>
          <a:lstStyle/>
          <a:p>
            <a:pPr algn="l" indent="0" marL="0">
              <a:buNone/>
            </a:pPr>
            <a:r>
              <a:rPr lang="en-US" sz="1300" b="1" dirty="0">
                <a:solidFill>
                  <a:srgbClr val="1F2A3D"/>
                </a:solidFill>
                <a:latin typeface="Calibri" pitchFamily="34" charset="0"/>
                <a:ea typeface="Calibri" pitchFamily="34" charset="-122"/>
                <a:cs typeface="Calibri" pitchFamily="34" charset="-120"/>
              </a:rPr>
              <a:t>The naive fix breaks the agent</a:t>
            </a:r>
            <a:endParaRPr lang="en-US" sz="1300" dirty="0"/>
          </a:p>
        </p:txBody>
      </p:sp>
      <p:sp>
        <p:nvSpPr>
          <p:cNvPr id="17" name="Text 13"/>
          <p:cNvSpPr/>
          <p:nvPr/>
        </p:nvSpPr>
        <p:spPr>
          <a:xfrm>
            <a:off x="5559552" y="5093208"/>
            <a:ext cx="5852160" cy="77724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Re-deciding per request destroys prompt caches, hands one model another's half-finished reasoning, and violates provider protocol. Routing must understand turns.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THE CORE IDEA</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Route turns, not HTTP requests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a:t>
            </a:r>
            <a:endParaRPr lang="en-US" sz="900" dirty="0"/>
          </a:p>
        </p:txBody>
      </p:sp>
      <p:sp>
        <p:nvSpPr>
          <p:cNvPr id="7" name="Text 4"/>
          <p:cNvSpPr/>
          <p:nvPr/>
        </p:nvSpPr>
        <p:spPr>
          <a:xfrm>
            <a:off x="548640" y="1554480"/>
            <a:ext cx="6583680" cy="4480560"/>
          </a:xfrm>
          <a:prstGeom prst="rect">
            <a:avLst/>
          </a:prstGeom>
          <a:noFill/>
          <a:ln/>
        </p:spPr>
        <p:txBody>
          <a:bodyPr wrap="square" lIns="0" tIns="0" rIns="0" bIns="0" rtlCol="0" anchor="t"/>
          <a:lstStyle/>
          <a:p>
            <a:pPr algn="l" marL="342900" indent="-342900">
              <a:lnSpc>
                <a:spcPct val="112000"/>
              </a:lnSpc>
              <a:buSzPct val="100000"/>
              <a:buChar char="•"/>
            </a:pPr>
            <a:r>
              <a:rPr lang="en-US" sz="1300" b="1" dirty="0">
                <a:solidFill>
                  <a:srgbClr val="1F2A3D"/>
                </a:solidFill>
                <a:latin typeface="Calibri" pitchFamily="34" charset="0"/>
                <a:ea typeface="Calibri" pitchFamily="34" charset="-122"/>
                <a:cs typeface="Calibri" pitchFamily="34" charset="-120"/>
              </a:rPr>
              <a:t>One decision per user turn</a:t>
            </a:r>
            <a:endParaRPr lang="en-US" sz="1300" dirty="0"/>
          </a:p>
          <a:p>
            <a:pPr algn="l" lvl="1" indent="0" marL="0">
              <a:lnSpc>
                <a:spcPct val="112000"/>
              </a:lnSpc>
              <a:buNone/>
            </a:pPr>
            <a:r>
              <a:rPr lang="en-US" sz="1150" dirty="0">
                <a:solidFill>
                  <a:srgbClr val="5D6B7E"/>
                </a:solidFill>
                <a:latin typeface="Calibri" pitchFamily="34" charset="0"/>
                <a:ea typeface="Calibri" pitchFamily="34" charset="-122"/>
                <a:cs typeface="Calibri" pitchFamily="34" charset="-120"/>
              </a:rPr>
              <a:t>picks the rung: local (~$0) → cheap cloud (Haiku-class) → frontier (Opus-class)</a:t>
            </a:r>
            <a:endParaRPr lang="en-US" sz="1300" dirty="0"/>
          </a:p>
          <a:p>
            <a:pPr algn="l" indent="0" marL="0">
              <a:lnSpc>
                <a:spcPct val="112000"/>
              </a:lnSpc>
              <a:buNone/>
            </a:pPr>
            <a:r>
              <a:rPr lang="en-US" sz="600" dirty="0">
                <a:solidFill>
                  <a:srgbClr val="1F2A3D"/>
                </a:solidFill>
                <a:latin typeface="Calibri" pitchFamily="34" charset="0"/>
                <a:ea typeface="Calibri" pitchFamily="34" charset="-122"/>
                <a:cs typeface="Calibri" pitchFamily="34" charset="-120"/>
              </a:rPr>
              <a:t> </a:t>
            </a:r>
            <a:endParaRPr lang="en-US" sz="1300" dirty="0"/>
          </a:p>
          <a:p>
            <a:pPr algn="l" marL="342900" indent="-342900">
              <a:lnSpc>
                <a:spcPct val="112000"/>
              </a:lnSpc>
              <a:buSzPct val="100000"/>
              <a:buChar char="•"/>
            </a:pPr>
            <a:r>
              <a:rPr lang="en-US" sz="1300" b="1" dirty="0">
                <a:solidFill>
                  <a:srgbClr val="1F2A3D"/>
                </a:solidFill>
                <a:latin typeface="Calibri" pitchFamily="34" charset="0"/>
                <a:ea typeface="Calibri" pitchFamily="34" charset="-122"/>
                <a:cs typeface="Calibri" pitchFamily="34" charset="-120"/>
              </a:rPr>
              <a:t>Everything mid-turn inherits the route</a:t>
            </a:r>
            <a:endParaRPr lang="en-US" sz="1300" dirty="0"/>
          </a:p>
          <a:p>
            <a:pPr algn="l" lvl="1" indent="0" marL="0">
              <a:lnSpc>
                <a:spcPct val="112000"/>
              </a:lnSpc>
              <a:buNone/>
            </a:pPr>
            <a:r>
              <a:rPr lang="en-US" sz="1150" dirty="0">
                <a:solidFill>
                  <a:srgbClr val="5D6B7E"/>
                </a:solidFill>
                <a:latin typeface="Calibri" pitchFamily="34" charset="0"/>
                <a:ea typeface="Calibri" pitchFamily="34" charset="-122"/>
                <a:cs typeface="Calibri" pitchFamily="34" charset="-120"/>
              </a:rPr>
              <a:t>sticky lookup, sub-millisecond — no features, no policy, no ML on the hot path</a:t>
            </a:r>
            <a:endParaRPr lang="en-US" sz="1300" dirty="0"/>
          </a:p>
          <a:p>
            <a:pPr algn="l" indent="0" marL="0">
              <a:lnSpc>
                <a:spcPct val="112000"/>
              </a:lnSpc>
              <a:buNone/>
            </a:pPr>
            <a:r>
              <a:rPr lang="en-US" sz="600" dirty="0">
                <a:solidFill>
                  <a:srgbClr val="1F2A3D"/>
                </a:solidFill>
                <a:latin typeface="Calibri" pitchFamily="34" charset="0"/>
                <a:ea typeface="Calibri" pitchFamily="34" charset="-122"/>
                <a:cs typeface="Calibri" pitchFamily="34" charset="-120"/>
              </a:rPr>
              <a:t> </a:t>
            </a:r>
            <a:endParaRPr lang="en-US" sz="1300" dirty="0"/>
          </a:p>
          <a:p>
            <a:pPr algn="l" marL="342900" indent="-342900">
              <a:lnSpc>
                <a:spcPct val="112000"/>
              </a:lnSpc>
              <a:buSzPct val="100000"/>
              <a:buChar char="•"/>
            </a:pPr>
            <a:r>
              <a:rPr lang="en-US" sz="1300" b="1" dirty="0">
                <a:solidFill>
                  <a:srgbClr val="1F2A3D"/>
                </a:solidFill>
                <a:latin typeface="Calibri" pitchFamily="34" charset="0"/>
                <a:ea typeface="Calibri" pitchFamily="34" charset="-122"/>
                <a:cs typeface="Calibri" pitchFamily="34" charset="-120"/>
              </a:rPr>
              <a:t>Exactly two legal switch moments</a:t>
            </a:r>
            <a:endParaRPr lang="en-US" sz="1300" dirty="0"/>
          </a:p>
          <a:p>
            <a:pPr algn="l" lvl="1" indent="0" marL="0">
              <a:lnSpc>
                <a:spcPct val="112000"/>
              </a:lnSpc>
              <a:buNone/>
            </a:pPr>
            <a:r>
              <a:rPr lang="en-US" sz="1150" dirty="0">
                <a:solidFill>
                  <a:srgbClr val="5D6B7E"/>
                </a:solidFill>
                <a:latin typeface="Calibri" pitchFamily="34" charset="0"/>
                <a:ea typeface="Calibri" pitchFamily="34" charset="-122"/>
                <a:cs typeface="Calibri" pitchFamily="34" charset="-120"/>
              </a:rPr>
              <a:t>a new user turn (full policy) · a trip-wire at an action boundary (controlled escalation)</a:t>
            </a:r>
            <a:endParaRPr lang="en-US" sz="1300" dirty="0"/>
          </a:p>
          <a:p>
            <a:pPr algn="l" indent="0" marL="0">
              <a:lnSpc>
                <a:spcPct val="112000"/>
              </a:lnSpc>
              <a:buNone/>
            </a:pPr>
            <a:r>
              <a:rPr lang="en-US" sz="600" dirty="0">
                <a:solidFill>
                  <a:srgbClr val="1F2A3D"/>
                </a:solidFill>
                <a:latin typeface="Calibri" pitchFamily="34" charset="0"/>
                <a:ea typeface="Calibri" pitchFamily="34" charset="-122"/>
                <a:cs typeface="Calibri" pitchFamily="34" charset="-120"/>
              </a:rPr>
              <a:t> </a:t>
            </a:r>
            <a:endParaRPr lang="en-US" sz="1300" dirty="0"/>
          </a:p>
          <a:p>
            <a:pPr algn="l" marL="342900" indent="-342900">
              <a:lnSpc>
                <a:spcPct val="112000"/>
              </a:lnSpc>
              <a:buSzPct val="100000"/>
              <a:buChar char="•"/>
            </a:pPr>
            <a:r>
              <a:rPr lang="en-US" sz="1300" b="1" dirty="0">
                <a:solidFill>
                  <a:srgbClr val="1F2A3D"/>
                </a:solidFill>
                <a:latin typeface="Calibri" pitchFamily="34" charset="0"/>
                <a:ea typeface="Calibri" pitchFamily="34" charset="-122"/>
                <a:cs typeface="Calibri" pitchFamily="34" charset="-120"/>
              </a:rPr>
              <a:t>Mid-turn switching is triply broken</a:t>
            </a:r>
            <a:endParaRPr lang="en-US" sz="1300" dirty="0"/>
          </a:p>
          <a:p>
            <a:pPr algn="l" lvl="1" indent="0" marL="0">
              <a:lnSpc>
                <a:spcPct val="112000"/>
              </a:lnSpc>
              <a:buNone/>
            </a:pPr>
            <a:r>
              <a:rPr lang="en-US" sz="1150" dirty="0">
                <a:solidFill>
                  <a:srgbClr val="5D6B7E"/>
                </a:solidFill>
                <a:latin typeface="Calibri" pitchFamily="34" charset="0"/>
                <a:ea typeface="Calibri" pitchFamily="34" charset="-122"/>
                <a:cs typeface="Calibri" pitchFamily="34" charset="-120"/>
              </a:rPr>
              <a:t>kills warm caches on both sides · hands the new model half-finished foreign reasoning · thinking-block signatures don't transfer across providers</a:t>
            </a:r>
            <a:endParaRPr lang="en-US" sz="1300" dirty="0"/>
          </a:p>
        </p:txBody>
      </p:sp>
      <p:sp>
        <p:nvSpPr>
          <p:cNvPr id="8" name="Shape 5"/>
          <p:cNvSpPr/>
          <p:nvPr/>
        </p:nvSpPr>
        <p:spPr>
          <a:xfrm>
            <a:off x="7589520" y="1554480"/>
            <a:ext cx="4069080" cy="3017520"/>
          </a:xfrm>
          <a:prstGeom prst="roundRect">
            <a:avLst>
              <a:gd name="adj" fmla="val 2121"/>
            </a:avLst>
          </a:prstGeom>
          <a:solidFill>
            <a:srgbClr val="15223A"/>
          </a:solidFill>
          <a:ln/>
          <a:effectLst>
            <a:outerShdw sx="100000" sy="100000" kx="0" ky="0" algn="bl" rotWithShape="0" blurRad="88900" dist="25400" dir="2700000">
              <a:srgbClr val="1F2A3D">
                <a:alpha val="14000"/>
              </a:srgbClr>
            </a:outerShdw>
          </a:effectLst>
        </p:spPr>
      </p:sp>
      <p:sp>
        <p:nvSpPr>
          <p:cNvPr id="9" name="Text 6"/>
          <p:cNvSpPr/>
          <p:nvPr/>
        </p:nvSpPr>
        <p:spPr>
          <a:xfrm>
            <a:off x="7818120" y="1965960"/>
            <a:ext cx="3611880" cy="914400"/>
          </a:xfrm>
          <a:prstGeom prst="rect">
            <a:avLst/>
          </a:prstGeom>
          <a:noFill/>
          <a:ln/>
        </p:spPr>
        <p:txBody>
          <a:bodyPr wrap="square" lIns="0" tIns="0" rIns="0" bIns="0" rtlCol="0" anchor="t"/>
          <a:lstStyle/>
          <a:p>
            <a:pPr algn="ctr" indent="0" marL="0">
              <a:buNone/>
            </a:pPr>
            <a:r>
              <a:rPr lang="en-US" sz="5400" b="1" dirty="0">
                <a:solidFill>
                  <a:srgbClr val="8ED6AC"/>
                </a:solidFill>
                <a:latin typeface="Cambria" pitchFamily="34" charset="0"/>
                <a:ea typeface="Cambria" pitchFamily="34" charset="-122"/>
                <a:cs typeface="Cambria" pitchFamily="34" charset="-120"/>
              </a:rPr>
              <a:t>99.3%</a:t>
            </a:r>
            <a:endParaRPr lang="en-US" sz="5400" dirty="0"/>
          </a:p>
        </p:txBody>
      </p:sp>
      <p:sp>
        <p:nvSpPr>
          <p:cNvPr id="10" name="Text 7"/>
          <p:cNvSpPr/>
          <p:nvPr/>
        </p:nvSpPr>
        <p:spPr>
          <a:xfrm>
            <a:off x="7818120" y="3063240"/>
            <a:ext cx="3611880" cy="548640"/>
          </a:xfrm>
          <a:prstGeom prst="rect">
            <a:avLst/>
          </a:prstGeom>
          <a:noFill/>
          <a:ln/>
        </p:spPr>
        <p:txBody>
          <a:bodyPr wrap="square" lIns="0" tIns="0" rIns="0" bIns="0" rtlCol="0" anchor="t"/>
          <a:lstStyle/>
          <a:p>
            <a:pPr algn="ctr" indent="0" marL="0">
              <a:lnSpc>
                <a:spcPct val="115000"/>
              </a:lnSpc>
              <a:buNone/>
            </a:pPr>
            <a:r>
              <a:rPr lang="en-US" sz="1150" dirty="0">
                <a:solidFill>
                  <a:srgbClr val="EAF0F8"/>
                </a:solidFill>
                <a:latin typeface="Calibri" pitchFamily="34" charset="0"/>
                <a:ea typeface="Calibri" pitchFamily="34" charset="-122"/>
                <a:cs typeface="Calibri" pitchFamily="34" charset="-120"/>
              </a:rPr>
              <a:t>of prompt tokens served from cache,</a:t>
            </a:r>
            <a:endParaRPr lang="en-US" sz="1150" dirty="0"/>
          </a:p>
          <a:p>
            <a:pPr algn="ctr" indent="0" marL="0">
              <a:lnSpc>
                <a:spcPct val="115000"/>
              </a:lnSpc>
              <a:buNone/>
            </a:pPr>
            <a:r>
              <a:rPr lang="en-US" sz="1150" dirty="0">
                <a:solidFill>
                  <a:srgbClr val="EAF0F8"/>
                </a:solidFill>
                <a:latin typeface="Calibri" pitchFamily="34" charset="0"/>
                <a:ea typeface="Calibri" pitchFamily="34" charset="-122"/>
                <a:cs typeface="Calibri" pitchFamily="34" charset="-120"/>
              </a:rPr>
              <a:t>measured on my own traffic</a:t>
            </a:r>
            <a:endParaRPr lang="en-US" sz="1150" dirty="0"/>
          </a:p>
        </p:txBody>
      </p:sp>
      <p:sp>
        <p:nvSpPr>
          <p:cNvPr id="11" name="Text 8"/>
          <p:cNvSpPr/>
          <p:nvPr/>
        </p:nvSpPr>
        <p:spPr>
          <a:xfrm>
            <a:off x="7818120" y="3794760"/>
            <a:ext cx="3611880" cy="457200"/>
          </a:xfrm>
          <a:prstGeom prst="rect">
            <a:avLst/>
          </a:prstGeom>
          <a:noFill/>
          <a:ln/>
        </p:spPr>
        <p:txBody>
          <a:bodyPr wrap="square" lIns="0" tIns="0" rIns="0" bIns="0" rtlCol="0" anchor="t"/>
          <a:lstStyle/>
          <a:p>
            <a:pPr algn="ctr" indent="0" marL="0">
              <a:buNone/>
            </a:pPr>
            <a:r>
              <a:rPr lang="en-US" sz="1050" i="1" dirty="0">
                <a:solidFill>
                  <a:srgbClr val="9FB0C7"/>
                </a:solidFill>
                <a:latin typeface="Calibri" pitchFamily="34" charset="0"/>
                <a:ea typeface="Calibri" pitchFamily="34" charset="-122"/>
                <a:cs typeface="Calibri" pitchFamily="34" charset="-120"/>
              </a:rPr>
              <a:t>that asset dies on a mid-turn model switch</a:t>
            </a:r>
            <a:endParaRPr lang="en-US" sz="1050" dirty="0"/>
          </a:p>
        </p:txBody>
      </p:sp>
      <p:sp>
        <p:nvSpPr>
          <p:cNvPr id="12" name="Shape 9"/>
          <p:cNvSpPr/>
          <p:nvPr/>
        </p:nvSpPr>
        <p:spPr>
          <a:xfrm>
            <a:off x="7589520" y="4800600"/>
            <a:ext cx="4069080" cy="1325880"/>
          </a:xfrm>
          <a:prstGeom prst="roundRect">
            <a:avLst>
              <a:gd name="adj" fmla="val 4828"/>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Text 10"/>
          <p:cNvSpPr/>
          <p:nvPr/>
        </p:nvSpPr>
        <p:spPr>
          <a:xfrm>
            <a:off x="7827264" y="4983480"/>
            <a:ext cx="3611880" cy="1005840"/>
          </a:xfrm>
          <a:prstGeom prst="rect">
            <a:avLst/>
          </a:prstGeom>
          <a:noFill/>
          <a:ln/>
        </p:spPr>
        <p:txBody>
          <a:bodyPr wrap="square" lIns="0" tIns="0" rIns="0" bIns="0" rtlCol="0" anchor="t"/>
          <a:lstStyle/>
          <a:p>
            <a:pPr algn="l" indent="0" marL="0">
              <a:lnSpc>
                <a:spcPct val="112000"/>
              </a:lnSpc>
              <a:buNone/>
            </a:pPr>
            <a:r>
              <a:rPr lang="en-US" sz="1100" b="1" dirty="0">
                <a:solidFill>
                  <a:srgbClr val="1F2A3D"/>
                </a:solidFill>
                <a:latin typeface="Calibri" pitchFamily="34" charset="0"/>
                <a:ea typeface="Calibri" pitchFamily="34" charset="-122"/>
                <a:cs typeface="Calibri" pitchFamily="34" charset="-120"/>
              </a:rPr>
              <a:t>Where it sits:  </a:t>
            </a:r>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harness → ADRL → LiteLLM → { local · cheap cloud · frontier }. The harness sees one model alias and never knows rungs exist.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THE DESIGN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Six components, one job each</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 (~1,200 lines, 16 sections, v2)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48640" y="150876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786384" y="1728216"/>
            <a:ext cx="457200" cy="457200"/>
          </a:xfrm>
          <a:prstGeom prst="ellipse">
            <a:avLst/>
          </a:prstGeom>
          <a:solidFill>
            <a:srgbClr val="1D6FA5"/>
          </a:solidFill>
          <a:ln/>
        </p:spPr>
      </p:sp>
      <p:pic>
        <p:nvPicPr>
          <p:cNvPr id="9" name="Image 0" descr="preencoded.png">    </p:cNvPr>
          <p:cNvPicPr>
            <a:picLocks noChangeAspect="1"/>
          </p:cNvPicPr>
          <p:nvPr/>
        </p:nvPicPr>
        <p:blipFill>
          <a:blip r:embed="rId1"/>
          <a:stretch>
            <a:fillRect/>
          </a:stretch>
        </p:blipFill>
        <p:spPr>
          <a:xfrm>
            <a:off x="905256" y="1847088"/>
            <a:ext cx="219456" cy="219456"/>
          </a:xfrm>
          <a:prstGeom prst="rect">
            <a:avLst/>
          </a:prstGeom>
        </p:spPr>
      </p:pic>
      <p:sp>
        <p:nvSpPr>
          <p:cNvPr id="10" name="Text 6"/>
          <p:cNvSpPr/>
          <p:nvPr/>
        </p:nvSpPr>
        <p:spPr>
          <a:xfrm>
            <a:off x="1389888" y="1783080"/>
            <a:ext cx="2560320" cy="548640"/>
          </a:xfrm>
          <a:prstGeom prst="rect">
            <a:avLst/>
          </a:prstGeom>
          <a:noFill/>
          <a:ln/>
        </p:spPr>
        <p:txBody>
          <a:bodyPr wrap="square" lIns="0" tIns="0" rIns="0" bIns="0" rtlCol="0" anchor="t"/>
          <a:lstStyle/>
          <a:p>
            <a:pPr algn="l" indent="0" marL="0">
              <a:lnSpc>
                <a:spcPct val="98000"/>
              </a:lnSpc>
              <a:buNone/>
            </a:pPr>
            <a:r>
              <a:rPr lang="en-US" sz="1250" b="1" dirty="0">
                <a:solidFill>
                  <a:srgbClr val="1F2A3D"/>
                </a:solidFill>
                <a:latin typeface="Calibri" pitchFamily="34" charset="0"/>
                <a:ea typeface="Calibri" pitchFamily="34" charset="-122"/>
                <a:cs typeface="Calibri" pitchFamily="34" charset="-120"/>
              </a:rPr>
              <a:t>1 · Call-type discriminator</a:t>
            </a:r>
            <a:endParaRPr lang="en-US" sz="1250" dirty="0"/>
          </a:p>
        </p:txBody>
      </p:sp>
      <p:sp>
        <p:nvSpPr>
          <p:cNvPr id="11" name="Text 7"/>
          <p:cNvSpPr/>
          <p:nvPr/>
        </p:nvSpPr>
        <p:spPr>
          <a:xfrm>
            <a:off x="786384" y="2404872"/>
            <a:ext cx="3090672" cy="114300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labels user_turn / continuation / utility / subagent — mechanical rules, microseconds, no ML. Expensive machinery runs on only ~15% of requests.</a:t>
            </a:r>
            <a:endParaRPr lang="en-US" sz="1050" dirty="0"/>
          </a:p>
        </p:txBody>
      </p:sp>
      <p:sp>
        <p:nvSpPr>
          <p:cNvPr id="12" name="Shape 8"/>
          <p:cNvSpPr/>
          <p:nvPr/>
        </p:nvSpPr>
        <p:spPr>
          <a:xfrm>
            <a:off x="4343400" y="150876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Shape 9"/>
          <p:cNvSpPr/>
          <p:nvPr/>
        </p:nvSpPr>
        <p:spPr>
          <a:xfrm>
            <a:off x="4581144" y="1728216"/>
            <a:ext cx="457200" cy="457200"/>
          </a:xfrm>
          <a:prstGeom prst="ellipse">
            <a:avLst/>
          </a:prstGeom>
          <a:solidFill>
            <a:srgbClr val="1D6FA5"/>
          </a:solidFill>
          <a:ln/>
        </p:spPr>
      </p:sp>
      <p:pic>
        <p:nvPicPr>
          <p:cNvPr id="14" name="Image 1" descr="preencoded.png">    </p:cNvPr>
          <p:cNvPicPr>
            <a:picLocks noChangeAspect="1"/>
          </p:cNvPicPr>
          <p:nvPr/>
        </p:nvPicPr>
        <p:blipFill>
          <a:blip r:embed="rId2"/>
          <a:stretch>
            <a:fillRect/>
          </a:stretch>
        </p:blipFill>
        <p:spPr>
          <a:xfrm>
            <a:off x="4700016" y="1847088"/>
            <a:ext cx="219456" cy="219456"/>
          </a:xfrm>
          <a:prstGeom prst="rect">
            <a:avLst/>
          </a:prstGeom>
        </p:spPr>
      </p:pic>
      <p:sp>
        <p:nvSpPr>
          <p:cNvPr id="15" name="Text 10"/>
          <p:cNvSpPr/>
          <p:nvPr/>
        </p:nvSpPr>
        <p:spPr>
          <a:xfrm>
            <a:off x="5184648" y="1783080"/>
            <a:ext cx="2560320" cy="548640"/>
          </a:xfrm>
          <a:prstGeom prst="rect">
            <a:avLst/>
          </a:prstGeom>
          <a:noFill/>
          <a:ln/>
        </p:spPr>
        <p:txBody>
          <a:bodyPr wrap="square" lIns="0" tIns="0" rIns="0" bIns="0" rtlCol="0" anchor="t"/>
          <a:lstStyle/>
          <a:p>
            <a:pPr algn="l" indent="0" marL="0">
              <a:lnSpc>
                <a:spcPct val="98000"/>
              </a:lnSpc>
              <a:buNone/>
            </a:pPr>
            <a:r>
              <a:rPr lang="en-US" sz="1250" b="1" dirty="0">
                <a:solidFill>
                  <a:srgbClr val="1F2A3D"/>
                </a:solidFill>
                <a:latin typeface="Calibri" pitchFamily="34" charset="0"/>
                <a:ea typeface="Calibri" pitchFamily="34" charset="-122"/>
                <a:cs typeface="Calibri" pitchFamily="34" charset="-120"/>
              </a:rPr>
              <a:t>2 · Three-layer policy engine</a:t>
            </a:r>
            <a:endParaRPr lang="en-US" sz="1250" dirty="0"/>
          </a:p>
        </p:txBody>
      </p:sp>
      <p:sp>
        <p:nvSpPr>
          <p:cNvPr id="16" name="Text 11"/>
          <p:cNvSpPr/>
          <p:nvPr/>
        </p:nvSpPr>
        <p:spPr>
          <a:xfrm>
            <a:off x="4581144" y="2404872"/>
            <a:ext cx="3090672" cy="114300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hard gates → heuristics (~70% of turns) → learned router for the ambiguous middle (later phase). Cheapest first.</a:t>
            </a:r>
            <a:endParaRPr lang="en-US" sz="1050" dirty="0"/>
          </a:p>
        </p:txBody>
      </p:sp>
      <p:sp>
        <p:nvSpPr>
          <p:cNvPr id="17" name="Shape 12"/>
          <p:cNvSpPr/>
          <p:nvPr/>
        </p:nvSpPr>
        <p:spPr>
          <a:xfrm>
            <a:off x="8138160" y="150876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8" name="Shape 13"/>
          <p:cNvSpPr/>
          <p:nvPr/>
        </p:nvSpPr>
        <p:spPr>
          <a:xfrm>
            <a:off x="8375904" y="1728216"/>
            <a:ext cx="457200" cy="457200"/>
          </a:xfrm>
          <a:prstGeom prst="ellipse">
            <a:avLst/>
          </a:prstGeom>
          <a:solidFill>
            <a:srgbClr val="B3261E"/>
          </a:solidFill>
          <a:ln/>
        </p:spPr>
      </p:sp>
      <p:pic>
        <p:nvPicPr>
          <p:cNvPr id="19" name="Image 2" descr="preencoded.png">    </p:cNvPr>
          <p:cNvPicPr>
            <a:picLocks noChangeAspect="1"/>
          </p:cNvPicPr>
          <p:nvPr/>
        </p:nvPicPr>
        <p:blipFill>
          <a:blip r:embed="rId3"/>
          <a:stretch>
            <a:fillRect/>
          </a:stretch>
        </p:blipFill>
        <p:spPr>
          <a:xfrm>
            <a:off x="8494776" y="1847088"/>
            <a:ext cx="219456" cy="219456"/>
          </a:xfrm>
          <a:prstGeom prst="rect">
            <a:avLst/>
          </a:prstGeom>
        </p:spPr>
      </p:pic>
      <p:sp>
        <p:nvSpPr>
          <p:cNvPr id="20" name="Text 14"/>
          <p:cNvSpPr/>
          <p:nvPr/>
        </p:nvSpPr>
        <p:spPr>
          <a:xfrm>
            <a:off x="8979408" y="1783080"/>
            <a:ext cx="2560320" cy="548640"/>
          </a:xfrm>
          <a:prstGeom prst="rect">
            <a:avLst/>
          </a:prstGeom>
          <a:noFill/>
          <a:ln/>
        </p:spPr>
        <p:txBody>
          <a:bodyPr wrap="square" lIns="0" tIns="0" rIns="0" bIns="0" rtlCol="0" anchor="t"/>
          <a:lstStyle/>
          <a:p>
            <a:pPr algn="l" indent="0" marL="0">
              <a:lnSpc>
                <a:spcPct val="98000"/>
              </a:lnSpc>
              <a:buNone/>
            </a:pPr>
            <a:r>
              <a:rPr lang="en-US" sz="1250" b="1" dirty="0">
                <a:solidFill>
                  <a:srgbClr val="1F2A3D"/>
                </a:solidFill>
                <a:latin typeface="Calibri" pitchFamily="34" charset="0"/>
                <a:ea typeface="Calibri" pitchFamily="34" charset="-122"/>
                <a:cs typeface="Calibri" pitchFamily="34" charset="-120"/>
              </a:rPr>
              <a:t>3 · Escalation controller</a:t>
            </a:r>
            <a:endParaRPr lang="en-US" sz="1250" dirty="0"/>
          </a:p>
        </p:txBody>
      </p:sp>
      <p:sp>
        <p:nvSpPr>
          <p:cNvPr id="21" name="Text 15"/>
          <p:cNvSpPr/>
          <p:nvPr/>
        </p:nvSpPr>
        <p:spPr>
          <a:xfrm>
            <a:off x="8375904" y="2404872"/>
            <a:ext cx="3090672" cy="114300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deterministic trip-wires, no LLM judge; rebuilds the transcript for the higher rung and holds it there (hysteresis).</a:t>
            </a:r>
            <a:endParaRPr lang="en-US" sz="1050" dirty="0"/>
          </a:p>
        </p:txBody>
      </p:sp>
      <p:sp>
        <p:nvSpPr>
          <p:cNvPr id="22" name="Shape 16"/>
          <p:cNvSpPr/>
          <p:nvPr/>
        </p:nvSpPr>
        <p:spPr>
          <a:xfrm>
            <a:off x="548640" y="388620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3" name="Shape 17"/>
          <p:cNvSpPr/>
          <p:nvPr/>
        </p:nvSpPr>
        <p:spPr>
          <a:xfrm>
            <a:off x="786384" y="4105656"/>
            <a:ext cx="457200" cy="457200"/>
          </a:xfrm>
          <a:prstGeom prst="ellipse">
            <a:avLst/>
          </a:prstGeom>
          <a:solidFill>
            <a:srgbClr val="B45309"/>
          </a:solidFill>
          <a:ln/>
        </p:spPr>
      </p:sp>
      <p:pic>
        <p:nvPicPr>
          <p:cNvPr id="24" name="Image 3" descr="preencoded.png">    </p:cNvPr>
          <p:cNvPicPr>
            <a:picLocks noChangeAspect="1"/>
          </p:cNvPicPr>
          <p:nvPr/>
        </p:nvPicPr>
        <p:blipFill>
          <a:blip r:embed="rId4"/>
          <a:stretch>
            <a:fillRect/>
          </a:stretch>
        </p:blipFill>
        <p:spPr>
          <a:xfrm>
            <a:off x="905256" y="4224528"/>
            <a:ext cx="219456" cy="219456"/>
          </a:xfrm>
          <a:prstGeom prst="rect">
            <a:avLst/>
          </a:prstGeom>
        </p:spPr>
      </p:pic>
      <p:sp>
        <p:nvSpPr>
          <p:cNvPr id="25" name="Text 18"/>
          <p:cNvSpPr/>
          <p:nvPr/>
        </p:nvSpPr>
        <p:spPr>
          <a:xfrm>
            <a:off x="1389888" y="4160520"/>
            <a:ext cx="2560320" cy="548640"/>
          </a:xfrm>
          <a:prstGeom prst="rect">
            <a:avLst/>
          </a:prstGeom>
          <a:noFill/>
          <a:ln/>
        </p:spPr>
        <p:txBody>
          <a:bodyPr wrap="square" lIns="0" tIns="0" rIns="0" bIns="0" rtlCol="0" anchor="t"/>
          <a:lstStyle/>
          <a:p>
            <a:pPr algn="l" indent="0" marL="0">
              <a:lnSpc>
                <a:spcPct val="98000"/>
              </a:lnSpc>
              <a:buNone/>
            </a:pPr>
            <a:r>
              <a:rPr lang="en-US" sz="1250" b="1" dirty="0">
                <a:solidFill>
                  <a:srgbClr val="1F2A3D"/>
                </a:solidFill>
                <a:latin typeface="Calibri" pitchFamily="34" charset="0"/>
                <a:ea typeface="Calibri" pitchFamily="34" charset="-122"/>
                <a:cs typeface="Calibri" pitchFamily="34" charset="-120"/>
              </a:rPr>
              <a:t>4 · Capability registry</a:t>
            </a:r>
            <a:endParaRPr lang="en-US" sz="1250" dirty="0"/>
          </a:p>
        </p:txBody>
      </p:sp>
      <p:sp>
        <p:nvSpPr>
          <p:cNvPr id="26" name="Text 19"/>
          <p:cNvSpPr/>
          <p:nvPr/>
        </p:nvSpPr>
        <p:spPr>
          <a:xfrm>
            <a:off x="786384" y="4782312"/>
            <a:ext cx="3090672" cy="114300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measured profiles keyed by (model, harness) — tool-call reliability is dialect-specific, not a property of the model alone.</a:t>
            </a:r>
            <a:endParaRPr lang="en-US" sz="1050" dirty="0"/>
          </a:p>
        </p:txBody>
      </p:sp>
      <p:sp>
        <p:nvSpPr>
          <p:cNvPr id="27" name="Shape 20"/>
          <p:cNvSpPr/>
          <p:nvPr/>
        </p:nvSpPr>
        <p:spPr>
          <a:xfrm>
            <a:off x="4343400" y="388620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8" name="Shape 21"/>
          <p:cNvSpPr/>
          <p:nvPr/>
        </p:nvSpPr>
        <p:spPr>
          <a:xfrm>
            <a:off x="4581144" y="4105656"/>
            <a:ext cx="457200" cy="457200"/>
          </a:xfrm>
          <a:prstGeom prst="ellipse">
            <a:avLst/>
          </a:prstGeom>
          <a:solidFill>
            <a:srgbClr val="B3261E"/>
          </a:solidFill>
          <a:ln/>
        </p:spPr>
      </p:sp>
      <p:pic>
        <p:nvPicPr>
          <p:cNvPr id="29" name="Image 4" descr="preencoded.png">    </p:cNvPr>
          <p:cNvPicPr>
            <a:picLocks noChangeAspect="1"/>
          </p:cNvPicPr>
          <p:nvPr/>
        </p:nvPicPr>
        <p:blipFill>
          <a:blip r:embed="rId5"/>
          <a:stretch>
            <a:fillRect/>
          </a:stretch>
        </p:blipFill>
        <p:spPr>
          <a:xfrm>
            <a:off x="4700016" y="4224528"/>
            <a:ext cx="219456" cy="219456"/>
          </a:xfrm>
          <a:prstGeom prst="rect">
            <a:avLst/>
          </a:prstGeom>
        </p:spPr>
      </p:pic>
      <p:sp>
        <p:nvSpPr>
          <p:cNvPr id="30" name="Text 22"/>
          <p:cNvSpPr/>
          <p:nvPr/>
        </p:nvSpPr>
        <p:spPr>
          <a:xfrm>
            <a:off x="5184648" y="4160520"/>
            <a:ext cx="2560320" cy="548640"/>
          </a:xfrm>
          <a:prstGeom prst="rect">
            <a:avLst/>
          </a:prstGeom>
          <a:noFill/>
          <a:ln/>
        </p:spPr>
        <p:txBody>
          <a:bodyPr wrap="square" lIns="0" tIns="0" rIns="0" bIns="0" rtlCol="0" anchor="t"/>
          <a:lstStyle/>
          <a:p>
            <a:pPr algn="l" indent="0" marL="0">
              <a:lnSpc>
                <a:spcPct val="98000"/>
              </a:lnSpc>
              <a:buNone/>
            </a:pPr>
            <a:r>
              <a:rPr lang="en-US" sz="1250" b="1" dirty="0">
                <a:solidFill>
                  <a:srgbClr val="1F2A3D"/>
                </a:solidFill>
                <a:latin typeface="Calibri" pitchFamily="34" charset="0"/>
                <a:ea typeface="Calibri" pitchFamily="34" charset="-122"/>
                <a:cs typeface="Calibri" pitchFamily="34" charset="-120"/>
              </a:rPr>
              <a:t>5 · Privacy pin</a:t>
            </a:r>
            <a:endParaRPr lang="en-US" sz="1250" dirty="0"/>
          </a:p>
        </p:txBody>
      </p:sp>
      <p:sp>
        <p:nvSpPr>
          <p:cNvPr id="31" name="Text 23"/>
          <p:cNvSpPr/>
          <p:nvPr/>
        </p:nvSpPr>
        <p:spPr>
          <a:xfrm>
            <a:off x="4581144" y="4782312"/>
            <a:ext cx="3090672" cy="114300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a secret in any tool result pins the session to local, permanently, at gate layer 0. No market router documents an equivalent.</a:t>
            </a:r>
            <a:endParaRPr lang="en-US" sz="1050" dirty="0"/>
          </a:p>
        </p:txBody>
      </p:sp>
      <p:sp>
        <p:nvSpPr>
          <p:cNvPr id="32" name="Shape 24"/>
          <p:cNvSpPr/>
          <p:nvPr/>
        </p:nvSpPr>
        <p:spPr>
          <a:xfrm>
            <a:off x="8138160" y="388620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3" name="Shape 25"/>
          <p:cNvSpPr/>
          <p:nvPr/>
        </p:nvSpPr>
        <p:spPr>
          <a:xfrm>
            <a:off x="8375904" y="4105656"/>
            <a:ext cx="457200" cy="457200"/>
          </a:xfrm>
          <a:prstGeom prst="ellipse">
            <a:avLst/>
          </a:prstGeom>
          <a:solidFill>
            <a:srgbClr val="1F7A55"/>
          </a:solidFill>
          <a:ln/>
        </p:spPr>
      </p:sp>
      <p:pic>
        <p:nvPicPr>
          <p:cNvPr id="34" name="Image 5" descr="preencoded.png">    </p:cNvPr>
          <p:cNvPicPr>
            <a:picLocks noChangeAspect="1"/>
          </p:cNvPicPr>
          <p:nvPr/>
        </p:nvPicPr>
        <p:blipFill>
          <a:blip r:embed="rId6"/>
          <a:stretch>
            <a:fillRect/>
          </a:stretch>
        </p:blipFill>
        <p:spPr>
          <a:xfrm>
            <a:off x="8494776" y="4224528"/>
            <a:ext cx="219456" cy="219456"/>
          </a:xfrm>
          <a:prstGeom prst="rect">
            <a:avLst/>
          </a:prstGeom>
        </p:spPr>
      </p:pic>
      <p:sp>
        <p:nvSpPr>
          <p:cNvPr id="35" name="Text 26"/>
          <p:cNvSpPr/>
          <p:nvPr/>
        </p:nvSpPr>
        <p:spPr>
          <a:xfrm>
            <a:off x="8979408" y="4160520"/>
            <a:ext cx="2560320" cy="548640"/>
          </a:xfrm>
          <a:prstGeom prst="rect">
            <a:avLst/>
          </a:prstGeom>
          <a:noFill/>
          <a:ln/>
        </p:spPr>
        <p:txBody>
          <a:bodyPr wrap="square" lIns="0" tIns="0" rIns="0" bIns="0" rtlCol="0" anchor="t"/>
          <a:lstStyle/>
          <a:p>
            <a:pPr algn="l" indent="0" marL="0">
              <a:lnSpc>
                <a:spcPct val="98000"/>
              </a:lnSpc>
              <a:buNone/>
            </a:pPr>
            <a:r>
              <a:rPr lang="en-US" sz="1250" b="1" dirty="0">
                <a:solidFill>
                  <a:srgbClr val="1F2A3D"/>
                </a:solidFill>
                <a:latin typeface="Calibri" pitchFamily="34" charset="0"/>
                <a:ea typeface="Calibri" pitchFamily="34" charset="-122"/>
                <a:cs typeface="Calibri" pitchFamily="34" charset="-120"/>
              </a:rPr>
              <a:t>6 · Flywheel</a:t>
            </a:r>
            <a:endParaRPr lang="en-US" sz="1250" dirty="0"/>
          </a:p>
        </p:txBody>
      </p:sp>
      <p:sp>
        <p:nvSpPr>
          <p:cNvPr id="36" name="Text 27"/>
          <p:cNvSpPr/>
          <p:nvPr/>
        </p:nvSpPr>
        <p:spPr>
          <a:xfrm>
            <a:off x="8375904" y="4782312"/>
            <a:ext cx="3090672" cy="114300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every routed turn logs features → decision → outcome; feeds dashboards, threshold tuning, and eventually the learned router.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THE DESIGN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Deciding: three layers, cheapest first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§5.3</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548640" y="1554480"/>
            <a:ext cx="6400800" cy="1280160"/>
          </a:xfrm>
          <a:prstGeom prst="roundRect">
            <a:avLst>
              <a:gd name="adj" fmla="val 5000"/>
            </a:avLst>
          </a:prstGeom>
          <a:solidFill>
            <a:srgbClr val="F9E7E4"/>
          </a:solidFill>
          <a:ln/>
          <a:effectLst>
            <a:outerShdw sx="100000" sy="100000" kx="0" ky="0" algn="bl" rotWithShape="0" blurRad="88900" dist="25400" dir="2700000">
              <a:srgbClr val="1F2A3D">
                <a:alpha val="14000"/>
              </a:srgbClr>
            </a:outerShdw>
          </a:effectLst>
        </p:spPr>
      </p:sp>
      <p:sp>
        <p:nvSpPr>
          <p:cNvPr id="8" name="Text 5"/>
          <p:cNvSpPr/>
          <p:nvPr/>
        </p:nvSpPr>
        <p:spPr>
          <a:xfrm>
            <a:off x="804672" y="1691640"/>
            <a:ext cx="5888736" cy="274320"/>
          </a:xfrm>
          <a:prstGeom prst="rect">
            <a:avLst/>
          </a:prstGeom>
          <a:noFill/>
          <a:ln/>
        </p:spPr>
        <p:txBody>
          <a:bodyPr wrap="square" lIns="0" tIns="0" rIns="0" bIns="0" rtlCol="0" anchor="t"/>
          <a:lstStyle/>
          <a:p>
            <a:pPr algn="l" indent="0" marL="0">
              <a:buNone/>
            </a:pPr>
            <a:r>
              <a:rPr lang="en-US" sz="1250" b="1" spc="100" kern="0" dirty="0">
                <a:solidFill>
                  <a:srgbClr val="B3261E"/>
                </a:solidFill>
                <a:latin typeface="Calibri" pitchFamily="34" charset="0"/>
                <a:ea typeface="Calibri" pitchFamily="34" charset="-122"/>
                <a:cs typeface="Calibri" pitchFamily="34" charset="-120"/>
              </a:rPr>
              <a:t>LAYER 0 · HARD GATES</a:t>
            </a:r>
            <a:endParaRPr lang="en-US" sz="1250" dirty="0"/>
          </a:p>
        </p:txBody>
      </p:sp>
      <p:sp>
        <p:nvSpPr>
          <p:cNvPr id="9" name="Text 6"/>
          <p:cNvSpPr/>
          <p:nvPr/>
        </p:nvSpPr>
        <p:spPr>
          <a:xfrm>
            <a:off x="804672" y="2011680"/>
            <a:ext cx="5888736" cy="320040"/>
          </a:xfrm>
          <a:prstGeom prst="rect">
            <a:avLst/>
          </a:prstGeom>
          <a:noFill/>
          <a:ln/>
        </p:spPr>
        <p:txBody>
          <a:bodyPr wrap="square" lIns="0" tIns="0" rIns="0" bIns="0" rtlCol="0" anchor="t"/>
          <a:lstStyle/>
          <a:p>
            <a:pPr algn="l" indent="0" marL="0">
              <a:buNone/>
            </a:pPr>
            <a:r>
              <a:rPr lang="en-US" sz="1150" dirty="0">
                <a:solidFill>
                  <a:srgbClr val="1F2A3D"/>
                </a:solidFill>
                <a:latin typeface="Calibri" pitchFamily="34" charset="0"/>
                <a:ea typeface="Calibri" pitchFamily="34" charset="-122"/>
                <a:cs typeface="Calibri" pitchFamily="34" charset="-120"/>
              </a:rPr>
              <a:t>privacy pin · context feasibility · endpoint health · escalation hysteresis</a:t>
            </a:r>
            <a:endParaRPr lang="en-US" sz="1150" dirty="0"/>
          </a:p>
        </p:txBody>
      </p:sp>
      <p:sp>
        <p:nvSpPr>
          <p:cNvPr id="10" name="Text 7"/>
          <p:cNvSpPr/>
          <p:nvPr/>
        </p:nvSpPr>
        <p:spPr>
          <a:xfrm>
            <a:off x="804672" y="2423160"/>
            <a:ext cx="5888736" cy="27432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nothing overrides these — they run first, structurally</a:t>
            </a:r>
            <a:endParaRPr lang="en-US" sz="1000" dirty="0"/>
          </a:p>
        </p:txBody>
      </p:sp>
      <p:sp>
        <p:nvSpPr>
          <p:cNvPr id="11" name="Shape 8"/>
          <p:cNvSpPr/>
          <p:nvPr/>
        </p:nvSpPr>
        <p:spPr>
          <a:xfrm>
            <a:off x="548640" y="3035808"/>
            <a:ext cx="5394960" cy="1280160"/>
          </a:xfrm>
          <a:prstGeom prst="roundRect">
            <a:avLst>
              <a:gd name="adj" fmla="val 5000"/>
            </a:avLst>
          </a:prstGeom>
          <a:solidFill>
            <a:srgbClr val="E4EEF6"/>
          </a:solidFill>
          <a:ln/>
          <a:effectLst>
            <a:outerShdw sx="100000" sy="100000" kx="0" ky="0" algn="bl" rotWithShape="0" blurRad="88900" dist="25400" dir="2700000">
              <a:srgbClr val="1F2A3D">
                <a:alpha val="14000"/>
              </a:srgbClr>
            </a:outerShdw>
          </a:effectLst>
        </p:spPr>
      </p:sp>
      <p:sp>
        <p:nvSpPr>
          <p:cNvPr id="12" name="Text 9"/>
          <p:cNvSpPr/>
          <p:nvPr/>
        </p:nvSpPr>
        <p:spPr>
          <a:xfrm>
            <a:off x="804672" y="3172968"/>
            <a:ext cx="4882896" cy="274320"/>
          </a:xfrm>
          <a:prstGeom prst="rect">
            <a:avLst/>
          </a:prstGeom>
          <a:noFill/>
          <a:ln/>
        </p:spPr>
        <p:txBody>
          <a:bodyPr wrap="square" lIns="0" tIns="0" rIns="0" bIns="0" rtlCol="0" anchor="t"/>
          <a:lstStyle/>
          <a:p>
            <a:pPr algn="l" indent="0" marL="0">
              <a:buNone/>
            </a:pPr>
            <a:r>
              <a:rPr lang="en-US" sz="1250" b="1" spc="100" kern="0" dirty="0">
                <a:solidFill>
                  <a:srgbClr val="1D6FA5"/>
                </a:solidFill>
                <a:latin typeface="Calibri" pitchFamily="34" charset="0"/>
                <a:ea typeface="Calibri" pitchFamily="34" charset="-122"/>
                <a:cs typeface="Calibri" pitchFamily="34" charset="-120"/>
              </a:rPr>
              <a:t>LAYER 1 · HEURISTICS</a:t>
            </a:r>
            <a:endParaRPr lang="en-US" sz="1250" dirty="0"/>
          </a:p>
        </p:txBody>
      </p:sp>
      <p:sp>
        <p:nvSpPr>
          <p:cNvPr id="13" name="Text 10"/>
          <p:cNvSpPr/>
          <p:nvPr/>
        </p:nvSpPr>
        <p:spPr>
          <a:xfrm>
            <a:off x="804672" y="3493008"/>
            <a:ext cx="4882896" cy="320040"/>
          </a:xfrm>
          <a:prstGeom prst="rect">
            <a:avLst/>
          </a:prstGeom>
          <a:noFill/>
          <a:ln/>
        </p:spPr>
        <p:txBody>
          <a:bodyPr wrap="square" lIns="0" tIns="0" rIns="0" bIns="0" rtlCol="0" anchor="t"/>
          <a:lstStyle/>
          <a:p>
            <a:pPr algn="l" indent="0" marL="0">
              <a:buNone/>
            </a:pPr>
            <a:r>
              <a:rPr lang="en-US" sz="1150" dirty="0">
                <a:solidFill>
                  <a:srgbClr val="1F2A3D"/>
                </a:solidFill>
                <a:latin typeface="Calibri" pitchFamily="34" charset="0"/>
                <a:ea typeface="Calibri" pitchFamily="34" charset="-122"/>
                <a:cs typeface="Calibri" pitchFamily="34" charset="-120"/>
              </a:rPr>
              <a:t>hand-tuned rules on intent, scope, error history</a:t>
            </a:r>
            <a:endParaRPr lang="en-US" sz="1150" dirty="0"/>
          </a:p>
        </p:txBody>
      </p:sp>
      <p:sp>
        <p:nvSpPr>
          <p:cNvPr id="14" name="Text 11"/>
          <p:cNvSpPr/>
          <p:nvPr/>
        </p:nvSpPr>
        <p:spPr>
          <a:xfrm>
            <a:off x="804672" y="3904488"/>
            <a:ext cx="4882896" cy="27432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decides ~70% of turns — fast, explainable</a:t>
            </a:r>
            <a:endParaRPr lang="en-US" sz="1000" dirty="0"/>
          </a:p>
        </p:txBody>
      </p:sp>
      <p:sp>
        <p:nvSpPr>
          <p:cNvPr id="15" name="Shape 12"/>
          <p:cNvSpPr/>
          <p:nvPr/>
        </p:nvSpPr>
        <p:spPr>
          <a:xfrm>
            <a:off x="548640" y="4517136"/>
            <a:ext cx="4389120" cy="1280160"/>
          </a:xfrm>
          <a:prstGeom prst="roundRect">
            <a:avLst>
              <a:gd name="adj" fmla="val 5000"/>
            </a:avLst>
          </a:prstGeom>
          <a:solidFill>
            <a:srgbClr val="ECE5F8"/>
          </a:solidFill>
          <a:ln/>
          <a:effectLst>
            <a:outerShdw sx="100000" sy="100000" kx="0" ky="0" algn="bl" rotWithShape="0" blurRad="88900" dist="25400" dir="2700000">
              <a:srgbClr val="1F2A3D">
                <a:alpha val="14000"/>
              </a:srgbClr>
            </a:outerShdw>
          </a:effectLst>
        </p:spPr>
      </p:sp>
      <p:sp>
        <p:nvSpPr>
          <p:cNvPr id="16" name="Text 13"/>
          <p:cNvSpPr/>
          <p:nvPr/>
        </p:nvSpPr>
        <p:spPr>
          <a:xfrm>
            <a:off x="804672" y="4654296"/>
            <a:ext cx="3877056" cy="274320"/>
          </a:xfrm>
          <a:prstGeom prst="rect">
            <a:avLst/>
          </a:prstGeom>
          <a:noFill/>
          <a:ln/>
        </p:spPr>
        <p:txBody>
          <a:bodyPr wrap="square" lIns="0" tIns="0" rIns="0" bIns="0" rtlCol="0" anchor="t"/>
          <a:lstStyle/>
          <a:p>
            <a:pPr algn="l" indent="0" marL="0">
              <a:buNone/>
            </a:pPr>
            <a:r>
              <a:rPr lang="en-US" sz="1250" b="1" spc="100" kern="0" dirty="0">
                <a:solidFill>
                  <a:srgbClr val="5B21B6"/>
                </a:solidFill>
                <a:latin typeface="Calibri" pitchFamily="34" charset="0"/>
                <a:ea typeface="Calibri" pitchFamily="34" charset="-122"/>
                <a:cs typeface="Calibri" pitchFamily="34" charset="-120"/>
              </a:rPr>
              <a:t>LAYER 2 · LEARNED ROUTER</a:t>
            </a:r>
            <a:endParaRPr lang="en-US" sz="1250" dirty="0"/>
          </a:p>
        </p:txBody>
      </p:sp>
      <p:sp>
        <p:nvSpPr>
          <p:cNvPr id="17" name="Text 14"/>
          <p:cNvSpPr/>
          <p:nvPr/>
        </p:nvSpPr>
        <p:spPr>
          <a:xfrm>
            <a:off x="804672" y="4974336"/>
            <a:ext cx="3877056" cy="320040"/>
          </a:xfrm>
          <a:prstGeom prst="rect">
            <a:avLst/>
          </a:prstGeom>
          <a:noFill/>
          <a:ln/>
        </p:spPr>
        <p:txBody>
          <a:bodyPr wrap="square" lIns="0" tIns="0" rIns="0" bIns="0" rtlCol="0" anchor="t"/>
          <a:lstStyle/>
          <a:p>
            <a:pPr algn="l" indent="0" marL="0">
              <a:buNone/>
            </a:pPr>
            <a:r>
              <a:rPr lang="en-US" sz="1150" dirty="0">
                <a:solidFill>
                  <a:srgbClr val="1F2A3D"/>
                </a:solidFill>
                <a:latin typeface="Calibri" pitchFamily="34" charset="0"/>
                <a:ea typeface="Calibri" pitchFamily="34" charset="-122"/>
                <a:cs typeface="Calibri" pitchFamily="34" charset="-120"/>
              </a:rPr>
              <a:t>the ambiguous middle only, trained on captured outcomes</a:t>
            </a:r>
            <a:endParaRPr lang="en-US" sz="1150" dirty="0"/>
          </a:p>
        </p:txBody>
      </p:sp>
      <p:sp>
        <p:nvSpPr>
          <p:cNvPr id="18" name="Text 15"/>
          <p:cNvSpPr/>
          <p:nvPr/>
        </p:nvSpPr>
        <p:spPr>
          <a:xfrm>
            <a:off x="804672" y="5385816"/>
            <a:ext cx="3877056" cy="27432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later phase — must earn its way in (slide 15)</a:t>
            </a:r>
            <a:endParaRPr lang="en-US" sz="1000" dirty="0"/>
          </a:p>
        </p:txBody>
      </p:sp>
      <p:sp>
        <p:nvSpPr>
          <p:cNvPr id="19" name="Shape 16"/>
          <p:cNvSpPr/>
          <p:nvPr/>
        </p:nvSpPr>
        <p:spPr>
          <a:xfrm>
            <a:off x="7315200" y="1554480"/>
            <a:ext cx="4343400" cy="4297680"/>
          </a:xfrm>
          <a:prstGeom prst="roundRect">
            <a:avLst>
              <a:gd name="adj" fmla="val 1489"/>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Text 17"/>
          <p:cNvSpPr/>
          <p:nvPr/>
        </p:nvSpPr>
        <p:spPr>
          <a:xfrm>
            <a:off x="7571232" y="1783080"/>
            <a:ext cx="3840480" cy="320040"/>
          </a:xfrm>
          <a:prstGeom prst="rect">
            <a:avLst/>
          </a:prstGeom>
          <a:noFill/>
          <a:ln/>
        </p:spPr>
        <p:txBody>
          <a:bodyPr wrap="square" lIns="0" tIns="0" rIns="0" bIns="0" rtlCol="0" anchor="t"/>
          <a:lstStyle/>
          <a:p>
            <a:pPr algn="l" indent="0" marL="0">
              <a:buNone/>
            </a:pPr>
            <a:r>
              <a:rPr lang="en-US" sz="1400" b="1" dirty="0">
                <a:solidFill>
                  <a:srgbClr val="1F2A3D"/>
                </a:solidFill>
                <a:latin typeface="Cambria" pitchFamily="34" charset="0"/>
                <a:ea typeface="Cambria" pitchFamily="34" charset="-122"/>
                <a:cs typeface="Cambria" pitchFamily="34" charset="-120"/>
              </a:rPr>
              <a:t>Why dumb rules on purpose?</a:t>
            </a:r>
            <a:endParaRPr lang="en-US" sz="1400" dirty="0"/>
          </a:p>
        </p:txBody>
      </p:sp>
      <p:sp>
        <p:nvSpPr>
          <p:cNvPr id="21" name="Text 18"/>
          <p:cNvSpPr/>
          <p:nvPr/>
        </p:nvSpPr>
        <p:spPr>
          <a:xfrm>
            <a:off x="7571232" y="2240280"/>
            <a:ext cx="3840480" cy="3474720"/>
          </a:xfrm>
          <a:prstGeom prst="rect">
            <a:avLst/>
          </a:prstGeom>
          <a:noFill/>
          <a:ln/>
        </p:spPr>
        <p:txBody>
          <a:bodyPr wrap="square" lIns="0" tIns="0" rIns="0" bIns="0" rtlCol="0" anchor="t"/>
          <a:lstStyle/>
          <a:p>
            <a:pPr algn="l" marL="342900" indent="-342900">
              <a:lnSpc>
                <a:spcPct val="110000"/>
              </a:lnSpc>
              <a:buSzPct val="100000"/>
              <a:buChar char="•"/>
            </a:pPr>
            <a:r>
              <a:rPr lang="en-US" sz="1200" b="1" dirty="0">
                <a:solidFill>
                  <a:srgbClr val="1F2A3D"/>
                </a:solidFill>
                <a:latin typeface="Calibri" pitchFamily="34" charset="0"/>
                <a:ea typeface="Calibri" pitchFamily="34" charset="-122"/>
                <a:cs typeface="Calibri" pitchFamily="34" charset="-120"/>
              </a:rPr>
              <a:t>Fast</a:t>
            </a:r>
            <a:endParaRPr lang="en-US" sz="1200" dirty="0"/>
          </a:p>
          <a:p>
            <a:pPr algn="l" lvl="1" indent="0" marL="0">
              <a:lnSpc>
                <a:spcPct val="110000"/>
              </a:lnSpc>
              <a:buNone/>
            </a:pPr>
            <a:r>
              <a:rPr lang="en-US" sz="1050" dirty="0">
                <a:solidFill>
                  <a:srgbClr val="5D6B7E"/>
                </a:solidFill>
                <a:latin typeface="Calibri" pitchFamily="34" charset="0"/>
                <a:ea typeface="Calibri" pitchFamily="34" charset="-122"/>
                <a:cs typeface="Calibri" pitchFamily="34" charset="-120"/>
              </a:rPr>
              <a:t>the decision path adds ~ms; the sticky path, ~µs</a:t>
            </a:r>
            <a:endParaRPr lang="en-US" sz="1200" dirty="0"/>
          </a:p>
          <a:p>
            <a:pPr algn="l" indent="0" marL="0">
              <a:lnSpc>
                <a:spcPct val="110000"/>
              </a:lnSpc>
              <a:buNone/>
            </a:pPr>
            <a:r>
              <a:rPr lang="en-US" sz="600" dirty="0">
                <a:solidFill>
                  <a:srgbClr val="1F2A3D"/>
                </a:solidFill>
                <a:latin typeface="Calibri" pitchFamily="34" charset="0"/>
                <a:ea typeface="Calibri" pitchFamily="34" charset="-122"/>
                <a:cs typeface="Calibri" pitchFamily="34" charset="-120"/>
              </a:rPr>
              <a:t> </a:t>
            </a:r>
            <a:endParaRPr lang="en-US" sz="1200" dirty="0"/>
          </a:p>
          <a:p>
            <a:pPr algn="l" marL="342900" indent="-342900">
              <a:lnSpc>
                <a:spcPct val="110000"/>
              </a:lnSpc>
              <a:buSzPct val="100000"/>
              <a:buChar char="•"/>
            </a:pPr>
            <a:r>
              <a:rPr lang="en-US" sz="1200" b="1" dirty="0">
                <a:solidFill>
                  <a:srgbClr val="1F2A3D"/>
                </a:solidFill>
                <a:latin typeface="Calibri" pitchFamily="34" charset="0"/>
                <a:ea typeface="Calibri" pitchFamily="34" charset="-122"/>
                <a:cs typeface="Calibri" pitchFamily="34" charset="-120"/>
              </a:rPr>
              <a:t>Debuggable</a:t>
            </a:r>
            <a:endParaRPr lang="en-US" sz="1200" dirty="0"/>
          </a:p>
          <a:p>
            <a:pPr algn="l" lvl="1" indent="0" marL="0">
              <a:lnSpc>
                <a:spcPct val="110000"/>
              </a:lnSpc>
              <a:buNone/>
            </a:pPr>
            <a:r>
              <a:rPr lang="en-US" sz="1050" dirty="0">
                <a:solidFill>
                  <a:srgbClr val="5D6B7E"/>
                </a:solidFill>
                <a:latin typeface="Calibri" pitchFamily="34" charset="0"/>
                <a:ea typeface="Calibri" pitchFamily="34" charset="-122"/>
                <a:cs typeface="Calibri" pitchFamily="34" charset="-120"/>
              </a:rPr>
              <a:t>every routing decision explainable in one line</a:t>
            </a:r>
            <a:endParaRPr lang="en-US" sz="1200" dirty="0"/>
          </a:p>
          <a:p>
            <a:pPr algn="l" indent="0" marL="0">
              <a:lnSpc>
                <a:spcPct val="110000"/>
              </a:lnSpc>
              <a:buNone/>
            </a:pPr>
            <a:r>
              <a:rPr lang="en-US" sz="600" dirty="0">
                <a:solidFill>
                  <a:srgbClr val="1F2A3D"/>
                </a:solidFill>
                <a:latin typeface="Calibri" pitchFamily="34" charset="0"/>
                <a:ea typeface="Calibri" pitchFamily="34" charset="-122"/>
                <a:cs typeface="Calibri" pitchFamily="34" charset="-120"/>
              </a:rPr>
              <a:t> </a:t>
            </a:r>
            <a:endParaRPr lang="en-US" sz="1200" dirty="0"/>
          </a:p>
          <a:p>
            <a:pPr algn="l" marL="342900" indent="-342900">
              <a:lnSpc>
                <a:spcPct val="110000"/>
              </a:lnSpc>
              <a:buSzPct val="100000"/>
              <a:buChar char="•"/>
            </a:pPr>
            <a:r>
              <a:rPr lang="en-US" sz="1200" b="1" dirty="0">
                <a:solidFill>
                  <a:srgbClr val="1F2A3D"/>
                </a:solidFill>
                <a:latin typeface="Calibri" pitchFamily="34" charset="0"/>
                <a:ea typeface="Calibri" pitchFamily="34" charset="-122"/>
                <a:cs typeface="Calibri" pitchFamily="34" charset="-120"/>
              </a:rPr>
              <a:t>Can't drift</a:t>
            </a:r>
            <a:endParaRPr lang="en-US" sz="1200" dirty="0"/>
          </a:p>
          <a:p>
            <a:pPr algn="l" lvl="1" indent="0" marL="0">
              <a:lnSpc>
                <a:spcPct val="110000"/>
              </a:lnSpc>
              <a:buNone/>
            </a:pPr>
            <a:r>
              <a:rPr lang="en-US" sz="1050" dirty="0">
                <a:solidFill>
                  <a:srgbClr val="5D6B7E"/>
                </a:solidFill>
                <a:latin typeface="Calibri" pitchFamily="34" charset="0"/>
                <a:ea typeface="Calibri" pitchFamily="34" charset="-122"/>
                <a:cs typeface="Calibri" pitchFamily="34" charset="-120"/>
              </a:rPr>
              <a:t>no silent behavior change without a threshold edit</a:t>
            </a:r>
            <a:endParaRPr lang="en-US" sz="1200" dirty="0"/>
          </a:p>
          <a:p>
            <a:pPr algn="l" indent="0" marL="0">
              <a:lnSpc>
                <a:spcPct val="110000"/>
              </a:lnSpc>
              <a:buNone/>
            </a:pPr>
            <a:r>
              <a:rPr lang="en-US" sz="600" dirty="0">
                <a:solidFill>
                  <a:srgbClr val="1F2A3D"/>
                </a:solidFill>
                <a:latin typeface="Calibri" pitchFamily="34" charset="0"/>
                <a:ea typeface="Calibri" pitchFamily="34" charset="-122"/>
                <a:cs typeface="Calibri" pitchFamily="34" charset="-120"/>
              </a:rPr>
              <a:t> </a:t>
            </a:r>
            <a:endParaRPr lang="en-US" sz="1200" dirty="0"/>
          </a:p>
          <a:p>
            <a:pPr algn="l" marL="342900" indent="-342900">
              <a:lnSpc>
                <a:spcPct val="110000"/>
              </a:lnSpc>
              <a:buSzPct val="100000"/>
              <a:buChar char="•"/>
            </a:pPr>
            <a:r>
              <a:rPr lang="en-US" sz="1200" b="1" dirty="0">
                <a:solidFill>
                  <a:srgbClr val="1F2A3D"/>
                </a:solidFill>
                <a:latin typeface="Calibri" pitchFamily="34" charset="0"/>
                <a:ea typeface="Calibri" pitchFamily="34" charset="-122"/>
                <a:cs typeface="Calibri" pitchFamily="34" charset="-120"/>
              </a:rPr>
              <a:t>Evidence-backed humility</a:t>
            </a:r>
            <a:endParaRPr lang="en-US" sz="1200" dirty="0"/>
          </a:p>
          <a:p>
            <a:pPr algn="l" lvl="1" indent="0" marL="0">
              <a:lnSpc>
                <a:spcPct val="110000"/>
              </a:lnSpc>
              <a:buNone/>
            </a:pPr>
            <a:r>
              <a:rPr lang="en-US" sz="1050" dirty="0">
                <a:solidFill>
                  <a:srgbClr val="5D6B7E"/>
                </a:solidFill>
                <a:latin typeface="Calibri" pitchFamily="34" charset="0"/>
                <a:ea typeface="Calibri" pitchFamily="34" charset="-122"/>
                <a:cs typeface="Calibri" pitchFamily="34" charset="-120"/>
              </a:rPr>
              <a:t>published learned routers often lose to trivial baselines (slide 10) — ML earns the middle band, no more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THE DESIGN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Recovering: deterministic trip-wires, no LLM judge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§5.5</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7</a:t>
            </a:r>
            <a:endParaRPr lang="en-US" sz="900" dirty="0"/>
          </a:p>
        </p:txBody>
      </p:sp>
      <p:sp>
        <p:nvSpPr>
          <p:cNvPr id="7" name="Text 4"/>
          <p:cNvSpPr/>
          <p:nvPr/>
        </p:nvSpPr>
        <p:spPr>
          <a:xfrm>
            <a:off x="548640" y="1481328"/>
            <a:ext cx="4572000" cy="292608"/>
          </a:xfrm>
          <a:prstGeom prst="rect">
            <a:avLst/>
          </a:prstGeom>
          <a:noFill/>
          <a:ln/>
        </p:spPr>
        <p:txBody>
          <a:bodyPr wrap="square" lIns="0" tIns="0" rIns="0" bIns="0" rtlCol="0" anchor="t"/>
          <a:lstStyle/>
          <a:p>
            <a:pPr algn="l" indent="0" marL="0">
              <a:buNone/>
            </a:pPr>
            <a:r>
              <a:rPr lang="en-US" sz="1400" b="1" dirty="0">
                <a:solidFill>
                  <a:srgbClr val="1F2A3D"/>
                </a:solidFill>
                <a:latin typeface="Cambria" pitchFamily="34" charset="0"/>
                <a:ea typeface="Cambria" pitchFamily="34" charset="-122"/>
                <a:cs typeface="Cambria" pitchFamily="34" charset="-120"/>
              </a:rPr>
              <a:t>The trip-wires</a:t>
            </a:r>
            <a:endParaRPr lang="en-US" sz="1400" dirty="0"/>
          </a:p>
        </p:txBody>
      </p:sp>
      <p:sp>
        <p:nvSpPr>
          <p:cNvPr id="8" name="Shape 5"/>
          <p:cNvSpPr/>
          <p:nvPr/>
        </p:nvSpPr>
        <p:spPr>
          <a:xfrm>
            <a:off x="548640" y="1874520"/>
            <a:ext cx="5394960" cy="621792"/>
          </a:xfrm>
          <a:prstGeom prst="roundRect">
            <a:avLst>
              <a:gd name="adj" fmla="val 1029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9" name="Shape 6"/>
          <p:cNvSpPr/>
          <p:nvPr/>
        </p:nvSpPr>
        <p:spPr>
          <a:xfrm>
            <a:off x="749808" y="1975104"/>
            <a:ext cx="402336" cy="402336"/>
          </a:xfrm>
          <a:prstGeom prst="ellipse">
            <a:avLst/>
          </a:prstGeom>
          <a:solidFill>
            <a:srgbClr val="5D6B7E"/>
          </a:solidFill>
          <a:ln/>
        </p:spPr>
      </p:sp>
      <p:pic>
        <p:nvPicPr>
          <p:cNvPr id="10" name="Image 0" descr="preencoded.png">    </p:cNvPr>
          <p:cNvPicPr>
            <a:picLocks noChangeAspect="1"/>
          </p:cNvPicPr>
          <p:nvPr/>
        </p:nvPicPr>
        <p:blipFill>
          <a:blip r:embed="rId1"/>
          <a:stretch>
            <a:fillRect/>
          </a:stretch>
        </p:blipFill>
        <p:spPr>
          <a:xfrm>
            <a:off x="854415" y="2079711"/>
            <a:ext cx="193121" cy="193121"/>
          </a:xfrm>
          <a:prstGeom prst="rect">
            <a:avLst/>
          </a:prstGeom>
        </p:spPr>
      </p:pic>
      <p:sp>
        <p:nvSpPr>
          <p:cNvPr id="11" name="Text 7"/>
          <p:cNvSpPr/>
          <p:nvPr/>
        </p:nvSpPr>
        <p:spPr>
          <a:xfrm>
            <a:off x="1325880" y="1984248"/>
            <a:ext cx="2651760" cy="411480"/>
          </a:xfrm>
          <a:prstGeom prst="rect">
            <a:avLst/>
          </a:prstGeom>
          <a:noFill/>
          <a:ln/>
        </p:spPr>
        <p:txBody>
          <a:bodyPr wrap="square" lIns="0" tIns="0" rIns="0" bIns="0" rtlCol="0" anchor="ctr"/>
          <a:lstStyle/>
          <a:p>
            <a:pPr algn="l" indent="0" marL="0">
              <a:buNone/>
            </a:pPr>
            <a:r>
              <a:rPr lang="en-US" sz="1200" b="1" dirty="0">
                <a:solidFill>
                  <a:srgbClr val="1F2A3D"/>
                </a:solidFill>
                <a:latin typeface="Calibri" pitchFamily="34" charset="0"/>
                <a:ea typeface="Calibri" pitchFamily="34" charset="-122"/>
                <a:cs typeface="Calibri" pitchFamily="34" charset="-120"/>
              </a:rPr>
              <a:t>Edit fails to apply</a:t>
            </a:r>
            <a:endParaRPr lang="en-US" sz="1200" dirty="0"/>
          </a:p>
        </p:txBody>
      </p:sp>
      <p:sp>
        <p:nvSpPr>
          <p:cNvPr id="12" name="Text 8"/>
          <p:cNvSpPr/>
          <p:nvPr/>
        </p:nvSpPr>
        <p:spPr>
          <a:xfrm>
            <a:off x="3977640" y="1984248"/>
            <a:ext cx="1828800" cy="411480"/>
          </a:xfrm>
          <a:prstGeom prst="rect">
            <a:avLst/>
          </a:prstGeom>
          <a:noFill/>
          <a:ln/>
        </p:spPr>
        <p:txBody>
          <a:bodyPr wrap="square" lIns="0" tIns="0" rIns="0" bIns="0" rtlCol="0" anchor="ctr"/>
          <a:lstStyle/>
          <a:p>
            <a:pPr algn="l" indent="0" marL="0">
              <a:buNone/>
            </a:pPr>
            <a:r>
              <a:rPr lang="en-US" sz="1050" dirty="0">
                <a:solidFill>
                  <a:srgbClr val="5D6B7E"/>
                </a:solidFill>
                <a:latin typeface="Calibri" pitchFamily="34" charset="0"/>
                <a:ea typeface="Calibri" pitchFamily="34" charset="-122"/>
                <a:cs typeface="Calibri" pitchFamily="34" charset="-120"/>
              </a:rPr>
              <a:t>2 strikes</a:t>
            </a:r>
            <a:endParaRPr lang="en-US" sz="1050" dirty="0"/>
          </a:p>
        </p:txBody>
      </p:sp>
      <p:sp>
        <p:nvSpPr>
          <p:cNvPr id="13" name="Shape 9"/>
          <p:cNvSpPr/>
          <p:nvPr/>
        </p:nvSpPr>
        <p:spPr>
          <a:xfrm>
            <a:off x="548640" y="2624328"/>
            <a:ext cx="5394960" cy="621792"/>
          </a:xfrm>
          <a:prstGeom prst="roundRect">
            <a:avLst>
              <a:gd name="adj" fmla="val 1029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4" name="Shape 10"/>
          <p:cNvSpPr/>
          <p:nvPr/>
        </p:nvSpPr>
        <p:spPr>
          <a:xfrm>
            <a:off x="749808" y="2724912"/>
            <a:ext cx="402336" cy="402336"/>
          </a:xfrm>
          <a:prstGeom prst="ellipse">
            <a:avLst/>
          </a:prstGeom>
          <a:solidFill>
            <a:srgbClr val="5D6B7E"/>
          </a:solidFill>
          <a:ln/>
        </p:spPr>
      </p:sp>
      <p:pic>
        <p:nvPicPr>
          <p:cNvPr id="15" name="Image 1" descr="preencoded.png">    </p:cNvPr>
          <p:cNvPicPr>
            <a:picLocks noChangeAspect="1"/>
          </p:cNvPicPr>
          <p:nvPr/>
        </p:nvPicPr>
        <p:blipFill>
          <a:blip r:embed="rId2"/>
          <a:stretch>
            <a:fillRect/>
          </a:stretch>
        </p:blipFill>
        <p:spPr>
          <a:xfrm>
            <a:off x="854415" y="2829519"/>
            <a:ext cx="193121" cy="193121"/>
          </a:xfrm>
          <a:prstGeom prst="rect">
            <a:avLst/>
          </a:prstGeom>
        </p:spPr>
      </p:pic>
      <p:sp>
        <p:nvSpPr>
          <p:cNvPr id="16" name="Text 11"/>
          <p:cNvSpPr/>
          <p:nvPr/>
        </p:nvSpPr>
        <p:spPr>
          <a:xfrm>
            <a:off x="1325880" y="2734056"/>
            <a:ext cx="2651760" cy="411480"/>
          </a:xfrm>
          <a:prstGeom prst="rect">
            <a:avLst/>
          </a:prstGeom>
          <a:noFill/>
          <a:ln/>
        </p:spPr>
        <p:txBody>
          <a:bodyPr wrap="square" lIns="0" tIns="0" rIns="0" bIns="0" rtlCol="0" anchor="ctr"/>
          <a:lstStyle/>
          <a:p>
            <a:pPr algn="l" indent="0" marL="0">
              <a:buNone/>
            </a:pPr>
            <a:r>
              <a:rPr lang="en-US" sz="1200" b="1" dirty="0">
                <a:solidFill>
                  <a:srgbClr val="1F2A3D"/>
                </a:solidFill>
                <a:latin typeface="Calibri" pitchFamily="34" charset="0"/>
                <a:ea typeface="Calibri" pitchFamily="34" charset="-122"/>
                <a:cs typeface="Calibri" pitchFamily="34" charset="-120"/>
              </a:rPr>
              <a:t>Malformed tool call</a:t>
            </a:r>
            <a:endParaRPr lang="en-US" sz="1200" dirty="0"/>
          </a:p>
        </p:txBody>
      </p:sp>
      <p:sp>
        <p:nvSpPr>
          <p:cNvPr id="17" name="Text 12"/>
          <p:cNvSpPr/>
          <p:nvPr/>
        </p:nvSpPr>
        <p:spPr>
          <a:xfrm>
            <a:off x="3977640" y="2734056"/>
            <a:ext cx="1828800" cy="411480"/>
          </a:xfrm>
          <a:prstGeom prst="rect">
            <a:avLst/>
          </a:prstGeom>
          <a:noFill/>
          <a:ln/>
        </p:spPr>
        <p:txBody>
          <a:bodyPr wrap="square" lIns="0" tIns="0" rIns="0" bIns="0" rtlCol="0" anchor="ctr"/>
          <a:lstStyle/>
          <a:p>
            <a:pPr algn="l" indent="0" marL="0">
              <a:buNone/>
            </a:pPr>
            <a:r>
              <a:rPr lang="en-US" sz="1050" dirty="0">
                <a:solidFill>
                  <a:srgbClr val="5D6B7E"/>
                </a:solidFill>
                <a:latin typeface="Calibri" pitchFamily="34" charset="0"/>
                <a:ea typeface="Calibri" pitchFamily="34" charset="-122"/>
                <a:cs typeface="Calibri" pitchFamily="34" charset="-120"/>
              </a:rPr>
              <a:t>2 strikes</a:t>
            </a:r>
            <a:endParaRPr lang="en-US" sz="1050" dirty="0"/>
          </a:p>
        </p:txBody>
      </p:sp>
      <p:sp>
        <p:nvSpPr>
          <p:cNvPr id="18" name="Shape 13"/>
          <p:cNvSpPr/>
          <p:nvPr/>
        </p:nvSpPr>
        <p:spPr>
          <a:xfrm>
            <a:off x="548640" y="3374136"/>
            <a:ext cx="5394960" cy="621792"/>
          </a:xfrm>
          <a:prstGeom prst="roundRect">
            <a:avLst>
              <a:gd name="adj" fmla="val 1029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9" name="Shape 14"/>
          <p:cNvSpPr/>
          <p:nvPr/>
        </p:nvSpPr>
        <p:spPr>
          <a:xfrm>
            <a:off x="749808" y="3474720"/>
            <a:ext cx="402336" cy="402336"/>
          </a:xfrm>
          <a:prstGeom prst="ellipse">
            <a:avLst/>
          </a:prstGeom>
          <a:solidFill>
            <a:srgbClr val="5D6B7E"/>
          </a:solidFill>
          <a:ln/>
        </p:spPr>
      </p:sp>
      <p:pic>
        <p:nvPicPr>
          <p:cNvPr id="20" name="Image 2" descr="preencoded.png">    </p:cNvPr>
          <p:cNvPicPr>
            <a:picLocks noChangeAspect="1"/>
          </p:cNvPicPr>
          <p:nvPr/>
        </p:nvPicPr>
        <p:blipFill>
          <a:blip r:embed="rId3"/>
          <a:stretch>
            <a:fillRect/>
          </a:stretch>
        </p:blipFill>
        <p:spPr>
          <a:xfrm>
            <a:off x="854415" y="3579327"/>
            <a:ext cx="193121" cy="193121"/>
          </a:xfrm>
          <a:prstGeom prst="rect">
            <a:avLst/>
          </a:prstGeom>
        </p:spPr>
      </p:pic>
      <p:sp>
        <p:nvSpPr>
          <p:cNvPr id="21" name="Text 15"/>
          <p:cNvSpPr/>
          <p:nvPr/>
        </p:nvSpPr>
        <p:spPr>
          <a:xfrm>
            <a:off x="1325880" y="3483864"/>
            <a:ext cx="2651760" cy="411480"/>
          </a:xfrm>
          <a:prstGeom prst="rect">
            <a:avLst/>
          </a:prstGeom>
          <a:noFill/>
          <a:ln/>
        </p:spPr>
        <p:txBody>
          <a:bodyPr wrap="square" lIns="0" tIns="0" rIns="0" bIns="0" rtlCol="0" anchor="ctr"/>
          <a:lstStyle/>
          <a:p>
            <a:pPr algn="l" indent="0" marL="0">
              <a:buNone/>
            </a:pPr>
            <a:r>
              <a:rPr lang="en-US" sz="1200" b="1" dirty="0">
                <a:solidFill>
                  <a:srgbClr val="1F2A3D"/>
                </a:solidFill>
                <a:latin typeface="Calibri" pitchFamily="34" charset="0"/>
                <a:ea typeface="Calibri" pitchFamily="34" charset="-122"/>
                <a:cs typeface="Calibri" pitchFamily="34" charset="-120"/>
              </a:rPr>
              <a:t>Identical call repeated</a:t>
            </a:r>
            <a:endParaRPr lang="en-US" sz="1200" dirty="0"/>
          </a:p>
        </p:txBody>
      </p:sp>
      <p:sp>
        <p:nvSpPr>
          <p:cNvPr id="22" name="Text 16"/>
          <p:cNvSpPr/>
          <p:nvPr/>
        </p:nvSpPr>
        <p:spPr>
          <a:xfrm>
            <a:off x="3977640" y="3483864"/>
            <a:ext cx="1828800" cy="411480"/>
          </a:xfrm>
          <a:prstGeom prst="rect">
            <a:avLst/>
          </a:prstGeom>
          <a:noFill/>
          <a:ln/>
        </p:spPr>
        <p:txBody>
          <a:bodyPr wrap="square" lIns="0" tIns="0" rIns="0" bIns="0" rtlCol="0" anchor="ctr"/>
          <a:lstStyle/>
          <a:p>
            <a:pPr algn="l" indent="0" marL="0">
              <a:buNone/>
            </a:pPr>
            <a:r>
              <a:rPr lang="en-US" sz="1050" dirty="0">
                <a:solidFill>
                  <a:srgbClr val="5D6B7E"/>
                </a:solidFill>
                <a:latin typeface="Calibri" pitchFamily="34" charset="0"/>
                <a:ea typeface="Calibri" pitchFamily="34" charset="-122"/>
                <a:cs typeface="Calibri" pitchFamily="34" charset="-120"/>
              </a:rPr>
              <a:t>3 identical</a:t>
            </a:r>
            <a:endParaRPr lang="en-US" sz="1050" dirty="0"/>
          </a:p>
        </p:txBody>
      </p:sp>
      <p:sp>
        <p:nvSpPr>
          <p:cNvPr id="23" name="Shape 17"/>
          <p:cNvSpPr/>
          <p:nvPr/>
        </p:nvSpPr>
        <p:spPr>
          <a:xfrm>
            <a:off x="548640" y="4123944"/>
            <a:ext cx="5394960" cy="621792"/>
          </a:xfrm>
          <a:prstGeom prst="roundRect">
            <a:avLst>
              <a:gd name="adj" fmla="val 1029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4" name="Shape 18"/>
          <p:cNvSpPr/>
          <p:nvPr/>
        </p:nvSpPr>
        <p:spPr>
          <a:xfrm>
            <a:off x="749808" y="4224528"/>
            <a:ext cx="402336" cy="402336"/>
          </a:xfrm>
          <a:prstGeom prst="ellipse">
            <a:avLst/>
          </a:prstGeom>
          <a:solidFill>
            <a:srgbClr val="5D6B7E"/>
          </a:solidFill>
          <a:ln/>
        </p:spPr>
      </p:sp>
      <p:pic>
        <p:nvPicPr>
          <p:cNvPr id="25" name="Image 3" descr="preencoded.png">    </p:cNvPr>
          <p:cNvPicPr>
            <a:picLocks noChangeAspect="1"/>
          </p:cNvPicPr>
          <p:nvPr/>
        </p:nvPicPr>
        <p:blipFill>
          <a:blip r:embed="rId4"/>
          <a:stretch>
            <a:fillRect/>
          </a:stretch>
        </p:blipFill>
        <p:spPr>
          <a:xfrm>
            <a:off x="854415" y="4329135"/>
            <a:ext cx="193121" cy="193121"/>
          </a:xfrm>
          <a:prstGeom prst="rect">
            <a:avLst/>
          </a:prstGeom>
        </p:spPr>
      </p:pic>
      <p:sp>
        <p:nvSpPr>
          <p:cNvPr id="26" name="Text 19"/>
          <p:cNvSpPr/>
          <p:nvPr/>
        </p:nvSpPr>
        <p:spPr>
          <a:xfrm>
            <a:off x="1325880" y="4233672"/>
            <a:ext cx="2651760" cy="411480"/>
          </a:xfrm>
          <a:prstGeom prst="rect">
            <a:avLst/>
          </a:prstGeom>
          <a:noFill/>
          <a:ln/>
        </p:spPr>
        <p:txBody>
          <a:bodyPr wrap="square" lIns="0" tIns="0" rIns="0" bIns="0" rtlCol="0" anchor="ctr"/>
          <a:lstStyle/>
          <a:p>
            <a:pPr algn="l" indent="0" marL="0">
              <a:buNone/>
            </a:pPr>
            <a:r>
              <a:rPr lang="en-US" sz="1200" b="1" dirty="0">
                <a:solidFill>
                  <a:srgbClr val="1F2A3D"/>
                </a:solidFill>
                <a:latin typeface="Calibri" pitchFamily="34" charset="0"/>
                <a:ea typeface="Calibri" pitchFamily="34" charset="-122"/>
                <a:cs typeface="Calibri" pitchFamily="34" charset="-120"/>
              </a:rPr>
              <a:t>No progress</a:t>
            </a:r>
            <a:endParaRPr lang="en-US" sz="1200" dirty="0"/>
          </a:p>
        </p:txBody>
      </p:sp>
      <p:sp>
        <p:nvSpPr>
          <p:cNvPr id="27" name="Text 20"/>
          <p:cNvSpPr/>
          <p:nvPr/>
        </p:nvSpPr>
        <p:spPr>
          <a:xfrm>
            <a:off x="3977640" y="4233672"/>
            <a:ext cx="1828800" cy="411480"/>
          </a:xfrm>
          <a:prstGeom prst="rect">
            <a:avLst/>
          </a:prstGeom>
          <a:noFill/>
          <a:ln/>
        </p:spPr>
        <p:txBody>
          <a:bodyPr wrap="square" lIns="0" tIns="0" rIns="0" bIns="0" rtlCol="0" anchor="ctr"/>
          <a:lstStyle/>
          <a:p>
            <a:pPr algn="l" indent="0" marL="0">
              <a:buNone/>
            </a:pPr>
            <a:r>
              <a:rPr lang="en-US" sz="1050" dirty="0">
                <a:solidFill>
                  <a:srgbClr val="5D6B7E"/>
                </a:solidFill>
                <a:latin typeface="Calibri" pitchFamily="34" charset="0"/>
                <a:ea typeface="Calibri" pitchFamily="34" charset="-122"/>
                <a:cs typeface="Calibri" pitchFamily="34" charset="-120"/>
              </a:rPr>
              <a:t>6 actions</a:t>
            </a:r>
            <a:endParaRPr lang="en-US" sz="1050" dirty="0"/>
          </a:p>
        </p:txBody>
      </p:sp>
      <p:sp>
        <p:nvSpPr>
          <p:cNvPr id="28" name="Shape 21"/>
          <p:cNvSpPr/>
          <p:nvPr/>
        </p:nvSpPr>
        <p:spPr>
          <a:xfrm>
            <a:off x="548640" y="4873752"/>
            <a:ext cx="5394960" cy="621792"/>
          </a:xfrm>
          <a:prstGeom prst="roundRect">
            <a:avLst>
              <a:gd name="adj" fmla="val 10294"/>
            </a:avLst>
          </a:prstGeom>
          <a:solidFill>
            <a:srgbClr val="F9E7E4"/>
          </a:solidFill>
          <a:ln/>
          <a:effectLst>
            <a:outerShdw sx="100000" sy="100000" kx="0" ky="0" algn="bl" rotWithShape="0" blurRad="88900" dist="25400" dir="2700000">
              <a:srgbClr val="1F2A3D">
                <a:alpha val="14000"/>
              </a:srgbClr>
            </a:outerShdw>
          </a:effectLst>
        </p:spPr>
      </p:sp>
      <p:sp>
        <p:nvSpPr>
          <p:cNvPr id="29" name="Shape 22"/>
          <p:cNvSpPr/>
          <p:nvPr/>
        </p:nvSpPr>
        <p:spPr>
          <a:xfrm>
            <a:off x="749808" y="4974336"/>
            <a:ext cx="402336" cy="402336"/>
          </a:xfrm>
          <a:prstGeom prst="ellipse">
            <a:avLst/>
          </a:prstGeom>
          <a:solidFill>
            <a:srgbClr val="B3261E"/>
          </a:solidFill>
          <a:ln/>
        </p:spPr>
      </p:sp>
      <p:pic>
        <p:nvPicPr>
          <p:cNvPr id="30" name="Image 4" descr="preencoded.png">    </p:cNvPr>
          <p:cNvPicPr>
            <a:picLocks noChangeAspect="1"/>
          </p:cNvPicPr>
          <p:nvPr/>
        </p:nvPicPr>
        <p:blipFill>
          <a:blip r:embed="rId5"/>
          <a:stretch>
            <a:fillRect/>
          </a:stretch>
        </p:blipFill>
        <p:spPr>
          <a:xfrm>
            <a:off x="854415" y="5078943"/>
            <a:ext cx="193121" cy="193121"/>
          </a:xfrm>
          <a:prstGeom prst="rect">
            <a:avLst/>
          </a:prstGeom>
        </p:spPr>
      </p:pic>
      <p:sp>
        <p:nvSpPr>
          <p:cNvPr id="31" name="Text 23"/>
          <p:cNvSpPr/>
          <p:nvPr/>
        </p:nvSpPr>
        <p:spPr>
          <a:xfrm>
            <a:off x="1325880" y="4983480"/>
            <a:ext cx="2651760" cy="411480"/>
          </a:xfrm>
          <a:prstGeom prst="rect">
            <a:avLst/>
          </a:prstGeom>
          <a:noFill/>
          <a:ln/>
        </p:spPr>
        <p:txBody>
          <a:bodyPr wrap="square" lIns="0" tIns="0" rIns="0" bIns="0" rtlCol="0" anchor="ctr"/>
          <a:lstStyle/>
          <a:p>
            <a:pPr algn="l" indent="0" marL="0">
              <a:buNone/>
            </a:pPr>
            <a:r>
              <a:rPr lang="en-US" sz="1200" b="1" dirty="0">
                <a:solidFill>
                  <a:srgbClr val="1F2A3D"/>
                </a:solidFill>
                <a:latin typeface="Calibri" pitchFamily="34" charset="0"/>
                <a:ea typeface="Calibri" pitchFamily="34" charset="-122"/>
                <a:cs typeface="Calibri" pitchFamily="34" charset="-120"/>
              </a:rPr>
              <a:t>User interrupt</a:t>
            </a:r>
            <a:endParaRPr lang="en-US" sz="1200" dirty="0"/>
          </a:p>
        </p:txBody>
      </p:sp>
      <p:sp>
        <p:nvSpPr>
          <p:cNvPr id="32" name="Text 24"/>
          <p:cNvSpPr/>
          <p:nvPr/>
        </p:nvSpPr>
        <p:spPr>
          <a:xfrm>
            <a:off x="3977640" y="4983480"/>
            <a:ext cx="1828800" cy="411480"/>
          </a:xfrm>
          <a:prstGeom prst="rect">
            <a:avLst/>
          </a:prstGeom>
          <a:noFill/>
          <a:ln/>
        </p:spPr>
        <p:txBody>
          <a:bodyPr wrap="square" lIns="0" tIns="0" rIns="0" bIns="0" rtlCol="0" anchor="ctr"/>
          <a:lstStyle/>
          <a:p>
            <a:pPr algn="l" indent="0" marL="0">
              <a:buNone/>
            </a:pPr>
            <a:r>
              <a:rPr lang="en-US" sz="1050" b="1" dirty="0">
                <a:solidFill>
                  <a:srgbClr val="B3261E"/>
                </a:solidFill>
                <a:latin typeface="Calibri" pitchFamily="34" charset="0"/>
                <a:ea typeface="Calibri" pitchFamily="34" charset="-122"/>
                <a:cs typeface="Calibri" pitchFamily="34" charset="-120"/>
              </a:rPr>
              <a:t>1 event — strongest signal</a:t>
            </a:r>
            <a:endParaRPr lang="en-US" sz="1050" dirty="0"/>
          </a:p>
        </p:txBody>
      </p:sp>
      <p:sp>
        <p:nvSpPr>
          <p:cNvPr id="33" name="Text 25"/>
          <p:cNvSpPr/>
          <p:nvPr/>
        </p:nvSpPr>
        <p:spPr>
          <a:xfrm>
            <a:off x="6400800" y="1481328"/>
            <a:ext cx="5029200" cy="292608"/>
          </a:xfrm>
          <a:prstGeom prst="rect">
            <a:avLst/>
          </a:prstGeom>
          <a:noFill/>
          <a:ln/>
        </p:spPr>
        <p:txBody>
          <a:bodyPr wrap="square" lIns="0" tIns="0" rIns="0" bIns="0" rtlCol="0" anchor="t"/>
          <a:lstStyle/>
          <a:p>
            <a:pPr algn="l" indent="0" marL="0">
              <a:buNone/>
            </a:pPr>
            <a:r>
              <a:rPr lang="en-US" sz="1400" b="1" dirty="0">
                <a:solidFill>
                  <a:srgbClr val="1F2A3D"/>
                </a:solidFill>
                <a:latin typeface="Cambria" pitchFamily="34" charset="0"/>
                <a:ea typeface="Cambria" pitchFamily="34" charset="-122"/>
                <a:cs typeface="Cambria" pitchFamily="34" charset="-120"/>
              </a:rPr>
              <a:t>What escalation does</a:t>
            </a:r>
            <a:endParaRPr lang="en-US" sz="1400" dirty="0"/>
          </a:p>
        </p:txBody>
      </p:sp>
      <p:sp>
        <p:nvSpPr>
          <p:cNvPr id="34" name="Shape 26"/>
          <p:cNvSpPr/>
          <p:nvPr/>
        </p:nvSpPr>
        <p:spPr>
          <a:xfrm>
            <a:off x="6400800" y="1874520"/>
            <a:ext cx="5257800" cy="914400"/>
          </a:xfrm>
          <a:prstGeom prst="roundRect">
            <a:avLst>
              <a:gd name="adj" fmla="val 700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5" name="Text 27"/>
          <p:cNvSpPr/>
          <p:nvPr/>
        </p:nvSpPr>
        <p:spPr>
          <a:xfrm>
            <a:off x="6638544" y="1993392"/>
            <a:ext cx="4754880" cy="274320"/>
          </a:xfrm>
          <a:prstGeom prst="rect">
            <a:avLst/>
          </a:prstGeom>
          <a:noFill/>
          <a:ln/>
        </p:spPr>
        <p:txBody>
          <a:bodyPr wrap="square" lIns="0" tIns="0" rIns="0" bIns="0" rtlCol="0" anchor="t"/>
          <a:lstStyle/>
          <a:p>
            <a:pPr algn="l" indent="0" marL="0">
              <a:buNone/>
            </a:pPr>
            <a:r>
              <a:rPr lang="en-US" sz="1200" b="1" dirty="0">
                <a:solidFill>
                  <a:srgbClr val="1F2A3D"/>
                </a:solidFill>
                <a:latin typeface="Calibri" pitchFamily="34" charset="0"/>
                <a:ea typeface="Calibri" pitchFamily="34" charset="-122"/>
                <a:cs typeface="Calibri" pitchFamily="34" charset="-120"/>
              </a:rPr>
              <a:t>1 · Rebuild, not resend</a:t>
            </a:r>
            <a:endParaRPr lang="en-US" sz="1200" dirty="0"/>
          </a:p>
        </p:txBody>
      </p:sp>
      <p:sp>
        <p:nvSpPr>
          <p:cNvPr id="36" name="Text 28"/>
          <p:cNvSpPr/>
          <p:nvPr/>
        </p:nvSpPr>
        <p:spPr>
          <a:xfrm>
            <a:off x="6638544" y="2286000"/>
            <a:ext cx="4800600" cy="457200"/>
          </a:xfrm>
          <a:prstGeom prst="rect">
            <a:avLst/>
          </a:prstGeom>
          <a:noFill/>
          <a:ln/>
        </p:spPr>
        <p:txBody>
          <a:bodyPr wrap="square" lIns="0" tIns="0" rIns="0" bIns="0" rtlCol="0" anchor="t"/>
          <a:lstStyle/>
          <a:p>
            <a:pPr algn="l" indent="0" marL="0">
              <a:lnSpc>
                <a:spcPct val="108000"/>
              </a:lnSpc>
              <a:buNone/>
            </a:pPr>
            <a:r>
              <a:rPr lang="en-US" sz="1000" dirty="0">
                <a:solidFill>
                  <a:srgbClr val="5D6B7E"/>
                </a:solidFill>
                <a:latin typeface="Calibri" pitchFamily="34" charset="0"/>
                <a:ea typeface="Calibri" pitchFamily="34" charset="-122"/>
                <a:cs typeface="Calibri" pitchFamily="34" charset="-120"/>
              </a:rPr>
              <a:t>strip foreign reasoning · re-map tool IDs · keep tool results verbatim</a:t>
            </a:r>
            <a:endParaRPr lang="en-US" sz="1000" dirty="0"/>
          </a:p>
        </p:txBody>
      </p:sp>
      <p:sp>
        <p:nvSpPr>
          <p:cNvPr id="37" name="Shape 29"/>
          <p:cNvSpPr/>
          <p:nvPr/>
        </p:nvSpPr>
        <p:spPr>
          <a:xfrm>
            <a:off x="6400800" y="2926080"/>
            <a:ext cx="5257800" cy="914400"/>
          </a:xfrm>
          <a:prstGeom prst="roundRect">
            <a:avLst>
              <a:gd name="adj" fmla="val 700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8" name="Text 30"/>
          <p:cNvSpPr/>
          <p:nvPr/>
        </p:nvSpPr>
        <p:spPr>
          <a:xfrm>
            <a:off x="6638544" y="3044952"/>
            <a:ext cx="4754880" cy="274320"/>
          </a:xfrm>
          <a:prstGeom prst="rect">
            <a:avLst/>
          </a:prstGeom>
          <a:noFill/>
          <a:ln/>
        </p:spPr>
        <p:txBody>
          <a:bodyPr wrap="square" lIns="0" tIns="0" rIns="0" bIns="0" rtlCol="0" anchor="t"/>
          <a:lstStyle/>
          <a:p>
            <a:pPr algn="l" indent="0" marL="0">
              <a:buNone/>
            </a:pPr>
            <a:r>
              <a:rPr lang="en-US" sz="1200" b="1" dirty="0">
                <a:solidFill>
                  <a:srgbClr val="1F2A3D"/>
                </a:solidFill>
                <a:latin typeface="Calibri" pitchFamily="34" charset="0"/>
                <a:ea typeface="Calibri" pitchFamily="34" charset="-122"/>
                <a:cs typeface="Calibri" pitchFamily="34" charset="-120"/>
              </a:rPr>
              <a:t>2 · 3-line failure note</a:t>
            </a:r>
            <a:endParaRPr lang="en-US" sz="1200" dirty="0"/>
          </a:p>
        </p:txBody>
      </p:sp>
      <p:sp>
        <p:nvSpPr>
          <p:cNvPr id="39" name="Text 31"/>
          <p:cNvSpPr/>
          <p:nvPr/>
        </p:nvSpPr>
        <p:spPr>
          <a:xfrm>
            <a:off x="6638544" y="3337560"/>
            <a:ext cx="4800600" cy="457200"/>
          </a:xfrm>
          <a:prstGeom prst="rect">
            <a:avLst/>
          </a:prstGeom>
          <a:noFill/>
          <a:ln/>
        </p:spPr>
        <p:txBody>
          <a:bodyPr wrap="square" lIns="0" tIns="0" rIns="0" bIns="0" rtlCol="0" anchor="t"/>
          <a:lstStyle/>
          <a:p>
            <a:pPr algn="l" indent="0" marL="0">
              <a:lnSpc>
                <a:spcPct val="108000"/>
              </a:lnSpc>
              <a:buNone/>
            </a:pPr>
            <a:r>
              <a:rPr lang="en-US" sz="1000" dirty="0">
                <a:solidFill>
                  <a:srgbClr val="5D6B7E"/>
                </a:solidFill>
                <a:latin typeface="Calibri" pitchFamily="34" charset="0"/>
                <a:ea typeface="Calibri" pitchFamily="34" charset="-122"/>
                <a:cs typeface="Calibri" pitchFamily="34" charset="-120"/>
              </a:rPr>
              <a:t>“a previous attempt tried X; the edit failed twice” — the stronger model skips the dead end</a:t>
            </a:r>
            <a:endParaRPr lang="en-US" sz="1000" dirty="0"/>
          </a:p>
        </p:txBody>
      </p:sp>
      <p:sp>
        <p:nvSpPr>
          <p:cNvPr id="40" name="Shape 32"/>
          <p:cNvSpPr/>
          <p:nvPr/>
        </p:nvSpPr>
        <p:spPr>
          <a:xfrm>
            <a:off x="6400800" y="3977640"/>
            <a:ext cx="5257800" cy="914400"/>
          </a:xfrm>
          <a:prstGeom prst="roundRect">
            <a:avLst>
              <a:gd name="adj" fmla="val 700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41" name="Text 33"/>
          <p:cNvSpPr/>
          <p:nvPr/>
        </p:nvSpPr>
        <p:spPr>
          <a:xfrm>
            <a:off x="6638544" y="4096512"/>
            <a:ext cx="4754880" cy="274320"/>
          </a:xfrm>
          <a:prstGeom prst="rect">
            <a:avLst/>
          </a:prstGeom>
          <a:noFill/>
          <a:ln/>
        </p:spPr>
        <p:txBody>
          <a:bodyPr wrap="square" lIns="0" tIns="0" rIns="0" bIns="0" rtlCol="0" anchor="t"/>
          <a:lstStyle/>
          <a:p>
            <a:pPr algn="l" indent="0" marL="0">
              <a:buNone/>
            </a:pPr>
            <a:r>
              <a:rPr lang="en-US" sz="1200" b="1" dirty="0">
                <a:solidFill>
                  <a:srgbClr val="1F2A3D"/>
                </a:solidFill>
                <a:latin typeface="Calibri" pitchFamily="34" charset="0"/>
                <a:ea typeface="Calibri" pitchFamily="34" charset="-122"/>
                <a:cs typeface="Calibri" pitchFamily="34" charset="-120"/>
              </a:rPr>
              <a:t>3 · Hysteresis</a:t>
            </a:r>
            <a:endParaRPr lang="en-US" sz="1200" dirty="0"/>
          </a:p>
        </p:txBody>
      </p:sp>
      <p:sp>
        <p:nvSpPr>
          <p:cNvPr id="42" name="Text 34"/>
          <p:cNvSpPr/>
          <p:nvPr/>
        </p:nvSpPr>
        <p:spPr>
          <a:xfrm>
            <a:off x="6638544" y="4389120"/>
            <a:ext cx="4800600" cy="457200"/>
          </a:xfrm>
          <a:prstGeom prst="rect">
            <a:avLst/>
          </a:prstGeom>
          <a:noFill/>
          <a:ln/>
        </p:spPr>
        <p:txBody>
          <a:bodyPr wrap="square" lIns="0" tIns="0" rIns="0" bIns="0" rtlCol="0" anchor="t"/>
          <a:lstStyle/>
          <a:p>
            <a:pPr algn="l" indent="0" marL="0">
              <a:lnSpc>
                <a:spcPct val="108000"/>
              </a:lnSpc>
              <a:buNone/>
            </a:pPr>
            <a:r>
              <a:rPr lang="en-US" sz="1000" dirty="0">
                <a:solidFill>
                  <a:srgbClr val="5D6B7E"/>
                </a:solidFill>
                <a:latin typeface="Calibri" pitchFamily="34" charset="0"/>
                <a:ea typeface="Calibri" pitchFamily="34" charset="-122"/>
                <a:cs typeface="Calibri" pitchFamily="34" charset="-120"/>
              </a:rPr>
              <a:t>the episode stays on the higher rung until a clear new-task boundary — no flip-flopping</a:t>
            </a:r>
            <a:endParaRPr lang="en-US" sz="1000" dirty="0"/>
          </a:p>
        </p:txBody>
      </p:sp>
      <p:sp>
        <p:nvSpPr>
          <p:cNvPr id="43" name="Shape 35"/>
          <p:cNvSpPr/>
          <p:nvPr/>
        </p:nvSpPr>
        <p:spPr>
          <a:xfrm>
            <a:off x="6400800" y="5074920"/>
            <a:ext cx="5257800" cy="1005840"/>
          </a:xfrm>
          <a:prstGeom prst="roundRect">
            <a:avLst>
              <a:gd name="adj" fmla="val 6364"/>
            </a:avLst>
          </a:prstGeom>
          <a:solidFill>
            <a:srgbClr val="E4EEF6"/>
          </a:solidFill>
          <a:ln/>
          <a:effectLst>
            <a:outerShdw sx="100000" sy="100000" kx="0" ky="0" algn="bl" rotWithShape="0" blurRad="88900" dist="25400" dir="2700000">
              <a:srgbClr val="1F2A3D">
                <a:alpha val="14000"/>
              </a:srgbClr>
            </a:outerShdw>
          </a:effectLst>
        </p:spPr>
      </p:sp>
      <p:sp>
        <p:nvSpPr>
          <p:cNvPr id="44" name="Text 36"/>
          <p:cNvSpPr/>
          <p:nvPr/>
        </p:nvSpPr>
        <p:spPr>
          <a:xfrm>
            <a:off x="6638544" y="5230368"/>
            <a:ext cx="4800600" cy="731520"/>
          </a:xfrm>
          <a:prstGeom prst="rect">
            <a:avLst/>
          </a:prstGeom>
          <a:noFill/>
          <a:ln/>
        </p:spPr>
        <p:txBody>
          <a:bodyPr wrap="square" lIns="0" tIns="0" rIns="0" bIns="0" rtlCol="0" anchor="t"/>
          <a:lstStyle/>
          <a:p>
            <a:pPr algn="l" indent="0" marL="0">
              <a:lnSpc>
                <a:spcPct val="112000"/>
              </a:lnSpc>
              <a:buNone/>
            </a:pPr>
            <a:r>
              <a:rPr lang="en-US" sz="1150" b="1" dirty="0">
                <a:solidFill>
                  <a:srgbClr val="1F2A3D"/>
                </a:solidFill>
                <a:latin typeface="Calibri" pitchFamily="34" charset="0"/>
                <a:ea typeface="Calibri" pitchFamily="34" charset="-122"/>
                <a:cs typeface="Calibri" pitchFamily="34" charset="-120"/>
              </a:rPr>
              <a:t>Why no LLM judge mid-flight?  </a:t>
            </a:r>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A judge smart enough to grade the work costs about as much as doing the work. Judging happens offline, in the flywheel.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THE DESIGN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Two things you won't find elsewhere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§5.4, §5.3 · vetting report</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508760"/>
            <a:ext cx="5422392" cy="4663440"/>
          </a:xfrm>
          <a:prstGeom prst="roundRect">
            <a:avLst>
              <a:gd name="adj" fmla="val 137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822960" y="1783080"/>
            <a:ext cx="457200" cy="457200"/>
          </a:xfrm>
          <a:prstGeom prst="ellipse">
            <a:avLst/>
          </a:prstGeom>
          <a:solidFill>
            <a:srgbClr val="B45309"/>
          </a:solidFill>
          <a:ln/>
        </p:spPr>
      </p:sp>
      <p:pic>
        <p:nvPicPr>
          <p:cNvPr id="9" name="Image 0" descr="preencoded.png">    </p:cNvPr>
          <p:cNvPicPr>
            <a:picLocks noChangeAspect="1"/>
          </p:cNvPicPr>
          <p:nvPr/>
        </p:nvPicPr>
        <p:blipFill>
          <a:blip r:embed="rId1"/>
          <a:stretch>
            <a:fillRect/>
          </a:stretch>
        </p:blipFill>
        <p:spPr>
          <a:xfrm>
            <a:off x="941832" y="1901952"/>
            <a:ext cx="219456" cy="219456"/>
          </a:xfrm>
          <a:prstGeom prst="rect">
            <a:avLst/>
          </a:prstGeom>
        </p:spPr>
      </p:pic>
      <p:sp>
        <p:nvSpPr>
          <p:cNvPr id="10" name="Text 6"/>
          <p:cNvSpPr/>
          <p:nvPr/>
        </p:nvSpPr>
        <p:spPr>
          <a:xfrm>
            <a:off x="1426464" y="1847088"/>
            <a:ext cx="4389120" cy="320040"/>
          </a:xfrm>
          <a:prstGeom prst="rect">
            <a:avLst/>
          </a:prstGeom>
          <a:noFill/>
          <a:ln/>
        </p:spPr>
        <p:txBody>
          <a:bodyPr wrap="square" lIns="0" tIns="0" rIns="0" bIns="0" rtlCol="0" anchor="t"/>
          <a:lstStyle/>
          <a:p>
            <a:pPr algn="l" indent="0" marL="0">
              <a:buNone/>
            </a:pPr>
            <a:r>
              <a:rPr lang="en-US" sz="1400" b="1" dirty="0">
                <a:solidFill>
                  <a:srgbClr val="1F2A3D"/>
                </a:solidFill>
                <a:latin typeface="Calibri" pitchFamily="34" charset="0"/>
                <a:ea typeface="Calibri" pitchFamily="34" charset="-122"/>
                <a:cs typeface="Calibri" pitchFamily="34" charset="-120"/>
              </a:rPr>
              <a:t>Measured capability registry</a:t>
            </a:r>
            <a:endParaRPr lang="en-US" sz="1400" dirty="0"/>
          </a:p>
        </p:txBody>
      </p:sp>
      <p:sp>
        <p:nvSpPr>
          <p:cNvPr id="11" name="Text 7"/>
          <p:cNvSpPr/>
          <p:nvPr/>
        </p:nvSpPr>
        <p:spPr>
          <a:xfrm>
            <a:off x="822960" y="2468880"/>
            <a:ext cx="4846320" cy="27432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Same model, different harness dialect:</a:t>
            </a:r>
            <a:endParaRPr lang="en-US" sz="1100" dirty="0"/>
          </a:p>
        </p:txBody>
      </p:sp>
      <p:sp>
        <p:nvSpPr>
          <p:cNvPr id="12" name="Shape 8"/>
          <p:cNvSpPr/>
          <p:nvPr/>
        </p:nvSpPr>
        <p:spPr>
          <a:xfrm>
            <a:off x="822960" y="2834640"/>
            <a:ext cx="2331720" cy="1188720"/>
          </a:xfrm>
          <a:prstGeom prst="roundRect">
            <a:avLst>
              <a:gd name="adj" fmla="val 5385"/>
            </a:avLst>
          </a:prstGeom>
          <a:solidFill>
            <a:srgbClr val="E3F1EA"/>
          </a:solidFill>
          <a:ln/>
        </p:spPr>
      </p:sp>
      <p:sp>
        <p:nvSpPr>
          <p:cNvPr id="13" name="Text 9"/>
          <p:cNvSpPr/>
          <p:nvPr/>
        </p:nvSpPr>
        <p:spPr>
          <a:xfrm>
            <a:off x="822960" y="2944368"/>
            <a:ext cx="2331720" cy="502920"/>
          </a:xfrm>
          <a:prstGeom prst="rect">
            <a:avLst/>
          </a:prstGeom>
          <a:noFill/>
          <a:ln/>
        </p:spPr>
        <p:txBody>
          <a:bodyPr wrap="square" lIns="0" tIns="0" rIns="0" bIns="0" rtlCol="0" anchor="t"/>
          <a:lstStyle/>
          <a:p>
            <a:pPr algn="ctr" indent="0" marL="0">
              <a:buNone/>
            </a:pPr>
            <a:r>
              <a:rPr lang="en-US" sz="3000" b="1" dirty="0">
                <a:solidFill>
                  <a:srgbClr val="1F7A55"/>
                </a:solidFill>
                <a:latin typeface="Cambria" pitchFamily="34" charset="0"/>
                <a:ea typeface="Cambria" pitchFamily="34" charset="-122"/>
                <a:cs typeface="Cambria" pitchFamily="34" charset="-120"/>
              </a:rPr>
              <a:t>0.93</a:t>
            </a:r>
            <a:endParaRPr lang="en-US" sz="3000" dirty="0"/>
          </a:p>
        </p:txBody>
      </p:sp>
      <p:sp>
        <p:nvSpPr>
          <p:cNvPr id="14" name="Text 10"/>
          <p:cNvSpPr/>
          <p:nvPr/>
        </p:nvSpPr>
        <p:spPr>
          <a:xfrm>
            <a:off x="822960" y="3493008"/>
            <a:ext cx="2331720" cy="457200"/>
          </a:xfrm>
          <a:prstGeom prst="rect">
            <a:avLst/>
          </a:prstGeom>
          <a:noFill/>
          <a:ln/>
        </p:spPr>
        <p:txBody>
          <a:bodyPr wrap="square" lIns="0" tIns="0" rIns="0" bIns="0" rtlCol="0" anchor="t"/>
          <a:lstStyle/>
          <a:p>
            <a:pPr algn="ctr" indent="0" marL="0">
              <a:buNone/>
            </a:pPr>
            <a:r>
              <a:rPr lang="en-US" sz="950" dirty="0">
                <a:solidFill>
                  <a:srgbClr val="5D6B7E"/>
                </a:solidFill>
                <a:latin typeface="Calibri" pitchFamily="34" charset="0"/>
                <a:ea typeface="Calibri" pitchFamily="34" charset="-122"/>
                <a:cs typeface="Calibri" pitchFamily="34" charset="-120"/>
              </a:rPr>
              <a:t>under Codex</a:t>
            </a:r>
            <a:endParaRPr lang="en-US" sz="950" dirty="0"/>
          </a:p>
          <a:p>
            <a:pPr algn="ctr" indent="0" marL="0">
              <a:buNone/>
            </a:pPr>
            <a:r>
              <a:rPr lang="en-US" sz="950" dirty="0">
                <a:solidFill>
                  <a:srgbClr val="5D6B7E"/>
                </a:solidFill>
                <a:latin typeface="Calibri" pitchFamily="34" charset="0"/>
                <a:ea typeface="Calibri" pitchFamily="34" charset="-122"/>
                <a:cs typeface="Calibri" pitchFamily="34" charset="-120"/>
              </a:rPr>
              <a:t>(patch-based edits)</a:t>
            </a:r>
            <a:endParaRPr lang="en-US" sz="950" dirty="0"/>
          </a:p>
        </p:txBody>
      </p:sp>
      <p:sp>
        <p:nvSpPr>
          <p:cNvPr id="15" name="Shape 11"/>
          <p:cNvSpPr/>
          <p:nvPr/>
        </p:nvSpPr>
        <p:spPr>
          <a:xfrm>
            <a:off x="3337560" y="2834640"/>
            <a:ext cx="2331720" cy="1188720"/>
          </a:xfrm>
          <a:prstGeom prst="roundRect">
            <a:avLst>
              <a:gd name="adj" fmla="val 5385"/>
            </a:avLst>
          </a:prstGeom>
          <a:solidFill>
            <a:srgbClr val="FBEFDC"/>
          </a:solidFill>
          <a:ln/>
        </p:spPr>
      </p:sp>
      <p:sp>
        <p:nvSpPr>
          <p:cNvPr id="16" name="Text 12"/>
          <p:cNvSpPr/>
          <p:nvPr/>
        </p:nvSpPr>
        <p:spPr>
          <a:xfrm>
            <a:off x="3337560" y="2944368"/>
            <a:ext cx="2331720" cy="502920"/>
          </a:xfrm>
          <a:prstGeom prst="rect">
            <a:avLst/>
          </a:prstGeom>
          <a:noFill/>
          <a:ln/>
        </p:spPr>
        <p:txBody>
          <a:bodyPr wrap="square" lIns="0" tIns="0" rIns="0" bIns="0" rtlCol="0" anchor="t"/>
          <a:lstStyle/>
          <a:p>
            <a:pPr algn="ctr" indent="0" marL="0">
              <a:buNone/>
            </a:pPr>
            <a:r>
              <a:rPr lang="en-US" sz="3000" b="1" dirty="0">
                <a:solidFill>
                  <a:srgbClr val="B45309"/>
                </a:solidFill>
                <a:latin typeface="Cambria" pitchFamily="34" charset="0"/>
                <a:ea typeface="Cambria" pitchFamily="34" charset="-122"/>
                <a:cs typeface="Cambria" pitchFamily="34" charset="-120"/>
              </a:rPr>
              <a:t>0.87</a:t>
            </a:r>
            <a:endParaRPr lang="en-US" sz="3000" dirty="0"/>
          </a:p>
        </p:txBody>
      </p:sp>
      <p:sp>
        <p:nvSpPr>
          <p:cNvPr id="17" name="Text 13"/>
          <p:cNvSpPr/>
          <p:nvPr/>
        </p:nvSpPr>
        <p:spPr>
          <a:xfrm>
            <a:off x="3337560" y="3493008"/>
            <a:ext cx="2331720" cy="457200"/>
          </a:xfrm>
          <a:prstGeom prst="rect">
            <a:avLst/>
          </a:prstGeom>
          <a:noFill/>
          <a:ln/>
        </p:spPr>
        <p:txBody>
          <a:bodyPr wrap="square" lIns="0" tIns="0" rIns="0" bIns="0" rtlCol="0" anchor="t"/>
          <a:lstStyle/>
          <a:p>
            <a:pPr algn="ctr" indent="0" marL="0">
              <a:buNone/>
            </a:pPr>
            <a:r>
              <a:rPr lang="en-US" sz="950" dirty="0">
                <a:solidFill>
                  <a:srgbClr val="5D6B7E"/>
                </a:solidFill>
                <a:latin typeface="Calibri" pitchFamily="34" charset="0"/>
                <a:ea typeface="Calibri" pitchFamily="34" charset="-122"/>
                <a:cs typeface="Calibri" pitchFamily="34" charset="-120"/>
              </a:rPr>
              <a:t>under Claude Code</a:t>
            </a:r>
            <a:endParaRPr lang="en-US" sz="950" dirty="0"/>
          </a:p>
          <a:p>
            <a:pPr algn="ctr" indent="0" marL="0">
              <a:buNone/>
            </a:pPr>
            <a:r>
              <a:rPr lang="en-US" sz="950" dirty="0">
                <a:solidFill>
                  <a:srgbClr val="5D6B7E"/>
                </a:solidFill>
                <a:latin typeface="Calibri" pitchFamily="34" charset="0"/>
                <a:ea typeface="Calibri" pitchFamily="34" charset="-122"/>
                <a:cs typeface="Calibri" pitchFamily="34" charset="-120"/>
              </a:rPr>
              <a:t>(exact-string edits)</a:t>
            </a:r>
            <a:endParaRPr lang="en-US" sz="950" dirty="0"/>
          </a:p>
        </p:txBody>
      </p:sp>
      <p:sp>
        <p:nvSpPr>
          <p:cNvPr id="18" name="Text 14"/>
          <p:cNvSpPr/>
          <p:nvPr/>
        </p:nvSpPr>
        <p:spPr>
          <a:xfrm>
            <a:off x="822960" y="4251960"/>
            <a:ext cx="4846320" cy="1737360"/>
          </a:xfrm>
          <a:prstGeom prst="rect">
            <a:avLst/>
          </a:prstGeom>
          <a:noFill/>
          <a:ln/>
        </p:spPr>
        <p:txBody>
          <a:bodyPr wrap="square" lIns="0" tIns="0" rIns="0" bIns="0" rtlCol="0" anchor="t"/>
          <a:lstStyle/>
          <a:p>
            <a:pPr algn="l" indent="0" marL="0">
              <a:lnSpc>
                <a:spcPct val="114000"/>
              </a:lnSpc>
              <a:buNone/>
            </a:pPr>
            <a:r>
              <a:rPr lang="en-US" sz="1050" b="1" dirty="0">
                <a:solidFill>
                  <a:srgbClr val="1F2A3D"/>
                </a:solidFill>
                <a:latin typeface="Calibri" pitchFamily="34" charset="0"/>
                <a:ea typeface="Calibri" pitchFamily="34" charset="-122"/>
                <a:cs typeface="Calibri" pitchFamily="34" charset="-120"/>
              </a:rPr>
              <a:t>Key by (model, harness) — </a:t>
            </a:r>
            <a:pPr algn="l" indent="0" marL="0">
              <a:lnSpc>
                <a:spcPct val="114000"/>
              </a:lnSpc>
              <a:buNone/>
            </a:pPr>
            <a:r>
              <a:rPr lang="en-US" sz="1050" dirty="0">
                <a:solidFill>
                  <a:srgbClr val="5D6B7E"/>
                </a:solidFill>
                <a:latin typeface="Calibri" pitchFamily="34" charset="0"/>
                <a:ea typeface="Calibri" pitchFamily="34" charset="-122"/>
                <a:cs typeface="Calibri" pitchFamily="34" charset="-120"/>
              </a:rPr>
              <a:t>or dialect failures get mislabeled as task difficulty. Rungs are model classes; endpoint failover (llama.cpp ↔ MLX) belongs to LiteLLM.</a:t>
            </a:r>
            <a:endParaRPr lang="en-US" sz="1050" dirty="0"/>
          </a:p>
        </p:txBody>
      </p:sp>
      <p:sp>
        <p:nvSpPr>
          <p:cNvPr id="19" name="Shape 15"/>
          <p:cNvSpPr/>
          <p:nvPr/>
        </p:nvSpPr>
        <p:spPr>
          <a:xfrm>
            <a:off x="6217920" y="1508760"/>
            <a:ext cx="5422392" cy="4663440"/>
          </a:xfrm>
          <a:prstGeom prst="roundRect">
            <a:avLst>
              <a:gd name="adj" fmla="val 137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Shape 16"/>
          <p:cNvSpPr/>
          <p:nvPr/>
        </p:nvSpPr>
        <p:spPr>
          <a:xfrm>
            <a:off x="6492240" y="1783080"/>
            <a:ext cx="457200" cy="457200"/>
          </a:xfrm>
          <a:prstGeom prst="ellipse">
            <a:avLst/>
          </a:prstGeom>
          <a:solidFill>
            <a:srgbClr val="B3261E"/>
          </a:solidFill>
          <a:ln/>
        </p:spPr>
      </p:sp>
      <p:pic>
        <p:nvPicPr>
          <p:cNvPr id="21" name="Image 1" descr="preencoded.png">    </p:cNvPr>
          <p:cNvPicPr>
            <a:picLocks noChangeAspect="1"/>
          </p:cNvPicPr>
          <p:nvPr/>
        </p:nvPicPr>
        <p:blipFill>
          <a:blip r:embed="rId2"/>
          <a:stretch>
            <a:fillRect/>
          </a:stretch>
        </p:blipFill>
        <p:spPr>
          <a:xfrm>
            <a:off x="6611112" y="1901952"/>
            <a:ext cx="219456" cy="219456"/>
          </a:xfrm>
          <a:prstGeom prst="rect">
            <a:avLst/>
          </a:prstGeom>
        </p:spPr>
      </p:pic>
      <p:sp>
        <p:nvSpPr>
          <p:cNvPr id="22" name="Text 17"/>
          <p:cNvSpPr/>
          <p:nvPr/>
        </p:nvSpPr>
        <p:spPr>
          <a:xfrm>
            <a:off x="7095744" y="1847088"/>
            <a:ext cx="4389120" cy="320040"/>
          </a:xfrm>
          <a:prstGeom prst="rect">
            <a:avLst/>
          </a:prstGeom>
          <a:noFill/>
          <a:ln/>
        </p:spPr>
        <p:txBody>
          <a:bodyPr wrap="square" lIns="0" tIns="0" rIns="0" bIns="0" rtlCol="0" anchor="t"/>
          <a:lstStyle/>
          <a:p>
            <a:pPr algn="l" indent="0" marL="0">
              <a:buNone/>
            </a:pPr>
            <a:r>
              <a:rPr lang="en-US" sz="1400" b="1" dirty="0">
                <a:solidFill>
                  <a:srgbClr val="1F2A3D"/>
                </a:solidFill>
                <a:latin typeface="Calibri" pitchFamily="34" charset="0"/>
                <a:ea typeface="Calibri" pitchFamily="34" charset="-122"/>
                <a:cs typeface="Calibri" pitchFamily="34" charset="-120"/>
              </a:rPr>
              <a:t>The privacy pin</a:t>
            </a:r>
            <a:endParaRPr lang="en-US" sz="1400" dirty="0"/>
          </a:p>
        </p:txBody>
      </p:sp>
      <p:sp>
        <p:nvSpPr>
          <p:cNvPr id="23" name="Text 18"/>
          <p:cNvSpPr/>
          <p:nvPr/>
        </p:nvSpPr>
        <p:spPr>
          <a:xfrm>
            <a:off x="6492240" y="2468880"/>
            <a:ext cx="4846320" cy="2377440"/>
          </a:xfrm>
          <a:prstGeom prst="rect">
            <a:avLst/>
          </a:prstGeom>
          <a:noFill/>
          <a:ln/>
        </p:spPr>
        <p:txBody>
          <a:bodyPr wrap="square" lIns="0" tIns="0" rIns="0" bIns="0" rtlCol="0" anchor="t"/>
          <a:lstStyle/>
          <a:p>
            <a:pPr algn="l" indent="0" marL="0">
              <a:lnSpc>
                <a:spcPct val="116000"/>
              </a:lnSpc>
              <a:buNone/>
            </a:pPr>
            <a:r>
              <a:rPr lang="en-US" sz="1200" b="1" dirty="0">
                <a:solidFill>
                  <a:srgbClr val="1F2A3D"/>
                </a:solidFill>
                <a:latin typeface="Calibri" pitchFamily="34" charset="0"/>
                <a:ea typeface="Calibri" pitchFamily="34" charset="-122"/>
                <a:cs typeface="Calibri" pitchFamily="34" charset="-120"/>
              </a:rPr>
              <a:t>A secret in any tool result — API key, connection string — pins the session to the local model. Permanently.</a:t>
            </a:r>
            <a:endParaRPr lang="en-US" sz="1200" dirty="0"/>
          </a:p>
          <a:p>
            <a:pPr algn="l" indent="0" marL="0">
              <a:lnSpc>
                <a:spcPct val="116000"/>
              </a:lnSpc>
              <a:buNone/>
            </a:pPr>
            <a:r>
              <a:rPr lang="en-US" sz="700" dirty="0">
                <a:solidFill>
                  <a:srgbClr val="1F2A3D"/>
                </a:solidFill>
                <a:latin typeface="Calibri" pitchFamily="34" charset="0"/>
                <a:ea typeface="Calibri" pitchFamily="34" charset="-122"/>
                <a:cs typeface="Calibri" pitchFamily="34" charset="-120"/>
              </a:rPr>
              <a:t> </a:t>
            </a:r>
            <a:endParaRPr lang="en-US" sz="1200" dirty="0"/>
          </a:p>
          <a:p>
            <a:pPr algn="l" indent="0" marL="0">
              <a:lnSpc>
                <a:spcPct val="116000"/>
              </a:lnSpc>
              <a:buNone/>
            </a:pPr>
            <a:r>
              <a:rPr lang="en-US" sz="1100" dirty="0">
                <a:solidFill>
                  <a:srgbClr val="5D6B7E"/>
                </a:solidFill>
                <a:latin typeface="Calibri" pitchFamily="34" charset="0"/>
                <a:ea typeface="Calibri" pitchFamily="34" charset="-122"/>
                <a:cs typeface="Calibri" pitchFamily="34" charset="-120"/>
              </a:rPr>
              <a:t>Enforced structurally at gate layer 0: there is no code path where “the task looked hard” outranks the pin.</a:t>
            </a:r>
            <a:endParaRPr lang="en-US" sz="1200" dirty="0"/>
          </a:p>
          <a:p>
            <a:pPr algn="l" indent="0" marL="0">
              <a:lnSpc>
                <a:spcPct val="116000"/>
              </a:lnSpc>
              <a:buNone/>
            </a:pPr>
            <a:r>
              <a:rPr lang="en-US" sz="700" dirty="0">
                <a:solidFill>
                  <a:srgbClr val="1F2A3D"/>
                </a:solidFill>
                <a:latin typeface="Calibri" pitchFamily="34" charset="0"/>
                <a:ea typeface="Calibri" pitchFamily="34" charset="-122"/>
                <a:cs typeface="Calibri" pitchFamily="34" charset="-120"/>
              </a:rPr>
              <a:t> </a:t>
            </a:r>
            <a:endParaRPr lang="en-US" sz="1200" dirty="0"/>
          </a:p>
          <a:p>
            <a:pPr algn="l" indent="0" marL="0">
              <a:lnSpc>
                <a:spcPct val="116000"/>
              </a:lnSpc>
              <a:buNone/>
            </a:pPr>
            <a:r>
              <a:rPr lang="en-US" sz="1100" dirty="0">
                <a:solidFill>
                  <a:srgbClr val="5D6B7E"/>
                </a:solidFill>
                <a:latin typeface="Calibri" pitchFamily="34" charset="0"/>
                <a:ea typeface="Calibri" pitchFamily="34" charset="-122"/>
                <a:cs typeface="Calibri" pitchFamily="34" charset="-120"/>
              </a:rPr>
              <a:t>Escalation on a pinned session goes to the user (options: continue locally, fresh session, explicit override) — never silently to the cloud.</a:t>
            </a:r>
            <a:endParaRPr lang="en-US" sz="1200" dirty="0"/>
          </a:p>
        </p:txBody>
      </p:sp>
      <p:sp>
        <p:nvSpPr>
          <p:cNvPr id="24" name="Shape 19"/>
          <p:cNvSpPr/>
          <p:nvPr/>
        </p:nvSpPr>
        <p:spPr>
          <a:xfrm>
            <a:off x="6492240" y="5074920"/>
            <a:ext cx="4892040" cy="868680"/>
          </a:xfrm>
          <a:prstGeom prst="roundRect">
            <a:avLst>
              <a:gd name="adj" fmla="val 7368"/>
            </a:avLst>
          </a:prstGeom>
          <a:solidFill>
            <a:srgbClr val="F9E7E4"/>
          </a:solidFill>
          <a:ln/>
        </p:spPr>
      </p:sp>
      <p:sp>
        <p:nvSpPr>
          <p:cNvPr id="25" name="Text 20"/>
          <p:cNvSpPr/>
          <p:nvPr/>
        </p:nvSpPr>
        <p:spPr>
          <a:xfrm>
            <a:off x="6729984" y="5257800"/>
            <a:ext cx="4434840" cy="548640"/>
          </a:xfrm>
          <a:prstGeom prst="rect">
            <a:avLst/>
          </a:prstGeom>
          <a:noFill/>
          <a:ln/>
        </p:spPr>
        <p:txBody>
          <a:bodyPr wrap="square" lIns="0" tIns="0" rIns="0" bIns="0" rtlCol="0" anchor="ctr"/>
          <a:lstStyle/>
          <a:p>
            <a:pPr algn="l" indent="0" marL="0">
              <a:buNone/>
            </a:pPr>
            <a:r>
              <a:rPr lang="en-US" sz="1200" b="1" dirty="0">
                <a:solidFill>
                  <a:srgbClr val="B3261E"/>
                </a:solidFill>
                <a:latin typeface="Calibri" pitchFamily="34" charset="0"/>
                <a:ea typeface="Calibri" pitchFamily="34" charset="-122"/>
                <a:cs typeface="Calibri" pitchFamily="34" charset="-120"/>
              </a:rPr>
              <a:t>No routing layer on the market documents an equivalent.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VALIDATION · PASS 1 OF 2</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Internal review: five flaws fixed on paper, not in production</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§16 changelog (v1 → v2)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48640" y="1463040"/>
            <a:ext cx="11091672" cy="822960"/>
          </a:xfrm>
          <a:prstGeom prst="roundRect">
            <a:avLst>
              <a:gd name="adj" fmla="val 777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777240" y="1645920"/>
            <a:ext cx="457200" cy="457200"/>
          </a:xfrm>
          <a:prstGeom prst="ellipse">
            <a:avLst/>
          </a:prstGeom>
          <a:solidFill>
            <a:srgbClr val="1F7A55"/>
          </a:solidFill>
          <a:ln/>
        </p:spPr>
      </p:sp>
      <p:pic>
        <p:nvPicPr>
          <p:cNvPr id="9" name="Image 0" descr="preencoded.png">    </p:cNvPr>
          <p:cNvPicPr>
            <a:picLocks noChangeAspect="1"/>
          </p:cNvPicPr>
          <p:nvPr/>
        </p:nvPicPr>
        <p:blipFill>
          <a:blip r:embed="rId1"/>
          <a:stretch>
            <a:fillRect/>
          </a:stretch>
        </p:blipFill>
        <p:spPr>
          <a:xfrm>
            <a:off x="896112" y="1764792"/>
            <a:ext cx="219456" cy="219456"/>
          </a:xfrm>
          <a:prstGeom prst="rect">
            <a:avLst/>
          </a:prstGeom>
        </p:spPr>
      </p:pic>
      <p:sp>
        <p:nvSpPr>
          <p:cNvPr id="10" name="Text 6"/>
          <p:cNvSpPr/>
          <p:nvPr/>
        </p:nvSpPr>
        <p:spPr>
          <a:xfrm>
            <a:off x="1417320" y="1572768"/>
            <a:ext cx="4160520" cy="594360"/>
          </a:xfrm>
          <a:prstGeom prst="rect">
            <a:avLst/>
          </a:prstGeom>
          <a:noFill/>
          <a:ln/>
        </p:spPr>
        <p:txBody>
          <a:bodyPr wrap="square" lIns="0" tIns="0" rIns="0" bIns="0" rtlCol="0" anchor="ctr"/>
          <a:lstStyle/>
          <a:p>
            <a:pPr algn="l" indent="0" marL="0">
              <a:lnSpc>
                <a:spcPct val="98000"/>
              </a:lnSpc>
              <a:buNone/>
            </a:pPr>
            <a:r>
              <a:rPr lang="en-US" sz="1200" b="1" dirty="0">
                <a:solidFill>
                  <a:srgbClr val="1F2A3D"/>
                </a:solidFill>
                <a:latin typeface="Calibri" pitchFamily="34" charset="0"/>
                <a:ea typeface="Calibri" pitchFamily="34" charset="-122"/>
                <a:cs typeface="Calibri" pitchFamily="34" charset="-120"/>
              </a:rPr>
              <a:t>Privacy pin × context limit deadlock</a:t>
            </a:r>
            <a:endParaRPr lang="en-US" sz="1200" dirty="0"/>
          </a:p>
        </p:txBody>
      </p:sp>
      <p:sp>
        <p:nvSpPr>
          <p:cNvPr id="11" name="Text 7"/>
          <p:cNvSpPr/>
          <p:nvPr/>
        </p:nvSpPr>
        <p:spPr>
          <a:xfrm>
            <a:off x="5715000" y="1572768"/>
            <a:ext cx="5715000" cy="594360"/>
          </a:xfrm>
          <a:prstGeom prst="rect">
            <a:avLst/>
          </a:prstGeom>
          <a:noFill/>
          <a:ln/>
        </p:spPr>
        <p:txBody>
          <a:bodyPr wrap="square" lIns="0" tIns="0" rIns="0" bIns="0" rtlCol="0" anchor="ctr"/>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a pinned session that outgrows the local model had no legal rung — defined behavior added: warn at 60%, force local compaction at 75%, hard stop with user options</a:t>
            </a:r>
            <a:endParaRPr lang="en-US" sz="1000" dirty="0"/>
          </a:p>
        </p:txBody>
      </p:sp>
      <p:sp>
        <p:nvSpPr>
          <p:cNvPr id="12" name="Shape 8"/>
          <p:cNvSpPr/>
          <p:nvPr/>
        </p:nvSpPr>
        <p:spPr>
          <a:xfrm>
            <a:off x="548640" y="2414016"/>
            <a:ext cx="11091672" cy="822960"/>
          </a:xfrm>
          <a:prstGeom prst="roundRect">
            <a:avLst>
              <a:gd name="adj" fmla="val 7778"/>
            </a:avLst>
          </a:prstGeom>
          <a:solidFill>
            <a:srgbClr val="F3F6F9"/>
          </a:solidFill>
          <a:ln w="9525">
            <a:solidFill>
              <a:srgbClr val="D9E1E9"/>
            </a:solidFill>
            <a:prstDash val="solid"/>
          </a:ln>
        </p:spPr>
      </p:sp>
      <p:sp>
        <p:nvSpPr>
          <p:cNvPr id="13" name="Shape 9"/>
          <p:cNvSpPr/>
          <p:nvPr/>
        </p:nvSpPr>
        <p:spPr>
          <a:xfrm>
            <a:off x="777240" y="2596896"/>
            <a:ext cx="457200" cy="457200"/>
          </a:xfrm>
          <a:prstGeom prst="ellipse">
            <a:avLst/>
          </a:prstGeom>
          <a:solidFill>
            <a:srgbClr val="1F7A55"/>
          </a:solidFill>
          <a:ln/>
        </p:spPr>
      </p:sp>
      <p:pic>
        <p:nvPicPr>
          <p:cNvPr id="14" name="Image 1" descr="preencoded.png">    </p:cNvPr>
          <p:cNvPicPr>
            <a:picLocks noChangeAspect="1"/>
          </p:cNvPicPr>
          <p:nvPr/>
        </p:nvPicPr>
        <p:blipFill>
          <a:blip r:embed="rId2"/>
          <a:stretch>
            <a:fillRect/>
          </a:stretch>
        </p:blipFill>
        <p:spPr>
          <a:xfrm>
            <a:off x="896112" y="2715768"/>
            <a:ext cx="219456" cy="219456"/>
          </a:xfrm>
          <a:prstGeom prst="rect">
            <a:avLst/>
          </a:prstGeom>
        </p:spPr>
      </p:pic>
      <p:sp>
        <p:nvSpPr>
          <p:cNvPr id="15" name="Text 10"/>
          <p:cNvSpPr/>
          <p:nvPr/>
        </p:nvSpPr>
        <p:spPr>
          <a:xfrm>
            <a:off x="1417320" y="2523744"/>
            <a:ext cx="4160520" cy="594360"/>
          </a:xfrm>
          <a:prstGeom prst="rect">
            <a:avLst/>
          </a:prstGeom>
          <a:noFill/>
          <a:ln/>
        </p:spPr>
        <p:txBody>
          <a:bodyPr wrap="square" lIns="0" tIns="0" rIns="0" bIns="0" rtlCol="0" anchor="ctr"/>
          <a:lstStyle/>
          <a:p>
            <a:pPr algn="l" indent="0" marL="0">
              <a:lnSpc>
                <a:spcPct val="98000"/>
              </a:lnSpc>
              <a:buNone/>
            </a:pPr>
            <a:r>
              <a:rPr lang="en-US" sz="1200" b="1" dirty="0">
                <a:solidFill>
                  <a:srgbClr val="1F2A3D"/>
                </a:solidFill>
                <a:latin typeface="Calibri" pitchFamily="34" charset="0"/>
                <a:ea typeface="Calibri" pitchFamily="34" charset="-122"/>
                <a:cs typeface="Calibri" pitchFamily="34" charset="-120"/>
              </a:rPr>
              <a:t>Trip-wires accidentally disarmed on pinned sessions</a:t>
            </a:r>
            <a:endParaRPr lang="en-US" sz="1200" dirty="0"/>
          </a:p>
        </p:txBody>
      </p:sp>
      <p:sp>
        <p:nvSpPr>
          <p:cNvPr id="16" name="Text 11"/>
          <p:cNvSpPr/>
          <p:nvPr/>
        </p:nvSpPr>
        <p:spPr>
          <a:xfrm>
            <a:off x="5715000" y="2523744"/>
            <a:ext cx="5715000" cy="594360"/>
          </a:xfrm>
          <a:prstGeom prst="rect">
            <a:avLst/>
          </a:prstGeom>
          <a:noFill/>
          <a:ln/>
        </p:spPr>
        <p:txBody>
          <a:bodyPr wrap="square" lIns="0" tIns="0" rIns="0" bIns="0" rtlCol="0" anchor="ctr"/>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pinned routes now keep wires armed — but escalate to the user, never to the cloud</a:t>
            </a:r>
            <a:endParaRPr lang="en-US" sz="1000" dirty="0"/>
          </a:p>
        </p:txBody>
      </p:sp>
      <p:sp>
        <p:nvSpPr>
          <p:cNvPr id="17" name="Shape 12"/>
          <p:cNvSpPr/>
          <p:nvPr/>
        </p:nvSpPr>
        <p:spPr>
          <a:xfrm>
            <a:off x="548640" y="3364992"/>
            <a:ext cx="11091672" cy="822960"/>
          </a:xfrm>
          <a:prstGeom prst="roundRect">
            <a:avLst>
              <a:gd name="adj" fmla="val 777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8" name="Shape 13"/>
          <p:cNvSpPr/>
          <p:nvPr/>
        </p:nvSpPr>
        <p:spPr>
          <a:xfrm>
            <a:off x="777240" y="3547872"/>
            <a:ext cx="457200" cy="457200"/>
          </a:xfrm>
          <a:prstGeom prst="ellipse">
            <a:avLst/>
          </a:prstGeom>
          <a:solidFill>
            <a:srgbClr val="1F7A55"/>
          </a:solidFill>
          <a:ln/>
        </p:spPr>
      </p:sp>
      <p:pic>
        <p:nvPicPr>
          <p:cNvPr id="19" name="Image 2" descr="preencoded.png">    </p:cNvPr>
          <p:cNvPicPr>
            <a:picLocks noChangeAspect="1"/>
          </p:cNvPicPr>
          <p:nvPr/>
        </p:nvPicPr>
        <p:blipFill>
          <a:blip r:embed="rId3"/>
          <a:stretch>
            <a:fillRect/>
          </a:stretch>
        </p:blipFill>
        <p:spPr>
          <a:xfrm>
            <a:off x="896112" y="3666744"/>
            <a:ext cx="219456" cy="219456"/>
          </a:xfrm>
          <a:prstGeom prst="rect">
            <a:avLst/>
          </a:prstGeom>
        </p:spPr>
      </p:pic>
      <p:sp>
        <p:nvSpPr>
          <p:cNvPr id="20" name="Text 14"/>
          <p:cNvSpPr/>
          <p:nvPr/>
        </p:nvSpPr>
        <p:spPr>
          <a:xfrm>
            <a:off x="1417320" y="3474720"/>
            <a:ext cx="4160520" cy="594360"/>
          </a:xfrm>
          <a:prstGeom prst="rect">
            <a:avLst/>
          </a:prstGeom>
          <a:noFill/>
          <a:ln/>
        </p:spPr>
        <p:txBody>
          <a:bodyPr wrap="square" lIns="0" tIns="0" rIns="0" bIns="0" rtlCol="0" anchor="ctr"/>
          <a:lstStyle/>
          <a:p>
            <a:pPr algn="l" indent="0" marL="0">
              <a:lnSpc>
                <a:spcPct val="98000"/>
              </a:lnSpc>
              <a:buNone/>
            </a:pPr>
            <a:r>
              <a:rPr lang="en-US" sz="1200" b="1" dirty="0">
                <a:solidFill>
                  <a:srgbClr val="1F2A3D"/>
                </a:solidFill>
                <a:latin typeface="Calibri" pitchFamily="34" charset="0"/>
                <a:ea typeface="Calibri" pitchFamily="34" charset="-122"/>
                <a:cs typeface="Calibri" pitchFamily="34" charset="-120"/>
              </a:rPr>
              <a:t>Escalation scrub modeled as one-shot</a:t>
            </a:r>
            <a:endParaRPr lang="en-US" sz="1200" dirty="0"/>
          </a:p>
        </p:txBody>
      </p:sp>
      <p:sp>
        <p:nvSpPr>
          <p:cNvPr id="21" name="Text 15"/>
          <p:cNvSpPr/>
          <p:nvPr/>
        </p:nvSpPr>
        <p:spPr>
          <a:xfrm>
            <a:off x="5715000" y="3474720"/>
            <a:ext cx="5715000" cy="594360"/>
          </a:xfrm>
          <a:prstGeom prst="rect">
            <a:avLst/>
          </a:prstGeom>
          <a:noFill/>
          <a:ln/>
        </p:spPr>
        <p:txBody>
          <a:bodyPr wrap="square" lIns="0" tIns="0" rIns="0" bIns="0" rtlCol="0" anchor="ctr"/>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the harness replays old artifacts on every later request — the scrub is a standing transform with state</a:t>
            </a:r>
            <a:endParaRPr lang="en-US" sz="1000" dirty="0"/>
          </a:p>
        </p:txBody>
      </p:sp>
      <p:sp>
        <p:nvSpPr>
          <p:cNvPr id="22" name="Shape 16"/>
          <p:cNvSpPr/>
          <p:nvPr/>
        </p:nvSpPr>
        <p:spPr>
          <a:xfrm>
            <a:off x="548640" y="4315968"/>
            <a:ext cx="11091672" cy="822960"/>
          </a:xfrm>
          <a:prstGeom prst="roundRect">
            <a:avLst>
              <a:gd name="adj" fmla="val 7778"/>
            </a:avLst>
          </a:prstGeom>
          <a:solidFill>
            <a:srgbClr val="F3F6F9"/>
          </a:solidFill>
          <a:ln w="9525">
            <a:solidFill>
              <a:srgbClr val="D9E1E9"/>
            </a:solidFill>
            <a:prstDash val="solid"/>
          </a:ln>
        </p:spPr>
      </p:sp>
      <p:sp>
        <p:nvSpPr>
          <p:cNvPr id="23" name="Shape 17"/>
          <p:cNvSpPr/>
          <p:nvPr/>
        </p:nvSpPr>
        <p:spPr>
          <a:xfrm>
            <a:off x="777240" y="4498848"/>
            <a:ext cx="457200" cy="457200"/>
          </a:xfrm>
          <a:prstGeom prst="ellipse">
            <a:avLst/>
          </a:prstGeom>
          <a:solidFill>
            <a:srgbClr val="1F7A55"/>
          </a:solidFill>
          <a:ln/>
        </p:spPr>
      </p:sp>
      <p:pic>
        <p:nvPicPr>
          <p:cNvPr id="24" name="Image 3" descr="preencoded.png">    </p:cNvPr>
          <p:cNvPicPr>
            <a:picLocks noChangeAspect="1"/>
          </p:cNvPicPr>
          <p:nvPr/>
        </p:nvPicPr>
        <p:blipFill>
          <a:blip r:embed="rId4"/>
          <a:stretch>
            <a:fillRect/>
          </a:stretch>
        </p:blipFill>
        <p:spPr>
          <a:xfrm>
            <a:off x="896112" y="4617720"/>
            <a:ext cx="219456" cy="219456"/>
          </a:xfrm>
          <a:prstGeom prst="rect">
            <a:avLst/>
          </a:prstGeom>
        </p:spPr>
      </p:pic>
      <p:sp>
        <p:nvSpPr>
          <p:cNvPr id="25" name="Text 18"/>
          <p:cNvSpPr/>
          <p:nvPr/>
        </p:nvSpPr>
        <p:spPr>
          <a:xfrm>
            <a:off x="1417320" y="4425696"/>
            <a:ext cx="4160520" cy="594360"/>
          </a:xfrm>
          <a:prstGeom prst="rect">
            <a:avLst/>
          </a:prstGeom>
          <a:noFill/>
          <a:ln/>
        </p:spPr>
        <p:txBody>
          <a:bodyPr wrap="square" lIns="0" tIns="0" rIns="0" bIns="0" rtlCol="0" anchor="ctr"/>
          <a:lstStyle/>
          <a:p>
            <a:pPr algn="l" indent="0" marL="0">
              <a:lnSpc>
                <a:spcPct val="98000"/>
              </a:lnSpc>
              <a:buNone/>
            </a:pPr>
            <a:r>
              <a:rPr lang="en-US" sz="1200" b="1" dirty="0">
                <a:solidFill>
                  <a:srgbClr val="1F2A3D"/>
                </a:solidFill>
                <a:latin typeface="Calibri" pitchFamily="34" charset="0"/>
                <a:ea typeface="Calibri" pitchFamily="34" charset="-122"/>
                <a:cs typeface="Calibri" pitchFamily="34" charset="-120"/>
              </a:rPr>
              <a:t>Two-vs-three-rung launch decision unresolved</a:t>
            </a:r>
            <a:endParaRPr lang="en-US" sz="1200" dirty="0"/>
          </a:p>
        </p:txBody>
      </p:sp>
      <p:sp>
        <p:nvSpPr>
          <p:cNvPr id="26" name="Text 19"/>
          <p:cNvSpPr/>
          <p:nvPr/>
        </p:nvSpPr>
        <p:spPr>
          <a:xfrm>
            <a:off x="5715000" y="4425696"/>
            <a:ext cx="5715000" cy="594360"/>
          </a:xfrm>
          <a:prstGeom prst="rect">
            <a:avLst/>
          </a:prstGeom>
          <a:noFill/>
          <a:ln/>
        </p:spPr>
        <p:txBody>
          <a:bodyPr wrap="square" lIns="0" tIns="0" rIns="0" bIns="0" rtlCol="0" anchor="ctr"/>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resolved: three rungs — too much depends on the middle rung (fallbacks, oversized contexts, compaction)</a:t>
            </a:r>
            <a:endParaRPr lang="en-US" sz="1000" dirty="0"/>
          </a:p>
        </p:txBody>
      </p:sp>
      <p:sp>
        <p:nvSpPr>
          <p:cNvPr id="27" name="Shape 20"/>
          <p:cNvSpPr/>
          <p:nvPr/>
        </p:nvSpPr>
        <p:spPr>
          <a:xfrm>
            <a:off x="548640" y="5266944"/>
            <a:ext cx="11091672" cy="822960"/>
          </a:xfrm>
          <a:prstGeom prst="roundRect">
            <a:avLst>
              <a:gd name="adj" fmla="val 777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8" name="Shape 21"/>
          <p:cNvSpPr/>
          <p:nvPr/>
        </p:nvSpPr>
        <p:spPr>
          <a:xfrm>
            <a:off x="777240" y="5449824"/>
            <a:ext cx="457200" cy="457200"/>
          </a:xfrm>
          <a:prstGeom prst="ellipse">
            <a:avLst/>
          </a:prstGeom>
          <a:solidFill>
            <a:srgbClr val="1F7A55"/>
          </a:solidFill>
          <a:ln/>
        </p:spPr>
      </p:sp>
      <p:pic>
        <p:nvPicPr>
          <p:cNvPr id="29" name="Image 4" descr="preencoded.png">    </p:cNvPr>
          <p:cNvPicPr>
            <a:picLocks noChangeAspect="1"/>
          </p:cNvPicPr>
          <p:nvPr/>
        </p:nvPicPr>
        <p:blipFill>
          <a:blip r:embed="rId5"/>
          <a:stretch>
            <a:fillRect/>
          </a:stretch>
        </p:blipFill>
        <p:spPr>
          <a:xfrm>
            <a:off x="896112" y="5568696"/>
            <a:ext cx="219456" cy="219456"/>
          </a:xfrm>
          <a:prstGeom prst="rect">
            <a:avLst/>
          </a:prstGeom>
        </p:spPr>
      </p:pic>
      <p:sp>
        <p:nvSpPr>
          <p:cNvPr id="30" name="Text 22"/>
          <p:cNvSpPr/>
          <p:nvPr/>
        </p:nvSpPr>
        <p:spPr>
          <a:xfrm>
            <a:off x="1417320" y="5376672"/>
            <a:ext cx="4160520" cy="594360"/>
          </a:xfrm>
          <a:prstGeom prst="rect">
            <a:avLst/>
          </a:prstGeom>
          <a:noFill/>
          <a:ln/>
        </p:spPr>
        <p:txBody>
          <a:bodyPr wrap="square" lIns="0" tIns="0" rIns="0" bIns="0" rtlCol="0" anchor="ctr"/>
          <a:lstStyle/>
          <a:p>
            <a:pPr algn="l" indent="0" marL="0">
              <a:lnSpc>
                <a:spcPct val="98000"/>
              </a:lnSpc>
              <a:buNone/>
            </a:pPr>
            <a:r>
              <a:rPr lang="en-US" sz="1200" b="1" dirty="0">
                <a:solidFill>
                  <a:srgbClr val="1F2A3D"/>
                </a:solidFill>
                <a:latin typeface="Calibri" pitchFamily="34" charset="0"/>
                <a:ea typeface="Calibri" pitchFamily="34" charset="-122"/>
                <a:cs typeface="Calibri" pitchFamily="34" charset="-120"/>
              </a:rPr>
              <a:t>Two load-bearing assumptions unverified</a:t>
            </a:r>
            <a:endParaRPr lang="en-US" sz="1200" dirty="0"/>
          </a:p>
        </p:txBody>
      </p:sp>
      <p:sp>
        <p:nvSpPr>
          <p:cNvPr id="31" name="Text 23"/>
          <p:cNvSpPr/>
          <p:nvPr/>
        </p:nvSpPr>
        <p:spPr>
          <a:xfrm>
            <a:off x="5715000" y="5376672"/>
            <a:ext cx="5715000" cy="594360"/>
          </a:xfrm>
          <a:prstGeom prst="rect">
            <a:avLst/>
          </a:prstGeom>
          <a:noFill/>
          <a:ln/>
        </p:spPr>
        <p:txBody>
          <a:bodyPr wrap="square" lIns="0" tIns="0" rIns="0" bIns="0" rtlCol="0" anchor="ctr"/>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session-ID semantics and tool-call ID re-minting — flagged for empirical test; now Phase 0 exit criteria</a:t>
            </a:r>
            <a:endParaRPr lang="en-US" sz="1000" dirty="0"/>
          </a:p>
        </p:txBody>
      </p:sp>
      <p:sp>
        <p:nvSpPr>
          <p:cNvPr id="32" name="Text 24"/>
          <p:cNvSpPr/>
          <p:nvPr/>
        </p:nvSpPr>
        <p:spPr>
          <a:xfrm>
            <a:off x="548640" y="6309360"/>
            <a:ext cx="11091672" cy="320040"/>
          </a:xfrm>
          <a:prstGeom prst="rect">
            <a:avLst/>
          </a:prstGeom>
          <a:noFill/>
          <a:ln/>
        </p:spPr>
        <p:txBody>
          <a:bodyPr wrap="square" lIns="0" tIns="0" rIns="0" bIns="0" rtlCol="0" anchor="t"/>
          <a:lstStyle/>
          <a:p>
            <a:pPr algn="ctr" indent="0" marL="0">
              <a:buNone/>
            </a:pPr>
            <a:r>
              <a:rPr lang="en-US" sz="1250" i="1" dirty="0">
                <a:solidFill>
                  <a:srgbClr val="1F2A3D"/>
                </a:solidFill>
                <a:latin typeface="Cambria" pitchFamily="34" charset="0"/>
                <a:ea typeface="Cambria" pitchFamily="34" charset="-122"/>
                <a:cs typeface="Cambria" pitchFamily="34" charset="-120"/>
              </a:rPr>
              <a:t>Fixing a design flaw in a document costs an afternoon. Fixing it in production costs an incident.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VALIDATION · PASS 2 OF 2</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Deep-research vetting against the mid-2026 state of the art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deep-research-vetting.md</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48640" y="1463040"/>
            <a:ext cx="2651760" cy="960120"/>
          </a:xfrm>
          <a:prstGeom prst="roundRect">
            <a:avLst>
              <a:gd name="adj" fmla="val 6667"/>
            </a:avLst>
          </a:prstGeom>
          <a:solidFill>
            <a:srgbClr val="15223A"/>
          </a:solidFill>
          <a:ln/>
          <a:effectLst>
            <a:outerShdw sx="100000" sy="100000" kx="0" ky="0" algn="bl" rotWithShape="0" blurRad="88900" dist="25400" dir="2700000">
              <a:srgbClr val="1F2A3D">
                <a:alpha val="14000"/>
              </a:srgbClr>
            </a:outerShdw>
          </a:effectLst>
        </p:spPr>
      </p:sp>
      <p:sp>
        <p:nvSpPr>
          <p:cNvPr id="8" name="Text 5"/>
          <p:cNvSpPr/>
          <p:nvPr/>
        </p:nvSpPr>
        <p:spPr>
          <a:xfrm>
            <a:off x="548640" y="1554480"/>
            <a:ext cx="2651760" cy="457200"/>
          </a:xfrm>
          <a:prstGeom prst="rect">
            <a:avLst/>
          </a:prstGeom>
          <a:noFill/>
          <a:ln/>
        </p:spPr>
        <p:txBody>
          <a:bodyPr wrap="square" lIns="0" tIns="0" rIns="0" bIns="0" rtlCol="0" anchor="t"/>
          <a:lstStyle/>
          <a:p>
            <a:pPr algn="ctr" indent="0" marL="0">
              <a:buNone/>
            </a:pPr>
            <a:r>
              <a:rPr lang="en-US" sz="2100" b="1" dirty="0">
                <a:solidFill>
                  <a:srgbClr val="FFFFFF"/>
                </a:solidFill>
                <a:latin typeface="Cambria" pitchFamily="34" charset="0"/>
                <a:ea typeface="Cambria" pitchFamily="34" charset="-122"/>
                <a:cs typeface="Cambria" pitchFamily="34" charset="-120"/>
              </a:rPr>
              <a:t>108</a:t>
            </a:r>
            <a:endParaRPr lang="en-US" sz="2100" dirty="0"/>
          </a:p>
        </p:txBody>
      </p:sp>
      <p:sp>
        <p:nvSpPr>
          <p:cNvPr id="9" name="Text 6"/>
          <p:cNvSpPr/>
          <p:nvPr/>
        </p:nvSpPr>
        <p:spPr>
          <a:xfrm>
            <a:off x="685800" y="2011680"/>
            <a:ext cx="2377440" cy="365760"/>
          </a:xfrm>
          <a:prstGeom prst="rect">
            <a:avLst/>
          </a:prstGeom>
          <a:noFill/>
          <a:ln/>
        </p:spPr>
        <p:txBody>
          <a:bodyPr wrap="square" lIns="0" tIns="0" rIns="0" bIns="0" rtlCol="0" anchor="t"/>
          <a:lstStyle/>
          <a:p>
            <a:pPr algn="ctr" indent="0" marL="0">
              <a:buNone/>
            </a:pPr>
            <a:r>
              <a:rPr lang="en-US" sz="850" dirty="0">
                <a:solidFill>
                  <a:srgbClr val="9FB0C7"/>
                </a:solidFill>
                <a:latin typeface="Calibri" pitchFamily="34" charset="0"/>
                <a:ea typeface="Calibri" pitchFamily="34" charset="-122"/>
                <a:cs typeface="Calibri" pitchFamily="34" charset="-120"/>
              </a:rPr>
              <a:t>research agents</a:t>
            </a:r>
            <a:endParaRPr lang="en-US" sz="850" dirty="0"/>
          </a:p>
        </p:txBody>
      </p:sp>
      <p:sp>
        <p:nvSpPr>
          <p:cNvPr id="10" name="Shape 7"/>
          <p:cNvSpPr/>
          <p:nvPr/>
        </p:nvSpPr>
        <p:spPr>
          <a:xfrm>
            <a:off x="3392424" y="1463040"/>
            <a:ext cx="2651760" cy="960120"/>
          </a:xfrm>
          <a:prstGeom prst="roundRect">
            <a:avLst>
              <a:gd name="adj" fmla="val 6667"/>
            </a:avLst>
          </a:prstGeom>
          <a:solidFill>
            <a:srgbClr val="15223A"/>
          </a:solidFill>
          <a:ln/>
          <a:effectLst>
            <a:outerShdw sx="100000" sy="100000" kx="0" ky="0" algn="bl" rotWithShape="0" blurRad="88900" dist="25400" dir="2700000">
              <a:srgbClr val="1F2A3D">
                <a:alpha val="14000"/>
              </a:srgbClr>
            </a:outerShdw>
          </a:effectLst>
        </p:spPr>
      </p:sp>
      <p:sp>
        <p:nvSpPr>
          <p:cNvPr id="11" name="Text 8"/>
          <p:cNvSpPr/>
          <p:nvPr/>
        </p:nvSpPr>
        <p:spPr>
          <a:xfrm>
            <a:off x="3392424" y="1554480"/>
            <a:ext cx="2651760" cy="457200"/>
          </a:xfrm>
          <a:prstGeom prst="rect">
            <a:avLst/>
          </a:prstGeom>
          <a:noFill/>
          <a:ln/>
        </p:spPr>
        <p:txBody>
          <a:bodyPr wrap="square" lIns="0" tIns="0" rIns="0" bIns="0" rtlCol="0" anchor="t"/>
          <a:lstStyle/>
          <a:p>
            <a:pPr algn="ctr" indent="0" marL="0">
              <a:buNone/>
            </a:pPr>
            <a:r>
              <a:rPr lang="en-US" sz="2100" b="1" dirty="0">
                <a:solidFill>
                  <a:srgbClr val="FFFFFF"/>
                </a:solidFill>
                <a:latin typeface="Cambria" pitchFamily="34" charset="0"/>
                <a:ea typeface="Cambria" pitchFamily="34" charset="-122"/>
                <a:cs typeface="Cambria" pitchFamily="34" charset="-120"/>
              </a:rPr>
              <a:t>26</a:t>
            </a:r>
            <a:endParaRPr lang="en-US" sz="2100" dirty="0"/>
          </a:p>
        </p:txBody>
      </p:sp>
      <p:sp>
        <p:nvSpPr>
          <p:cNvPr id="12" name="Text 9"/>
          <p:cNvSpPr/>
          <p:nvPr/>
        </p:nvSpPr>
        <p:spPr>
          <a:xfrm>
            <a:off x="3529584" y="2011680"/>
            <a:ext cx="2377440" cy="365760"/>
          </a:xfrm>
          <a:prstGeom prst="rect">
            <a:avLst/>
          </a:prstGeom>
          <a:noFill/>
          <a:ln/>
        </p:spPr>
        <p:txBody>
          <a:bodyPr wrap="square" lIns="0" tIns="0" rIns="0" bIns="0" rtlCol="0" anchor="t"/>
          <a:lstStyle/>
          <a:p>
            <a:pPr algn="ctr" indent="0" marL="0">
              <a:buNone/>
            </a:pPr>
            <a:r>
              <a:rPr lang="en-US" sz="850" dirty="0">
                <a:solidFill>
                  <a:srgbClr val="9FB0C7"/>
                </a:solidFill>
                <a:latin typeface="Calibri" pitchFamily="34" charset="0"/>
                <a:ea typeface="Calibri" pitchFamily="34" charset="-122"/>
                <a:cs typeface="Calibri" pitchFamily="34" charset="-120"/>
              </a:rPr>
              <a:t>sources fetched</a:t>
            </a:r>
            <a:endParaRPr lang="en-US" sz="850" dirty="0"/>
          </a:p>
        </p:txBody>
      </p:sp>
      <p:sp>
        <p:nvSpPr>
          <p:cNvPr id="13" name="Shape 10"/>
          <p:cNvSpPr/>
          <p:nvPr/>
        </p:nvSpPr>
        <p:spPr>
          <a:xfrm>
            <a:off x="6236208" y="1463040"/>
            <a:ext cx="2651760" cy="960120"/>
          </a:xfrm>
          <a:prstGeom prst="roundRect">
            <a:avLst>
              <a:gd name="adj" fmla="val 6667"/>
            </a:avLst>
          </a:prstGeom>
          <a:solidFill>
            <a:srgbClr val="15223A"/>
          </a:solidFill>
          <a:ln/>
          <a:effectLst>
            <a:outerShdw sx="100000" sy="100000" kx="0" ky="0" algn="bl" rotWithShape="0" blurRad="88900" dist="25400" dir="2700000">
              <a:srgbClr val="1F2A3D">
                <a:alpha val="14000"/>
              </a:srgbClr>
            </a:outerShdw>
          </a:effectLst>
        </p:spPr>
      </p:sp>
      <p:sp>
        <p:nvSpPr>
          <p:cNvPr id="14" name="Text 11"/>
          <p:cNvSpPr/>
          <p:nvPr/>
        </p:nvSpPr>
        <p:spPr>
          <a:xfrm>
            <a:off x="6236208" y="1554480"/>
            <a:ext cx="2651760" cy="457200"/>
          </a:xfrm>
          <a:prstGeom prst="rect">
            <a:avLst/>
          </a:prstGeom>
          <a:noFill/>
          <a:ln/>
        </p:spPr>
        <p:txBody>
          <a:bodyPr wrap="square" lIns="0" tIns="0" rIns="0" bIns="0" rtlCol="0" anchor="t"/>
          <a:lstStyle/>
          <a:p>
            <a:pPr algn="ctr" indent="0" marL="0">
              <a:buNone/>
            </a:pPr>
            <a:r>
              <a:rPr lang="en-US" sz="2100" b="1" dirty="0">
                <a:solidFill>
                  <a:srgbClr val="FFFFFF"/>
                </a:solidFill>
                <a:latin typeface="Cambria" pitchFamily="34" charset="0"/>
                <a:ea typeface="Cambria" pitchFamily="34" charset="-122"/>
                <a:cs typeface="Cambria" pitchFamily="34" charset="-120"/>
              </a:rPr>
              <a:t>129</a:t>
            </a:r>
            <a:endParaRPr lang="en-US" sz="2100" dirty="0"/>
          </a:p>
        </p:txBody>
      </p:sp>
      <p:sp>
        <p:nvSpPr>
          <p:cNvPr id="15" name="Text 12"/>
          <p:cNvSpPr/>
          <p:nvPr/>
        </p:nvSpPr>
        <p:spPr>
          <a:xfrm>
            <a:off x="6373368" y="2011680"/>
            <a:ext cx="2377440" cy="365760"/>
          </a:xfrm>
          <a:prstGeom prst="rect">
            <a:avLst/>
          </a:prstGeom>
          <a:noFill/>
          <a:ln/>
        </p:spPr>
        <p:txBody>
          <a:bodyPr wrap="square" lIns="0" tIns="0" rIns="0" bIns="0" rtlCol="0" anchor="t"/>
          <a:lstStyle/>
          <a:p>
            <a:pPr algn="ctr" indent="0" marL="0">
              <a:buNone/>
            </a:pPr>
            <a:r>
              <a:rPr lang="en-US" sz="850" dirty="0">
                <a:solidFill>
                  <a:srgbClr val="9FB0C7"/>
                </a:solidFill>
                <a:latin typeface="Calibri" pitchFamily="34" charset="0"/>
                <a:ea typeface="Calibri" pitchFamily="34" charset="-122"/>
                <a:cs typeface="Calibri" pitchFamily="34" charset="-120"/>
              </a:rPr>
              <a:t>claims extracted</a:t>
            </a:r>
            <a:endParaRPr lang="en-US" sz="850" dirty="0"/>
          </a:p>
        </p:txBody>
      </p:sp>
      <p:sp>
        <p:nvSpPr>
          <p:cNvPr id="16" name="Shape 13"/>
          <p:cNvSpPr/>
          <p:nvPr/>
        </p:nvSpPr>
        <p:spPr>
          <a:xfrm>
            <a:off x="9079992" y="1463040"/>
            <a:ext cx="2651760" cy="960120"/>
          </a:xfrm>
          <a:prstGeom prst="roundRect">
            <a:avLst>
              <a:gd name="adj" fmla="val 6667"/>
            </a:avLst>
          </a:prstGeom>
          <a:solidFill>
            <a:srgbClr val="15223A"/>
          </a:solidFill>
          <a:ln/>
          <a:effectLst>
            <a:outerShdw sx="100000" sy="100000" kx="0" ky="0" algn="bl" rotWithShape="0" blurRad="88900" dist="25400" dir="2700000">
              <a:srgbClr val="1F2A3D">
                <a:alpha val="14000"/>
              </a:srgbClr>
            </a:outerShdw>
          </a:effectLst>
        </p:spPr>
      </p:sp>
      <p:sp>
        <p:nvSpPr>
          <p:cNvPr id="17" name="Text 14"/>
          <p:cNvSpPr/>
          <p:nvPr/>
        </p:nvSpPr>
        <p:spPr>
          <a:xfrm>
            <a:off x="9079992" y="1554480"/>
            <a:ext cx="2651760" cy="457200"/>
          </a:xfrm>
          <a:prstGeom prst="rect">
            <a:avLst/>
          </a:prstGeom>
          <a:noFill/>
          <a:ln/>
        </p:spPr>
        <p:txBody>
          <a:bodyPr wrap="square" lIns="0" tIns="0" rIns="0" bIns="0" rtlCol="0" anchor="t"/>
          <a:lstStyle/>
          <a:p>
            <a:pPr algn="ctr" indent="0" marL="0">
              <a:buNone/>
            </a:pPr>
            <a:r>
              <a:rPr lang="en-US" sz="2100" b="1" dirty="0">
                <a:solidFill>
                  <a:srgbClr val="FFFFFF"/>
                </a:solidFill>
                <a:latin typeface="Cambria" pitchFamily="34" charset="0"/>
                <a:ea typeface="Cambria" pitchFamily="34" charset="-122"/>
                <a:cs typeface="Cambria" pitchFamily="34" charset="-120"/>
              </a:rPr>
              <a:t>23 / 2</a:t>
            </a:r>
            <a:endParaRPr lang="en-US" sz="2100" dirty="0"/>
          </a:p>
        </p:txBody>
      </p:sp>
      <p:sp>
        <p:nvSpPr>
          <p:cNvPr id="18" name="Text 15"/>
          <p:cNvSpPr/>
          <p:nvPr/>
        </p:nvSpPr>
        <p:spPr>
          <a:xfrm>
            <a:off x="9217152" y="2011680"/>
            <a:ext cx="2377440" cy="365760"/>
          </a:xfrm>
          <a:prstGeom prst="rect">
            <a:avLst/>
          </a:prstGeom>
          <a:noFill/>
          <a:ln/>
        </p:spPr>
        <p:txBody>
          <a:bodyPr wrap="square" lIns="0" tIns="0" rIns="0" bIns="0" rtlCol="0" anchor="t"/>
          <a:lstStyle/>
          <a:p>
            <a:pPr algn="ctr" indent="0" marL="0">
              <a:buNone/>
            </a:pPr>
            <a:r>
              <a:rPr lang="en-US" sz="850" dirty="0">
                <a:solidFill>
                  <a:srgbClr val="9FB0C7"/>
                </a:solidFill>
                <a:latin typeface="Calibri" pitchFamily="34" charset="0"/>
                <a:ea typeface="Calibri" pitchFamily="34" charset="-122"/>
                <a:cs typeface="Calibri" pitchFamily="34" charset="-120"/>
              </a:rPr>
              <a:t>confirmed / refuted (top 25, 3-vote panels)</a:t>
            </a:r>
            <a:endParaRPr lang="en-US" sz="850" dirty="0"/>
          </a:p>
        </p:txBody>
      </p:sp>
      <p:sp>
        <p:nvSpPr>
          <p:cNvPr id="19" name="Shape 16"/>
          <p:cNvSpPr/>
          <p:nvPr/>
        </p:nvSpPr>
        <p:spPr>
          <a:xfrm>
            <a:off x="548640" y="2697480"/>
            <a:ext cx="5422392" cy="3429000"/>
          </a:xfrm>
          <a:prstGeom prst="roundRect">
            <a:avLst>
              <a:gd name="adj" fmla="val 1867"/>
            </a:avLst>
          </a:prstGeom>
          <a:solidFill>
            <a:srgbClr val="E3F1EA"/>
          </a:solidFill>
          <a:ln/>
          <a:effectLst>
            <a:outerShdw sx="100000" sy="100000" kx="0" ky="0" algn="bl" rotWithShape="0" blurRad="88900" dist="25400" dir="2700000">
              <a:srgbClr val="1F2A3D">
                <a:alpha val="14000"/>
              </a:srgbClr>
            </a:outerShdw>
          </a:effectLst>
        </p:spPr>
      </p:sp>
      <p:sp>
        <p:nvSpPr>
          <p:cNvPr id="20" name="Text 17"/>
          <p:cNvSpPr/>
          <p:nvPr/>
        </p:nvSpPr>
        <p:spPr>
          <a:xfrm>
            <a:off x="804672" y="2880360"/>
            <a:ext cx="4754880" cy="256032"/>
          </a:xfrm>
          <a:prstGeom prst="rect">
            <a:avLst/>
          </a:prstGeom>
          <a:noFill/>
          <a:ln/>
        </p:spPr>
        <p:txBody>
          <a:bodyPr wrap="square" lIns="0" tIns="0" rIns="0" bIns="0" rtlCol="0" anchor="t"/>
          <a:lstStyle/>
          <a:p>
            <a:pPr algn="l" indent="0" marL="0">
              <a:buNone/>
            </a:pPr>
            <a:r>
              <a:rPr lang="en-US" sz="1050" b="1" spc="200" kern="0" dirty="0">
                <a:solidFill>
                  <a:srgbClr val="1F7A55"/>
                </a:solidFill>
                <a:latin typeface="Calibri" pitchFamily="34" charset="0"/>
                <a:ea typeface="Calibri" pitchFamily="34" charset="-122"/>
                <a:cs typeface="Calibri" pitchFamily="34" charset="-120"/>
              </a:rPr>
              <a:t>VALIDATED</a:t>
            </a:r>
            <a:endParaRPr lang="en-US" sz="1050" dirty="0"/>
          </a:p>
        </p:txBody>
      </p:sp>
      <p:sp>
        <p:nvSpPr>
          <p:cNvPr id="21" name="Text 18"/>
          <p:cNvSpPr/>
          <p:nvPr/>
        </p:nvSpPr>
        <p:spPr>
          <a:xfrm>
            <a:off x="804672" y="3200400"/>
            <a:ext cx="4937760" cy="2834640"/>
          </a:xfrm>
          <a:prstGeom prst="rect">
            <a:avLst/>
          </a:prstGeom>
          <a:noFill/>
          <a:ln/>
        </p:spPr>
        <p:txBody>
          <a:bodyPr wrap="square" lIns="0" tIns="0" rIns="0" bIns="0" rtlCol="0" anchor="t"/>
          <a:lstStyle/>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Copilot's production router converged on the same core choice</a:t>
            </a:r>
            <a:endParaRPr lang="en-US" sz="1150" dirty="0"/>
          </a:p>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never switch mid-conversation; route only at cache boundaries — cache-break costs exceed routing savings</a:t>
            </a:r>
            <a:endParaRPr lang="en-US" sz="1150" dirty="0"/>
          </a:p>
          <a:p>
            <a:pPr algn="l" indent="0" marL="0">
              <a:lnSpc>
                <a:spcPct val="110000"/>
              </a:lnSpc>
              <a:buNone/>
            </a:pPr>
            <a:r>
              <a:rPr lang="en-US" sz="600" dirty="0">
                <a:solidFill>
                  <a:srgbClr val="1F2A3D"/>
                </a:solidFill>
                <a:latin typeface="Calibri" pitchFamily="34" charset="0"/>
                <a:ea typeface="Calibri" pitchFamily="34" charset="-122"/>
                <a:cs typeface="Calibri" pitchFamily="34" charset="-120"/>
              </a:rPr>
              <a:t> </a:t>
            </a:r>
            <a:endParaRPr lang="en-US" sz="1150" dirty="0"/>
          </a:p>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(model, harness) keying is right</a:t>
            </a:r>
            <a:endParaRPr lang="en-US" sz="1150" dirty="0"/>
          </a:p>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GitHub's own benchmarking: the same model scores up to 16 points differently across harnesses</a:t>
            </a:r>
            <a:endParaRPr lang="en-US" sz="1150" dirty="0"/>
          </a:p>
          <a:p>
            <a:pPr algn="l" indent="0" marL="0">
              <a:lnSpc>
                <a:spcPct val="110000"/>
              </a:lnSpc>
              <a:buNone/>
            </a:pPr>
            <a:r>
              <a:rPr lang="en-US" sz="600" dirty="0">
                <a:solidFill>
                  <a:srgbClr val="1F2A3D"/>
                </a:solidFill>
                <a:latin typeface="Calibri" pitchFamily="34" charset="0"/>
                <a:ea typeface="Calibri" pitchFamily="34" charset="-122"/>
                <a:cs typeface="Calibri" pitchFamily="34" charset="-120"/>
              </a:rPr>
              <a:t> </a:t>
            </a:r>
            <a:endParaRPr lang="en-US" sz="1150" dirty="0"/>
          </a:p>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Heuristics-first is the right default</a:t>
            </a:r>
            <a:endParaRPr lang="en-US" sz="1150" dirty="0"/>
          </a:p>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LLMRouterBench: several learned routers score below “always use the best model” — a commercial one at −24.7%. None published shows gains on multi-turn agentic traffic</a:t>
            </a:r>
            <a:endParaRPr lang="en-US" sz="1150" dirty="0"/>
          </a:p>
        </p:txBody>
      </p:sp>
      <p:sp>
        <p:nvSpPr>
          <p:cNvPr id="22" name="Shape 19"/>
          <p:cNvSpPr/>
          <p:nvPr/>
        </p:nvSpPr>
        <p:spPr>
          <a:xfrm>
            <a:off x="6217920" y="2697480"/>
            <a:ext cx="5422392" cy="3429000"/>
          </a:xfrm>
          <a:prstGeom prst="roundRect">
            <a:avLst>
              <a:gd name="adj" fmla="val 1867"/>
            </a:avLst>
          </a:prstGeom>
          <a:solidFill>
            <a:srgbClr val="FBEFDC"/>
          </a:solidFill>
          <a:ln/>
          <a:effectLst>
            <a:outerShdw sx="100000" sy="100000" kx="0" ky="0" algn="bl" rotWithShape="0" blurRad="88900" dist="25400" dir="2700000">
              <a:srgbClr val="1F2A3D">
                <a:alpha val="14000"/>
              </a:srgbClr>
            </a:outerShdw>
          </a:effectLst>
        </p:spPr>
      </p:sp>
      <p:sp>
        <p:nvSpPr>
          <p:cNvPr id="23" name="Text 20"/>
          <p:cNvSpPr/>
          <p:nvPr/>
        </p:nvSpPr>
        <p:spPr>
          <a:xfrm>
            <a:off x="6473952" y="2880360"/>
            <a:ext cx="4754880" cy="256032"/>
          </a:xfrm>
          <a:prstGeom prst="rect">
            <a:avLst/>
          </a:prstGeom>
          <a:noFill/>
          <a:ln/>
        </p:spPr>
        <p:txBody>
          <a:bodyPr wrap="square" lIns="0" tIns="0" rIns="0" bIns="0" rtlCol="0" anchor="t"/>
          <a:lstStyle/>
          <a:p>
            <a:pPr algn="l" indent="0" marL="0">
              <a:buNone/>
            </a:pPr>
            <a:r>
              <a:rPr lang="en-US" sz="1050" b="1" spc="200" kern="0" dirty="0">
                <a:solidFill>
                  <a:srgbClr val="B45309"/>
                </a:solidFill>
                <a:latin typeface="Calibri" pitchFamily="34" charset="0"/>
                <a:ea typeface="Calibri" pitchFamily="34" charset="-122"/>
                <a:cs typeface="Calibri" pitchFamily="34" charset="-120"/>
              </a:rPr>
              <a:t>GAPS FOUND → FIXED IN V2</a:t>
            </a:r>
            <a:endParaRPr lang="en-US" sz="1050" dirty="0"/>
          </a:p>
        </p:txBody>
      </p:sp>
      <p:sp>
        <p:nvSpPr>
          <p:cNvPr id="24" name="Text 21"/>
          <p:cNvSpPr/>
          <p:nvPr/>
        </p:nvSpPr>
        <p:spPr>
          <a:xfrm>
            <a:off x="6473952" y="3200400"/>
            <a:ext cx="4937760" cy="2834640"/>
          </a:xfrm>
          <a:prstGeom prst="rect">
            <a:avLst/>
          </a:prstGeom>
          <a:noFill/>
          <a:ln/>
        </p:spPr>
        <p:txBody>
          <a:bodyPr wrap="square" lIns="0" tIns="0" rIns="0" bIns="0" rtlCol="0" anchor="t"/>
          <a:lstStyle/>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No real-time health gate</a:t>
            </a:r>
            <a:endParaRPr lang="en-US" sz="1150" dirty="0"/>
          </a:p>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Copilot treats availability as co-equal with task routing → added at gate layer 0, fed by LiteLLM health checks</a:t>
            </a:r>
            <a:endParaRPr lang="en-US" sz="1150" dirty="0"/>
          </a:p>
          <a:p>
            <a:pPr algn="l" indent="0" marL="0">
              <a:lnSpc>
                <a:spcPct val="110000"/>
              </a:lnSpc>
              <a:buNone/>
            </a:pPr>
            <a:r>
              <a:rPr lang="en-US" sz="600" dirty="0">
                <a:solidFill>
                  <a:srgbClr val="1F2A3D"/>
                </a:solidFill>
                <a:latin typeface="Calibri" pitchFamily="34" charset="0"/>
                <a:ea typeface="Calibri" pitchFamily="34" charset="-122"/>
                <a:cs typeface="Calibri" pitchFamily="34" charset="-120"/>
              </a:rPr>
              <a:t> </a:t>
            </a:r>
            <a:endParaRPr lang="en-US" sz="1150" dirty="0"/>
          </a:p>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No leading confidence signal on local output</a:t>
            </a:r>
            <a:endParaRPr lang="en-US" sz="1150" dirty="0"/>
          </a:p>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ICML 2025 cascade-routing: estimator quality is THE decisive factor → planned as a Phase-3 soft trip-wire</a:t>
            </a:r>
            <a:endParaRPr lang="en-US" sz="1150" dirty="0"/>
          </a:p>
          <a:p>
            <a:pPr algn="l" indent="0" marL="0">
              <a:lnSpc>
                <a:spcPct val="110000"/>
              </a:lnSpc>
              <a:buNone/>
            </a:pPr>
            <a:r>
              <a:rPr lang="en-US" sz="600" dirty="0">
                <a:solidFill>
                  <a:srgbClr val="1F2A3D"/>
                </a:solidFill>
                <a:latin typeface="Calibri" pitchFamily="34" charset="0"/>
                <a:ea typeface="Calibri" pitchFamily="34" charset="-122"/>
                <a:cs typeface="Calibri" pitchFamily="34" charset="-120"/>
              </a:rPr>
              <a:t> </a:t>
            </a:r>
            <a:endParaRPr lang="en-US" sz="1150" dirty="0"/>
          </a:p>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Model vs endpoint conflated · LiteLLM reimplementation risk</a:t>
            </a:r>
            <a:endParaRPr lang="en-US" sz="1150" dirty="0"/>
          </a:p>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OpenRouter decomposes them → registry split; ownership table drawn so we never rebuild what LiteLLM ships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EVIDENCE · PHASE 0</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Shadow mode — and a 927MB head start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Phase 0 report · src/miner · src/proxy</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48640" y="1463040"/>
            <a:ext cx="2084832" cy="1371600"/>
          </a:xfrm>
          <a:prstGeom prst="roundRect">
            <a:avLst>
              <a:gd name="adj" fmla="val 466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713232" y="1600200"/>
            <a:ext cx="1755648" cy="457200"/>
          </a:xfrm>
          <a:prstGeom prst="rect">
            <a:avLst/>
          </a:prstGeom>
          <a:noFill/>
          <a:ln/>
        </p:spPr>
        <p:txBody>
          <a:bodyPr wrap="square" lIns="0" tIns="0" rIns="0" bIns="0" rtlCol="0" anchor="t"/>
          <a:lstStyle/>
          <a:p>
            <a:pPr algn="l" indent="0" marL="0">
              <a:buNone/>
            </a:pPr>
            <a:r>
              <a:rPr lang="en-US" sz="2100" b="1" dirty="0">
                <a:solidFill>
                  <a:srgbClr val="1D6FA5"/>
                </a:solidFill>
                <a:latin typeface="Cambria" pitchFamily="34" charset="0"/>
                <a:ea typeface="Cambria" pitchFamily="34" charset="-122"/>
                <a:cs typeface="Cambria" pitchFamily="34" charset="-120"/>
              </a:rPr>
              <a:t>3,127</a:t>
            </a:r>
            <a:endParaRPr lang="en-US" sz="2100" dirty="0"/>
          </a:p>
        </p:txBody>
      </p:sp>
      <p:sp>
        <p:nvSpPr>
          <p:cNvPr id="9" name="Text 6"/>
          <p:cNvSpPr/>
          <p:nvPr/>
        </p:nvSpPr>
        <p:spPr>
          <a:xfrm>
            <a:off x="713232" y="2103120"/>
            <a:ext cx="1755648" cy="640080"/>
          </a:xfrm>
          <a:prstGeom prst="rect">
            <a:avLst/>
          </a:prstGeom>
          <a:noFill/>
          <a:ln/>
        </p:spPr>
        <p:txBody>
          <a:bodyPr wrap="square" lIns="0" tIns="0" rIns="0" bIns="0" rtlCol="0" anchor="t"/>
          <a:lstStyle/>
          <a:p>
            <a:pPr algn="l" indent="0" marL="0">
              <a:lnSpc>
                <a:spcPct val="105000"/>
              </a:lnSpc>
              <a:buNone/>
            </a:pPr>
            <a:r>
              <a:rPr lang="en-US" sz="900" dirty="0">
                <a:solidFill>
                  <a:srgbClr val="5D6B7E"/>
                </a:solidFill>
                <a:latin typeface="Calibri" pitchFamily="34" charset="0"/>
                <a:ea typeface="Calibri" pitchFamily="34" charset="-122"/>
                <a:cs typeface="Calibri" pitchFamily="34" charset="-120"/>
              </a:rPr>
              <a:t>transcript files found on disk</a:t>
            </a:r>
            <a:endParaRPr lang="en-US" sz="900" dirty="0"/>
          </a:p>
        </p:txBody>
      </p:sp>
      <p:sp>
        <p:nvSpPr>
          <p:cNvPr id="10" name="Shape 7"/>
          <p:cNvSpPr/>
          <p:nvPr/>
        </p:nvSpPr>
        <p:spPr>
          <a:xfrm>
            <a:off x="2816352" y="1463040"/>
            <a:ext cx="2084832" cy="1371600"/>
          </a:xfrm>
          <a:prstGeom prst="roundRect">
            <a:avLst>
              <a:gd name="adj" fmla="val 466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1" name="Text 8"/>
          <p:cNvSpPr/>
          <p:nvPr/>
        </p:nvSpPr>
        <p:spPr>
          <a:xfrm>
            <a:off x="2980944" y="1600200"/>
            <a:ext cx="1755648" cy="457200"/>
          </a:xfrm>
          <a:prstGeom prst="rect">
            <a:avLst/>
          </a:prstGeom>
          <a:noFill/>
          <a:ln/>
        </p:spPr>
        <p:txBody>
          <a:bodyPr wrap="square" lIns="0" tIns="0" rIns="0" bIns="0" rtlCol="0" anchor="t"/>
          <a:lstStyle/>
          <a:p>
            <a:pPr algn="l" indent="0" marL="0">
              <a:buNone/>
            </a:pPr>
            <a:r>
              <a:rPr lang="en-US" sz="2100" b="1" dirty="0">
                <a:solidFill>
                  <a:srgbClr val="1D6FA5"/>
                </a:solidFill>
                <a:latin typeface="Cambria" pitchFamily="34" charset="0"/>
                <a:ea typeface="Cambria" pitchFamily="34" charset="-122"/>
                <a:cs typeface="Cambria" pitchFamily="34" charset="-120"/>
              </a:rPr>
              <a:t>927 MB</a:t>
            </a:r>
            <a:endParaRPr lang="en-US" sz="2100" dirty="0"/>
          </a:p>
        </p:txBody>
      </p:sp>
      <p:sp>
        <p:nvSpPr>
          <p:cNvPr id="12" name="Text 9"/>
          <p:cNvSpPr/>
          <p:nvPr/>
        </p:nvSpPr>
        <p:spPr>
          <a:xfrm>
            <a:off x="2980944" y="2103120"/>
            <a:ext cx="1755648" cy="640080"/>
          </a:xfrm>
          <a:prstGeom prst="rect">
            <a:avLst/>
          </a:prstGeom>
          <a:noFill/>
          <a:ln/>
        </p:spPr>
        <p:txBody>
          <a:bodyPr wrap="square" lIns="0" tIns="0" rIns="0" bIns="0" rtlCol="0" anchor="t"/>
          <a:lstStyle/>
          <a:p>
            <a:pPr algn="l" indent="0" marL="0">
              <a:lnSpc>
                <a:spcPct val="105000"/>
              </a:lnSpc>
              <a:buNone/>
            </a:pPr>
            <a:r>
              <a:rPr lang="en-US" sz="900" dirty="0">
                <a:solidFill>
                  <a:srgbClr val="5D6B7E"/>
                </a:solidFill>
                <a:latin typeface="Calibri" pitchFamily="34" charset="0"/>
                <a:ea typeface="Calibri" pitchFamily="34" charset="-122"/>
                <a:cs typeface="Calibri" pitchFamily="34" charset="-120"/>
              </a:rPr>
              <a:t>~5.5 weeks of real agent history</a:t>
            </a:r>
            <a:endParaRPr lang="en-US" sz="900" dirty="0"/>
          </a:p>
        </p:txBody>
      </p:sp>
      <p:sp>
        <p:nvSpPr>
          <p:cNvPr id="13" name="Shape 10"/>
          <p:cNvSpPr/>
          <p:nvPr/>
        </p:nvSpPr>
        <p:spPr>
          <a:xfrm>
            <a:off x="5084064" y="1463040"/>
            <a:ext cx="2084832" cy="1371600"/>
          </a:xfrm>
          <a:prstGeom prst="roundRect">
            <a:avLst>
              <a:gd name="adj" fmla="val 466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4" name="Text 11"/>
          <p:cNvSpPr/>
          <p:nvPr/>
        </p:nvSpPr>
        <p:spPr>
          <a:xfrm>
            <a:off x="5248656" y="1600200"/>
            <a:ext cx="1755648" cy="457200"/>
          </a:xfrm>
          <a:prstGeom prst="rect">
            <a:avLst/>
          </a:prstGeom>
          <a:noFill/>
          <a:ln/>
        </p:spPr>
        <p:txBody>
          <a:bodyPr wrap="square" lIns="0" tIns="0" rIns="0" bIns="0" rtlCol="0" anchor="t"/>
          <a:lstStyle/>
          <a:p>
            <a:pPr algn="l" indent="0" marL="0">
              <a:buNone/>
            </a:pPr>
            <a:r>
              <a:rPr lang="en-US" sz="2100" b="1" dirty="0">
                <a:solidFill>
                  <a:srgbClr val="1D6FA5"/>
                </a:solidFill>
                <a:latin typeface="Cambria" pitchFamily="34" charset="0"/>
                <a:ea typeface="Cambria" pitchFamily="34" charset="-122"/>
                <a:cs typeface="Cambria" pitchFamily="34" charset="-120"/>
              </a:rPr>
              <a:t>5,027</a:t>
            </a:r>
            <a:endParaRPr lang="en-US" sz="2100" dirty="0"/>
          </a:p>
        </p:txBody>
      </p:sp>
      <p:sp>
        <p:nvSpPr>
          <p:cNvPr id="15" name="Text 12"/>
          <p:cNvSpPr/>
          <p:nvPr/>
        </p:nvSpPr>
        <p:spPr>
          <a:xfrm>
            <a:off x="5248656" y="2103120"/>
            <a:ext cx="1755648" cy="640080"/>
          </a:xfrm>
          <a:prstGeom prst="rect">
            <a:avLst/>
          </a:prstGeom>
          <a:noFill/>
          <a:ln/>
        </p:spPr>
        <p:txBody>
          <a:bodyPr wrap="square" lIns="0" tIns="0" rIns="0" bIns="0" rtlCol="0" anchor="t"/>
          <a:lstStyle/>
          <a:p>
            <a:pPr algn="l" indent="0" marL="0">
              <a:lnSpc>
                <a:spcPct val="105000"/>
              </a:lnSpc>
              <a:buNone/>
            </a:pPr>
            <a:r>
              <a:rPr lang="en-US" sz="900" dirty="0">
                <a:solidFill>
                  <a:srgbClr val="5D6B7E"/>
                </a:solidFill>
                <a:latin typeface="Calibri" pitchFamily="34" charset="0"/>
                <a:ea typeface="Calibri" pitchFamily="34" charset="-122"/>
                <a:cs typeface="Calibri" pitchFamily="34" charset="-120"/>
              </a:rPr>
              <a:t>turns assembled — 0 parse errors</a:t>
            </a:r>
            <a:endParaRPr lang="en-US" sz="900" dirty="0"/>
          </a:p>
        </p:txBody>
      </p:sp>
      <p:sp>
        <p:nvSpPr>
          <p:cNvPr id="16" name="Shape 13"/>
          <p:cNvSpPr/>
          <p:nvPr/>
        </p:nvSpPr>
        <p:spPr>
          <a:xfrm>
            <a:off x="7351776" y="1463040"/>
            <a:ext cx="2084832" cy="1371600"/>
          </a:xfrm>
          <a:prstGeom prst="roundRect">
            <a:avLst>
              <a:gd name="adj" fmla="val 466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7" name="Text 14"/>
          <p:cNvSpPr/>
          <p:nvPr/>
        </p:nvSpPr>
        <p:spPr>
          <a:xfrm>
            <a:off x="7516368" y="1600200"/>
            <a:ext cx="1755648" cy="457200"/>
          </a:xfrm>
          <a:prstGeom prst="rect">
            <a:avLst/>
          </a:prstGeom>
          <a:noFill/>
          <a:ln/>
        </p:spPr>
        <p:txBody>
          <a:bodyPr wrap="square" lIns="0" tIns="0" rIns="0" bIns="0" rtlCol="0" anchor="t"/>
          <a:lstStyle/>
          <a:p>
            <a:pPr algn="l" indent="0" marL="0">
              <a:buNone/>
            </a:pPr>
            <a:r>
              <a:rPr lang="en-US" sz="2100" b="1" dirty="0">
                <a:solidFill>
                  <a:srgbClr val="1D6FA5"/>
                </a:solidFill>
                <a:latin typeface="Cambria" pitchFamily="34" charset="0"/>
                <a:ea typeface="Cambria" pitchFamily="34" charset="-122"/>
                <a:cs typeface="Cambria" pitchFamily="34" charset="-120"/>
              </a:rPr>
              <a:t>178,681</a:t>
            </a:r>
            <a:endParaRPr lang="en-US" sz="2100" dirty="0"/>
          </a:p>
        </p:txBody>
      </p:sp>
      <p:sp>
        <p:nvSpPr>
          <p:cNvPr id="18" name="Text 15"/>
          <p:cNvSpPr/>
          <p:nvPr/>
        </p:nvSpPr>
        <p:spPr>
          <a:xfrm>
            <a:off x="7516368" y="2103120"/>
            <a:ext cx="1755648" cy="640080"/>
          </a:xfrm>
          <a:prstGeom prst="rect">
            <a:avLst/>
          </a:prstGeom>
          <a:noFill/>
          <a:ln/>
        </p:spPr>
        <p:txBody>
          <a:bodyPr wrap="square" lIns="0" tIns="0" rIns="0" bIns="0" rtlCol="0" anchor="t"/>
          <a:lstStyle/>
          <a:p>
            <a:pPr algn="l" indent="0" marL="0">
              <a:lnSpc>
                <a:spcPct val="105000"/>
              </a:lnSpc>
              <a:buNone/>
            </a:pPr>
            <a:r>
              <a:rPr lang="en-US" sz="900" dirty="0">
                <a:solidFill>
                  <a:srgbClr val="5D6B7E"/>
                </a:solidFill>
                <a:latin typeface="Calibri" pitchFamily="34" charset="0"/>
                <a:ea typeface="Calibri" pitchFamily="34" charset="-122"/>
                <a:cs typeface="Calibri" pitchFamily="34" charset="-120"/>
              </a:rPr>
              <a:t>records across 3,060 parsed files</a:t>
            </a:r>
            <a:endParaRPr lang="en-US" sz="900" dirty="0"/>
          </a:p>
        </p:txBody>
      </p:sp>
      <p:sp>
        <p:nvSpPr>
          <p:cNvPr id="19" name="Shape 16"/>
          <p:cNvSpPr/>
          <p:nvPr/>
        </p:nvSpPr>
        <p:spPr>
          <a:xfrm>
            <a:off x="9619488" y="1463040"/>
            <a:ext cx="2084832" cy="1371600"/>
          </a:xfrm>
          <a:prstGeom prst="roundRect">
            <a:avLst>
              <a:gd name="adj" fmla="val 466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Text 17"/>
          <p:cNvSpPr/>
          <p:nvPr/>
        </p:nvSpPr>
        <p:spPr>
          <a:xfrm>
            <a:off x="9784080" y="1600200"/>
            <a:ext cx="1755648" cy="457200"/>
          </a:xfrm>
          <a:prstGeom prst="rect">
            <a:avLst/>
          </a:prstGeom>
          <a:noFill/>
          <a:ln/>
        </p:spPr>
        <p:txBody>
          <a:bodyPr wrap="square" lIns="0" tIns="0" rIns="0" bIns="0" rtlCol="0" anchor="t"/>
          <a:lstStyle/>
          <a:p>
            <a:pPr algn="l" indent="0" marL="0">
              <a:buNone/>
            </a:pPr>
            <a:r>
              <a:rPr lang="en-US" sz="2100" b="1" dirty="0">
                <a:solidFill>
                  <a:srgbClr val="1D6FA5"/>
                </a:solidFill>
                <a:latin typeface="Cambria" pitchFamily="34" charset="0"/>
                <a:ea typeface="Cambria" pitchFamily="34" charset="-122"/>
                <a:cs typeface="Cambria" pitchFamily="34" charset="-120"/>
              </a:rPr>
              <a:t>~5 s</a:t>
            </a:r>
            <a:endParaRPr lang="en-US" sz="2100" dirty="0"/>
          </a:p>
        </p:txBody>
      </p:sp>
      <p:sp>
        <p:nvSpPr>
          <p:cNvPr id="21" name="Text 18"/>
          <p:cNvSpPr/>
          <p:nvPr/>
        </p:nvSpPr>
        <p:spPr>
          <a:xfrm>
            <a:off x="9784080" y="2103120"/>
            <a:ext cx="1755648" cy="640080"/>
          </a:xfrm>
          <a:prstGeom prst="rect">
            <a:avLst/>
          </a:prstGeom>
          <a:noFill/>
          <a:ln/>
        </p:spPr>
        <p:txBody>
          <a:bodyPr wrap="square" lIns="0" tIns="0" rIns="0" bIns="0" rtlCol="0" anchor="t"/>
          <a:lstStyle/>
          <a:p>
            <a:pPr algn="l" indent="0" marL="0">
              <a:lnSpc>
                <a:spcPct val="105000"/>
              </a:lnSpc>
              <a:buNone/>
            </a:pPr>
            <a:r>
              <a:rPr lang="en-US" sz="900" dirty="0">
                <a:solidFill>
                  <a:srgbClr val="5D6B7E"/>
                </a:solidFill>
                <a:latin typeface="Calibri" pitchFamily="34" charset="0"/>
                <a:ea typeface="Calibri" pitchFamily="34" charset="-122"/>
                <a:cs typeface="Calibri" pitchFamily="34" charset="-120"/>
              </a:rPr>
              <a:t>full-corpus mining run</a:t>
            </a:r>
            <a:endParaRPr lang="en-US" sz="900" dirty="0"/>
          </a:p>
        </p:txBody>
      </p:sp>
      <p:sp>
        <p:nvSpPr>
          <p:cNvPr id="22" name="Text 19"/>
          <p:cNvSpPr/>
          <p:nvPr/>
        </p:nvSpPr>
        <p:spPr>
          <a:xfrm>
            <a:off x="548640" y="3154680"/>
            <a:ext cx="5486400" cy="292608"/>
          </a:xfrm>
          <a:prstGeom prst="rect">
            <a:avLst/>
          </a:prstGeom>
          <a:noFill/>
          <a:ln/>
        </p:spPr>
        <p:txBody>
          <a:bodyPr wrap="square" lIns="0" tIns="0" rIns="0" bIns="0" rtlCol="0" anchor="t"/>
          <a:lstStyle/>
          <a:p>
            <a:pPr algn="l" indent="0" marL="0">
              <a:buNone/>
            </a:pPr>
            <a:r>
              <a:rPr lang="en-US" sz="1400" b="1" dirty="0">
                <a:solidFill>
                  <a:srgbClr val="1F2A3D"/>
                </a:solidFill>
                <a:latin typeface="Cambria" pitchFamily="34" charset="0"/>
                <a:ea typeface="Cambria" pitchFamily="34" charset="-122"/>
                <a:cs typeface="Cambria" pitchFamily="34" charset="-120"/>
              </a:rPr>
              <a:t>What was built and shipped</a:t>
            </a:r>
            <a:endParaRPr lang="en-US" sz="1400" dirty="0"/>
          </a:p>
        </p:txBody>
      </p:sp>
      <p:sp>
        <p:nvSpPr>
          <p:cNvPr id="23" name="Shape 20"/>
          <p:cNvSpPr/>
          <p:nvPr/>
        </p:nvSpPr>
        <p:spPr>
          <a:xfrm>
            <a:off x="548640" y="3566160"/>
            <a:ext cx="2606040" cy="566928"/>
          </a:xfrm>
          <a:prstGeom prst="roundRect">
            <a:avLst>
              <a:gd name="adj" fmla="val 11290"/>
            </a:avLst>
          </a:prstGeom>
          <a:solidFill>
            <a:srgbClr val="E4EEF6"/>
          </a:solidFill>
          <a:ln/>
        </p:spPr>
      </p:sp>
      <p:sp>
        <p:nvSpPr>
          <p:cNvPr id="24" name="Text 21"/>
          <p:cNvSpPr/>
          <p:nvPr/>
        </p:nvSpPr>
        <p:spPr>
          <a:xfrm>
            <a:off x="640080" y="3639312"/>
            <a:ext cx="2423160" cy="420624"/>
          </a:xfrm>
          <a:prstGeom prst="rect">
            <a:avLst/>
          </a:prstGeom>
          <a:noFill/>
          <a:ln/>
        </p:spPr>
        <p:txBody>
          <a:bodyPr wrap="square" lIns="0" tIns="0" rIns="0" bIns="0" rtlCol="0" anchor="ctr"/>
          <a:lstStyle/>
          <a:p>
            <a:pPr algn="ctr" indent="0" marL="0">
              <a:buNone/>
            </a:pPr>
            <a:r>
              <a:rPr lang="en-US" sz="1050" b="1" dirty="0">
                <a:solidFill>
                  <a:srgbClr val="1F2A3D"/>
                </a:solidFill>
                <a:latin typeface="Calibri" pitchFamily="34" charset="0"/>
                <a:ea typeface="Calibri" pitchFamily="34" charset="-122"/>
                <a:cs typeface="Calibri" pitchFamily="34" charset="-120"/>
              </a:rPr>
              <a:t>transcript parser</a:t>
            </a:r>
            <a:endParaRPr lang="en-US" sz="1050" dirty="0"/>
          </a:p>
        </p:txBody>
      </p:sp>
      <p:sp>
        <p:nvSpPr>
          <p:cNvPr id="25" name="Shape 22"/>
          <p:cNvSpPr/>
          <p:nvPr/>
        </p:nvSpPr>
        <p:spPr>
          <a:xfrm>
            <a:off x="3172968" y="3849624"/>
            <a:ext cx="210312" cy="0"/>
          </a:xfrm>
          <a:prstGeom prst="line">
            <a:avLst/>
          </a:prstGeom>
          <a:noFill/>
          <a:ln w="19050">
            <a:solidFill>
              <a:srgbClr val="5D6B7E"/>
            </a:solidFill>
            <a:prstDash val="solid"/>
            <a:headEnd type="none"/>
            <a:tailEnd type="triangle"/>
          </a:ln>
        </p:spPr>
      </p:sp>
      <p:sp>
        <p:nvSpPr>
          <p:cNvPr id="26" name="Shape 23"/>
          <p:cNvSpPr/>
          <p:nvPr/>
        </p:nvSpPr>
        <p:spPr>
          <a:xfrm>
            <a:off x="3401568" y="3566160"/>
            <a:ext cx="2606040" cy="566928"/>
          </a:xfrm>
          <a:prstGeom prst="roundRect">
            <a:avLst>
              <a:gd name="adj" fmla="val 11290"/>
            </a:avLst>
          </a:prstGeom>
          <a:solidFill>
            <a:srgbClr val="E4EEF6"/>
          </a:solidFill>
          <a:ln/>
        </p:spPr>
      </p:sp>
      <p:sp>
        <p:nvSpPr>
          <p:cNvPr id="27" name="Text 24"/>
          <p:cNvSpPr/>
          <p:nvPr/>
        </p:nvSpPr>
        <p:spPr>
          <a:xfrm>
            <a:off x="3493008" y="3639312"/>
            <a:ext cx="2423160" cy="420624"/>
          </a:xfrm>
          <a:prstGeom prst="rect">
            <a:avLst/>
          </a:prstGeom>
          <a:noFill/>
          <a:ln/>
        </p:spPr>
        <p:txBody>
          <a:bodyPr wrap="square" lIns="0" tIns="0" rIns="0" bIns="0" rtlCol="0" anchor="ctr"/>
          <a:lstStyle/>
          <a:p>
            <a:pPr algn="ctr" indent="0" marL="0">
              <a:buNone/>
            </a:pPr>
            <a:r>
              <a:rPr lang="en-US" sz="1050" b="1" dirty="0">
                <a:solidFill>
                  <a:srgbClr val="1F2A3D"/>
                </a:solidFill>
                <a:latin typeface="Calibri" pitchFamily="34" charset="0"/>
                <a:ea typeface="Calibri" pitchFamily="34" charset="-122"/>
                <a:cs typeface="Calibri" pitchFamily="34" charset="-120"/>
              </a:rPr>
              <a:t>turn assembler</a:t>
            </a:r>
            <a:endParaRPr lang="en-US" sz="1050" dirty="0"/>
          </a:p>
        </p:txBody>
      </p:sp>
      <p:sp>
        <p:nvSpPr>
          <p:cNvPr id="28" name="Shape 25"/>
          <p:cNvSpPr/>
          <p:nvPr/>
        </p:nvSpPr>
        <p:spPr>
          <a:xfrm>
            <a:off x="6025896" y="3849624"/>
            <a:ext cx="210312" cy="0"/>
          </a:xfrm>
          <a:prstGeom prst="line">
            <a:avLst/>
          </a:prstGeom>
          <a:noFill/>
          <a:ln w="19050">
            <a:solidFill>
              <a:srgbClr val="5D6B7E"/>
            </a:solidFill>
            <a:prstDash val="solid"/>
            <a:headEnd type="none"/>
            <a:tailEnd type="triangle"/>
          </a:ln>
        </p:spPr>
      </p:sp>
      <p:sp>
        <p:nvSpPr>
          <p:cNvPr id="29" name="Shape 26"/>
          <p:cNvSpPr/>
          <p:nvPr/>
        </p:nvSpPr>
        <p:spPr>
          <a:xfrm>
            <a:off x="6254496" y="3566160"/>
            <a:ext cx="2606040" cy="566928"/>
          </a:xfrm>
          <a:prstGeom prst="roundRect">
            <a:avLst>
              <a:gd name="adj" fmla="val 11290"/>
            </a:avLst>
          </a:prstGeom>
          <a:solidFill>
            <a:srgbClr val="E4EEF6"/>
          </a:solidFill>
          <a:ln/>
        </p:spPr>
      </p:sp>
      <p:sp>
        <p:nvSpPr>
          <p:cNvPr id="30" name="Text 27"/>
          <p:cNvSpPr/>
          <p:nvPr/>
        </p:nvSpPr>
        <p:spPr>
          <a:xfrm>
            <a:off x="6345936" y="3639312"/>
            <a:ext cx="2423160" cy="420624"/>
          </a:xfrm>
          <a:prstGeom prst="rect">
            <a:avLst/>
          </a:prstGeom>
          <a:noFill/>
          <a:ln/>
        </p:spPr>
        <p:txBody>
          <a:bodyPr wrap="square" lIns="0" tIns="0" rIns="0" bIns="0" rtlCol="0" anchor="ctr"/>
          <a:lstStyle/>
          <a:p>
            <a:pPr algn="ctr" indent="0" marL="0">
              <a:buNone/>
            </a:pPr>
            <a:r>
              <a:rPr lang="en-US" sz="1050" b="1" dirty="0">
                <a:solidFill>
                  <a:srgbClr val="1F2A3D"/>
                </a:solidFill>
                <a:latin typeface="Calibri" pitchFamily="34" charset="0"/>
                <a:ea typeface="Calibri" pitchFamily="34" charset="-122"/>
                <a:cs typeface="Calibri" pitchFamily="34" charset="-120"/>
              </a:rPr>
              <a:t>discriminator-twin labeler</a:t>
            </a:r>
            <a:endParaRPr lang="en-US" sz="1050" dirty="0"/>
          </a:p>
        </p:txBody>
      </p:sp>
      <p:sp>
        <p:nvSpPr>
          <p:cNvPr id="31" name="Shape 28"/>
          <p:cNvSpPr/>
          <p:nvPr/>
        </p:nvSpPr>
        <p:spPr>
          <a:xfrm>
            <a:off x="8878824" y="3849624"/>
            <a:ext cx="210312" cy="0"/>
          </a:xfrm>
          <a:prstGeom prst="line">
            <a:avLst/>
          </a:prstGeom>
          <a:noFill/>
          <a:ln w="19050">
            <a:solidFill>
              <a:srgbClr val="5D6B7E"/>
            </a:solidFill>
            <a:prstDash val="solid"/>
            <a:headEnd type="none"/>
            <a:tailEnd type="triangle"/>
          </a:ln>
        </p:spPr>
      </p:sp>
      <p:sp>
        <p:nvSpPr>
          <p:cNvPr id="32" name="Shape 29"/>
          <p:cNvSpPr/>
          <p:nvPr/>
        </p:nvSpPr>
        <p:spPr>
          <a:xfrm>
            <a:off x="9107424" y="3566160"/>
            <a:ext cx="2606040" cy="566928"/>
          </a:xfrm>
          <a:prstGeom prst="roundRect">
            <a:avLst>
              <a:gd name="adj" fmla="val 11290"/>
            </a:avLst>
          </a:prstGeom>
          <a:solidFill>
            <a:srgbClr val="E4EEF6"/>
          </a:solidFill>
          <a:ln/>
        </p:spPr>
      </p:sp>
      <p:sp>
        <p:nvSpPr>
          <p:cNvPr id="33" name="Text 30"/>
          <p:cNvSpPr/>
          <p:nvPr/>
        </p:nvSpPr>
        <p:spPr>
          <a:xfrm>
            <a:off x="9198864" y="3639312"/>
            <a:ext cx="2423160" cy="420624"/>
          </a:xfrm>
          <a:prstGeom prst="rect">
            <a:avLst/>
          </a:prstGeom>
          <a:noFill/>
          <a:ln/>
        </p:spPr>
        <p:txBody>
          <a:bodyPr wrap="square" lIns="0" tIns="0" rIns="0" bIns="0" rtlCol="0" anchor="ctr"/>
          <a:lstStyle/>
          <a:p>
            <a:pPr algn="ctr" indent="0" marL="0">
              <a:buNone/>
            </a:pPr>
            <a:r>
              <a:rPr lang="en-US" sz="1050" b="1" dirty="0">
                <a:solidFill>
                  <a:srgbClr val="1F2A3D"/>
                </a:solidFill>
                <a:latin typeface="Calibri" pitchFamily="34" charset="0"/>
                <a:ea typeface="Calibri" pitchFamily="34" charset="-122"/>
                <a:cs typeface="Calibri" pitchFamily="34" charset="-120"/>
              </a:rPr>
              <a:t>parquet dataset</a:t>
            </a:r>
            <a:endParaRPr lang="en-US" sz="1050" dirty="0"/>
          </a:p>
        </p:txBody>
      </p:sp>
      <p:sp>
        <p:nvSpPr>
          <p:cNvPr id="34" name="Text 31"/>
          <p:cNvSpPr/>
          <p:nvPr/>
        </p:nvSpPr>
        <p:spPr>
          <a:xfrm>
            <a:off x="548640" y="4343400"/>
            <a:ext cx="11064240" cy="548640"/>
          </a:xfrm>
          <a:prstGeom prst="rect">
            <a:avLst/>
          </a:prstGeom>
          <a:noFill/>
          <a:ln/>
        </p:spPr>
        <p:txBody>
          <a:bodyPr wrap="square" lIns="0" tIns="0" rIns="0" bIns="0" rtlCol="0" anchor="t"/>
          <a:lstStyle/>
          <a:p>
            <a:pPr algn="l" indent="0" marL="0">
              <a:lnSpc>
                <a:spcPct val="112000"/>
              </a:lnSpc>
              <a:buNone/>
            </a:pPr>
            <a:r>
              <a:rPr lang="en-US" sz="1150" b="1" dirty="0">
                <a:solidFill>
                  <a:srgbClr val="1F2A3D"/>
                </a:solidFill>
                <a:latin typeface="Calibri" pitchFamily="34" charset="0"/>
                <a:ea typeface="Calibri" pitchFamily="34" charset="-122"/>
                <a:cs typeface="Calibri" pitchFamily="34" charset="-120"/>
              </a:rPr>
              <a:t>Plus:  </a:t>
            </a:r>
            <a:pPr algn="l" indent="0" marL="0">
              <a:lnSpc>
                <a:spcPct val="112000"/>
              </a:lnSpc>
              <a:buNone/>
            </a:pPr>
            <a:r>
              <a:rPr lang="en-US" sz="1150" dirty="0">
                <a:solidFill>
                  <a:srgbClr val="5D6B7E"/>
                </a:solidFill>
                <a:latin typeface="Calibri" pitchFamily="34" charset="0"/>
                <a:ea typeface="Calibri" pitchFamily="34" charset="-122"/>
                <a:cs typeface="Calibri" pitchFamily="34" charset="-120"/>
              </a:rPr>
              <a:t>scenario fingerprint matchers · metrics report · secrets scanner · transparent wire-capture proxy (one env var routes live sessions through it; the kill switch is unsetting the var).</a:t>
            </a:r>
            <a:endParaRPr lang="en-US" sz="1150" dirty="0"/>
          </a:p>
        </p:txBody>
      </p:sp>
      <p:sp>
        <p:nvSpPr>
          <p:cNvPr id="35" name="Shape 32"/>
          <p:cNvSpPr/>
          <p:nvPr/>
        </p:nvSpPr>
        <p:spPr>
          <a:xfrm>
            <a:off x="548640" y="5120640"/>
            <a:ext cx="11091672" cy="1051560"/>
          </a:xfrm>
          <a:prstGeom prst="roundRect">
            <a:avLst>
              <a:gd name="adj" fmla="val 6087"/>
            </a:avLst>
          </a:prstGeom>
          <a:solidFill>
            <a:srgbClr val="FBEFDC"/>
          </a:solidFill>
          <a:ln/>
          <a:effectLst>
            <a:outerShdw sx="100000" sy="100000" kx="0" ky="0" algn="bl" rotWithShape="0" blurRad="88900" dist="25400" dir="2700000">
              <a:srgbClr val="1F2A3D">
                <a:alpha val="14000"/>
              </a:srgbClr>
            </a:outerShdw>
          </a:effectLst>
        </p:spPr>
      </p:sp>
      <p:sp>
        <p:nvSpPr>
          <p:cNvPr id="36" name="Text 33"/>
          <p:cNvSpPr/>
          <p:nvPr/>
        </p:nvSpPr>
        <p:spPr>
          <a:xfrm>
            <a:off x="822960" y="5303520"/>
            <a:ext cx="10515600" cy="731520"/>
          </a:xfrm>
          <a:prstGeom prst="rect">
            <a:avLst/>
          </a:prstGeom>
          <a:noFill/>
          <a:ln/>
        </p:spPr>
        <p:txBody>
          <a:bodyPr wrap="square" lIns="0" tIns="0" rIns="0" bIns="0" rtlCol="0" anchor="t"/>
          <a:lstStyle/>
          <a:p>
            <a:pPr algn="l" indent="0" marL="0">
              <a:lnSpc>
                <a:spcPct val="112000"/>
              </a:lnSpc>
              <a:buNone/>
            </a:pPr>
            <a:r>
              <a:rPr lang="en-US" sz="1200" b="1" dirty="0">
                <a:solidFill>
                  <a:srgbClr val="1F2A3D"/>
                </a:solidFill>
                <a:latin typeface="Calibri" pitchFamily="34" charset="0"/>
                <a:ea typeface="Calibri" pitchFamily="34" charset="-122"/>
                <a:cs typeface="Calibri" pitchFamily="34" charset="-120"/>
              </a:rPr>
              <a:t>The clock we didn't know we were on:  </a:t>
            </a:r>
            <a:pPr algn="l" indent="0" marL="0">
              <a:lnSpc>
                <a:spcPct val="112000"/>
              </a:lnSpc>
              <a:buNone/>
            </a:pPr>
            <a:r>
              <a:rPr lang="en-US" sz="1150" dirty="0">
                <a:solidFill>
                  <a:srgbClr val="5D6B7E"/>
                </a:solidFill>
                <a:latin typeface="Calibri" pitchFamily="34" charset="0"/>
                <a:ea typeface="Calibri" pitchFamily="34" charset="-122"/>
                <a:cs typeface="Calibri" pitchFamily="34" charset="-120"/>
              </a:rPr>
              <a:t>the harness garbage-collects transcripts after ~30 days. Day one of Phase 0 was an emergency snapshot — 5.5 weeks of history that would otherwise be rolling off disk.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EVIDENCE · PHASE 0 RESULTS</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design survived contact with real data</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5,027 turns · prices: Opus 4.8 $5/$25 · Haiku 4.5 $1/$5 · Fable 5 $10/$50 per MTok · cache 0.1×/1.25×</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394960" cy="914400"/>
        </p:xfrm>
        <a:graphic>
          <a:graphicData uri="http://schemas.openxmlformats.org/drawingml/2006/table">
            <a:tbl>
              <a:tblPr/>
              <a:tblGrid>
                <a:gridCol w="2286000"/>
                <a:gridCol w="1463040"/>
                <a:gridCol w="1645920"/>
              </a:tblGrid>
              <a:tr h="4389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Request kind</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Predicted</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Measured</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438912">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Tool continuations</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70–90%</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1F7A55"/>
                          </a:solidFill>
                          <a:latin typeface="Calibri" pitchFamily="34" charset="0"/>
                          <a:ea typeface="Calibri" pitchFamily="34" charset="-122"/>
                          <a:cs typeface="Calibri" pitchFamily="34" charset="-120"/>
                        </a:rPr>
                        <a:t>73.3%  ✓</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38912">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Harness housekeeping</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5–15%</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1F7A55"/>
                          </a:solidFill>
                          <a:latin typeface="Calibri" pitchFamily="34" charset="0"/>
                          <a:ea typeface="Calibri" pitchFamily="34" charset="-122"/>
                          <a:cs typeface="Calibri" pitchFamily="34" charset="-120"/>
                        </a:rPr>
                        <a:t>10.7%  ✓</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38912">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Genuine user turns</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5–15%</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1F7A55"/>
                          </a:solidFill>
                          <a:latin typeface="Calibri" pitchFamily="34" charset="0"/>
                          <a:ea typeface="Calibri" pitchFamily="34" charset="-122"/>
                          <a:cs typeface="Calibri" pitchFamily="34" charset="-120"/>
                        </a:rPr>
                        <a:t>16.1%  ✓</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bl>
          </a:graphicData>
        </a:graphic>
      </p:graphicFrame>
      <p:sp>
        <p:nvSpPr>
          <p:cNvPr id="8" name="Text 4"/>
          <p:cNvSpPr/>
          <p:nvPr/>
        </p:nvSpPr>
        <p:spPr>
          <a:xfrm>
            <a:off x="594360" y="3429000"/>
            <a:ext cx="530352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the traffic model held — every share inside its predicted band</a:t>
            </a:r>
            <a:endParaRPr lang="en-US" sz="950" dirty="0"/>
          </a:p>
        </p:txBody>
      </p:sp>
      <p:sp>
        <p:nvSpPr>
          <p:cNvPr id="9" name="Shape 5"/>
          <p:cNvSpPr/>
          <p:nvPr/>
        </p:nvSpPr>
        <p:spPr>
          <a:xfrm>
            <a:off x="6263640" y="1554480"/>
            <a:ext cx="5394960" cy="1417320"/>
          </a:xfrm>
          <a:prstGeom prst="roundRect">
            <a:avLst>
              <a:gd name="adj" fmla="val 4516"/>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6"/>
          <p:cNvSpPr/>
          <p:nvPr/>
        </p:nvSpPr>
        <p:spPr>
          <a:xfrm>
            <a:off x="6510528" y="1682496"/>
            <a:ext cx="4937760" cy="292608"/>
          </a:xfrm>
          <a:prstGeom prst="rect">
            <a:avLst/>
          </a:prstGeom>
          <a:noFill/>
          <a:ln/>
        </p:spPr>
        <p:txBody>
          <a:bodyPr wrap="square" lIns="0" tIns="0" rIns="0" bIns="0" rtlCol="0" anchor="t"/>
          <a:lstStyle/>
          <a:p>
            <a:pPr algn="l" indent="0" marL="0">
              <a:buNone/>
            </a:pPr>
            <a:r>
              <a:rPr lang="en-US" sz="1200" b="1" dirty="0">
                <a:solidFill>
                  <a:srgbClr val="1F7A55"/>
                </a:solidFill>
                <a:latin typeface="Calibri" pitchFamily="34" charset="0"/>
                <a:ea typeface="Calibri" pitchFamily="34" charset="-122"/>
                <a:cs typeface="Calibri" pitchFamily="34" charset="-120"/>
              </a:rPr>
              <a:t>10 / 15 scenarios matched real traces</a:t>
            </a:r>
            <a:endParaRPr lang="en-US" sz="1200" dirty="0"/>
          </a:p>
        </p:txBody>
      </p:sp>
      <p:sp>
        <p:nvSpPr>
          <p:cNvPr id="11" name="Text 7"/>
          <p:cNvSpPr/>
          <p:nvPr/>
        </p:nvSpPr>
        <p:spPr>
          <a:xfrm>
            <a:off x="6510528" y="2011680"/>
            <a:ext cx="4937760" cy="91440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edit-failure trip-wires, interrupt-then-rephrase, huge-context easy asks, compaction, subagent spawns, parallel tool calls… 1 falsified (no Codex usage here) · 3 correctly deferred to wire capture</a:t>
            </a:r>
            <a:endParaRPr lang="en-US" sz="1000" dirty="0"/>
          </a:p>
        </p:txBody>
      </p:sp>
      <p:sp>
        <p:nvSpPr>
          <p:cNvPr id="12" name="Shape 8"/>
          <p:cNvSpPr/>
          <p:nvPr/>
        </p:nvSpPr>
        <p:spPr>
          <a:xfrm>
            <a:off x="6263640" y="3127248"/>
            <a:ext cx="5394960" cy="1417320"/>
          </a:xfrm>
          <a:prstGeom prst="roundRect">
            <a:avLst>
              <a:gd name="adj" fmla="val 4516"/>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Text 9"/>
          <p:cNvSpPr/>
          <p:nvPr/>
        </p:nvSpPr>
        <p:spPr>
          <a:xfrm>
            <a:off x="6510528" y="3255264"/>
            <a:ext cx="4937760" cy="292608"/>
          </a:xfrm>
          <a:prstGeom prst="rect">
            <a:avLst/>
          </a:prstGeom>
          <a:noFill/>
          <a:ln/>
        </p:spPr>
        <p:txBody>
          <a:bodyPr wrap="square" lIns="0" tIns="0" rIns="0" bIns="0" rtlCol="0" anchor="t"/>
          <a:lstStyle/>
          <a:p>
            <a:pPr algn="l" indent="0" marL="0">
              <a:buNone/>
            </a:pPr>
            <a:r>
              <a:rPr lang="en-US" sz="1200" b="1" dirty="0">
                <a:solidFill>
                  <a:srgbClr val="1D6FA5"/>
                </a:solidFill>
                <a:latin typeface="Calibri" pitchFamily="34" charset="0"/>
                <a:ea typeface="Calibri" pitchFamily="34" charset="-122"/>
                <a:cs typeface="Calibri" pitchFamily="34" charset="-120"/>
              </a:rPr>
              <a:t>The one “invariant violation” was legal</a:t>
            </a:r>
            <a:endParaRPr lang="en-US" sz="1200" dirty="0"/>
          </a:p>
        </p:txBody>
      </p:sp>
      <p:sp>
        <p:nvSpPr>
          <p:cNvPr id="14" name="Text 10"/>
          <p:cNvSpPr/>
          <p:nvPr/>
        </p:nvSpPr>
        <p:spPr>
          <a:xfrm>
            <a:off x="6510528" y="3584448"/>
            <a:ext cx="4937760" cy="91440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a single turn showed two models — the provider-side Fable 5 → Opus 4.8 fallback. The provider owns protocol consistency; that's the one permitted mid-turn switch.</a:t>
            </a:r>
            <a:endParaRPr lang="en-US" sz="1000" dirty="0"/>
          </a:p>
        </p:txBody>
      </p:sp>
      <p:sp>
        <p:nvSpPr>
          <p:cNvPr id="15" name="Shape 11"/>
          <p:cNvSpPr/>
          <p:nvPr/>
        </p:nvSpPr>
        <p:spPr>
          <a:xfrm>
            <a:off x="6263640" y="4700016"/>
            <a:ext cx="5394960" cy="1417320"/>
          </a:xfrm>
          <a:prstGeom prst="roundRect">
            <a:avLst>
              <a:gd name="adj" fmla="val 4516"/>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6" name="Text 12"/>
          <p:cNvSpPr/>
          <p:nvPr/>
        </p:nvSpPr>
        <p:spPr>
          <a:xfrm>
            <a:off x="6510528" y="4828032"/>
            <a:ext cx="4937760" cy="292608"/>
          </a:xfrm>
          <a:prstGeom prst="rect">
            <a:avLst/>
          </a:prstGeom>
          <a:noFill/>
          <a:ln/>
        </p:spPr>
        <p:txBody>
          <a:bodyPr wrap="square" lIns="0" tIns="0" rIns="0" bIns="0" rtlCol="0" anchor="t"/>
          <a:lstStyle/>
          <a:p>
            <a:pPr algn="l" indent="0" marL="0">
              <a:buNone/>
            </a:pPr>
            <a:r>
              <a:rPr lang="en-US" sz="1200" b="1" dirty="0">
                <a:solidFill>
                  <a:srgbClr val="B3261E"/>
                </a:solidFill>
                <a:latin typeface="Calibri" pitchFamily="34" charset="0"/>
                <a:ea typeface="Calibri" pitchFamily="34" charset="-122"/>
                <a:cs typeface="Calibri" pitchFamily="34" charset="-120"/>
              </a:rPr>
              <a:t>Privacy is real, not theoretical</a:t>
            </a:r>
            <a:endParaRPr lang="en-US" sz="1200" dirty="0"/>
          </a:p>
        </p:txBody>
      </p:sp>
      <p:sp>
        <p:nvSpPr>
          <p:cNvPr id="17" name="Text 13"/>
          <p:cNvSpPr/>
          <p:nvPr/>
        </p:nvSpPr>
        <p:spPr>
          <a:xfrm>
            <a:off x="6510528" y="5157216"/>
            <a:ext cx="4937760" cy="91440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7 sessions carried credentials in tool results (212 env-var secrets, 169 connection strings) — all would have been pinned.</a:t>
            </a:r>
            <a:endParaRPr lang="en-US" sz="1000" dirty="0"/>
          </a:p>
        </p:txBody>
      </p:sp>
      <p:sp>
        <p:nvSpPr>
          <p:cNvPr id="18" name="Shape 14"/>
          <p:cNvSpPr/>
          <p:nvPr/>
        </p:nvSpPr>
        <p:spPr>
          <a:xfrm>
            <a:off x="548640" y="3931920"/>
            <a:ext cx="5394960" cy="2194560"/>
          </a:xfrm>
          <a:prstGeom prst="roundRect">
            <a:avLst>
              <a:gd name="adj" fmla="val 2917"/>
            </a:avLst>
          </a:prstGeom>
          <a:solidFill>
            <a:srgbClr val="15223A"/>
          </a:solidFill>
          <a:ln/>
          <a:effectLst>
            <a:outerShdw sx="100000" sy="100000" kx="0" ky="0" algn="bl" rotWithShape="0" blurRad="88900" dist="25400" dir="2700000">
              <a:srgbClr val="1F2A3D">
                <a:alpha val="14000"/>
              </a:srgbClr>
            </a:outerShdw>
          </a:effectLst>
        </p:spPr>
      </p:sp>
      <p:sp>
        <p:nvSpPr>
          <p:cNvPr id="19" name="Text 15"/>
          <p:cNvSpPr/>
          <p:nvPr/>
        </p:nvSpPr>
        <p:spPr>
          <a:xfrm>
            <a:off x="822960" y="4133088"/>
            <a:ext cx="4846320" cy="274320"/>
          </a:xfrm>
          <a:prstGeom prst="rect">
            <a:avLst/>
          </a:prstGeom>
          <a:noFill/>
          <a:ln/>
        </p:spPr>
        <p:txBody>
          <a:bodyPr wrap="square" lIns="0" tIns="0" rIns="0" bIns="0" rtlCol="0" anchor="t"/>
          <a:lstStyle/>
          <a:p>
            <a:pPr algn="l" indent="0" marL="0">
              <a:buNone/>
            </a:pPr>
            <a:r>
              <a:rPr lang="en-US" sz="1200" b="1" dirty="0">
                <a:solidFill>
                  <a:srgbClr val="9FB0C7"/>
                </a:solidFill>
                <a:latin typeface="Calibri" pitchFamily="34" charset="0"/>
                <a:ea typeface="Calibri" pitchFamily="34" charset="-122"/>
                <a:cs typeface="Calibri" pitchFamily="34" charset="-120"/>
              </a:rPr>
              <a:t>The economics baseline</a:t>
            </a:r>
            <a:endParaRPr lang="en-US" sz="1200" dirty="0"/>
          </a:p>
        </p:txBody>
      </p:sp>
      <p:sp>
        <p:nvSpPr>
          <p:cNvPr id="20" name="Text 16"/>
          <p:cNvSpPr/>
          <p:nvPr/>
        </p:nvSpPr>
        <p:spPr>
          <a:xfrm>
            <a:off x="822960" y="4462272"/>
            <a:ext cx="4846320" cy="59436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$3,313 → $2,941</a:t>
            </a:r>
            <a:endParaRPr lang="en-US" sz="3000" dirty="0"/>
          </a:p>
        </p:txBody>
      </p:sp>
      <p:sp>
        <p:nvSpPr>
          <p:cNvPr id="21" name="Text 17"/>
          <p:cNvSpPr/>
          <p:nvPr/>
        </p:nvSpPr>
        <p:spPr>
          <a:xfrm>
            <a:off x="822960" y="5120640"/>
            <a:ext cx="4846320" cy="868680"/>
          </a:xfrm>
          <a:prstGeom prst="rect">
            <a:avLst/>
          </a:prstGeom>
          <a:noFill/>
          <a:ln/>
        </p:spPr>
        <p:txBody>
          <a:bodyPr wrap="square" lIns="0" tIns="0" rIns="0" bIns="0" rtlCol="0" anchor="t"/>
          <a:lstStyle/>
          <a:p>
            <a:pPr algn="l" indent="0" marL="0">
              <a:lnSpc>
                <a:spcPct val="115000"/>
              </a:lnSpc>
              <a:buNone/>
            </a:pPr>
            <a:r>
              <a:rPr lang="en-US" sz="1050" dirty="0">
                <a:solidFill>
                  <a:srgbClr val="9FB0C7"/>
                </a:solidFill>
                <a:latin typeface="Calibri" pitchFamily="34" charset="0"/>
                <a:ea typeface="Calibri" pitchFamily="34" charset="-122"/>
                <a:cs typeface="Calibri" pitchFamily="34" charset="-120"/>
              </a:rPr>
              <a:t>observed spend in the window → re-priced entirely at Opus 4.8: the best-single-model baseline any learned router must beat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EVIDENCE · THE STRATEGIC FINDING</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45% of the turns, 4% of the money</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Phase 0 report — turn-count share vs dollar share</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13</a:t>
            </a:r>
            <a:endParaRPr lang="en-US" sz="900" dirty="0"/>
          </a:p>
        </p:txBody>
      </p:sp>
      <p:sp>
        <p:nvSpPr>
          <p:cNvPr id="7" name="Text 4"/>
          <p:cNvSpPr/>
          <p:nvPr/>
        </p:nvSpPr>
        <p:spPr>
          <a:xfrm>
            <a:off x="548640" y="1600200"/>
            <a:ext cx="5120640" cy="274320"/>
          </a:xfrm>
          <a:prstGeom prst="rect">
            <a:avLst/>
          </a:prstGeom>
          <a:noFill/>
          <a:ln/>
        </p:spPr>
        <p:txBody>
          <a:bodyPr wrap="square" lIns="0" tIns="0" rIns="0" bIns="0" rtlCol="0" anchor="t"/>
          <a:lstStyle/>
          <a:p>
            <a:pPr algn="l" indent="0" marL="0">
              <a:buNone/>
            </a:pPr>
            <a:r>
              <a:rPr lang="en-US" sz="1100" b="1" dirty="0">
                <a:solidFill>
                  <a:srgbClr val="1F2A3D"/>
                </a:solidFill>
                <a:latin typeface="Calibri" pitchFamily="34" charset="0"/>
                <a:ea typeface="Calibri" pitchFamily="34" charset="-122"/>
                <a:cs typeface="Calibri" pitchFamily="34" charset="-120"/>
              </a:rPr>
              <a:t>share of user turns marked local-routable</a:t>
            </a:r>
            <a:endParaRPr lang="en-US" sz="1100" dirty="0"/>
          </a:p>
        </p:txBody>
      </p:sp>
      <p:sp>
        <p:nvSpPr>
          <p:cNvPr id="8" name="Shape 5"/>
          <p:cNvSpPr/>
          <p:nvPr/>
        </p:nvSpPr>
        <p:spPr>
          <a:xfrm>
            <a:off x="548640" y="1920240"/>
            <a:ext cx="10058400" cy="566928"/>
          </a:xfrm>
          <a:prstGeom prst="roundRect">
            <a:avLst>
              <a:gd name="adj" fmla="val 11290"/>
            </a:avLst>
          </a:prstGeom>
          <a:solidFill>
            <a:srgbClr val="EAF0F5"/>
          </a:solidFill>
          <a:ln/>
        </p:spPr>
      </p:sp>
      <p:sp>
        <p:nvSpPr>
          <p:cNvPr id="9" name="Shape 6"/>
          <p:cNvSpPr/>
          <p:nvPr/>
        </p:nvSpPr>
        <p:spPr>
          <a:xfrm>
            <a:off x="548640" y="1920240"/>
            <a:ext cx="4576572" cy="566928"/>
          </a:xfrm>
          <a:prstGeom prst="roundRect">
            <a:avLst>
              <a:gd name="adj" fmla="val 11290"/>
            </a:avLst>
          </a:prstGeom>
          <a:solidFill>
            <a:srgbClr val="1F7A55"/>
          </a:solidFill>
          <a:ln/>
        </p:spPr>
      </p:sp>
      <p:sp>
        <p:nvSpPr>
          <p:cNvPr id="10" name="Text 7"/>
          <p:cNvSpPr/>
          <p:nvPr/>
        </p:nvSpPr>
        <p:spPr>
          <a:xfrm>
            <a:off x="5262372" y="1975104"/>
            <a:ext cx="1280160" cy="457200"/>
          </a:xfrm>
          <a:prstGeom prst="rect">
            <a:avLst/>
          </a:prstGeom>
          <a:noFill/>
          <a:ln/>
        </p:spPr>
        <p:txBody>
          <a:bodyPr wrap="square" lIns="0" tIns="0" rIns="0" bIns="0" rtlCol="0" anchor="ctr"/>
          <a:lstStyle/>
          <a:p>
            <a:pPr algn="l" indent="0" marL="0">
              <a:buNone/>
            </a:pPr>
            <a:r>
              <a:rPr lang="en-US" sz="1600" b="1" dirty="0">
                <a:solidFill>
                  <a:srgbClr val="1F7A55"/>
                </a:solidFill>
                <a:latin typeface="Calibri" pitchFamily="34" charset="0"/>
                <a:ea typeface="Calibri" pitchFamily="34" charset="-122"/>
                <a:cs typeface="Calibri" pitchFamily="34" charset="-120"/>
              </a:rPr>
              <a:t>45.5%</a:t>
            </a:r>
            <a:endParaRPr lang="en-US" sz="1600" dirty="0"/>
          </a:p>
        </p:txBody>
      </p:sp>
      <p:sp>
        <p:nvSpPr>
          <p:cNvPr id="11" name="Text 8"/>
          <p:cNvSpPr/>
          <p:nvPr/>
        </p:nvSpPr>
        <p:spPr>
          <a:xfrm>
            <a:off x="548640" y="2743200"/>
            <a:ext cx="5120640" cy="274320"/>
          </a:xfrm>
          <a:prstGeom prst="rect">
            <a:avLst/>
          </a:prstGeom>
          <a:noFill/>
          <a:ln/>
        </p:spPr>
        <p:txBody>
          <a:bodyPr wrap="square" lIns="0" tIns="0" rIns="0" bIns="0" rtlCol="0" anchor="t"/>
          <a:lstStyle/>
          <a:p>
            <a:pPr algn="l" indent="0" marL="0">
              <a:buNone/>
            </a:pPr>
            <a:r>
              <a:rPr lang="en-US" sz="1100" b="1" dirty="0">
                <a:solidFill>
                  <a:srgbClr val="1F2A3D"/>
                </a:solidFill>
                <a:latin typeface="Calibri" pitchFamily="34" charset="0"/>
                <a:ea typeface="Calibri" pitchFamily="34" charset="-122"/>
                <a:cs typeface="Calibri" pitchFamily="34" charset="-120"/>
              </a:rPr>
              <a:t>share of baseline spend those turns represent</a:t>
            </a:r>
            <a:endParaRPr lang="en-US" sz="1100" dirty="0"/>
          </a:p>
        </p:txBody>
      </p:sp>
      <p:sp>
        <p:nvSpPr>
          <p:cNvPr id="12" name="Shape 9"/>
          <p:cNvSpPr/>
          <p:nvPr/>
        </p:nvSpPr>
        <p:spPr>
          <a:xfrm>
            <a:off x="548640" y="3063240"/>
            <a:ext cx="10058400" cy="566928"/>
          </a:xfrm>
          <a:prstGeom prst="roundRect">
            <a:avLst>
              <a:gd name="adj" fmla="val 11290"/>
            </a:avLst>
          </a:prstGeom>
          <a:solidFill>
            <a:srgbClr val="EAF0F5"/>
          </a:solidFill>
          <a:ln/>
        </p:spPr>
      </p:sp>
      <p:sp>
        <p:nvSpPr>
          <p:cNvPr id="13" name="Shape 10"/>
          <p:cNvSpPr/>
          <p:nvPr/>
        </p:nvSpPr>
        <p:spPr>
          <a:xfrm>
            <a:off x="548640" y="3063240"/>
            <a:ext cx="384048" cy="566928"/>
          </a:xfrm>
          <a:prstGeom prst="roundRect">
            <a:avLst>
              <a:gd name="adj" fmla="val 16667"/>
            </a:avLst>
          </a:prstGeom>
          <a:solidFill>
            <a:srgbClr val="B3261E"/>
          </a:solidFill>
          <a:ln/>
        </p:spPr>
      </p:sp>
      <p:sp>
        <p:nvSpPr>
          <p:cNvPr id="14" name="Text 11"/>
          <p:cNvSpPr/>
          <p:nvPr/>
        </p:nvSpPr>
        <p:spPr>
          <a:xfrm>
            <a:off x="1115568" y="3118104"/>
            <a:ext cx="4114800" cy="457200"/>
          </a:xfrm>
          <a:prstGeom prst="rect">
            <a:avLst/>
          </a:prstGeom>
          <a:noFill/>
          <a:ln/>
        </p:spPr>
        <p:txBody>
          <a:bodyPr wrap="square" lIns="0" tIns="0" rIns="0" bIns="0" rtlCol="0" anchor="ctr"/>
          <a:lstStyle/>
          <a:p>
            <a:pPr algn="l" indent="0" marL="0">
              <a:buNone/>
            </a:pPr>
            <a:r>
              <a:rPr lang="en-US" sz="1600" b="1" dirty="0">
                <a:solidFill>
                  <a:srgbClr val="B3261E"/>
                </a:solidFill>
                <a:latin typeface="Calibri" pitchFamily="34" charset="0"/>
                <a:ea typeface="Calibri" pitchFamily="34" charset="-122"/>
                <a:cs typeface="Calibri" pitchFamily="34" charset="-120"/>
              </a:rPr>
              <a:t>3.7%  ·  $108 of $2,941</a:t>
            </a:r>
            <a:endParaRPr lang="en-US" sz="1600" dirty="0"/>
          </a:p>
        </p:txBody>
      </p:sp>
      <p:sp>
        <p:nvSpPr>
          <p:cNvPr id="15" name="Shape 12"/>
          <p:cNvSpPr/>
          <p:nvPr/>
        </p:nvSpPr>
        <p:spPr>
          <a:xfrm>
            <a:off x="548640" y="4069080"/>
            <a:ext cx="5422392" cy="2057400"/>
          </a:xfrm>
          <a:prstGeom prst="roundRect">
            <a:avLst>
              <a:gd name="adj" fmla="val 3111"/>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6" name="Text 13"/>
          <p:cNvSpPr/>
          <p:nvPr/>
        </p:nvSpPr>
        <p:spPr>
          <a:xfrm>
            <a:off x="822960" y="4251960"/>
            <a:ext cx="4846320"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Where the volume actually is</a:t>
            </a:r>
            <a:endParaRPr lang="en-US" sz="1250" dirty="0"/>
          </a:p>
        </p:txBody>
      </p:sp>
      <p:sp>
        <p:nvSpPr>
          <p:cNvPr id="17" name="Text 14"/>
          <p:cNvSpPr/>
          <p:nvPr/>
        </p:nvSpPr>
        <p:spPr>
          <a:xfrm>
            <a:off x="822960" y="4617720"/>
            <a:ext cx="4846320" cy="1371600"/>
          </a:xfrm>
          <a:prstGeom prst="rect">
            <a:avLst/>
          </a:prstGeom>
          <a:noFill/>
          <a:ln/>
        </p:spPr>
        <p:txBody>
          <a:bodyPr wrap="square" lIns="0" tIns="0" rIns="0" bIns="0" rtlCol="0" anchor="t"/>
          <a:lstStyle/>
          <a:p>
            <a:pPr algn="l" indent="0" marL="0">
              <a:lnSpc>
                <a:spcPct val="115000"/>
              </a:lnSpc>
              <a:buNone/>
            </a:pPr>
            <a:r>
              <a:rPr lang="en-US" sz="2000" b="1" dirty="0">
                <a:solidFill>
                  <a:srgbClr val="5B21B6"/>
                </a:solidFill>
                <a:latin typeface="Cambria" pitchFamily="34" charset="0"/>
                <a:ea typeface="Cambria" pitchFamily="34" charset="-122"/>
                <a:cs typeface="Cambria" pitchFamily="34" charset="-120"/>
              </a:rPr>
              <a:t>3,773</a:t>
            </a:r>
            <a:pPr algn="l" indent="0" marL="0">
              <a:lnSpc>
                <a:spcPct val="115000"/>
              </a:lnSpc>
              <a:buNone/>
            </a:pPr>
            <a:r>
              <a:rPr lang="en-US" sz="1150" dirty="0">
                <a:solidFill>
                  <a:srgbClr val="5D6B7E"/>
                </a:solidFill>
                <a:latin typeface="Calibri" pitchFamily="34" charset="0"/>
                <a:ea typeface="Calibri" pitchFamily="34" charset="-122"/>
                <a:cs typeface="Calibri" pitchFamily="34" charset="-120"/>
              </a:rPr>
              <a:t>  subagent turns · 27,116 tool continuations</a:t>
            </a:r>
            <a:endParaRPr lang="en-US" sz="2000" dirty="0"/>
          </a:p>
          <a:p>
            <a:pPr algn="l" indent="0" marL="0">
              <a:lnSpc>
                <a:spcPct val="115000"/>
              </a:lnSpc>
              <a:buNone/>
            </a:pPr>
            <a:r>
              <a:rPr lang="en-US" sz="700" dirty="0">
                <a:solidFill>
                  <a:srgbClr val="1F2A3D"/>
                </a:solidFill>
                <a:latin typeface="Calibri" pitchFamily="34" charset="0"/>
                <a:ea typeface="Calibri" pitchFamily="34" charset="-122"/>
                <a:cs typeface="Calibri" pitchFamily="34" charset="-120"/>
              </a:rPr>
              <a:t> </a:t>
            </a:r>
            <a:endParaRPr lang="en-US" sz="2000" dirty="0"/>
          </a:p>
          <a:p>
            <a:pPr algn="l" indent="0" marL="0">
              <a:lnSpc>
                <a:spcPct val="115000"/>
              </a:lnSpc>
              <a:buNone/>
            </a:pPr>
            <a:r>
              <a:rPr lang="en-US" sz="2000" b="1" dirty="0">
                <a:solidFill>
                  <a:srgbClr val="5D6B7E"/>
                </a:solidFill>
                <a:latin typeface="Cambria" pitchFamily="34" charset="0"/>
                <a:ea typeface="Cambria" pitchFamily="34" charset="-122"/>
                <a:cs typeface="Cambria" pitchFamily="34" charset="-120"/>
              </a:rPr>
              <a:t>1,254</a:t>
            </a:r>
            <a:pPr algn="l" indent="0" marL="0">
              <a:lnSpc>
                <a:spcPct val="115000"/>
              </a:lnSpc>
              <a:buNone/>
            </a:pPr>
            <a:r>
              <a:rPr lang="en-US" sz="1150" dirty="0">
                <a:solidFill>
                  <a:srgbClr val="5D6B7E"/>
                </a:solidFill>
                <a:latin typeface="Calibri" pitchFamily="34" charset="0"/>
                <a:ea typeface="Calibri" pitchFamily="34" charset="-122"/>
                <a:cs typeface="Calibri" pitchFamily="34" charset="-120"/>
              </a:rPr>
              <a:t>  main-session turns</a:t>
            </a:r>
            <a:endParaRPr lang="en-US" sz="2000" dirty="0"/>
          </a:p>
        </p:txBody>
      </p:sp>
      <p:sp>
        <p:nvSpPr>
          <p:cNvPr id="18" name="Shape 15"/>
          <p:cNvSpPr/>
          <p:nvPr/>
        </p:nvSpPr>
        <p:spPr>
          <a:xfrm>
            <a:off x="6217920" y="4069080"/>
            <a:ext cx="5422392" cy="2057400"/>
          </a:xfrm>
          <a:prstGeom prst="roundRect">
            <a:avLst>
              <a:gd name="adj" fmla="val 3111"/>
            </a:avLst>
          </a:prstGeom>
          <a:solidFill>
            <a:srgbClr val="ECE5F8"/>
          </a:solidFill>
          <a:ln/>
          <a:effectLst>
            <a:outerShdw sx="100000" sy="100000" kx="0" ky="0" algn="bl" rotWithShape="0" blurRad="88900" dist="25400" dir="2700000">
              <a:srgbClr val="1F2A3D">
                <a:alpha val="14000"/>
              </a:srgbClr>
            </a:outerShdw>
          </a:effectLst>
        </p:spPr>
      </p:sp>
      <p:sp>
        <p:nvSpPr>
          <p:cNvPr id="19" name="Text 16"/>
          <p:cNvSpPr/>
          <p:nvPr/>
        </p:nvSpPr>
        <p:spPr>
          <a:xfrm>
            <a:off x="6473952" y="4251960"/>
            <a:ext cx="4937760" cy="292608"/>
          </a:xfrm>
          <a:prstGeom prst="rect">
            <a:avLst/>
          </a:prstGeom>
          <a:noFill/>
          <a:ln/>
        </p:spPr>
        <p:txBody>
          <a:bodyPr wrap="square" lIns="0" tIns="0" rIns="0" bIns="0" rtlCol="0" anchor="t"/>
          <a:lstStyle/>
          <a:p>
            <a:pPr algn="l" indent="0" marL="0">
              <a:buNone/>
            </a:pPr>
            <a:r>
              <a:rPr lang="en-US" sz="1250" b="1" dirty="0">
                <a:solidFill>
                  <a:srgbClr val="5B21B6"/>
                </a:solidFill>
                <a:latin typeface="Calibri" pitchFamily="34" charset="0"/>
                <a:ea typeface="Calibri" pitchFamily="34" charset="-122"/>
                <a:cs typeface="Calibri" pitchFamily="34" charset="-120"/>
              </a:rPr>
              <a:t>The implication</a:t>
            </a:r>
            <a:endParaRPr lang="en-US" sz="1250" dirty="0"/>
          </a:p>
        </p:txBody>
      </p:sp>
      <p:sp>
        <p:nvSpPr>
          <p:cNvPr id="20" name="Text 17"/>
          <p:cNvSpPr/>
          <p:nvPr/>
        </p:nvSpPr>
        <p:spPr>
          <a:xfrm>
            <a:off x="6473952" y="4590288"/>
            <a:ext cx="4937760" cy="1005840"/>
          </a:xfrm>
          <a:prstGeom prst="rect">
            <a:avLst/>
          </a:prstGeom>
          <a:noFill/>
          <a:ln/>
        </p:spPr>
        <p:txBody>
          <a:bodyPr wrap="square" lIns="0" tIns="0" rIns="0" bIns="0" rtlCol="0" anchor="t"/>
          <a:lstStyle/>
          <a:p>
            <a:pPr algn="l" indent="0" marL="0">
              <a:lnSpc>
                <a:spcPct val="115000"/>
              </a:lnSpc>
              <a:buNone/>
            </a:pPr>
            <a:r>
              <a:rPr lang="en-US" sz="1150" dirty="0">
                <a:solidFill>
                  <a:srgbClr val="1F2A3D"/>
                </a:solidFill>
                <a:latin typeface="Calibri" pitchFamily="34" charset="0"/>
                <a:ea typeface="Calibri" pitchFamily="34" charset="-122"/>
                <a:cs typeface="Calibri" pitchFamily="34" charset="-120"/>
              </a:rPr>
              <a:t>The biggest lever isn't routing easy user turns to a local model. It's the hybrid pattern: the frontier model does the thinking and delegates bounded grunt work — small context, clear goal, read-only — to a free local model.</a:t>
            </a:r>
            <a:endParaRPr lang="en-US" sz="1150" dirty="0"/>
          </a:p>
        </p:txBody>
      </p:sp>
      <p:sp>
        <p:nvSpPr>
          <p:cNvPr id="21" name="Text 18"/>
          <p:cNvSpPr/>
          <p:nvPr/>
        </p:nvSpPr>
        <p:spPr>
          <a:xfrm>
            <a:off x="6473952" y="5669280"/>
            <a:ext cx="4937760" cy="36576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Inverts Phase 1 priorities · matches the industry's small-models-for-agents thesis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EVIDENCE · READ THE FINE PRINT</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What this data can and cannot say</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Phase 0 report — methodology notes</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548640" y="1554480"/>
            <a:ext cx="5422392" cy="2103120"/>
          </a:xfrm>
          <a:prstGeom prst="roundRect">
            <a:avLst>
              <a:gd name="adj" fmla="val 304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786384" y="1792224"/>
            <a:ext cx="457200" cy="457200"/>
          </a:xfrm>
          <a:prstGeom prst="ellipse">
            <a:avLst/>
          </a:prstGeom>
          <a:solidFill>
            <a:srgbClr val="5D6B7E"/>
          </a:solidFill>
          <a:ln/>
        </p:spPr>
      </p:sp>
      <p:pic>
        <p:nvPicPr>
          <p:cNvPr id="9" name="Image 0" descr="preencoded.png">    </p:cNvPr>
          <p:cNvPicPr>
            <a:picLocks noChangeAspect="1"/>
          </p:cNvPicPr>
          <p:nvPr/>
        </p:nvPicPr>
        <p:blipFill>
          <a:blip r:embed="rId1"/>
          <a:stretch>
            <a:fillRect/>
          </a:stretch>
        </p:blipFill>
        <p:spPr>
          <a:xfrm>
            <a:off x="905256" y="1911096"/>
            <a:ext cx="219456" cy="219456"/>
          </a:xfrm>
          <a:prstGeom prst="rect">
            <a:avLst/>
          </a:prstGeom>
        </p:spPr>
      </p:pic>
      <p:sp>
        <p:nvSpPr>
          <p:cNvPr id="10" name="Text 6"/>
          <p:cNvSpPr/>
          <p:nvPr/>
        </p:nvSpPr>
        <p:spPr>
          <a:xfrm>
            <a:off x="1389888" y="1847088"/>
            <a:ext cx="4416552" cy="347472"/>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Single-user corpus</a:t>
            </a:r>
            <a:endParaRPr lang="en-US" sz="1350" dirty="0"/>
          </a:p>
        </p:txBody>
      </p:sp>
      <p:sp>
        <p:nvSpPr>
          <p:cNvPr id="11" name="Text 7"/>
          <p:cNvSpPr/>
          <p:nvPr/>
        </p:nvSpPr>
        <p:spPr>
          <a:xfrm>
            <a:off x="786384" y="2423160"/>
            <a:ext cx="4946904" cy="1097280"/>
          </a:xfrm>
          <a:prstGeom prst="rect">
            <a:avLst/>
          </a:prstGeom>
          <a:noFill/>
          <a:ln/>
        </p:spPr>
        <p:txBody>
          <a:bodyPr wrap="square" lIns="0" tIns="0" rIns="0" bIns="0" rtlCol="0" anchor="t"/>
          <a:lstStyle/>
          <a:p>
            <a:pPr algn="l" indent="0" marL="0">
              <a:lnSpc>
                <a:spcPct val="114000"/>
              </a:lnSpc>
              <a:buNone/>
            </a:pPr>
            <a:r>
              <a:rPr lang="en-US" sz="1100" dirty="0">
                <a:solidFill>
                  <a:srgbClr val="5D6B7E"/>
                </a:solidFill>
                <a:latin typeface="Calibri" pitchFamily="34" charset="0"/>
                <a:ea typeface="Calibri" pitchFamily="34" charset="-122"/>
                <a:cs typeface="Calibri" pitchFamily="34" charset="-120"/>
              </a:rPr>
              <a:t>5.5 weeks of one person's traffic, skewed by workflow-heavy usage. Shares will differ per user and team — the miner reruns on anyone's transcripts.</a:t>
            </a:r>
            <a:endParaRPr lang="en-US" sz="1100" dirty="0"/>
          </a:p>
        </p:txBody>
      </p:sp>
      <p:sp>
        <p:nvSpPr>
          <p:cNvPr id="12" name="Shape 8"/>
          <p:cNvSpPr/>
          <p:nvPr/>
        </p:nvSpPr>
        <p:spPr>
          <a:xfrm>
            <a:off x="6217920" y="1554480"/>
            <a:ext cx="5422392" cy="2103120"/>
          </a:xfrm>
          <a:prstGeom prst="roundRect">
            <a:avLst>
              <a:gd name="adj" fmla="val 304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Shape 9"/>
          <p:cNvSpPr/>
          <p:nvPr/>
        </p:nvSpPr>
        <p:spPr>
          <a:xfrm>
            <a:off x="6455664" y="1792224"/>
            <a:ext cx="457200" cy="457200"/>
          </a:xfrm>
          <a:prstGeom prst="ellipse">
            <a:avLst/>
          </a:prstGeom>
          <a:solidFill>
            <a:srgbClr val="5D6B7E"/>
          </a:solidFill>
          <a:ln/>
        </p:spPr>
      </p:sp>
      <p:pic>
        <p:nvPicPr>
          <p:cNvPr id="14" name="Image 1" descr="preencoded.png">    </p:cNvPr>
          <p:cNvPicPr>
            <a:picLocks noChangeAspect="1"/>
          </p:cNvPicPr>
          <p:nvPr/>
        </p:nvPicPr>
        <p:blipFill>
          <a:blip r:embed="rId2"/>
          <a:stretch>
            <a:fillRect/>
          </a:stretch>
        </p:blipFill>
        <p:spPr>
          <a:xfrm>
            <a:off x="6574536" y="1911096"/>
            <a:ext cx="219456" cy="219456"/>
          </a:xfrm>
          <a:prstGeom prst="rect">
            <a:avLst/>
          </a:prstGeom>
        </p:spPr>
      </p:pic>
      <p:sp>
        <p:nvSpPr>
          <p:cNvPr id="15" name="Text 10"/>
          <p:cNvSpPr/>
          <p:nvPr/>
        </p:nvSpPr>
        <p:spPr>
          <a:xfrm>
            <a:off x="7059168" y="1847088"/>
            <a:ext cx="4416552" cy="347472"/>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Transcript counts are lower bounds</a:t>
            </a:r>
            <a:endParaRPr lang="en-US" sz="1350" dirty="0"/>
          </a:p>
        </p:txBody>
      </p:sp>
      <p:sp>
        <p:nvSpPr>
          <p:cNvPr id="16" name="Text 11"/>
          <p:cNvSpPr/>
          <p:nvPr/>
        </p:nvSpPr>
        <p:spPr>
          <a:xfrm>
            <a:off x="6455664" y="2423160"/>
            <a:ext cx="4946904" cy="1097280"/>
          </a:xfrm>
          <a:prstGeom prst="rect">
            <a:avLst/>
          </a:prstGeom>
          <a:noFill/>
          <a:ln/>
        </p:spPr>
        <p:txBody>
          <a:bodyPr wrap="square" lIns="0" tIns="0" rIns="0" bIns="0" rtlCol="0" anchor="t"/>
          <a:lstStyle/>
          <a:p>
            <a:pPr algn="l" indent="0" marL="0">
              <a:lnSpc>
                <a:spcPct val="114000"/>
              </a:lnSpc>
              <a:buNone/>
            </a:pPr>
            <a:r>
              <a:rPr lang="en-US" sz="1100" dirty="0">
                <a:solidFill>
                  <a:srgbClr val="5D6B7E"/>
                </a:solidFill>
                <a:latin typeface="Calibri" pitchFamily="34" charset="0"/>
                <a:ea typeface="Calibri" pitchFamily="34" charset="-122"/>
                <a:cs typeface="Calibri" pitchFamily="34" charset="-120"/>
              </a:rPr>
              <a:t>Sidecar/housekeeping calls don't all reach the transcript. The wire-capture proxy (already running) sees the true request stream.</a:t>
            </a:r>
            <a:endParaRPr lang="en-US" sz="1100" dirty="0"/>
          </a:p>
        </p:txBody>
      </p:sp>
      <p:sp>
        <p:nvSpPr>
          <p:cNvPr id="17" name="Shape 12"/>
          <p:cNvSpPr/>
          <p:nvPr/>
        </p:nvSpPr>
        <p:spPr>
          <a:xfrm>
            <a:off x="548640" y="3886200"/>
            <a:ext cx="5422392" cy="2103120"/>
          </a:xfrm>
          <a:prstGeom prst="roundRect">
            <a:avLst>
              <a:gd name="adj" fmla="val 304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8" name="Shape 13"/>
          <p:cNvSpPr/>
          <p:nvPr/>
        </p:nvSpPr>
        <p:spPr>
          <a:xfrm>
            <a:off x="786384" y="4123944"/>
            <a:ext cx="457200" cy="457200"/>
          </a:xfrm>
          <a:prstGeom prst="ellipse">
            <a:avLst/>
          </a:prstGeom>
          <a:solidFill>
            <a:srgbClr val="5D6B7E"/>
          </a:solidFill>
          <a:ln/>
        </p:spPr>
      </p:sp>
      <p:pic>
        <p:nvPicPr>
          <p:cNvPr id="19" name="Image 2" descr="preencoded.png">    </p:cNvPr>
          <p:cNvPicPr>
            <a:picLocks noChangeAspect="1"/>
          </p:cNvPicPr>
          <p:nvPr/>
        </p:nvPicPr>
        <p:blipFill>
          <a:blip r:embed="rId3"/>
          <a:stretch>
            <a:fillRect/>
          </a:stretch>
        </p:blipFill>
        <p:spPr>
          <a:xfrm>
            <a:off x="905256" y="4242816"/>
            <a:ext cx="219456" cy="219456"/>
          </a:xfrm>
          <a:prstGeom prst="rect">
            <a:avLst/>
          </a:prstGeom>
        </p:spPr>
      </p:pic>
      <p:sp>
        <p:nvSpPr>
          <p:cNvPr id="20" name="Text 14"/>
          <p:cNvSpPr/>
          <p:nvPr/>
        </p:nvSpPr>
        <p:spPr>
          <a:xfrm>
            <a:off x="1389888" y="4178808"/>
            <a:ext cx="4416552" cy="347472"/>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Literature evidence is single-turn</a:t>
            </a:r>
            <a:endParaRPr lang="en-US" sz="1350" dirty="0"/>
          </a:p>
        </p:txBody>
      </p:sp>
      <p:sp>
        <p:nvSpPr>
          <p:cNvPr id="21" name="Text 15"/>
          <p:cNvSpPr/>
          <p:nvPr/>
        </p:nvSpPr>
        <p:spPr>
          <a:xfrm>
            <a:off x="786384" y="4754880"/>
            <a:ext cx="4946904" cy="1097280"/>
          </a:xfrm>
          <a:prstGeom prst="rect">
            <a:avLst/>
          </a:prstGeom>
          <a:noFill/>
          <a:ln/>
        </p:spPr>
        <p:txBody>
          <a:bodyPr wrap="square" lIns="0" tIns="0" rIns="0" bIns="0" rtlCol="0" anchor="t"/>
          <a:lstStyle/>
          <a:p>
            <a:pPr algn="l" indent="0" marL="0">
              <a:lnSpc>
                <a:spcPct val="114000"/>
              </a:lnSpc>
              <a:buNone/>
            </a:pPr>
            <a:r>
              <a:rPr lang="en-US" sz="1100" dirty="0">
                <a:solidFill>
                  <a:srgbClr val="5D6B7E"/>
                </a:solidFill>
                <a:latin typeface="Calibri" pitchFamily="34" charset="0"/>
                <a:ea typeface="Calibri" pitchFamily="34" charset="-122"/>
                <a:cs typeface="Calibri" pitchFamily="34" charset="-120"/>
              </a:rPr>
              <a:t>Published learned-router results aren't from agentic multi-turn traffic. That cuts both ways — hence a hard Phase-3 gate instead of a default yes.</a:t>
            </a:r>
            <a:endParaRPr lang="en-US" sz="1100" dirty="0"/>
          </a:p>
        </p:txBody>
      </p:sp>
      <p:sp>
        <p:nvSpPr>
          <p:cNvPr id="22" name="Shape 16"/>
          <p:cNvSpPr/>
          <p:nvPr/>
        </p:nvSpPr>
        <p:spPr>
          <a:xfrm>
            <a:off x="6217920" y="3886200"/>
            <a:ext cx="5422392" cy="2103120"/>
          </a:xfrm>
          <a:prstGeom prst="roundRect">
            <a:avLst>
              <a:gd name="adj" fmla="val 304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3" name="Shape 17"/>
          <p:cNvSpPr/>
          <p:nvPr/>
        </p:nvSpPr>
        <p:spPr>
          <a:xfrm>
            <a:off x="6455664" y="4123944"/>
            <a:ext cx="457200" cy="457200"/>
          </a:xfrm>
          <a:prstGeom prst="ellipse">
            <a:avLst/>
          </a:prstGeom>
          <a:solidFill>
            <a:srgbClr val="5D6B7E"/>
          </a:solidFill>
          <a:ln/>
        </p:spPr>
      </p:sp>
      <p:pic>
        <p:nvPicPr>
          <p:cNvPr id="24" name="Image 3" descr="preencoded.png">    </p:cNvPr>
          <p:cNvPicPr>
            <a:picLocks noChangeAspect="1"/>
          </p:cNvPicPr>
          <p:nvPr/>
        </p:nvPicPr>
        <p:blipFill>
          <a:blip r:embed="rId4"/>
          <a:stretch>
            <a:fillRect/>
          </a:stretch>
        </p:blipFill>
        <p:spPr>
          <a:xfrm>
            <a:off x="6574536" y="4242816"/>
            <a:ext cx="219456" cy="219456"/>
          </a:xfrm>
          <a:prstGeom prst="rect">
            <a:avLst/>
          </a:prstGeom>
        </p:spPr>
      </p:pic>
      <p:sp>
        <p:nvSpPr>
          <p:cNvPr id="25" name="Text 18"/>
          <p:cNvSpPr/>
          <p:nvPr/>
        </p:nvSpPr>
        <p:spPr>
          <a:xfrm>
            <a:off x="7059168" y="4178808"/>
            <a:ext cx="4416552" cy="347472"/>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Savings are ceilings, not promises</a:t>
            </a:r>
            <a:endParaRPr lang="en-US" sz="1350" dirty="0"/>
          </a:p>
        </p:txBody>
      </p:sp>
      <p:sp>
        <p:nvSpPr>
          <p:cNvPr id="26" name="Text 19"/>
          <p:cNvSpPr/>
          <p:nvPr/>
        </p:nvSpPr>
        <p:spPr>
          <a:xfrm>
            <a:off x="6455664" y="4754880"/>
            <a:ext cx="4946904" cy="1097280"/>
          </a:xfrm>
          <a:prstGeom prst="rect">
            <a:avLst/>
          </a:prstGeom>
          <a:noFill/>
          <a:ln/>
        </p:spPr>
        <p:txBody>
          <a:bodyPr wrap="square" lIns="0" tIns="0" rIns="0" bIns="0" rtlCol="0" anchor="t"/>
          <a:lstStyle/>
          <a:p>
            <a:pPr algn="l" indent="0" marL="0">
              <a:lnSpc>
                <a:spcPct val="114000"/>
              </a:lnSpc>
              <a:buNone/>
            </a:pPr>
            <a:r>
              <a:rPr lang="en-US" sz="1100" dirty="0">
                <a:solidFill>
                  <a:srgbClr val="5D6B7E"/>
                </a:solidFill>
                <a:latin typeface="Calibri" pitchFamily="34" charset="0"/>
                <a:ea typeface="Calibri" pitchFamily="34" charset="-122"/>
                <a:cs typeface="Calibri" pitchFamily="34" charset="-120"/>
              </a:rPr>
              <a:t>Numbers here bound what routing could save. Live routing with trip-wires and retries decides what it does save.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ROADMAP</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Four phases, each with an exit gate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Phase 0 plan · design doc §10</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48640" y="1554480"/>
            <a:ext cx="2651760" cy="3977640"/>
          </a:xfrm>
          <a:prstGeom prst="roundRect">
            <a:avLst>
              <a:gd name="adj" fmla="val 241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548640" y="1554480"/>
            <a:ext cx="2651760" cy="841248"/>
          </a:xfrm>
          <a:prstGeom prst="roundRect">
            <a:avLst>
              <a:gd name="adj" fmla="val 7609"/>
            </a:avLst>
          </a:prstGeom>
          <a:solidFill>
            <a:srgbClr val="E4EEF6"/>
          </a:solidFill>
          <a:ln/>
        </p:spPr>
      </p:sp>
      <p:sp>
        <p:nvSpPr>
          <p:cNvPr id="9" name="Text 6"/>
          <p:cNvSpPr/>
          <p:nvPr/>
        </p:nvSpPr>
        <p:spPr>
          <a:xfrm>
            <a:off x="749808" y="1682496"/>
            <a:ext cx="2249424" cy="237744"/>
          </a:xfrm>
          <a:prstGeom prst="rect">
            <a:avLst/>
          </a:prstGeom>
          <a:noFill/>
          <a:ln/>
        </p:spPr>
        <p:txBody>
          <a:bodyPr wrap="square" lIns="0" tIns="0" rIns="0" bIns="0" rtlCol="0" anchor="t"/>
          <a:lstStyle/>
          <a:p>
            <a:pPr algn="l" indent="0" marL="0">
              <a:buNone/>
            </a:pPr>
            <a:r>
              <a:rPr lang="en-US" sz="1000" b="1" spc="200" kern="0" dirty="0">
                <a:solidFill>
                  <a:srgbClr val="1D6FA5"/>
                </a:solidFill>
                <a:latin typeface="Calibri" pitchFamily="34" charset="0"/>
                <a:ea typeface="Calibri" pitchFamily="34" charset="-122"/>
                <a:cs typeface="Calibri" pitchFamily="34" charset="-120"/>
              </a:rPr>
              <a:t>PHASE 0</a:t>
            </a:r>
            <a:endParaRPr lang="en-US" sz="1000" dirty="0"/>
          </a:p>
        </p:txBody>
      </p:sp>
      <p:sp>
        <p:nvSpPr>
          <p:cNvPr id="10" name="Text 7"/>
          <p:cNvSpPr/>
          <p:nvPr/>
        </p:nvSpPr>
        <p:spPr>
          <a:xfrm>
            <a:off x="749808" y="1920240"/>
            <a:ext cx="2249424" cy="411480"/>
          </a:xfrm>
          <a:prstGeom prst="rect">
            <a:avLst/>
          </a:prstGeom>
          <a:noFill/>
          <a:ln/>
        </p:spPr>
        <p:txBody>
          <a:bodyPr wrap="square" lIns="0" tIns="0" rIns="0" bIns="0" rtlCol="0" anchor="t"/>
          <a:lstStyle/>
          <a:p>
            <a:pPr algn="l" indent="0" marL="0">
              <a:lnSpc>
                <a:spcPct val="95000"/>
              </a:lnSpc>
              <a:buNone/>
            </a:pPr>
            <a:r>
              <a:rPr lang="en-US" sz="1250" b="1" dirty="0">
                <a:solidFill>
                  <a:srgbClr val="1F2A3D"/>
                </a:solidFill>
                <a:latin typeface="Calibri" pitchFamily="34" charset="0"/>
                <a:ea typeface="Calibri" pitchFamily="34" charset="-122"/>
                <a:cs typeface="Calibri" pitchFamily="34" charset="-120"/>
              </a:rPr>
              <a:t>Shadow (now, ~2 wks)</a:t>
            </a:r>
            <a:endParaRPr lang="en-US" sz="1250" dirty="0"/>
          </a:p>
        </p:txBody>
      </p:sp>
      <p:sp>
        <p:nvSpPr>
          <p:cNvPr id="11" name="Text 8"/>
          <p:cNvSpPr/>
          <p:nvPr/>
        </p:nvSpPr>
        <p:spPr>
          <a:xfrm>
            <a:off x="749808" y="2560320"/>
            <a:ext cx="2249424" cy="1463040"/>
          </a:xfrm>
          <a:prstGeom prst="rect">
            <a:avLst/>
          </a:prstGeom>
          <a:noFill/>
          <a:ln/>
        </p:spPr>
        <p:txBody>
          <a:bodyPr wrap="square" lIns="0" tIns="0" rIns="0" bIns="0" rtlCol="0" anchor="t"/>
          <a:lstStyle/>
          <a:p>
            <a:pPr algn="l" indent="0" marL="0">
              <a:lnSpc>
                <a:spcPct val="112000"/>
              </a:lnSpc>
              <a:buNone/>
            </a:pPr>
            <a:r>
              <a:rPr lang="en-US" sz="1000" dirty="0">
                <a:solidFill>
                  <a:srgbClr val="5D6B7E"/>
                </a:solidFill>
                <a:latin typeface="Calibri" pitchFamily="34" charset="0"/>
                <a:ea typeface="Calibri" pitchFamily="34" charset="-122"/>
                <a:cs typeface="Calibri" pitchFamily="34" charset="-120"/>
              </a:rPr>
              <a:t>Wire capture live on daily traffic. Next: test the 2 flagged assumptions · extract wire fingerprints · shadow discriminator on live turns.</a:t>
            </a:r>
            <a:endParaRPr lang="en-US" sz="1000" dirty="0"/>
          </a:p>
        </p:txBody>
      </p:sp>
      <p:sp>
        <p:nvSpPr>
          <p:cNvPr id="12" name="Text 9"/>
          <p:cNvSpPr/>
          <p:nvPr/>
        </p:nvSpPr>
        <p:spPr>
          <a:xfrm>
            <a:off x="749808" y="4114800"/>
            <a:ext cx="2249424" cy="219456"/>
          </a:xfrm>
          <a:prstGeom prst="rect">
            <a:avLst/>
          </a:prstGeom>
          <a:noFill/>
          <a:ln/>
        </p:spPr>
        <p:txBody>
          <a:bodyPr wrap="square" lIns="0" tIns="0" rIns="0" bIns="0" rtlCol="0" anchor="t"/>
          <a:lstStyle/>
          <a:p>
            <a:pPr algn="l" indent="0" marL="0">
              <a:buNone/>
            </a:pPr>
            <a:r>
              <a:rPr lang="en-US" sz="850" b="1" spc="200" kern="0" dirty="0">
                <a:solidFill>
                  <a:srgbClr val="1D6FA5"/>
                </a:solidFill>
                <a:latin typeface="Calibri" pitchFamily="34" charset="0"/>
                <a:ea typeface="Calibri" pitchFamily="34" charset="-122"/>
                <a:cs typeface="Calibri" pitchFamily="34" charset="-120"/>
              </a:rPr>
              <a:t>EXIT GATE</a:t>
            </a:r>
            <a:endParaRPr lang="en-US" sz="850" dirty="0"/>
          </a:p>
        </p:txBody>
      </p:sp>
      <p:sp>
        <p:nvSpPr>
          <p:cNvPr id="13" name="Text 10"/>
          <p:cNvSpPr/>
          <p:nvPr/>
        </p:nvSpPr>
        <p:spPr>
          <a:xfrm>
            <a:off x="749808" y="4352544"/>
            <a:ext cx="2249424" cy="1051560"/>
          </a:xfrm>
          <a:prstGeom prst="rect">
            <a:avLst/>
          </a:prstGeom>
          <a:noFill/>
          <a:ln/>
        </p:spPr>
        <p:txBody>
          <a:bodyPr wrap="square" lIns="0" tIns="0" rIns="0" bIns="0" rtlCol="0" anchor="t"/>
          <a:lstStyle/>
          <a:p>
            <a:pPr algn="l" indent="0" marL="0">
              <a:lnSpc>
                <a:spcPct val="110000"/>
              </a:lnSpc>
              <a:buNone/>
            </a:pPr>
            <a:r>
              <a:rPr lang="en-US" sz="950" dirty="0">
                <a:solidFill>
                  <a:srgbClr val="1F2A3D"/>
                </a:solidFill>
                <a:latin typeface="Calibri" pitchFamily="34" charset="0"/>
                <a:ea typeface="Calibri" pitchFamily="34" charset="-122"/>
                <a:cs typeface="Calibri" pitchFamily="34" charset="-120"/>
              </a:rPr>
              <a:t>≥200 live turns · &lt;20 ms overhead · assumptions answered</a:t>
            </a:r>
            <a:endParaRPr lang="en-US" sz="950" dirty="0"/>
          </a:p>
        </p:txBody>
      </p:sp>
      <p:sp>
        <p:nvSpPr>
          <p:cNvPr id="14" name="Shape 11"/>
          <p:cNvSpPr/>
          <p:nvPr/>
        </p:nvSpPr>
        <p:spPr>
          <a:xfrm>
            <a:off x="3214116" y="3520440"/>
            <a:ext cx="164592" cy="0"/>
          </a:xfrm>
          <a:prstGeom prst="line">
            <a:avLst/>
          </a:prstGeom>
          <a:noFill/>
          <a:ln w="19050">
            <a:solidFill>
              <a:srgbClr val="5D6B7E"/>
            </a:solidFill>
            <a:prstDash val="solid"/>
            <a:headEnd type="none"/>
            <a:tailEnd type="triangle"/>
          </a:ln>
        </p:spPr>
      </p:sp>
      <p:sp>
        <p:nvSpPr>
          <p:cNvPr id="15" name="Shape 12"/>
          <p:cNvSpPr/>
          <p:nvPr/>
        </p:nvSpPr>
        <p:spPr>
          <a:xfrm>
            <a:off x="3392424" y="1554480"/>
            <a:ext cx="2651760" cy="3977640"/>
          </a:xfrm>
          <a:prstGeom prst="roundRect">
            <a:avLst>
              <a:gd name="adj" fmla="val 241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6" name="Shape 13"/>
          <p:cNvSpPr/>
          <p:nvPr/>
        </p:nvSpPr>
        <p:spPr>
          <a:xfrm>
            <a:off x="3392424" y="1554480"/>
            <a:ext cx="2651760" cy="841248"/>
          </a:xfrm>
          <a:prstGeom prst="roundRect">
            <a:avLst>
              <a:gd name="adj" fmla="val 7609"/>
            </a:avLst>
          </a:prstGeom>
          <a:solidFill>
            <a:srgbClr val="E3F1EA"/>
          </a:solidFill>
          <a:ln/>
        </p:spPr>
      </p:sp>
      <p:sp>
        <p:nvSpPr>
          <p:cNvPr id="17" name="Text 14"/>
          <p:cNvSpPr/>
          <p:nvPr/>
        </p:nvSpPr>
        <p:spPr>
          <a:xfrm>
            <a:off x="3593592" y="1682496"/>
            <a:ext cx="2249424" cy="237744"/>
          </a:xfrm>
          <a:prstGeom prst="rect">
            <a:avLst/>
          </a:prstGeom>
          <a:noFill/>
          <a:ln/>
        </p:spPr>
        <p:txBody>
          <a:bodyPr wrap="square" lIns="0" tIns="0" rIns="0" bIns="0" rtlCol="0" anchor="t"/>
          <a:lstStyle/>
          <a:p>
            <a:pPr algn="l" indent="0" marL="0">
              <a:buNone/>
            </a:pPr>
            <a:r>
              <a:rPr lang="en-US" sz="1000" b="1" spc="200" kern="0" dirty="0">
                <a:solidFill>
                  <a:srgbClr val="1F7A55"/>
                </a:solidFill>
                <a:latin typeface="Calibri" pitchFamily="34" charset="0"/>
                <a:ea typeface="Calibri" pitchFamily="34" charset="-122"/>
                <a:cs typeface="Calibri" pitchFamily="34" charset="-120"/>
              </a:rPr>
              <a:t>PHASE 1</a:t>
            </a:r>
            <a:endParaRPr lang="en-US" sz="1000" dirty="0"/>
          </a:p>
        </p:txBody>
      </p:sp>
      <p:sp>
        <p:nvSpPr>
          <p:cNvPr id="18" name="Text 15"/>
          <p:cNvSpPr/>
          <p:nvPr/>
        </p:nvSpPr>
        <p:spPr>
          <a:xfrm>
            <a:off x="3593592" y="1920240"/>
            <a:ext cx="2249424" cy="411480"/>
          </a:xfrm>
          <a:prstGeom prst="rect">
            <a:avLst/>
          </a:prstGeom>
          <a:noFill/>
          <a:ln/>
        </p:spPr>
        <p:txBody>
          <a:bodyPr wrap="square" lIns="0" tIns="0" rIns="0" bIns="0" rtlCol="0" anchor="t"/>
          <a:lstStyle/>
          <a:p>
            <a:pPr algn="l" indent="0" marL="0">
              <a:lnSpc>
                <a:spcPct val="95000"/>
              </a:lnSpc>
              <a:buNone/>
            </a:pPr>
            <a:r>
              <a:rPr lang="en-US" sz="1250" b="1" dirty="0">
                <a:solidFill>
                  <a:srgbClr val="1F2A3D"/>
                </a:solidFill>
                <a:latin typeface="Calibri" pitchFamily="34" charset="0"/>
                <a:ea typeface="Calibri" pitchFamily="34" charset="-122"/>
                <a:cs typeface="Calibri" pitchFamily="34" charset="-120"/>
              </a:rPr>
              <a:t>Pin housekeeping</a:t>
            </a:r>
            <a:endParaRPr lang="en-US" sz="1250" dirty="0"/>
          </a:p>
        </p:txBody>
      </p:sp>
      <p:sp>
        <p:nvSpPr>
          <p:cNvPr id="19" name="Text 16"/>
          <p:cNvSpPr/>
          <p:nvPr/>
        </p:nvSpPr>
        <p:spPr>
          <a:xfrm>
            <a:off x="3593592" y="2560320"/>
            <a:ext cx="2249424" cy="1463040"/>
          </a:xfrm>
          <a:prstGeom prst="rect">
            <a:avLst/>
          </a:prstGeom>
          <a:noFill/>
          <a:ln/>
        </p:spPr>
        <p:txBody>
          <a:bodyPr wrap="square" lIns="0" tIns="0" rIns="0" bIns="0" rtlCol="0" anchor="t"/>
          <a:lstStyle/>
          <a:p>
            <a:pPr algn="l" indent="0" marL="0">
              <a:lnSpc>
                <a:spcPct val="112000"/>
              </a:lnSpc>
              <a:buNone/>
            </a:pPr>
            <a:r>
              <a:rPr lang="en-US" sz="1000" dirty="0">
                <a:solidFill>
                  <a:srgbClr val="5D6B7E"/>
                </a:solidFill>
                <a:latin typeface="Calibri" pitchFamily="34" charset="0"/>
                <a:ea typeface="Calibri" pitchFamily="34" charset="-122"/>
                <a:cs typeface="Calibri" pitchFamily="34" charset="-120"/>
              </a:rPr>
              <a:t>Harness utility calls → local model. Near-zero risk, instant savings. Likely also: subagent-local routing, per the economics finding.</a:t>
            </a:r>
            <a:endParaRPr lang="en-US" sz="1000" dirty="0"/>
          </a:p>
        </p:txBody>
      </p:sp>
      <p:sp>
        <p:nvSpPr>
          <p:cNvPr id="20" name="Text 17"/>
          <p:cNvSpPr/>
          <p:nvPr/>
        </p:nvSpPr>
        <p:spPr>
          <a:xfrm>
            <a:off x="3593592" y="4114800"/>
            <a:ext cx="2249424" cy="219456"/>
          </a:xfrm>
          <a:prstGeom prst="rect">
            <a:avLst/>
          </a:prstGeom>
          <a:noFill/>
          <a:ln/>
        </p:spPr>
        <p:txBody>
          <a:bodyPr wrap="square" lIns="0" tIns="0" rIns="0" bIns="0" rtlCol="0" anchor="t"/>
          <a:lstStyle/>
          <a:p>
            <a:pPr algn="l" indent="0" marL="0">
              <a:buNone/>
            </a:pPr>
            <a:r>
              <a:rPr lang="en-US" sz="850" b="1" spc="200" kern="0" dirty="0">
                <a:solidFill>
                  <a:srgbClr val="1F7A55"/>
                </a:solidFill>
                <a:latin typeface="Calibri" pitchFamily="34" charset="0"/>
                <a:ea typeface="Calibri" pitchFamily="34" charset="-122"/>
                <a:cs typeface="Calibri" pitchFamily="34" charset="-120"/>
              </a:rPr>
              <a:t>EXIT GATE</a:t>
            </a:r>
            <a:endParaRPr lang="en-US" sz="850" dirty="0"/>
          </a:p>
        </p:txBody>
      </p:sp>
      <p:sp>
        <p:nvSpPr>
          <p:cNvPr id="21" name="Text 18"/>
          <p:cNvSpPr/>
          <p:nvPr/>
        </p:nvSpPr>
        <p:spPr>
          <a:xfrm>
            <a:off x="3593592" y="4352544"/>
            <a:ext cx="2249424" cy="1051560"/>
          </a:xfrm>
          <a:prstGeom prst="rect">
            <a:avLst/>
          </a:prstGeom>
          <a:noFill/>
          <a:ln/>
        </p:spPr>
        <p:txBody>
          <a:bodyPr wrap="square" lIns="0" tIns="0" rIns="0" bIns="0" rtlCol="0" anchor="t"/>
          <a:lstStyle/>
          <a:p>
            <a:pPr algn="l" indent="0" marL="0">
              <a:lnSpc>
                <a:spcPct val="110000"/>
              </a:lnSpc>
              <a:buNone/>
            </a:pPr>
            <a:r>
              <a:rPr lang="en-US" sz="950" dirty="0">
                <a:solidFill>
                  <a:srgbClr val="1F2A3D"/>
                </a:solidFill>
                <a:latin typeface="Calibri" pitchFamily="34" charset="0"/>
                <a:ea typeface="Calibri" pitchFamily="34" charset="-122"/>
                <a:cs typeface="Calibri" pitchFamily="34" charset="-120"/>
              </a:rPr>
              <a:t>no harness breakage after 1 week</a:t>
            </a:r>
            <a:endParaRPr lang="en-US" sz="950" dirty="0"/>
          </a:p>
        </p:txBody>
      </p:sp>
      <p:sp>
        <p:nvSpPr>
          <p:cNvPr id="22" name="Shape 19"/>
          <p:cNvSpPr/>
          <p:nvPr/>
        </p:nvSpPr>
        <p:spPr>
          <a:xfrm>
            <a:off x="6057900" y="3520440"/>
            <a:ext cx="164592" cy="0"/>
          </a:xfrm>
          <a:prstGeom prst="line">
            <a:avLst/>
          </a:prstGeom>
          <a:noFill/>
          <a:ln w="19050">
            <a:solidFill>
              <a:srgbClr val="5D6B7E"/>
            </a:solidFill>
            <a:prstDash val="solid"/>
            <a:headEnd type="none"/>
            <a:tailEnd type="triangle"/>
          </a:ln>
        </p:spPr>
      </p:sp>
      <p:sp>
        <p:nvSpPr>
          <p:cNvPr id="23" name="Shape 20"/>
          <p:cNvSpPr/>
          <p:nvPr/>
        </p:nvSpPr>
        <p:spPr>
          <a:xfrm>
            <a:off x="6236208" y="1554480"/>
            <a:ext cx="2651760" cy="3977640"/>
          </a:xfrm>
          <a:prstGeom prst="roundRect">
            <a:avLst>
              <a:gd name="adj" fmla="val 241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4" name="Shape 21"/>
          <p:cNvSpPr/>
          <p:nvPr/>
        </p:nvSpPr>
        <p:spPr>
          <a:xfrm>
            <a:off x="6236208" y="1554480"/>
            <a:ext cx="2651760" cy="841248"/>
          </a:xfrm>
          <a:prstGeom prst="roundRect">
            <a:avLst>
              <a:gd name="adj" fmla="val 7609"/>
            </a:avLst>
          </a:prstGeom>
          <a:solidFill>
            <a:srgbClr val="FBEFDC"/>
          </a:solidFill>
          <a:ln/>
        </p:spPr>
      </p:sp>
      <p:sp>
        <p:nvSpPr>
          <p:cNvPr id="25" name="Text 22"/>
          <p:cNvSpPr/>
          <p:nvPr/>
        </p:nvSpPr>
        <p:spPr>
          <a:xfrm>
            <a:off x="6437376" y="1682496"/>
            <a:ext cx="2249424" cy="237744"/>
          </a:xfrm>
          <a:prstGeom prst="rect">
            <a:avLst/>
          </a:prstGeom>
          <a:noFill/>
          <a:ln/>
        </p:spPr>
        <p:txBody>
          <a:bodyPr wrap="square" lIns="0" tIns="0" rIns="0" bIns="0" rtlCol="0" anchor="t"/>
          <a:lstStyle/>
          <a:p>
            <a:pPr algn="l" indent="0" marL="0">
              <a:buNone/>
            </a:pPr>
            <a:r>
              <a:rPr lang="en-US" sz="1000" b="1" spc="200" kern="0" dirty="0">
                <a:solidFill>
                  <a:srgbClr val="B45309"/>
                </a:solidFill>
                <a:latin typeface="Calibri" pitchFamily="34" charset="0"/>
                <a:ea typeface="Calibri" pitchFamily="34" charset="-122"/>
                <a:cs typeface="Calibri" pitchFamily="34" charset="-120"/>
              </a:rPr>
              <a:t>PHASE 2</a:t>
            </a:r>
            <a:endParaRPr lang="en-US" sz="1000" dirty="0"/>
          </a:p>
        </p:txBody>
      </p:sp>
      <p:sp>
        <p:nvSpPr>
          <p:cNvPr id="26" name="Text 23"/>
          <p:cNvSpPr/>
          <p:nvPr/>
        </p:nvSpPr>
        <p:spPr>
          <a:xfrm>
            <a:off x="6437376" y="1920240"/>
            <a:ext cx="2249424" cy="411480"/>
          </a:xfrm>
          <a:prstGeom prst="rect">
            <a:avLst/>
          </a:prstGeom>
          <a:noFill/>
          <a:ln/>
        </p:spPr>
        <p:txBody>
          <a:bodyPr wrap="square" lIns="0" tIns="0" rIns="0" bIns="0" rtlCol="0" anchor="t"/>
          <a:lstStyle/>
          <a:p>
            <a:pPr algn="l" indent="0" marL="0">
              <a:lnSpc>
                <a:spcPct val="95000"/>
              </a:lnSpc>
              <a:buNone/>
            </a:pPr>
            <a:r>
              <a:rPr lang="en-US" sz="1250" b="1" dirty="0">
                <a:solidFill>
                  <a:srgbClr val="1F2A3D"/>
                </a:solidFill>
                <a:latin typeface="Calibri" pitchFamily="34" charset="0"/>
                <a:ea typeface="Calibri" pitchFamily="34" charset="-122"/>
                <a:cs typeface="Calibri" pitchFamily="34" charset="-120"/>
              </a:rPr>
              <a:t>Live routing</a:t>
            </a:r>
            <a:endParaRPr lang="en-US" sz="1250" dirty="0"/>
          </a:p>
        </p:txBody>
      </p:sp>
      <p:sp>
        <p:nvSpPr>
          <p:cNvPr id="27" name="Text 24"/>
          <p:cNvSpPr/>
          <p:nvPr/>
        </p:nvSpPr>
        <p:spPr>
          <a:xfrm>
            <a:off x="6437376" y="2560320"/>
            <a:ext cx="2249424" cy="1463040"/>
          </a:xfrm>
          <a:prstGeom prst="rect">
            <a:avLst/>
          </a:prstGeom>
          <a:noFill/>
          <a:ln/>
        </p:spPr>
        <p:txBody>
          <a:bodyPr wrap="square" lIns="0" tIns="0" rIns="0" bIns="0" rtlCol="0" anchor="t"/>
          <a:lstStyle/>
          <a:p>
            <a:pPr algn="l" indent="0" marL="0">
              <a:lnSpc>
                <a:spcPct val="112000"/>
              </a:lnSpc>
              <a:buNone/>
            </a:pPr>
            <a:r>
              <a:rPr lang="en-US" sz="1000" dirty="0">
                <a:solidFill>
                  <a:srgbClr val="5D6B7E"/>
                </a:solidFill>
                <a:latin typeface="Calibri" pitchFamily="34" charset="0"/>
                <a:ea typeface="Calibri" pitchFamily="34" charset="-122"/>
                <a:cs typeface="Calibri" pitchFamily="34" charset="-120"/>
              </a:rPr>
              <a:t>User turns routed with trip-wires armed and a one-line kill switch back to static config.</a:t>
            </a:r>
            <a:endParaRPr lang="en-US" sz="1000" dirty="0"/>
          </a:p>
        </p:txBody>
      </p:sp>
      <p:sp>
        <p:nvSpPr>
          <p:cNvPr id="28" name="Text 25"/>
          <p:cNvSpPr/>
          <p:nvPr/>
        </p:nvSpPr>
        <p:spPr>
          <a:xfrm>
            <a:off x="6437376" y="4114800"/>
            <a:ext cx="2249424" cy="219456"/>
          </a:xfrm>
          <a:prstGeom prst="rect">
            <a:avLst/>
          </a:prstGeom>
          <a:noFill/>
          <a:ln/>
        </p:spPr>
        <p:txBody>
          <a:bodyPr wrap="square" lIns="0" tIns="0" rIns="0" bIns="0" rtlCol="0" anchor="t"/>
          <a:lstStyle/>
          <a:p>
            <a:pPr algn="l" indent="0" marL="0">
              <a:buNone/>
            </a:pPr>
            <a:r>
              <a:rPr lang="en-US" sz="850" b="1" spc="200" kern="0" dirty="0">
                <a:solidFill>
                  <a:srgbClr val="B45309"/>
                </a:solidFill>
                <a:latin typeface="Calibri" pitchFamily="34" charset="0"/>
                <a:ea typeface="Calibri" pitchFamily="34" charset="-122"/>
                <a:cs typeface="Calibri" pitchFamily="34" charset="-120"/>
              </a:rPr>
              <a:t>EXIT GATE</a:t>
            </a:r>
            <a:endParaRPr lang="en-US" sz="850" dirty="0"/>
          </a:p>
        </p:txBody>
      </p:sp>
      <p:sp>
        <p:nvSpPr>
          <p:cNvPr id="29" name="Text 26"/>
          <p:cNvSpPr/>
          <p:nvPr/>
        </p:nvSpPr>
        <p:spPr>
          <a:xfrm>
            <a:off x="6437376" y="4352544"/>
            <a:ext cx="2249424" cy="1051560"/>
          </a:xfrm>
          <a:prstGeom prst="rect">
            <a:avLst/>
          </a:prstGeom>
          <a:noFill/>
          <a:ln/>
        </p:spPr>
        <p:txBody>
          <a:bodyPr wrap="square" lIns="0" tIns="0" rIns="0" bIns="0" rtlCol="0" anchor="t"/>
          <a:lstStyle/>
          <a:p>
            <a:pPr algn="l" indent="0" marL="0">
              <a:lnSpc>
                <a:spcPct val="110000"/>
              </a:lnSpc>
              <a:buNone/>
            </a:pPr>
            <a:r>
              <a:rPr lang="en-US" sz="950" dirty="0">
                <a:solidFill>
                  <a:srgbClr val="1F2A3D"/>
                </a:solidFill>
                <a:latin typeface="Calibri" pitchFamily="34" charset="0"/>
                <a:ea typeface="Calibri" pitchFamily="34" charset="-122"/>
                <a:cs typeface="Calibri" pitchFamily="34" charset="-120"/>
              </a:rPr>
              <a:t>escalation &lt;30% · user-retry ≤ frontier baseline · pin violations = 0</a:t>
            </a:r>
            <a:endParaRPr lang="en-US" sz="950" dirty="0"/>
          </a:p>
        </p:txBody>
      </p:sp>
      <p:sp>
        <p:nvSpPr>
          <p:cNvPr id="30" name="Shape 27"/>
          <p:cNvSpPr/>
          <p:nvPr/>
        </p:nvSpPr>
        <p:spPr>
          <a:xfrm>
            <a:off x="8901684" y="3520440"/>
            <a:ext cx="164592" cy="0"/>
          </a:xfrm>
          <a:prstGeom prst="line">
            <a:avLst/>
          </a:prstGeom>
          <a:noFill/>
          <a:ln w="19050">
            <a:solidFill>
              <a:srgbClr val="5D6B7E"/>
            </a:solidFill>
            <a:prstDash val="solid"/>
            <a:headEnd type="none"/>
            <a:tailEnd type="triangle"/>
          </a:ln>
        </p:spPr>
      </p:sp>
      <p:sp>
        <p:nvSpPr>
          <p:cNvPr id="31" name="Shape 28"/>
          <p:cNvSpPr/>
          <p:nvPr/>
        </p:nvSpPr>
        <p:spPr>
          <a:xfrm>
            <a:off x="9079992" y="1554480"/>
            <a:ext cx="2651760" cy="3977640"/>
          </a:xfrm>
          <a:prstGeom prst="roundRect">
            <a:avLst>
              <a:gd name="adj" fmla="val 241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2" name="Shape 29"/>
          <p:cNvSpPr/>
          <p:nvPr/>
        </p:nvSpPr>
        <p:spPr>
          <a:xfrm>
            <a:off x="9079992" y="1554480"/>
            <a:ext cx="2651760" cy="841248"/>
          </a:xfrm>
          <a:prstGeom prst="roundRect">
            <a:avLst>
              <a:gd name="adj" fmla="val 7609"/>
            </a:avLst>
          </a:prstGeom>
          <a:solidFill>
            <a:srgbClr val="ECE5F8"/>
          </a:solidFill>
          <a:ln/>
        </p:spPr>
      </p:sp>
      <p:sp>
        <p:nvSpPr>
          <p:cNvPr id="33" name="Text 30"/>
          <p:cNvSpPr/>
          <p:nvPr/>
        </p:nvSpPr>
        <p:spPr>
          <a:xfrm>
            <a:off x="9281160" y="1682496"/>
            <a:ext cx="2249424" cy="237744"/>
          </a:xfrm>
          <a:prstGeom prst="rect">
            <a:avLst/>
          </a:prstGeom>
          <a:noFill/>
          <a:ln/>
        </p:spPr>
        <p:txBody>
          <a:bodyPr wrap="square" lIns="0" tIns="0" rIns="0" bIns="0" rtlCol="0" anchor="t"/>
          <a:lstStyle/>
          <a:p>
            <a:pPr algn="l" indent="0" marL="0">
              <a:buNone/>
            </a:pPr>
            <a:r>
              <a:rPr lang="en-US" sz="1000" b="1" spc="200" kern="0" dirty="0">
                <a:solidFill>
                  <a:srgbClr val="5B21B6"/>
                </a:solidFill>
                <a:latin typeface="Calibri" pitchFamily="34" charset="0"/>
                <a:ea typeface="Calibri" pitchFamily="34" charset="-122"/>
                <a:cs typeface="Calibri" pitchFamily="34" charset="-120"/>
              </a:rPr>
              <a:t>PHASE 3</a:t>
            </a:r>
            <a:endParaRPr lang="en-US" sz="1000" dirty="0"/>
          </a:p>
        </p:txBody>
      </p:sp>
      <p:sp>
        <p:nvSpPr>
          <p:cNvPr id="34" name="Text 31"/>
          <p:cNvSpPr/>
          <p:nvPr/>
        </p:nvSpPr>
        <p:spPr>
          <a:xfrm>
            <a:off x="9281160" y="1920240"/>
            <a:ext cx="2249424" cy="411480"/>
          </a:xfrm>
          <a:prstGeom prst="rect">
            <a:avLst/>
          </a:prstGeom>
          <a:noFill/>
          <a:ln/>
        </p:spPr>
        <p:txBody>
          <a:bodyPr wrap="square" lIns="0" tIns="0" rIns="0" bIns="0" rtlCol="0" anchor="t"/>
          <a:lstStyle/>
          <a:p>
            <a:pPr algn="l" indent="0" marL="0">
              <a:lnSpc>
                <a:spcPct val="95000"/>
              </a:lnSpc>
              <a:buNone/>
            </a:pPr>
            <a:r>
              <a:rPr lang="en-US" sz="1250" b="1" dirty="0">
                <a:solidFill>
                  <a:srgbClr val="1F2A3D"/>
                </a:solidFill>
                <a:latin typeface="Calibri" pitchFamily="34" charset="0"/>
                <a:ea typeface="Calibri" pitchFamily="34" charset="-122"/>
                <a:cs typeface="Calibri" pitchFamily="34" charset="-120"/>
              </a:rPr>
              <a:t>Learned router</a:t>
            </a:r>
            <a:endParaRPr lang="en-US" sz="1250" dirty="0"/>
          </a:p>
        </p:txBody>
      </p:sp>
      <p:sp>
        <p:nvSpPr>
          <p:cNvPr id="35" name="Text 32"/>
          <p:cNvSpPr/>
          <p:nvPr/>
        </p:nvSpPr>
        <p:spPr>
          <a:xfrm>
            <a:off x="9281160" y="2560320"/>
            <a:ext cx="2249424" cy="1463040"/>
          </a:xfrm>
          <a:prstGeom prst="rect">
            <a:avLst/>
          </a:prstGeom>
          <a:noFill/>
          <a:ln/>
        </p:spPr>
        <p:txBody>
          <a:bodyPr wrap="square" lIns="0" tIns="0" rIns="0" bIns="0" rtlCol="0" anchor="t"/>
          <a:lstStyle/>
          <a:p>
            <a:pPr algn="l" indent="0" marL="0">
              <a:lnSpc>
                <a:spcPct val="112000"/>
              </a:lnSpc>
              <a:buNone/>
            </a:pPr>
            <a:r>
              <a:rPr lang="en-US" sz="1000" dirty="0">
                <a:solidFill>
                  <a:srgbClr val="5D6B7E"/>
                </a:solidFill>
                <a:latin typeface="Calibri" pitchFamily="34" charset="0"/>
                <a:ea typeface="Calibri" pitchFamily="34" charset="-122"/>
                <a:cs typeface="Calibri" pitchFamily="34" charset="-120"/>
              </a:rPr>
              <a:t>Takes only the ambiguous middle, trained on flywheel outcomes from Phases 0–2.</a:t>
            </a:r>
            <a:endParaRPr lang="en-US" sz="1000" dirty="0"/>
          </a:p>
        </p:txBody>
      </p:sp>
      <p:sp>
        <p:nvSpPr>
          <p:cNvPr id="36" name="Text 33"/>
          <p:cNvSpPr/>
          <p:nvPr/>
        </p:nvSpPr>
        <p:spPr>
          <a:xfrm>
            <a:off x="9281160" y="4114800"/>
            <a:ext cx="2249424" cy="219456"/>
          </a:xfrm>
          <a:prstGeom prst="rect">
            <a:avLst/>
          </a:prstGeom>
          <a:noFill/>
          <a:ln/>
        </p:spPr>
        <p:txBody>
          <a:bodyPr wrap="square" lIns="0" tIns="0" rIns="0" bIns="0" rtlCol="0" anchor="t"/>
          <a:lstStyle/>
          <a:p>
            <a:pPr algn="l" indent="0" marL="0">
              <a:buNone/>
            </a:pPr>
            <a:r>
              <a:rPr lang="en-US" sz="850" b="1" spc="200" kern="0" dirty="0">
                <a:solidFill>
                  <a:srgbClr val="5B21B6"/>
                </a:solidFill>
                <a:latin typeface="Calibri" pitchFamily="34" charset="0"/>
                <a:ea typeface="Calibri" pitchFamily="34" charset="-122"/>
                <a:cs typeface="Calibri" pitchFamily="34" charset="-120"/>
              </a:rPr>
              <a:t>EXIT GATE</a:t>
            </a:r>
            <a:endParaRPr lang="en-US" sz="850" dirty="0"/>
          </a:p>
        </p:txBody>
      </p:sp>
      <p:sp>
        <p:nvSpPr>
          <p:cNvPr id="37" name="Text 34"/>
          <p:cNvSpPr/>
          <p:nvPr/>
        </p:nvSpPr>
        <p:spPr>
          <a:xfrm>
            <a:off x="9281160" y="4352544"/>
            <a:ext cx="2249424" cy="1051560"/>
          </a:xfrm>
          <a:prstGeom prst="rect">
            <a:avLst/>
          </a:prstGeom>
          <a:noFill/>
          <a:ln/>
        </p:spPr>
        <p:txBody>
          <a:bodyPr wrap="square" lIns="0" tIns="0" rIns="0" bIns="0" rtlCol="0" anchor="t"/>
          <a:lstStyle/>
          <a:p>
            <a:pPr algn="l" indent="0" marL="0">
              <a:lnSpc>
                <a:spcPct val="110000"/>
              </a:lnSpc>
              <a:buNone/>
            </a:pPr>
            <a:r>
              <a:rPr lang="en-US" sz="950" dirty="0">
                <a:solidFill>
                  <a:srgbClr val="1F2A3D"/>
                </a:solidFill>
                <a:latin typeface="Calibri" pitchFamily="34" charset="0"/>
                <a:ea typeface="Calibri" pitchFamily="34" charset="-122"/>
                <a:cs typeface="Calibri" pitchFamily="34" charset="-120"/>
              </a:rPr>
              <a:t>beats heuristics AND the $2,941 best-single baseline on replay — else it doesn't ship</a:t>
            </a:r>
            <a:endParaRPr lang="en-US" sz="950" dirty="0"/>
          </a:p>
        </p:txBody>
      </p:sp>
      <p:sp>
        <p:nvSpPr>
          <p:cNvPr id="38" name="Shape 35"/>
          <p:cNvSpPr/>
          <p:nvPr/>
        </p:nvSpPr>
        <p:spPr>
          <a:xfrm>
            <a:off x="548640" y="5760720"/>
            <a:ext cx="11091672" cy="548640"/>
          </a:xfrm>
          <a:prstGeom prst="roundRect">
            <a:avLst>
              <a:gd name="adj" fmla="val 11667"/>
            </a:avLst>
          </a:prstGeom>
          <a:solidFill>
            <a:srgbClr val="F3F6F9"/>
          </a:solidFill>
          <a:ln/>
        </p:spPr>
      </p:sp>
      <p:sp>
        <p:nvSpPr>
          <p:cNvPr id="39" name="Text 36"/>
          <p:cNvSpPr/>
          <p:nvPr/>
        </p:nvSpPr>
        <p:spPr>
          <a:xfrm>
            <a:off x="822960" y="5870448"/>
            <a:ext cx="10515600" cy="347472"/>
          </a:xfrm>
          <a:prstGeom prst="rect">
            <a:avLst/>
          </a:prstGeom>
          <a:noFill/>
          <a:ln/>
        </p:spPr>
        <p:txBody>
          <a:bodyPr wrap="square" lIns="0" tIns="0" rIns="0" bIns="0" rtlCol="0" anchor="t"/>
          <a:lstStyle/>
          <a:p>
            <a:pPr algn="l" indent="0" marL="0">
              <a:buNone/>
            </a:pPr>
            <a:r>
              <a:rPr lang="en-US" sz="1150" b="1" dirty="0">
                <a:solidFill>
                  <a:srgbClr val="1F2A3D"/>
                </a:solidFill>
                <a:latin typeface="Calibri" pitchFamily="34" charset="0"/>
                <a:ea typeface="Calibri" pitchFamily="34" charset="-122"/>
                <a:cs typeface="Calibri" pitchFamily="34" charset="-120"/>
              </a:rPr>
              <a:t>Phases 0–2 are ML-free by design. Nothing user-visible ships without a measured gate behind it.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23A"/>
        </a:solidFill>
      </p:bgPr>
    </p:bg>
    <p:spTree>
      <p:nvGrpSpPr>
        <p:cNvPr id="1" name=""/>
        <p:cNvGrpSpPr/>
        <p:nvPr/>
      </p:nvGrpSpPr>
      <p:grpSpPr>
        <a:xfrm>
          <a:off x="0" y="0"/>
          <a:ext cx="0" cy="0"/>
          <a:chOff x="0" y="0"/>
          <a:chExt cx="0" cy="0"/>
        </a:xfrm>
      </p:grpSpPr>
      <p:sp>
        <p:nvSpPr>
          <p:cNvPr id="2" name="Text 0"/>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FB0C7"/>
                </a:solidFill>
                <a:latin typeface="Calibri" pitchFamily="34" charset="0"/>
                <a:ea typeface="Calibri" pitchFamily="34" charset="-122"/>
                <a:cs typeface="Calibri" pitchFamily="34" charset="-120"/>
              </a:rPr>
              <a:t>16</a:t>
            </a:r>
            <a:endParaRPr lang="en-US" sz="900" dirty="0"/>
          </a:p>
        </p:txBody>
      </p:sp>
      <p:sp>
        <p:nvSpPr>
          <p:cNvPr id="4" name="Text 1"/>
          <p:cNvSpPr/>
          <p:nvPr/>
        </p:nvSpPr>
        <p:spPr>
          <a:xfrm>
            <a:off x="822960" y="822960"/>
            <a:ext cx="10515600" cy="274320"/>
          </a:xfrm>
          <a:prstGeom prst="rect">
            <a:avLst/>
          </a:prstGeom>
          <a:noFill/>
          <a:ln/>
        </p:spPr>
        <p:txBody>
          <a:bodyPr wrap="square" lIns="0" tIns="0" rIns="0" bIns="0" rtlCol="0" anchor="t"/>
          <a:lstStyle/>
          <a:p>
            <a:pPr algn="l" indent="0" marL="0">
              <a:buNone/>
            </a:pPr>
            <a:r>
              <a:rPr lang="en-US" sz="1100" b="1" spc="300" kern="0" dirty="0">
                <a:solidFill>
                  <a:srgbClr val="9FB0C7"/>
                </a:solidFill>
                <a:latin typeface="Calibri" pitchFamily="34" charset="0"/>
                <a:ea typeface="Calibri" pitchFamily="34" charset="-122"/>
                <a:cs typeface="Calibri" pitchFamily="34" charset="-120"/>
              </a:rPr>
              <a:t>THE ONE-LINERS THAT SURVIVE THE MEETING</a:t>
            </a:r>
            <a:endParaRPr lang="en-US" sz="1100" dirty="0"/>
          </a:p>
        </p:txBody>
      </p:sp>
      <p:sp>
        <p:nvSpPr>
          <p:cNvPr id="5" name="Text 2"/>
          <p:cNvSpPr/>
          <p:nvPr/>
        </p:nvSpPr>
        <p:spPr>
          <a:xfrm>
            <a:off x="822960" y="1298448"/>
            <a:ext cx="7406640" cy="329184"/>
          </a:xfrm>
          <a:prstGeom prst="rect">
            <a:avLst/>
          </a:prstGeom>
          <a:noFill/>
          <a:ln/>
        </p:spPr>
        <p:txBody>
          <a:bodyPr wrap="square" lIns="0" tIns="0" rIns="0" bIns="0" rtlCol="0" anchor="t"/>
          <a:lstStyle/>
          <a:p>
            <a:pPr algn="l" indent="0" marL="0">
              <a:lnSpc>
                <a:spcPct val="105000"/>
              </a:lnSpc>
              <a:buNone/>
            </a:pPr>
            <a:r>
              <a:rPr lang="en-US" sz="1550" b="1" dirty="0">
                <a:solidFill>
                  <a:srgbClr val="EAF0F8"/>
                </a:solidFill>
                <a:latin typeface="Cambria" pitchFamily="34" charset="0"/>
                <a:ea typeface="Cambria" pitchFamily="34" charset="-122"/>
                <a:cs typeface="Cambria" pitchFamily="34" charset="-120"/>
              </a:rPr>
              <a:t>“Route turns, not requests.”</a:t>
            </a:r>
            <a:endParaRPr lang="en-US" sz="1550" dirty="0"/>
          </a:p>
        </p:txBody>
      </p:sp>
      <p:sp>
        <p:nvSpPr>
          <p:cNvPr id="6" name="Text 3"/>
          <p:cNvSpPr/>
          <p:nvPr/>
        </p:nvSpPr>
        <p:spPr>
          <a:xfrm>
            <a:off x="822960" y="1645920"/>
            <a:ext cx="7406640" cy="274320"/>
          </a:xfrm>
          <a:prstGeom prst="rect">
            <a:avLst/>
          </a:prstGeom>
          <a:noFill/>
          <a:ln/>
        </p:spPr>
        <p:txBody>
          <a:bodyPr wrap="square" lIns="0" tIns="0" rIns="0" bIns="0" rtlCol="0" anchor="t"/>
          <a:lstStyle/>
          <a:p>
            <a:pPr algn="l" indent="0" marL="0">
              <a:buNone/>
            </a:pPr>
            <a:r>
              <a:rPr lang="en-US" sz="1000" i="1" dirty="0">
                <a:solidFill>
                  <a:srgbClr val="9FB0C7"/>
                </a:solidFill>
                <a:latin typeface="Calibri" pitchFamily="34" charset="0"/>
                <a:ea typeface="Calibri" pitchFamily="34" charset="-122"/>
                <a:cs typeface="Calibri" pitchFamily="34" charset="-120"/>
              </a:rPr>
              <a:t>one decision per user instruction; everything mid-turn inherits</a:t>
            </a:r>
            <a:endParaRPr lang="en-US" sz="1000" dirty="0"/>
          </a:p>
        </p:txBody>
      </p:sp>
      <p:sp>
        <p:nvSpPr>
          <p:cNvPr id="7" name="Text 4"/>
          <p:cNvSpPr/>
          <p:nvPr/>
        </p:nvSpPr>
        <p:spPr>
          <a:xfrm>
            <a:off x="822960" y="2029968"/>
            <a:ext cx="7406640" cy="329184"/>
          </a:xfrm>
          <a:prstGeom prst="rect">
            <a:avLst/>
          </a:prstGeom>
          <a:noFill/>
          <a:ln/>
        </p:spPr>
        <p:txBody>
          <a:bodyPr wrap="square" lIns="0" tIns="0" rIns="0" bIns="0" rtlCol="0" anchor="t"/>
          <a:lstStyle/>
          <a:p>
            <a:pPr algn="l" indent="0" marL="0">
              <a:lnSpc>
                <a:spcPct val="105000"/>
              </a:lnSpc>
              <a:buNone/>
            </a:pPr>
            <a:r>
              <a:rPr lang="en-US" sz="1550" b="1" dirty="0">
                <a:solidFill>
                  <a:srgbClr val="EAF0F8"/>
                </a:solidFill>
                <a:latin typeface="Cambria" pitchFamily="34" charset="0"/>
                <a:ea typeface="Cambria" pitchFamily="34" charset="-122"/>
                <a:cs typeface="Cambria" pitchFamily="34" charset="-120"/>
              </a:rPr>
              <a:t>“45% of the turns, 4% of the money.”</a:t>
            </a:r>
            <a:endParaRPr lang="en-US" sz="1550" dirty="0"/>
          </a:p>
        </p:txBody>
      </p:sp>
      <p:sp>
        <p:nvSpPr>
          <p:cNvPr id="8" name="Text 5"/>
          <p:cNvSpPr/>
          <p:nvPr/>
        </p:nvSpPr>
        <p:spPr>
          <a:xfrm>
            <a:off x="822960" y="2377440"/>
            <a:ext cx="7406640" cy="274320"/>
          </a:xfrm>
          <a:prstGeom prst="rect">
            <a:avLst/>
          </a:prstGeom>
          <a:noFill/>
          <a:ln/>
        </p:spPr>
        <p:txBody>
          <a:bodyPr wrap="square" lIns="0" tIns="0" rIns="0" bIns="0" rtlCol="0" anchor="t"/>
          <a:lstStyle/>
          <a:p>
            <a:pPr algn="l" indent="0" marL="0">
              <a:buNone/>
            </a:pPr>
            <a:r>
              <a:rPr lang="en-US" sz="1000" i="1" dirty="0">
                <a:solidFill>
                  <a:srgbClr val="9FB0C7"/>
                </a:solidFill>
                <a:latin typeface="Calibri" pitchFamily="34" charset="0"/>
                <a:ea typeface="Calibri" pitchFamily="34" charset="-122"/>
                <a:cs typeface="Calibri" pitchFamily="34" charset="-120"/>
              </a:rPr>
              <a:t>easy user turns aren't the prize — subagent delegation is</a:t>
            </a:r>
            <a:endParaRPr lang="en-US" sz="1000" dirty="0"/>
          </a:p>
        </p:txBody>
      </p:sp>
      <p:sp>
        <p:nvSpPr>
          <p:cNvPr id="9" name="Text 6"/>
          <p:cNvSpPr/>
          <p:nvPr/>
        </p:nvSpPr>
        <p:spPr>
          <a:xfrm>
            <a:off x="822960" y="2761488"/>
            <a:ext cx="7406640" cy="329184"/>
          </a:xfrm>
          <a:prstGeom prst="rect">
            <a:avLst/>
          </a:prstGeom>
          <a:noFill/>
          <a:ln/>
        </p:spPr>
        <p:txBody>
          <a:bodyPr wrap="square" lIns="0" tIns="0" rIns="0" bIns="0" rtlCol="0" anchor="t"/>
          <a:lstStyle/>
          <a:p>
            <a:pPr algn="l" indent="0" marL="0">
              <a:lnSpc>
                <a:spcPct val="105000"/>
              </a:lnSpc>
              <a:buNone/>
            </a:pPr>
            <a:r>
              <a:rPr lang="en-US" sz="1550" b="1" dirty="0">
                <a:solidFill>
                  <a:srgbClr val="EAF0F8"/>
                </a:solidFill>
                <a:latin typeface="Cambria" pitchFamily="34" charset="0"/>
                <a:ea typeface="Cambria" pitchFamily="34" charset="-122"/>
                <a:cs typeface="Cambria" pitchFamily="34" charset="-120"/>
              </a:rPr>
              <a:t>“The best routing decision is often declining to use the cheap model.”</a:t>
            </a:r>
            <a:endParaRPr lang="en-US" sz="1550" dirty="0"/>
          </a:p>
        </p:txBody>
      </p:sp>
      <p:sp>
        <p:nvSpPr>
          <p:cNvPr id="10" name="Text 7"/>
          <p:cNvSpPr/>
          <p:nvPr/>
        </p:nvSpPr>
        <p:spPr>
          <a:xfrm>
            <a:off x="822960" y="3108960"/>
            <a:ext cx="7406640" cy="274320"/>
          </a:xfrm>
          <a:prstGeom prst="rect">
            <a:avLst/>
          </a:prstGeom>
          <a:noFill/>
          <a:ln/>
        </p:spPr>
        <p:txBody>
          <a:bodyPr wrap="square" lIns="0" tIns="0" rIns="0" bIns="0" rtlCol="0" anchor="t"/>
          <a:lstStyle/>
          <a:p>
            <a:pPr algn="l" indent="0" marL="0">
              <a:buNone/>
            </a:pPr>
            <a:r>
              <a:rPr lang="en-US" sz="1000" i="1" dirty="0">
                <a:solidFill>
                  <a:srgbClr val="9FB0C7"/>
                </a:solidFill>
                <a:latin typeface="Calibri" pitchFamily="34" charset="0"/>
                <a:ea typeface="Calibri" pitchFamily="34" charset="-122"/>
                <a:cs typeface="Calibri" pitchFamily="34" charset="-120"/>
              </a:rPr>
              <a:t>hard turns go direct to frontier; cascading only pays when the cheap bet is likely</a:t>
            </a:r>
            <a:endParaRPr lang="en-US" sz="1000" dirty="0"/>
          </a:p>
        </p:txBody>
      </p:sp>
      <p:sp>
        <p:nvSpPr>
          <p:cNvPr id="11" name="Text 8"/>
          <p:cNvSpPr/>
          <p:nvPr/>
        </p:nvSpPr>
        <p:spPr>
          <a:xfrm>
            <a:off x="822960" y="3493008"/>
            <a:ext cx="7406640" cy="603504"/>
          </a:xfrm>
          <a:prstGeom prst="rect">
            <a:avLst/>
          </a:prstGeom>
          <a:noFill/>
          <a:ln/>
        </p:spPr>
        <p:txBody>
          <a:bodyPr wrap="square" lIns="0" tIns="0" rIns="0" bIns="0" rtlCol="0" anchor="t"/>
          <a:lstStyle/>
          <a:p>
            <a:pPr algn="l" indent="0" marL="0">
              <a:lnSpc>
                <a:spcPct val="105000"/>
              </a:lnSpc>
              <a:buNone/>
            </a:pPr>
            <a:r>
              <a:rPr lang="en-US" sz="1550" b="1" dirty="0">
                <a:solidFill>
                  <a:srgbClr val="EAF0F8"/>
                </a:solidFill>
                <a:latin typeface="Cambria" pitchFamily="34" charset="0"/>
                <a:ea typeface="Cambria" pitchFamily="34" charset="-122"/>
                <a:cs typeface="Cambria" pitchFamily="34" charset="-120"/>
              </a:rPr>
              <a:t>“A nurse triages, a junior doctor treats under supervision, and there's a protocol for paging the specialist — including handing over the chart.”</a:t>
            </a:r>
            <a:endParaRPr lang="en-US" sz="1550" dirty="0"/>
          </a:p>
        </p:txBody>
      </p:sp>
      <p:sp>
        <p:nvSpPr>
          <p:cNvPr id="12" name="Text 9"/>
          <p:cNvSpPr/>
          <p:nvPr/>
        </p:nvSpPr>
        <p:spPr>
          <a:xfrm>
            <a:off x="822960" y="4114800"/>
            <a:ext cx="7406640" cy="274320"/>
          </a:xfrm>
          <a:prstGeom prst="rect">
            <a:avLst/>
          </a:prstGeom>
          <a:noFill/>
          <a:ln/>
        </p:spPr>
        <p:txBody>
          <a:bodyPr wrap="square" lIns="0" tIns="0" rIns="0" bIns="0" rtlCol="0" anchor="t"/>
          <a:lstStyle/>
          <a:p>
            <a:pPr algn="l" indent="0" marL="0">
              <a:buNone/>
            </a:pPr>
            <a:r>
              <a:rPr lang="en-US" sz="1000" i="1" dirty="0">
                <a:solidFill>
                  <a:srgbClr val="9FB0C7"/>
                </a:solidFill>
                <a:latin typeface="Calibri" pitchFamily="34" charset="0"/>
                <a:ea typeface="Calibri" pitchFamily="34" charset="-122"/>
                <a:cs typeface="Calibri" pitchFamily="34" charset="-120"/>
              </a:rPr>
              <a:t>the whole architecture, in one sentence</a:t>
            </a:r>
            <a:endParaRPr lang="en-US" sz="1000" dirty="0"/>
          </a:p>
        </p:txBody>
      </p:sp>
      <p:sp>
        <p:nvSpPr>
          <p:cNvPr id="13" name="Shape 10"/>
          <p:cNvSpPr/>
          <p:nvPr/>
        </p:nvSpPr>
        <p:spPr>
          <a:xfrm>
            <a:off x="8549640" y="1280160"/>
            <a:ext cx="3108960" cy="4206240"/>
          </a:xfrm>
          <a:prstGeom prst="roundRect">
            <a:avLst>
              <a:gd name="adj" fmla="val 2059"/>
            </a:avLst>
          </a:prstGeom>
          <a:solidFill>
            <a:srgbClr val="20334F"/>
          </a:solidFill>
          <a:ln/>
          <a:effectLst>
            <a:outerShdw sx="100000" sy="100000" kx="0" ky="0" algn="bl" rotWithShape="0" blurRad="88900" dist="25400" dir="2700000">
              <a:srgbClr val="1F2A3D">
                <a:alpha val="14000"/>
              </a:srgbClr>
            </a:outerShdw>
          </a:effectLst>
        </p:spPr>
      </p:sp>
      <p:sp>
        <p:nvSpPr>
          <p:cNvPr id="14" name="Text 11"/>
          <p:cNvSpPr/>
          <p:nvPr/>
        </p:nvSpPr>
        <p:spPr>
          <a:xfrm>
            <a:off x="8796528" y="1508760"/>
            <a:ext cx="2651760" cy="274320"/>
          </a:xfrm>
          <a:prstGeom prst="rect">
            <a:avLst/>
          </a:prstGeom>
          <a:noFill/>
          <a:ln/>
        </p:spPr>
        <p:txBody>
          <a:bodyPr wrap="square" lIns="0" tIns="0" rIns="0" bIns="0" rtlCol="0" anchor="t"/>
          <a:lstStyle/>
          <a:p>
            <a:pPr algn="l" indent="0" marL="0">
              <a:buNone/>
            </a:pPr>
            <a:r>
              <a:rPr lang="en-US" sz="1000" b="1" spc="300" kern="0" dirty="0">
                <a:solidFill>
                  <a:srgbClr val="9FB0C7"/>
                </a:solidFill>
                <a:latin typeface="Calibri" pitchFamily="34" charset="0"/>
                <a:ea typeface="Calibri" pitchFamily="34" charset="-122"/>
                <a:cs typeface="Calibri" pitchFamily="34" charset="-120"/>
              </a:rPr>
              <a:t>STATUS TODAY</a:t>
            </a:r>
            <a:endParaRPr lang="en-US" sz="1000" dirty="0"/>
          </a:p>
        </p:txBody>
      </p:sp>
      <p:sp>
        <p:nvSpPr>
          <p:cNvPr id="15" name="Text 12"/>
          <p:cNvSpPr/>
          <p:nvPr/>
        </p:nvSpPr>
        <p:spPr>
          <a:xfrm>
            <a:off x="8796528" y="1828800"/>
            <a:ext cx="2651760" cy="3474720"/>
          </a:xfrm>
          <a:prstGeom prst="rect">
            <a:avLst/>
          </a:prstGeom>
          <a:noFill/>
          <a:ln/>
        </p:spPr>
        <p:txBody>
          <a:bodyPr wrap="square" lIns="0" tIns="0" rIns="0" bIns="0" rtlCol="0" anchor="t"/>
          <a:lstStyle/>
          <a:p>
            <a:pPr algn="l" indent="0" marL="0">
              <a:lnSpc>
                <a:spcPct val="114000"/>
              </a:lnSpc>
              <a:buNone/>
            </a:pPr>
            <a:r>
              <a:rPr lang="en-US" sz="1200" b="1" dirty="0">
                <a:solidFill>
                  <a:srgbClr val="8ED6AC"/>
                </a:solidFill>
                <a:latin typeface="Calibri" pitchFamily="34" charset="0"/>
                <a:ea typeface="Calibri" pitchFamily="34" charset="-122"/>
                <a:cs typeface="Calibri" pitchFamily="34" charset="-120"/>
              </a:rPr>
              <a:t>Wire capture running</a:t>
            </a:r>
            <a:endParaRPr lang="en-US" sz="1200" dirty="0"/>
          </a:p>
          <a:p>
            <a:pPr algn="l" indent="0" marL="0">
              <a:lnSpc>
                <a:spcPct val="114000"/>
              </a:lnSpc>
              <a:buNone/>
            </a:pPr>
            <a:r>
              <a:rPr lang="en-US" sz="950" dirty="0">
                <a:solidFill>
                  <a:srgbClr val="9FB0C7"/>
                </a:solidFill>
                <a:latin typeface="Calibri" pitchFamily="34" charset="0"/>
                <a:ea typeface="Calibri" pitchFamily="34" charset="-122"/>
                <a:cs typeface="Calibri" pitchFamily="34" charset="-120"/>
              </a:rPr>
              <a:t>live sessions flow through the proxy; kill switch = unset one env var</a:t>
            </a:r>
            <a:endParaRPr lang="en-US" sz="1200" dirty="0"/>
          </a:p>
          <a:p>
            <a:pPr algn="l" indent="0" marL="0">
              <a:lnSpc>
                <a:spcPct val="114000"/>
              </a:lnSpc>
              <a:buNone/>
            </a:pPr>
            <a:r>
              <a:rPr lang="en-US" sz="700" dirty="0">
                <a:solidFill>
                  <a:srgbClr val="1F2A3D"/>
                </a:solidFill>
                <a:latin typeface="Calibri" pitchFamily="34" charset="0"/>
                <a:ea typeface="Calibri" pitchFamily="34" charset="-122"/>
                <a:cs typeface="Calibri" pitchFamily="34" charset="-120"/>
              </a:rPr>
              <a:t> </a:t>
            </a:r>
            <a:endParaRPr lang="en-US" sz="1200" dirty="0"/>
          </a:p>
          <a:p>
            <a:pPr algn="l" indent="0" marL="0">
              <a:lnSpc>
                <a:spcPct val="114000"/>
              </a:lnSpc>
              <a:buNone/>
            </a:pPr>
            <a:r>
              <a:rPr lang="en-US" sz="1200" b="1" dirty="0">
                <a:solidFill>
                  <a:srgbClr val="EAF0F8"/>
                </a:solidFill>
                <a:latin typeface="Calibri" pitchFamily="34" charset="0"/>
                <a:ea typeface="Calibri" pitchFamily="34" charset="-122"/>
                <a:cs typeface="Calibri" pitchFamily="34" charset="-120"/>
              </a:rPr>
              <a:t>Next checkpoint</a:t>
            </a:r>
            <a:endParaRPr lang="en-US" sz="1200" dirty="0"/>
          </a:p>
          <a:p>
            <a:pPr algn="l" indent="0" marL="0">
              <a:lnSpc>
                <a:spcPct val="114000"/>
              </a:lnSpc>
              <a:buNone/>
            </a:pPr>
            <a:r>
              <a:rPr lang="en-US" sz="950" dirty="0">
                <a:solidFill>
                  <a:srgbClr val="9FB0C7"/>
                </a:solidFill>
                <a:latin typeface="Calibri" pitchFamily="34" charset="0"/>
                <a:ea typeface="Calibri" pitchFamily="34" charset="-122"/>
                <a:cs typeface="Calibri" pitchFamily="34" charset="-120"/>
              </a:rPr>
              <a:t>shadow discriminator on ≥200 live turns at &lt;20 ms overhead</a:t>
            </a:r>
            <a:endParaRPr lang="en-US" sz="1200" dirty="0"/>
          </a:p>
          <a:p>
            <a:pPr algn="l" indent="0" marL="0">
              <a:lnSpc>
                <a:spcPct val="114000"/>
              </a:lnSpc>
              <a:buNone/>
            </a:pPr>
            <a:r>
              <a:rPr lang="en-US" sz="700" dirty="0">
                <a:solidFill>
                  <a:srgbClr val="1F2A3D"/>
                </a:solidFill>
                <a:latin typeface="Calibri" pitchFamily="34" charset="0"/>
                <a:ea typeface="Calibri" pitchFamily="34" charset="-122"/>
                <a:cs typeface="Calibri" pitchFamily="34" charset="-120"/>
              </a:rPr>
              <a:t> </a:t>
            </a:r>
            <a:endParaRPr lang="en-US" sz="1200" dirty="0"/>
          </a:p>
          <a:p>
            <a:pPr algn="l" indent="0" marL="0">
              <a:lnSpc>
                <a:spcPct val="114000"/>
              </a:lnSpc>
              <a:buNone/>
            </a:pPr>
            <a:r>
              <a:rPr lang="en-US" sz="1200" b="1" dirty="0">
                <a:solidFill>
                  <a:srgbClr val="EAF0F8"/>
                </a:solidFill>
                <a:latin typeface="Calibri" pitchFamily="34" charset="0"/>
                <a:ea typeface="Calibri" pitchFamily="34" charset="-122"/>
                <a:cs typeface="Calibri" pitchFamily="34" charset="-120"/>
              </a:rPr>
              <a:t>Everything is in the repo</a:t>
            </a:r>
            <a:endParaRPr lang="en-US" sz="1200" dirty="0"/>
          </a:p>
          <a:p>
            <a:pPr algn="l" indent="0" marL="0">
              <a:lnSpc>
                <a:spcPct val="114000"/>
              </a:lnSpc>
              <a:buNone/>
            </a:pPr>
            <a:r>
              <a:rPr lang="en-US" sz="950" dirty="0">
                <a:solidFill>
                  <a:srgbClr val="9FB0C7"/>
                </a:solidFill>
                <a:latin typeface="Calibri" pitchFamily="34" charset="0"/>
                <a:ea typeface="Calibri" pitchFamily="34" charset="-122"/>
                <a:cs typeface="Calibri" pitchFamily="34" charset="-120"/>
              </a:rPr>
              <a:t>github.com/arunmenon/adrl (private): design docs · vetting report · Phase 0 plan · miner · capture proxy · reports</a:t>
            </a:r>
            <a:endParaRPr lang="en-US" sz="1200" dirty="0"/>
          </a:p>
        </p:txBody>
      </p:sp>
      <p:sp>
        <p:nvSpPr>
          <p:cNvPr id="16" name="Text 13"/>
          <p:cNvSpPr/>
          <p:nvPr/>
        </p:nvSpPr>
        <p:spPr>
          <a:xfrm>
            <a:off x="822960" y="5806440"/>
            <a:ext cx="10835640" cy="45720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Design → adversarial validation → cheap empirical falsification → build.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Adaptive Routing Layer — Project Overview</dc:title>
  <dc:subject>Route turns, not requests</dc:subject>
  <dc:creator>Arun</dc:creator>
  <cp:lastModifiedBy>Arun</cp:lastModifiedBy>
  <cp:revision>1</cp:revision>
  <dcterms:created xsi:type="dcterms:W3CDTF">2026-07-06T15:11:11Z</dcterms:created>
  <dcterms:modified xsi:type="dcterms:W3CDTF">2026-07-06T15:11:11Z</dcterms:modified>
</cp:coreProperties>
</file>